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2.xml" ContentType="application/vnd.openxmlformats-officedocument.drawingml.chart+xml"/>
  <Override PartName="/ppt/notesSlides/notesSlide23.xml" ContentType="application/vnd.openxmlformats-officedocument.presentationml.notesSlide+xml"/>
  <Override PartName="/ppt/charts/chart13.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6.xml" ContentType="application/vnd.openxmlformats-officedocument.drawingml.chart+xml"/>
  <Override PartName="/ppt/notesSlides/notesSlide30.xml" ContentType="application/vnd.openxmlformats-officedocument.presentationml.notesSlide+xml"/>
  <Override PartName="/ppt/charts/chart17.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8.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rts/chart2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Lst>
  <p:notesMasterIdLst>
    <p:notesMasterId r:id="rId66"/>
  </p:notesMasterIdLst>
  <p:sldIdLst>
    <p:sldId id="256" r:id="rId7"/>
    <p:sldId id="314" r:id="rId8"/>
    <p:sldId id="280" r:id="rId9"/>
    <p:sldId id="293" r:id="rId10"/>
    <p:sldId id="321" r:id="rId11"/>
    <p:sldId id="322" r:id="rId12"/>
    <p:sldId id="260" r:id="rId13"/>
    <p:sldId id="261" r:id="rId14"/>
    <p:sldId id="315" r:id="rId15"/>
    <p:sldId id="324" r:id="rId16"/>
    <p:sldId id="365" r:id="rId17"/>
    <p:sldId id="317" r:id="rId18"/>
    <p:sldId id="357" r:id="rId19"/>
    <p:sldId id="338" r:id="rId20"/>
    <p:sldId id="339" r:id="rId21"/>
    <p:sldId id="340" r:id="rId22"/>
    <p:sldId id="341" r:id="rId23"/>
    <p:sldId id="342" r:id="rId24"/>
    <p:sldId id="359" r:id="rId25"/>
    <p:sldId id="318" r:id="rId26"/>
    <p:sldId id="325" r:id="rId27"/>
    <p:sldId id="360" r:id="rId28"/>
    <p:sldId id="344" r:id="rId29"/>
    <p:sldId id="358" r:id="rId30"/>
    <p:sldId id="346" r:id="rId31"/>
    <p:sldId id="347" r:id="rId32"/>
    <p:sldId id="302" r:id="rId33"/>
    <p:sldId id="326" r:id="rId34"/>
    <p:sldId id="303" r:id="rId35"/>
    <p:sldId id="319" r:id="rId36"/>
    <p:sldId id="362" r:id="rId37"/>
    <p:sldId id="271" r:id="rId38"/>
    <p:sldId id="361" r:id="rId39"/>
    <p:sldId id="262" r:id="rId40"/>
    <p:sldId id="274" r:id="rId41"/>
    <p:sldId id="327" r:id="rId42"/>
    <p:sldId id="348" r:id="rId43"/>
    <p:sldId id="286" r:id="rId44"/>
    <p:sldId id="350" r:id="rId45"/>
    <p:sldId id="369" r:id="rId46"/>
    <p:sldId id="352" r:id="rId47"/>
    <p:sldId id="353" r:id="rId48"/>
    <p:sldId id="354" r:id="rId49"/>
    <p:sldId id="355" r:id="rId50"/>
    <p:sldId id="356" r:id="rId51"/>
    <p:sldId id="328" r:id="rId52"/>
    <p:sldId id="316" r:id="rId53"/>
    <p:sldId id="343" r:id="rId54"/>
    <p:sldId id="289" r:id="rId55"/>
    <p:sldId id="320" r:id="rId56"/>
    <p:sldId id="281" r:id="rId57"/>
    <p:sldId id="263" r:id="rId58"/>
    <p:sldId id="290" r:id="rId59"/>
    <p:sldId id="272" r:id="rId60"/>
    <p:sldId id="291" r:id="rId61"/>
    <p:sldId id="305" r:id="rId62"/>
    <p:sldId id="368" r:id="rId63"/>
    <p:sldId id="366" r:id="rId64"/>
    <p:sldId id="367" r:id="rId6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5611" autoAdjust="0"/>
  </p:normalViewPr>
  <p:slideViewPr>
    <p:cSldViewPr snapToGrid="0">
      <p:cViewPr varScale="1">
        <p:scale>
          <a:sx n="89" d="100"/>
          <a:sy n="89" d="100"/>
        </p:scale>
        <p:origin x="30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Cumulative incidence</c:f>
              <c:strCache>
                <c:ptCount val="1"/>
                <c:pt idx="0">
                  <c:v>Cumulative incidence</c:v>
                </c:pt>
              </c:strCache>
            </c:strRef>
          </c:tx>
          <c:spPr>
            <a:solidFill>
              <a:srgbClr val="087E8B"/>
            </a:solidFill>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Not frail</c:v>
                </c:pt>
                <c:pt idx="1">
                  <c:v>Intermediate</c:v>
                </c:pt>
                <c:pt idx="2">
                  <c:v>Frail</c:v>
                </c:pt>
              </c:strCache>
            </c:strRef>
          </c:cat>
          <c:val>
            <c:numRef>
              <c:f>'Chart Data'!$B$2:$B$4</c:f>
              <c:numCache>
                <c:formatCode>0</c:formatCode>
                <c:ptCount val="3"/>
                <c:pt idx="0">
                  <c:v>8</c:v>
                </c:pt>
                <c:pt idx="1">
                  <c:v>20</c:v>
                </c:pt>
                <c:pt idx="2">
                  <c:v>39</c:v>
                </c:pt>
              </c:numCache>
            </c:numRef>
          </c:val>
          <c:extLst>
            <c:ext xmlns:c16="http://schemas.microsoft.com/office/drawing/2014/chart" uri="{C3380CC4-5D6E-409C-BE32-E72D297353CC}">
              <c16:uniqueId val="{00000000-4E43-4C81-A61E-3E39213D928D}"/>
            </c:ext>
          </c:extLst>
        </c:ser>
        <c:dLbls>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425" b="0" i="0" u="none" strike="noStrike" kern="1200" baseline="0">
                <a:solidFill>
                  <a:srgbClr val="152C3F"/>
                </a:solidFill>
                <a:latin typeface="DejaVu Sans" panose="020B0603030804020204"/>
                <a:ea typeface="DejaVu Sans" panose="020B0603030804020204"/>
                <a:cs typeface="DejaVu Sans" panose="020B0603030804020204"/>
              </a:defRPr>
            </a:pPr>
            <a:endParaRPr lang="zh-CN"/>
          </a:p>
        </c:txPr>
        <c:crossAx val="48672768"/>
        <c:crosses val="autoZero"/>
        <c:auto val="1"/>
        <c:lblAlgn val="ctr"/>
        <c:lblOffset val="100"/>
        <c:noMultiLvlLbl val="0"/>
      </c:catAx>
      <c:valAx>
        <c:axId val="48672768"/>
        <c:scaling>
          <c:orientation val="minMax"/>
          <c:max val="45"/>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Unadjusted incidence (%)</a:t>
                </a:r>
              </a:p>
            </c:rich>
          </c:tx>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75"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between"/>
        <c:majorUnit val="15"/>
      </c:valAx>
      <c:spPr>
        <a:solidFill>
          <a:srgbClr val="FFFFFF"/>
        </a:solidFill>
      </c:spPr>
    </c:plotArea>
    <c:plotVisOnly val="1"/>
    <c:dispBlanksAs val="gap"/>
    <c:showDLblsOverMax val="0"/>
    <c:extLst>
      <c:ext uri="{0b15fc19-7d7d-44ad-8c2d-2c3a37ce22c3}">
        <chartProps xmlns="https://web.wps.cn/et/2018/main" chartId="{ebdfaffc-be40-4e62-a616-ad996add796a}"/>
      </c:ext>
    </c:extLst>
  </c:chart>
  <c:spPr>
    <a:solidFill>
      <a:srgbClr val="FFFFFF"/>
    </a:solidFill>
    <a:ln w="0">
      <a:noFill/>
    </a:ln>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PPG</c:f>
              <c:strCache>
                <c:ptCount val="1"/>
                <c:pt idx="0">
                  <c:v>PPG</c:v>
                </c:pt>
              </c:strCache>
            </c:strRef>
          </c:tx>
          <c:spPr>
            <a:ln w="23813" cap="rnd">
              <a:solidFill>
                <a:srgbClr val="152C3F"/>
              </a:solidFill>
              <a:prstDash val="solid"/>
              <a:round/>
            </a:ln>
          </c:spPr>
          <c:marker>
            <c:symbol val="none"/>
          </c:marker>
          <c:xVal>
            <c:numRef>
              <c:f>'Chart Data'!$A$2:$A$302</c:f>
              <c:numCache>
                <c:formatCode>General</c:formatCode>
                <c:ptCount val="301"/>
                <c:pt idx="0">
                  <c:v>0</c:v>
                </c:pt>
                <c:pt idx="1">
                  <c:v>0.02</c:v>
                </c:pt>
                <c:pt idx="2">
                  <c:v>0.04</c:v>
                </c:pt>
                <c:pt idx="3">
                  <c:v>0.06</c:v>
                </c:pt>
                <c:pt idx="4">
                  <c:v>0.08</c:v>
                </c:pt>
                <c:pt idx="5">
                  <c:v>0.1</c:v>
                </c:pt>
                <c:pt idx="6">
                  <c:v>0.12</c:v>
                </c:pt>
                <c:pt idx="7">
                  <c:v>0.14000000000000001</c:v>
                </c:pt>
                <c:pt idx="8">
                  <c:v>0.16</c:v>
                </c:pt>
                <c:pt idx="9">
                  <c:v>0.18</c:v>
                </c:pt>
                <c:pt idx="10">
                  <c:v>0.2</c:v>
                </c:pt>
                <c:pt idx="11">
                  <c:v>0.22</c:v>
                </c:pt>
                <c:pt idx="12">
                  <c:v>0.24</c:v>
                </c:pt>
                <c:pt idx="13">
                  <c:v>0.26</c:v>
                </c:pt>
                <c:pt idx="14">
                  <c:v>0.28000000000000003</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0.56000000000000005</c:v>
                </c:pt>
                <c:pt idx="29">
                  <c:v>0.57999999999999996</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1.1000000000000001</c:v>
                </c:pt>
                <c:pt idx="56">
                  <c:v>1.1200000000000001</c:v>
                </c:pt>
                <c:pt idx="57">
                  <c:v>1.1399999999999999</c:v>
                </c:pt>
                <c:pt idx="58">
                  <c:v>1.1599999999999999</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2.1800000000000002</c:v>
                </c:pt>
                <c:pt idx="110">
                  <c:v>2.2000000000000002</c:v>
                </c:pt>
                <c:pt idx="111">
                  <c:v>2.2200000000000002</c:v>
                </c:pt>
                <c:pt idx="112">
                  <c:v>2.2400000000000002</c:v>
                </c:pt>
                <c:pt idx="113">
                  <c:v>2.2599999999999998</c:v>
                </c:pt>
                <c:pt idx="114">
                  <c:v>2.2799999999999998</c:v>
                </c:pt>
                <c:pt idx="115">
                  <c:v>2.2999999999999998</c:v>
                </c:pt>
                <c:pt idx="116">
                  <c:v>2.3199999999999998</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4.0199999999999996</c:v>
                </c:pt>
                <c:pt idx="202">
                  <c:v>4.04</c:v>
                </c:pt>
                <c:pt idx="203">
                  <c:v>4.0599999999999996</c:v>
                </c:pt>
                <c:pt idx="204">
                  <c:v>4.08</c:v>
                </c:pt>
                <c:pt idx="205">
                  <c:v>4.0999999999999996</c:v>
                </c:pt>
                <c:pt idx="206">
                  <c:v>4.12</c:v>
                </c:pt>
                <c:pt idx="207">
                  <c:v>4.1399999999999997</c:v>
                </c:pt>
                <c:pt idx="208">
                  <c:v>4.16</c:v>
                </c:pt>
                <c:pt idx="209">
                  <c:v>4.18</c:v>
                </c:pt>
                <c:pt idx="210">
                  <c:v>4.2</c:v>
                </c:pt>
                <c:pt idx="211">
                  <c:v>4.22</c:v>
                </c:pt>
                <c:pt idx="212">
                  <c:v>4.24</c:v>
                </c:pt>
                <c:pt idx="213">
                  <c:v>4.26</c:v>
                </c:pt>
                <c:pt idx="214">
                  <c:v>4.28</c:v>
                </c:pt>
                <c:pt idx="215">
                  <c:v>4.3</c:v>
                </c:pt>
                <c:pt idx="216">
                  <c:v>4.32</c:v>
                </c:pt>
                <c:pt idx="217">
                  <c:v>4.34</c:v>
                </c:pt>
                <c:pt idx="218">
                  <c:v>4.3600000000000003</c:v>
                </c:pt>
                <c:pt idx="219">
                  <c:v>4.38</c:v>
                </c:pt>
                <c:pt idx="220">
                  <c:v>4.4000000000000004</c:v>
                </c:pt>
                <c:pt idx="221">
                  <c:v>4.42</c:v>
                </c:pt>
                <c:pt idx="222">
                  <c:v>4.4400000000000004</c:v>
                </c:pt>
                <c:pt idx="223">
                  <c:v>4.46</c:v>
                </c:pt>
                <c:pt idx="224">
                  <c:v>4.4800000000000004</c:v>
                </c:pt>
                <c:pt idx="225">
                  <c:v>4.5</c:v>
                </c:pt>
                <c:pt idx="226">
                  <c:v>4.5199999999999996</c:v>
                </c:pt>
                <c:pt idx="227">
                  <c:v>4.54</c:v>
                </c:pt>
                <c:pt idx="228">
                  <c:v>4.5599999999999996</c:v>
                </c:pt>
                <c:pt idx="229">
                  <c:v>4.58</c:v>
                </c:pt>
                <c:pt idx="230">
                  <c:v>4.5999999999999996</c:v>
                </c:pt>
                <c:pt idx="231">
                  <c:v>4.62</c:v>
                </c:pt>
                <c:pt idx="232">
                  <c:v>4.6399999999999997</c:v>
                </c:pt>
                <c:pt idx="233">
                  <c:v>4.66</c:v>
                </c:pt>
                <c:pt idx="234">
                  <c:v>4.68</c:v>
                </c:pt>
                <c:pt idx="235">
                  <c:v>4.7</c:v>
                </c:pt>
                <c:pt idx="236">
                  <c:v>4.72</c:v>
                </c:pt>
                <c:pt idx="237">
                  <c:v>4.74</c:v>
                </c:pt>
                <c:pt idx="238">
                  <c:v>4.76</c:v>
                </c:pt>
                <c:pt idx="239">
                  <c:v>4.78</c:v>
                </c:pt>
                <c:pt idx="240">
                  <c:v>4.8</c:v>
                </c:pt>
                <c:pt idx="241">
                  <c:v>4.82</c:v>
                </c:pt>
                <c:pt idx="242">
                  <c:v>4.84</c:v>
                </c:pt>
                <c:pt idx="243">
                  <c:v>4.8600000000000003</c:v>
                </c:pt>
                <c:pt idx="244">
                  <c:v>4.88</c:v>
                </c:pt>
                <c:pt idx="245">
                  <c:v>4.9000000000000004</c:v>
                </c:pt>
                <c:pt idx="246">
                  <c:v>4.92</c:v>
                </c:pt>
                <c:pt idx="247">
                  <c:v>4.9400000000000004</c:v>
                </c:pt>
                <c:pt idx="248">
                  <c:v>4.96</c:v>
                </c:pt>
                <c:pt idx="249">
                  <c:v>4.9800000000000004</c:v>
                </c:pt>
                <c:pt idx="250">
                  <c:v>5</c:v>
                </c:pt>
                <c:pt idx="251">
                  <c:v>5.0199999999999996</c:v>
                </c:pt>
                <c:pt idx="252">
                  <c:v>5.04</c:v>
                </c:pt>
                <c:pt idx="253">
                  <c:v>5.0599999999999996</c:v>
                </c:pt>
                <c:pt idx="254">
                  <c:v>5.08</c:v>
                </c:pt>
                <c:pt idx="255">
                  <c:v>5.0999999999999996</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numCache>
            </c:numRef>
          </c:xVal>
          <c:yVal>
            <c:numRef>
              <c:f>'Chart Data'!$B$2:$B$302</c:f>
              <c:numCache>
                <c:formatCode>0.0</c:formatCode>
                <c:ptCount val="301"/>
                <c:pt idx="0">
                  <c:v>8.5723999999999995E-2</c:v>
                </c:pt>
                <c:pt idx="1">
                  <c:v>0.47138600000000003</c:v>
                </c:pt>
                <c:pt idx="2">
                  <c:v>0.82821299999999998</c:v>
                </c:pt>
                <c:pt idx="3">
                  <c:v>1.1372340000000001</c:v>
                </c:pt>
                <c:pt idx="4">
                  <c:v>1.382862</c:v>
                </c:pt>
                <c:pt idx="5">
                  <c:v>1.5538890000000001</c:v>
                </c:pt>
                <c:pt idx="6">
                  <c:v>1.644144</c:v>
                </c:pt>
                <c:pt idx="7">
                  <c:v>1.6527860000000001</c:v>
                </c:pt>
                <c:pt idx="8">
                  <c:v>1.584184</c:v>
                </c:pt>
                <c:pt idx="9">
                  <c:v>1.447438</c:v>
                </c:pt>
                <c:pt idx="10">
                  <c:v>1.255552</c:v>
                </c:pt>
                <c:pt idx="11">
                  <c:v>1.024354</c:v>
                </c:pt>
                <c:pt idx="12">
                  <c:v>0.77123299999999995</c:v>
                </c:pt>
                <c:pt idx="13">
                  <c:v>0.51380599999999998</c:v>
                </c:pt>
                <c:pt idx="14">
                  <c:v>0.26861200000000002</c:v>
                </c:pt>
                <c:pt idx="15">
                  <c:v>4.9937000000000002E-2</c:v>
                </c:pt>
                <c:pt idx="16">
                  <c:v>-0.13114600000000001</c:v>
                </c:pt>
                <c:pt idx="17">
                  <c:v>-0.26744699999999999</c:v>
                </c:pt>
                <c:pt idx="18">
                  <c:v>-0.35600799999999999</c:v>
                </c:pt>
                <c:pt idx="19">
                  <c:v>-0.39809299999999997</c:v>
                </c:pt>
                <c:pt idx="20">
                  <c:v>-0.39885199999999998</c:v>
                </c:pt>
                <c:pt idx="21">
                  <c:v>-0.36668099999999998</c:v>
                </c:pt>
                <c:pt idx="22">
                  <c:v>-0.31234000000000001</c:v>
                </c:pt>
                <c:pt idx="23">
                  <c:v>-0.247916</c:v>
                </c:pt>
                <c:pt idx="24">
                  <c:v>-0.185697</c:v>
                </c:pt>
                <c:pt idx="25">
                  <c:v>-0.13708500000000001</c:v>
                </c:pt>
                <c:pt idx="26">
                  <c:v>-0.111592</c:v>
                </c:pt>
                <c:pt idx="27">
                  <c:v>-0.116036</c:v>
                </c:pt>
                <c:pt idx="28">
                  <c:v>-0.153972</c:v>
                </c:pt>
                <c:pt idx="29">
                  <c:v>-0.225409</c:v>
                </c:pt>
                <c:pt idx="30">
                  <c:v>-0.32682299999999997</c:v>
                </c:pt>
                <c:pt idx="31">
                  <c:v>-0.45146599999999998</c:v>
                </c:pt>
                <c:pt idx="32">
                  <c:v>-0.58993300000000004</c:v>
                </c:pt>
                <c:pt idx="33">
                  <c:v>-0.73093300000000005</c:v>
                </c:pt>
                <c:pt idx="34">
                  <c:v>-0.86220799999999997</c:v>
                </c:pt>
                <c:pt idx="35">
                  <c:v>-0.971522</c:v>
                </c:pt>
                <c:pt idx="36">
                  <c:v>-1.0476289999999999</c:v>
                </c:pt>
                <c:pt idx="37">
                  <c:v>-1.0811630000000001</c:v>
                </c:pt>
                <c:pt idx="38">
                  <c:v>-1.065375</c:v>
                </c:pt>
                <c:pt idx="39">
                  <c:v>-0.99665800000000004</c:v>
                </c:pt>
                <c:pt idx="40">
                  <c:v>-0.87484300000000004</c:v>
                </c:pt>
                <c:pt idx="41">
                  <c:v>-0.70323199999999997</c:v>
                </c:pt>
                <c:pt idx="42">
                  <c:v>-0.48838199999999998</c:v>
                </c:pt>
                <c:pt idx="43">
                  <c:v>-0.23966899999999999</c:v>
                </c:pt>
                <c:pt idx="44">
                  <c:v>3.1338999999999999E-2</c:v>
                </c:pt>
                <c:pt idx="45">
                  <c:v>0.31164599999999998</c:v>
                </c:pt>
                <c:pt idx="46">
                  <c:v>0.58765999999999996</c:v>
                </c:pt>
                <c:pt idx="47">
                  <c:v>0.84604000000000001</c:v>
                </c:pt>
                <c:pt idx="48">
                  <c:v>1.074498</c:v>
                </c:pt>
                <c:pt idx="49">
                  <c:v>1.262497</c:v>
                </c:pt>
                <c:pt idx="50">
                  <c:v>1.401802</c:v>
                </c:pt>
                <c:pt idx="51">
                  <c:v>1.4868680000000001</c:v>
                </c:pt>
                <c:pt idx="52">
                  <c:v>1.5150319999999999</c:v>
                </c:pt>
                <c:pt idx="53">
                  <c:v>1.486515</c:v>
                </c:pt>
                <c:pt idx="54">
                  <c:v>1.4042559999999999</c:v>
                </c:pt>
                <c:pt idx="55">
                  <c:v>1.2735890000000001</c:v>
                </c:pt>
                <c:pt idx="56">
                  <c:v>1.10181</c:v>
                </c:pt>
                <c:pt idx="57">
                  <c:v>0.89765600000000001</c:v>
                </c:pt>
                <c:pt idx="58">
                  <c:v>0.67075399999999996</c:v>
                </c:pt>
                <c:pt idx="59">
                  <c:v>0.43106899999999998</c:v>
                </c:pt>
                <c:pt idx="60">
                  <c:v>0.188387</c:v>
                </c:pt>
                <c:pt idx="61">
                  <c:v>-4.8138E-2</c:v>
                </c:pt>
                <c:pt idx="62">
                  <c:v>-0.27035599999999999</c:v>
                </c:pt>
                <c:pt idx="63">
                  <c:v>-0.471389</c:v>
                </c:pt>
                <c:pt idx="64">
                  <c:v>-0.64581599999999995</c:v>
                </c:pt>
                <c:pt idx="65">
                  <c:v>-0.78974699999999998</c:v>
                </c:pt>
                <c:pt idx="66">
                  <c:v>-0.90082799999999996</c:v>
                </c:pt>
                <c:pt idx="67">
                  <c:v>-0.978163</c:v>
                </c:pt>
                <c:pt idx="68">
                  <c:v>-1.0221960000000001</c:v>
                </c:pt>
                <c:pt idx="69">
                  <c:v>-1.0345420000000001</c:v>
                </c:pt>
                <c:pt idx="70">
                  <c:v>-1.017801</c:v>
                </c:pt>
                <c:pt idx="71">
                  <c:v>-0.97535799999999995</c:v>
                </c:pt>
                <c:pt idx="72">
                  <c:v>-0.91118299999999997</c:v>
                </c:pt>
                <c:pt idx="73">
                  <c:v>-0.82963100000000001</c:v>
                </c:pt>
                <c:pt idx="74">
                  <c:v>-0.73524699999999998</c:v>
                </c:pt>
                <c:pt idx="75">
                  <c:v>-0.63258499999999995</c:v>
                </c:pt>
                <c:pt idx="76">
                  <c:v>-0.52602499999999996</c:v>
                </c:pt>
                <c:pt idx="77">
                  <c:v>-0.41960700000000001</c:v>
                </c:pt>
                <c:pt idx="78">
                  <c:v>-0.31686999999999999</c:v>
                </c:pt>
                <c:pt idx="79">
                  <c:v>-0.22071399999999999</c:v>
                </c:pt>
                <c:pt idx="80">
                  <c:v>-0.133271</c:v>
                </c:pt>
                <c:pt idx="81">
                  <c:v>-5.5816999999999999E-2</c:v>
                </c:pt>
                <c:pt idx="82">
                  <c:v>1.1283E-2</c:v>
                </c:pt>
                <c:pt idx="83">
                  <c:v>6.8581000000000003E-2</c:v>
                </c:pt>
                <c:pt idx="84">
                  <c:v>0.117495</c:v>
                </c:pt>
                <c:pt idx="85">
                  <c:v>0.160191</c:v>
                </c:pt>
                <c:pt idx="86">
                  <c:v>0.19941</c:v>
                </c:pt>
                <c:pt idx="87">
                  <c:v>0.238228</c:v>
                </c:pt>
                <c:pt idx="88">
                  <c:v>0.27977099999999999</c:v>
                </c:pt>
                <c:pt idx="89">
                  <c:v>0.32688899999999999</c:v>
                </c:pt>
                <c:pt idx="90">
                  <c:v>0.38183400000000001</c:v>
                </c:pt>
                <c:pt idx="91">
                  <c:v>0.44593500000000003</c:v>
                </c:pt>
                <c:pt idx="92">
                  <c:v>0.51933099999999999</c:v>
                </c:pt>
                <c:pt idx="93">
                  <c:v>0.60077000000000003</c:v>
                </c:pt>
                <c:pt idx="94">
                  <c:v>0.68750500000000003</c:v>
                </c:pt>
                <c:pt idx="95">
                  <c:v>0.77531700000000003</c:v>
                </c:pt>
                <c:pt idx="96">
                  <c:v>0.85865999999999998</c:v>
                </c:pt>
                <c:pt idx="97">
                  <c:v>0.93094299999999996</c:v>
                </c:pt>
                <c:pt idx="98">
                  <c:v>0.98493900000000001</c:v>
                </c:pt>
                <c:pt idx="99">
                  <c:v>1.013296</c:v>
                </c:pt>
                <c:pt idx="100">
                  <c:v>1.0091129999999999</c:v>
                </c:pt>
                <c:pt idx="101">
                  <c:v>0.96655899999999995</c:v>
                </c:pt>
                <c:pt idx="102">
                  <c:v>0.88146400000000003</c:v>
                </c:pt>
                <c:pt idx="103">
                  <c:v>0.75184700000000004</c:v>
                </c:pt>
                <c:pt idx="104">
                  <c:v>0.57833000000000001</c:v>
                </c:pt>
                <c:pt idx="105">
                  <c:v>0.36438900000000002</c:v>
                </c:pt>
                <c:pt idx="106">
                  <c:v>0.11641</c:v>
                </c:pt>
                <c:pt idx="107">
                  <c:v>-0.15646099999999999</c:v>
                </c:pt>
                <c:pt idx="108">
                  <c:v>-0.442693</c:v>
                </c:pt>
                <c:pt idx="109">
                  <c:v>-0.72895200000000004</c:v>
                </c:pt>
                <c:pt idx="110">
                  <c:v>-1.0008490000000001</c:v>
                </c:pt>
                <c:pt idx="111">
                  <c:v>-1.243824</c:v>
                </c:pt>
                <c:pt idx="112">
                  <c:v>-1.4440999999999999</c:v>
                </c:pt>
                <c:pt idx="113">
                  <c:v>-1.5896319999999999</c:v>
                </c:pt>
                <c:pt idx="114">
                  <c:v>-1.670993</c:v>
                </c:pt>
                <c:pt idx="115">
                  <c:v>-1.6821079999999999</c:v>
                </c:pt>
                <c:pt idx="116">
                  <c:v>-1.6208009999999999</c:v>
                </c:pt>
                <c:pt idx="117">
                  <c:v>-1.4890680000000001</c:v>
                </c:pt>
                <c:pt idx="118">
                  <c:v>-1.2930870000000001</c:v>
                </c:pt>
                <c:pt idx="119">
                  <c:v>-1.0429109999999999</c:v>
                </c:pt>
                <c:pt idx="120">
                  <c:v>-0.75189600000000001</c:v>
                </c:pt>
                <c:pt idx="121">
                  <c:v>-0.43586399999999997</c:v>
                </c:pt>
                <c:pt idx="122">
                  <c:v>-0.112082</c:v>
                </c:pt>
                <c:pt idx="123">
                  <c:v>0.20188600000000001</c:v>
                </c:pt>
                <c:pt idx="124">
                  <c:v>0.48937000000000003</c:v>
                </c:pt>
                <c:pt idx="125">
                  <c:v>0.73572400000000004</c:v>
                </c:pt>
                <c:pt idx="126">
                  <c:v>0.92933699999999997</c:v>
                </c:pt>
                <c:pt idx="127">
                  <c:v>1.062408</c:v>
                </c:pt>
                <c:pt idx="128">
                  <c:v>1.1314580000000001</c:v>
                </c:pt>
                <c:pt idx="129">
                  <c:v>1.137516</c:v>
                </c:pt>
                <c:pt idx="130">
                  <c:v>1.085958</c:v>
                </c:pt>
                <c:pt idx="131">
                  <c:v>0.98602800000000002</c:v>
                </c:pt>
                <c:pt idx="132">
                  <c:v>0.85004900000000005</c:v>
                </c:pt>
                <c:pt idx="133">
                  <c:v>0.69240599999999997</c:v>
                </c:pt>
                <c:pt idx="134">
                  <c:v>0.528362</c:v>
                </c:pt>
                <c:pt idx="135">
                  <c:v>0.37281300000000001</c:v>
                </c:pt>
                <c:pt idx="136">
                  <c:v>0.239069</c:v>
                </c:pt>
                <c:pt idx="137">
                  <c:v>0.13777300000000001</c:v>
                </c:pt>
                <c:pt idx="138">
                  <c:v>7.6028999999999999E-2</c:v>
                </c:pt>
                <c:pt idx="139">
                  <c:v>5.6828999999999998E-2</c:v>
                </c:pt>
                <c:pt idx="140">
                  <c:v>7.8811000000000006E-2</c:v>
                </c:pt>
                <c:pt idx="141">
                  <c:v>0.13638600000000001</c:v>
                </c:pt>
                <c:pt idx="142">
                  <c:v>0.220219</c:v>
                </c:pt>
                <c:pt idx="143">
                  <c:v>0.31802900000000001</c:v>
                </c:pt>
                <c:pt idx="144">
                  <c:v>0.41564600000000002</c:v>
                </c:pt>
                <c:pt idx="145">
                  <c:v>0.498249</c:v>
                </c:pt>
                <c:pt idx="146">
                  <c:v>0.55166899999999996</c:v>
                </c:pt>
                <c:pt idx="147">
                  <c:v>0.56367500000000004</c:v>
                </c:pt>
                <c:pt idx="148">
                  <c:v>0.52511300000000005</c:v>
                </c:pt>
                <c:pt idx="149">
                  <c:v>0.43082300000000001</c:v>
                </c:pt>
                <c:pt idx="150">
                  <c:v>0.28024100000000002</c:v>
                </c:pt>
                <c:pt idx="151">
                  <c:v>7.7645000000000006E-2</c:v>
                </c:pt>
                <c:pt idx="152">
                  <c:v>-0.16799</c:v>
                </c:pt>
                <c:pt idx="153">
                  <c:v>-0.44352000000000003</c:v>
                </c:pt>
                <c:pt idx="154">
                  <c:v>-0.73250300000000002</c:v>
                </c:pt>
                <c:pt idx="155">
                  <c:v>-1.016354</c:v>
                </c:pt>
                <c:pt idx="156">
                  <c:v>-1.2756940000000001</c:v>
                </c:pt>
                <c:pt idx="157">
                  <c:v>-1.4917899999999999</c:v>
                </c:pt>
                <c:pt idx="158">
                  <c:v>-1.647977</c:v>
                </c:pt>
                <c:pt idx="159">
                  <c:v>-1.730947</c:v>
                </c:pt>
                <c:pt idx="160">
                  <c:v>-1.7318070000000001</c:v>
                </c:pt>
                <c:pt idx="161">
                  <c:v>-1.64682</c:v>
                </c:pt>
                <c:pt idx="162">
                  <c:v>-1.4777739999999999</c:v>
                </c:pt>
                <c:pt idx="163">
                  <c:v>-1.231946</c:v>
                </c:pt>
                <c:pt idx="164">
                  <c:v>-0.92165699999999995</c:v>
                </c:pt>
                <c:pt idx="165">
                  <c:v>-0.56346200000000002</c:v>
                </c:pt>
                <c:pt idx="166">
                  <c:v>-0.17702999999999999</c:v>
                </c:pt>
                <c:pt idx="167">
                  <c:v>0.21620800000000001</c:v>
                </c:pt>
                <c:pt idx="168">
                  <c:v>0.594526</c:v>
                </c:pt>
                <c:pt idx="169">
                  <c:v>0.93738200000000005</c:v>
                </c:pt>
                <c:pt idx="170">
                  <c:v>1.2268049999999999</c:v>
                </c:pt>
                <c:pt idx="171">
                  <c:v>1.4485730000000001</c:v>
                </c:pt>
                <c:pt idx="172">
                  <c:v>1.5931</c:v>
                </c:pt>
                <c:pt idx="173">
                  <c:v>1.6559820000000001</c:v>
                </c:pt>
                <c:pt idx="174">
                  <c:v>1.6381429999999999</c:v>
                </c:pt>
                <c:pt idx="175">
                  <c:v>1.5456019999999999</c:v>
                </c:pt>
                <c:pt idx="176">
                  <c:v>1.3888670000000001</c:v>
                </c:pt>
                <c:pt idx="177">
                  <c:v>1.1820139999999999</c:v>
                </c:pt>
                <c:pt idx="178">
                  <c:v>0.94153799999999999</c:v>
                </c:pt>
                <c:pt idx="179">
                  <c:v>0.68505199999999999</c:v>
                </c:pt>
                <c:pt idx="180">
                  <c:v>0.42995299999999997</c:v>
                </c:pt>
                <c:pt idx="181">
                  <c:v>0.19215299999999999</c:v>
                </c:pt>
                <c:pt idx="182">
                  <c:v>-1.5041000000000001E-2</c:v>
                </c:pt>
                <c:pt idx="183">
                  <c:v>-0.18179000000000001</c:v>
                </c:pt>
                <c:pt idx="184">
                  <c:v>-0.30229499999999998</c:v>
                </c:pt>
                <c:pt idx="185">
                  <c:v>-0.37502099999999999</c:v>
                </c:pt>
                <c:pt idx="186">
                  <c:v>-0.402582</c:v>
                </c:pt>
                <c:pt idx="187">
                  <c:v>-0.391295</c:v>
                </c:pt>
                <c:pt idx="188">
                  <c:v>-0.35044999999999998</c:v>
                </c:pt>
                <c:pt idx="189">
                  <c:v>-0.29137200000000002</c:v>
                </c:pt>
                <c:pt idx="190">
                  <c:v>-0.22634000000000001</c:v>
                </c:pt>
                <c:pt idx="191">
                  <c:v>-0.167464</c:v>
                </c:pt>
                <c:pt idx="192">
                  <c:v>-0.12562000000000001</c:v>
                </c:pt>
                <c:pt idx="193">
                  <c:v>-0.1095</c:v>
                </c:pt>
                <c:pt idx="194">
                  <c:v>-0.124886</c:v>
                </c:pt>
                <c:pt idx="195">
                  <c:v>-0.17416499999999999</c:v>
                </c:pt>
                <c:pt idx="196">
                  <c:v>-0.25615399999999999</c:v>
                </c:pt>
                <c:pt idx="197">
                  <c:v>-0.36620599999999998</c:v>
                </c:pt>
                <c:pt idx="198">
                  <c:v>-0.49661300000000003</c:v>
                </c:pt>
                <c:pt idx="199">
                  <c:v>-0.63724599999999998</c:v>
                </c:pt>
                <c:pt idx="200">
                  <c:v>-0.77638600000000002</c:v>
                </c:pt>
                <c:pt idx="201">
                  <c:v>-0.901671</c:v>
                </c:pt>
                <c:pt idx="202">
                  <c:v>-1.00109</c:v>
                </c:pt>
                <c:pt idx="203">
                  <c:v>-1.06393</c:v>
                </c:pt>
                <c:pt idx="204">
                  <c:v>-1.0816269999999999</c:v>
                </c:pt>
                <c:pt idx="205">
                  <c:v>-1.04843</c:v>
                </c:pt>
                <c:pt idx="206">
                  <c:v>-0.96186000000000005</c:v>
                </c:pt>
                <c:pt idx="207">
                  <c:v>-0.82291199999999998</c:v>
                </c:pt>
                <c:pt idx="208">
                  <c:v>-0.63600900000000005</c:v>
                </c:pt>
                <c:pt idx="209">
                  <c:v>-0.40870699999999999</c:v>
                </c:pt>
                <c:pt idx="210">
                  <c:v>-0.15118999999999999</c:v>
                </c:pt>
                <c:pt idx="211">
                  <c:v>0.12440900000000001</c:v>
                </c:pt>
                <c:pt idx="212">
                  <c:v>0.40479999999999999</c:v>
                </c:pt>
                <c:pt idx="213">
                  <c:v>0.67638200000000004</c:v>
                </c:pt>
                <c:pt idx="214">
                  <c:v>0.92608000000000001</c:v>
                </c:pt>
                <c:pt idx="215">
                  <c:v>1.1421190000000001</c:v>
                </c:pt>
                <c:pt idx="216">
                  <c:v>1.3146739999999999</c:v>
                </c:pt>
                <c:pt idx="217">
                  <c:v>1.436375</c:v>
                </c:pt>
                <c:pt idx="218">
                  <c:v>1.502626</c:v>
                </c:pt>
                <c:pt idx="219">
                  <c:v>1.5117320000000001</c:v>
                </c:pt>
                <c:pt idx="220">
                  <c:v>1.4648490000000001</c:v>
                </c:pt>
                <c:pt idx="221">
                  <c:v>1.3657539999999999</c:v>
                </c:pt>
                <c:pt idx="222">
                  <c:v>1.220491</c:v>
                </c:pt>
                <c:pt idx="223">
                  <c:v>1.0368930000000001</c:v>
                </c:pt>
                <c:pt idx="224">
                  <c:v>0.82405899999999999</c:v>
                </c:pt>
                <c:pt idx="225">
                  <c:v>0.59178699999999995</c:v>
                </c:pt>
                <c:pt idx="226">
                  <c:v>0.35003899999999999</c:v>
                </c:pt>
                <c:pt idx="227">
                  <c:v>0.108435</c:v>
                </c:pt>
                <c:pt idx="228">
                  <c:v>-0.124168</c:v>
                </c:pt>
                <c:pt idx="229">
                  <c:v>-0.34001999999999999</c:v>
                </c:pt>
                <c:pt idx="230">
                  <c:v>-0.53271199999999996</c:v>
                </c:pt>
                <c:pt idx="231">
                  <c:v>-0.69732899999999998</c:v>
                </c:pt>
                <c:pt idx="232">
                  <c:v>-0.83049700000000004</c:v>
                </c:pt>
                <c:pt idx="233">
                  <c:v>-0.93035999999999996</c:v>
                </c:pt>
                <c:pt idx="234">
                  <c:v>-0.99648400000000004</c:v>
                </c:pt>
                <c:pt idx="235">
                  <c:v>-1.0297229999999999</c:v>
                </c:pt>
                <c:pt idx="236">
                  <c:v>-1.032041</c:v>
                </c:pt>
                <c:pt idx="237">
                  <c:v>-1.0063230000000001</c:v>
                </c:pt>
                <c:pt idx="238">
                  <c:v>-0.95617200000000002</c:v>
                </c:pt>
                <c:pt idx="239">
                  <c:v>-0.88570800000000005</c:v>
                </c:pt>
                <c:pt idx="240">
                  <c:v>-0.799369</c:v>
                </c:pt>
                <c:pt idx="241">
                  <c:v>-0.70172500000000004</c:v>
                </c:pt>
                <c:pt idx="242">
                  <c:v>-0.59728999999999999</c:v>
                </c:pt>
                <c:pt idx="243">
                  <c:v>-0.49035000000000001</c:v>
                </c:pt>
                <c:pt idx="244">
                  <c:v>-0.384795</c:v>
                </c:pt>
                <c:pt idx="245">
                  <c:v>-0.28396500000000002</c:v>
                </c:pt>
                <c:pt idx="246">
                  <c:v>-0.19051699999999999</c:v>
                </c:pt>
                <c:pt idx="247">
                  <c:v>-0.106306</c:v>
                </c:pt>
                <c:pt idx="248">
                  <c:v>-3.2308999999999997E-2</c:v>
                </c:pt>
                <c:pt idx="249">
                  <c:v>3.1418000000000001E-2</c:v>
                </c:pt>
                <c:pt idx="250">
                  <c:v>8.5723999999999995E-2</c:v>
                </c:pt>
                <c:pt idx="251">
                  <c:v>0.13229199999999999</c:v>
                </c:pt>
                <c:pt idx="252">
                  <c:v>0.17350299999999999</c:v>
                </c:pt>
                <c:pt idx="253">
                  <c:v>0.21223800000000001</c:v>
                </c:pt>
                <c:pt idx="254">
                  <c:v>0.25162299999999999</c:v>
                </c:pt>
                <c:pt idx="255">
                  <c:v>0.29473100000000002</c:v>
                </c:pt>
                <c:pt idx="256">
                  <c:v>0.34424700000000003</c:v>
                </c:pt>
                <c:pt idx="257">
                  <c:v>0.40215000000000001</c:v>
                </c:pt>
                <c:pt idx="258">
                  <c:v>0.46939999999999998</c:v>
                </c:pt>
                <c:pt idx="259">
                  <c:v>0.54568799999999995</c:v>
                </c:pt>
                <c:pt idx="260">
                  <c:v>0.62927200000000005</c:v>
                </c:pt>
                <c:pt idx="261">
                  <c:v>0.71690500000000001</c:v>
                </c:pt>
                <c:pt idx="262">
                  <c:v>0.80390200000000001</c:v>
                </c:pt>
                <c:pt idx="263">
                  <c:v>0.88433099999999998</c:v>
                </c:pt>
                <c:pt idx="264">
                  <c:v>0.95133900000000005</c:v>
                </c:pt>
                <c:pt idx="265">
                  <c:v>0.99759600000000004</c:v>
                </c:pt>
                <c:pt idx="266">
                  <c:v>1.015833</c:v>
                </c:pt>
                <c:pt idx="267">
                  <c:v>0.99943800000000005</c:v>
                </c:pt>
                <c:pt idx="268">
                  <c:v>0.94306800000000002</c:v>
                </c:pt>
                <c:pt idx="269">
                  <c:v>0.84323099999999995</c:v>
                </c:pt>
                <c:pt idx="270">
                  <c:v>0.69877500000000003</c:v>
                </c:pt>
                <c:pt idx="271">
                  <c:v>0.51125200000000004</c:v>
                </c:pt>
                <c:pt idx="272">
                  <c:v>0.28511300000000001</c:v>
                </c:pt>
                <c:pt idx="273">
                  <c:v>2.7694E-2</c:v>
                </c:pt>
                <c:pt idx="274">
                  <c:v>-0.25101499999999999</c:v>
                </c:pt>
                <c:pt idx="275">
                  <c:v>-0.53880700000000004</c:v>
                </c:pt>
                <c:pt idx="276">
                  <c:v>-0.82190399999999997</c:v>
                </c:pt>
                <c:pt idx="277">
                  <c:v>-1.0857600000000001</c:v>
                </c:pt>
                <c:pt idx="278">
                  <c:v>-1.315966</c:v>
                </c:pt>
                <c:pt idx="279">
                  <c:v>-1.4992209999999999</c:v>
                </c:pt>
                <c:pt idx="280">
                  <c:v>-1.624258</c:v>
                </c:pt>
                <c:pt idx="281">
                  <c:v>-1.6826939999999999</c:v>
                </c:pt>
                <c:pt idx="282">
                  <c:v>-1.669708</c:v>
                </c:pt>
                <c:pt idx="283">
                  <c:v>-1.5844940000000001</c:v>
                </c:pt>
                <c:pt idx="284">
                  <c:v>-1.4304589999999999</c:v>
                </c:pt>
                <c:pt idx="285">
                  <c:v>-1.2151179999999999</c:v>
                </c:pt>
                <c:pt idx="286">
                  <c:v>-0.94970399999999999</c:v>
                </c:pt>
                <c:pt idx="287">
                  <c:v>-0.64849800000000002</c:v>
                </c:pt>
                <c:pt idx="288">
                  <c:v>-0.32792500000000002</c:v>
                </c:pt>
                <c:pt idx="289">
                  <c:v>-5.483E-3</c:v>
                </c:pt>
                <c:pt idx="290">
                  <c:v>0.30143199999999998</c:v>
                </c:pt>
                <c:pt idx="291">
                  <c:v>0.57670200000000005</c:v>
                </c:pt>
                <c:pt idx="292">
                  <c:v>0.80659199999999998</c:v>
                </c:pt>
                <c:pt idx="293">
                  <c:v>0.98068500000000003</c:v>
                </c:pt>
                <c:pt idx="294">
                  <c:v>1.0925800000000001</c:v>
                </c:pt>
                <c:pt idx="295">
                  <c:v>1.1402969999999999</c:v>
                </c:pt>
                <c:pt idx="296">
                  <c:v>1.1263479999999999</c:v>
                </c:pt>
                <c:pt idx="297">
                  <c:v>1.057469</c:v>
                </c:pt>
                <c:pt idx="298">
                  <c:v>0.94402799999999998</c:v>
                </c:pt>
                <c:pt idx="299">
                  <c:v>0.79916100000000001</c:v>
                </c:pt>
                <c:pt idx="300">
                  <c:v>0.63768100000000005</c:v>
                </c:pt>
              </c:numCache>
            </c:numRef>
          </c:yVal>
          <c:smooth val="1"/>
          <c:extLst>
            <c:ext xmlns:c16="http://schemas.microsoft.com/office/drawing/2014/chart" uri="{C3380CC4-5D6E-409C-BE32-E72D297353CC}">
              <c16:uniqueId val="{00000000-DF08-4972-AC4F-7F71EC8F6CCD}"/>
            </c:ext>
          </c:extLst>
        </c:ser>
        <c:ser>
          <c:idx val="1"/>
          <c:order val="1"/>
          <c:tx>
            <c:strRef>
              <c:f>Frame 1: 0–4 s</c:f>
              <c:strCache>
                <c:ptCount val="1"/>
                <c:pt idx="0">
                  <c:v>Frame 1: 0–4 s</c:v>
                </c:pt>
              </c:strCache>
            </c:strRef>
          </c:tx>
          <c:spPr>
            <a:ln w="28575" cap="rnd">
              <a:solidFill>
                <a:srgbClr val="087E8B"/>
              </a:solidFill>
              <a:prstDash val="solid"/>
              <a:round/>
            </a:ln>
          </c:spPr>
          <c:marker>
            <c:symbol val="none"/>
          </c:marker>
          <c:xVal>
            <c:numRef>
              <c:f>'Chart Data'!$C$2:$C$5</c:f>
              <c:numCache>
                <c:formatCode>General</c:formatCode>
                <c:ptCount val="4"/>
                <c:pt idx="0">
                  <c:v>0</c:v>
                </c:pt>
                <c:pt idx="1">
                  <c:v>0</c:v>
                </c:pt>
                <c:pt idx="2">
                  <c:v>4</c:v>
                </c:pt>
                <c:pt idx="3">
                  <c:v>4</c:v>
                </c:pt>
              </c:numCache>
            </c:numRef>
          </c:xVal>
          <c:yVal>
            <c:numRef>
              <c:f>'Chart Data'!$D$2:$D$5</c:f>
              <c:numCache>
                <c:formatCode>0.0</c:formatCode>
                <c:ptCount val="4"/>
                <c:pt idx="0">
                  <c:v>1.9</c:v>
                </c:pt>
                <c:pt idx="1">
                  <c:v>2.15</c:v>
                </c:pt>
                <c:pt idx="2">
                  <c:v>2.15</c:v>
                </c:pt>
                <c:pt idx="3">
                  <c:v>1.9</c:v>
                </c:pt>
              </c:numCache>
            </c:numRef>
          </c:yVal>
          <c:smooth val="1"/>
          <c:extLst>
            <c:ext xmlns:c16="http://schemas.microsoft.com/office/drawing/2014/chart" uri="{C3380CC4-5D6E-409C-BE32-E72D297353CC}">
              <c16:uniqueId val="{00000001-DF08-4972-AC4F-7F71EC8F6CCD}"/>
            </c:ext>
          </c:extLst>
        </c:ser>
        <c:ser>
          <c:idx val="2"/>
          <c:order val="2"/>
          <c:tx>
            <c:strRef>
              <c:f>Frame 2: 1–5 s</c:f>
              <c:strCache>
                <c:ptCount val="1"/>
                <c:pt idx="0">
                  <c:v>Frame 2: 1–5 s</c:v>
                </c:pt>
              </c:strCache>
            </c:strRef>
          </c:tx>
          <c:spPr>
            <a:ln w="28575" cap="rnd">
              <a:solidFill>
                <a:srgbClr val="7056A8"/>
              </a:solidFill>
              <a:prstDash val="solid"/>
              <a:round/>
            </a:ln>
          </c:spPr>
          <c:marker>
            <c:symbol val="none"/>
          </c:marker>
          <c:xVal>
            <c:numRef>
              <c:f>'Chart Data'!$E$2:$E$5</c:f>
              <c:numCache>
                <c:formatCode>General</c:formatCode>
                <c:ptCount val="4"/>
                <c:pt idx="0">
                  <c:v>1</c:v>
                </c:pt>
                <c:pt idx="1">
                  <c:v>1</c:v>
                </c:pt>
                <c:pt idx="2">
                  <c:v>5</c:v>
                </c:pt>
                <c:pt idx="3">
                  <c:v>5</c:v>
                </c:pt>
              </c:numCache>
            </c:numRef>
          </c:xVal>
          <c:yVal>
            <c:numRef>
              <c:f>'Chart Data'!$F$2:$F$5</c:f>
              <c:numCache>
                <c:formatCode>0.0</c:formatCode>
                <c:ptCount val="4"/>
                <c:pt idx="0">
                  <c:v>2.4</c:v>
                </c:pt>
                <c:pt idx="1">
                  <c:v>2.65</c:v>
                </c:pt>
                <c:pt idx="2">
                  <c:v>2.65</c:v>
                </c:pt>
                <c:pt idx="3">
                  <c:v>2.4</c:v>
                </c:pt>
              </c:numCache>
            </c:numRef>
          </c:yVal>
          <c:smooth val="1"/>
          <c:extLst>
            <c:ext xmlns:c16="http://schemas.microsoft.com/office/drawing/2014/chart" uri="{C3380CC4-5D6E-409C-BE32-E72D297353CC}">
              <c16:uniqueId val="{00000002-DF08-4972-AC4F-7F71EC8F6CCD}"/>
            </c:ext>
          </c:extLst>
        </c:ser>
        <c:dLbls>
          <c:showLegendKey val="0"/>
          <c:showVal val="0"/>
          <c:showCatName val="0"/>
          <c:showSerName val="0"/>
          <c:showPercent val="0"/>
          <c:showBubbleSize val="0"/>
        </c:dLbls>
        <c:axId val="48650112"/>
        <c:axId val="48672768"/>
      </c:scatterChart>
      <c:valAx>
        <c:axId val="48650112"/>
        <c:scaling>
          <c:orientation val="minMax"/>
          <c:max val="6"/>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1"/>
      </c:valAx>
      <c:valAx>
        <c:axId val="48672768"/>
        <c:scaling>
          <c:orientation val="minMax"/>
          <c:max val="2.8"/>
          <c:min val="-2"/>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PPG (a.u.)</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19af8e74-5114-4140-a2d1-6b3eeeea3dd6}"/>
      </c:ext>
    </c:extLst>
  </c:chart>
  <c:spPr>
    <a:solidFill>
      <a:srgbClr val="FFFFFF"/>
    </a:solidFill>
    <a:ln w="0">
      <a:noFill/>
    </a:ln>
  </c:spPr>
  <c:txPr>
    <a:bodyPr/>
    <a:lstStyle/>
    <a:p>
      <a:pPr>
        <a:defRPr lang="zh-CN"/>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PPG magnitude P</c:f>
              <c:strCache>
                <c:ptCount val="1"/>
                <c:pt idx="0">
                  <c:v>PPG magnitude P</c:v>
                </c:pt>
              </c:strCache>
            </c:strRef>
          </c:tx>
          <c:spPr>
            <a:ln w="23813" cap="rnd">
              <a:solidFill>
                <a:srgbClr val="087E8B"/>
              </a:solidFill>
              <a:prstDash val="solid"/>
              <a:round/>
            </a:ln>
          </c:spPr>
          <c:marker>
            <c:symbol val="none"/>
          </c:marker>
          <c:xVal>
            <c:numRef>
              <c:f>'Chart Data'!$A$2:$A$162</c:f>
              <c:numCache>
                <c:formatCode>General</c:formatCode>
                <c:ptCount val="161"/>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numCache>
            </c:numRef>
          </c:xVal>
          <c:yVal>
            <c:numRef>
              <c:f>'Chart Data'!$B$2:$B$162</c:f>
              <c:numCache>
                <c:formatCode>0.0</c:formatCode>
                <c:ptCount val="161"/>
                <c:pt idx="0">
                  <c:v>0.03</c:v>
                </c:pt>
                <c:pt idx="1">
                  <c:v>0.03</c:v>
                </c:pt>
                <c:pt idx="2">
                  <c:v>0.03</c:v>
                </c:pt>
                <c:pt idx="3">
                  <c:v>0.03</c:v>
                </c:pt>
                <c:pt idx="4">
                  <c:v>0.03</c:v>
                </c:pt>
                <c:pt idx="5">
                  <c:v>0.03</c:v>
                </c:pt>
                <c:pt idx="6">
                  <c:v>0.03</c:v>
                </c:pt>
                <c:pt idx="7">
                  <c:v>0.03</c:v>
                </c:pt>
                <c:pt idx="8">
                  <c:v>0.03</c:v>
                </c:pt>
                <c:pt idx="9">
                  <c:v>0.03</c:v>
                </c:pt>
                <c:pt idx="10">
                  <c:v>0.03</c:v>
                </c:pt>
                <c:pt idx="11">
                  <c:v>0.03</c:v>
                </c:pt>
                <c:pt idx="12">
                  <c:v>0.03</c:v>
                </c:pt>
                <c:pt idx="13">
                  <c:v>0.03</c:v>
                </c:pt>
                <c:pt idx="14">
                  <c:v>0.03</c:v>
                </c:pt>
                <c:pt idx="15">
                  <c:v>0.03</c:v>
                </c:pt>
                <c:pt idx="16">
                  <c:v>0.03</c:v>
                </c:pt>
                <c:pt idx="17">
                  <c:v>0.03</c:v>
                </c:pt>
                <c:pt idx="18">
                  <c:v>0.03</c:v>
                </c:pt>
                <c:pt idx="19">
                  <c:v>0.03</c:v>
                </c:pt>
                <c:pt idx="20">
                  <c:v>0.03</c:v>
                </c:pt>
                <c:pt idx="21">
                  <c:v>0.03</c:v>
                </c:pt>
                <c:pt idx="22">
                  <c:v>0.03</c:v>
                </c:pt>
                <c:pt idx="23">
                  <c:v>0.03</c:v>
                </c:pt>
                <c:pt idx="24">
                  <c:v>0.03</c:v>
                </c:pt>
                <c:pt idx="25">
                  <c:v>0.03</c:v>
                </c:pt>
                <c:pt idx="26">
                  <c:v>0.03</c:v>
                </c:pt>
                <c:pt idx="27">
                  <c:v>0.03</c:v>
                </c:pt>
                <c:pt idx="28">
                  <c:v>0.03</c:v>
                </c:pt>
                <c:pt idx="29">
                  <c:v>0.03</c:v>
                </c:pt>
                <c:pt idx="30">
                  <c:v>3.0001E-2</c:v>
                </c:pt>
                <c:pt idx="31">
                  <c:v>3.0003999999999999E-2</c:v>
                </c:pt>
                <c:pt idx="32">
                  <c:v>3.0015E-2</c:v>
                </c:pt>
                <c:pt idx="33">
                  <c:v>3.0057E-2</c:v>
                </c:pt>
                <c:pt idx="34">
                  <c:v>3.0202E-2</c:v>
                </c:pt>
                <c:pt idx="35">
                  <c:v>3.0651999999999999E-2</c:v>
                </c:pt>
                <c:pt idx="36">
                  <c:v>3.193E-2</c:v>
                </c:pt>
                <c:pt idx="37">
                  <c:v>3.5237999999999998E-2</c:v>
                </c:pt>
                <c:pt idx="38">
                  <c:v>4.3033000000000002E-2</c:v>
                </c:pt>
                <c:pt idx="39">
                  <c:v>5.9728999999999997E-2</c:v>
                </c:pt>
                <c:pt idx="40">
                  <c:v>9.2176999999999995E-2</c:v>
                </c:pt>
                <c:pt idx="41">
                  <c:v>0.149226</c:v>
                </c:pt>
                <c:pt idx="42">
                  <c:v>0.23961099999999999</c:v>
                </c:pt>
                <c:pt idx="43">
                  <c:v>0.36787799999999998</c:v>
                </c:pt>
                <c:pt idx="44">
                  <c:v>0.52935200000000004</c:v>
                </c:pt>
                <c:pt idx="45">
                  <c:v>0.70663399999999998</c:v>
                </c:pt>
                <c:pt idx="46">
                  <c:v>0.87062399999999995</c:v>
                </c:pt>
                <c:pt idx="47">
                  <c:v>0.98752600000000001</c:v>
                </c:pt>
                <c:pt idx="48">
                  <c:v>1.03</c:v>
                </c:pt>
                <c:pt idx="49">
                  <c:v>0.98752600000000001</c:v>
                </c:pt>
                <c:pt idx="50">
                  <c:v>0.87062399999999995</c:v>
                </c:pt>
                <c:pt idx="51">
                  <c:v>0.70663399999999998</c:v>
                </c:pt>
                <c:pt idx="52">
                  <c:v>0.52935200000000004</c:v>
                </c:pt>
                <c:pt idx="53">
                  <c:v>0.36787799999999998</c:v>
                </c:pt>
                <c:pt idx="54">
                  <c:v>0.23961099999999999</c:v>
                </c:pt>
                <c:pt idx="55">
                  <c:v>0.149226</c:v>
                </c:pt>
                <c:pt idx="56">
                  <c:v>9.2176999999999995E-2</c:v>
                </c:pt>
                <c:pt idx="57">
                  <c:v>5.9728999999999997E-2</c:v>
                </c:pt>
                <c:pt idx="58">
                  <c:v>4.3033000000000002E-2</c:v>
                </c:pt>
                <c:pt idx="59">
                  <c:v>3.5238999999999999E-2</c:v>
                </c:pt>
                <c:pt idx="60">
                  <c:v>3.1931000000000001E-2</c:v>
                </c:pt>
                <c:pt idx="61">
                  <c:v>3.0654000000000001E-2</c:v>
                </c:pt>
                <c:pt idx="62">
                  <c:v>3.0207999999999999E-2</c:v>
                </c:pt>
                <c:pt idx="63">
                  <c:v>3.0072999999999999E-2</c:v>
                </c:pt>
                <c:pt idx="64">
                  <c:v>3.0058000000000001E-2</c:v>
                </c:pt>
                <c:pt idx="65">
                  <c:v>3.0114999999999999E-2</c:v>
                </c:pt>
                <c:pt idx="66">
                  <c:v>3.0276000000000001E-2</c:v>
                </c:pt>
                <c:pt idx="67">
                  <c:v>3.0647000000000001E-2</c:v>
                </c:pt>
                <c:pt idx="68">
                  <c:v>3.1447999999999997E-2</c:v>
                </c:pt>
                <c:pt idx="69">
                  <c:v>3.3085999999999997E-2</c:v>
                </c:pt>
                <c:pt idx="70">
                  <c:v>3.6264999999999999E-2</c:v>
                </c:pt>
                <c:pt idx="71">
                  <c:v>4.2111000000000003E-2</c:v>
                </c:pt>
                <c:pt idx="72">
                  <c:v>5.2297000000000003E-2</c:v>
                </c:pt>
                <c:pt idx="73">
                  <c:v>6.9094000000000003E-2</c:v>
                </c:pt>
                <c:pt idx="74">
                  <c:v>9.5279000000000003E-2</c:v>
                </c:pt>
                <c:pt idx="75">
                  <c:v>0.13380700000000001</c:v>
                </c:pt>
                <c:pt idx="76">
                  <c:v>0.18720899999999999</c:v>
                </c:pt>
                <c:pt idx="77">
                  <c:v>0.25673600000000002</c:v>
                </c:pt>
                <c:pt idx="78">
                  <c:v>0.34142800000000001</c:v>
                </c:pt>
                <c:pt idx="79">
                  <c:v>0.43736999999999998</c:v>
                </c:pt>
                <c:pt idx="80">
                  <c:v>0.53747500000000004</c:v>
                </c:pt>
                <c:pt idx="81">
                  <c:v>0.632054</c:v>
                </c:pt>
                <c:pt idx="82">
                  <c:v>0.71022099999999999</c:v>
                </c:pt>
                <c:pt idx="83">
                  <c:v>0.76191399999999998</c:v>
                </c:pt>
                <c:pt idx="84">
                  <c:v>0.78001500000000001</c:v>
                </c:pt>
                <c:pt idx="85">
                  <c:v>0.76197400000000004</c:v>
                </c:pt>
                <c:pt idx="86">
                  <c:v>0.71045199999999997</c:v>
                </c:pt>
                <c:pt idx="87">
                  <c:v>0.63281299999999996</c:v>
                </c:pt>
                <c:pt idx="88">
                  <c:v>0.53967299999999996</c:v>
                </c:pt>
                <c:pt idx="89">
                  <c:v>0.44298199999999999</c:v>
                </c:pt>
                <c:pt idx="90">
                  <c:v>0.354076</c:v>
                </c:pt>
                <c:pt idx="91">
                  <c:v>0.281889</c:v>
                </c:pt>
                <c:pt idx="92">
                  <c:v>0.231354</c:v>
                </c:pt>
                <c:pt idx="93">
                  <c:v>0.202181</c:v>
                </c:pt>
                <c:pt idx="94">
                  <c:v>0.18873500000000001</c:v>
                </c:pt>
                <c:pt idx="95">
                  <c:v>0.18182400000000001</c:v>
                </c:pt>
                <c:pt idx="96">
                  <c:v>0.17229700000000001</c:v>
                </c:pt>
                <c:pt idx="97">
                  <c:v>0.15484000000000001</c:v>
                </c:pt>
                <c:pt idx="98">
                  <c:v>0.129721</c:v>
                </c:pt>
                <c:pt idx="99">
                  <c:v>0.10145999999999999</c:v>
                </c:pt>
                <c:pt idx="100">
                  <c:v>7.5592999999999994E-2</c:v>
                </c:pt>
                <c:pt idx="101">
                  <c:v>5.5800000000000002E-2</c:v>
                </c:pt>
                <c:pt idx="102">
                  <c:v>4.2923000000000003E-2</c:v>
                </c:pt>
                <c:pt idx="103">
                  <c:v>3.5723999999999999E-2</c:v>
                </c:pt>
                <c:pt idx="104">
                  <c:v>3.2240999999999999E-2</c:v>
                </c:pt>
                <c:pt idx="105">
                  <c:v>3.0775E-2</c:v>
                </c:pt>
                <c:pt idx="106">
                  <c:v>3.0237E-2</c:v>
                </c:pt>
                <c:pt idx="107">
                  <c:v>3.0064E-2</c:v>
                </c:pt>
                <c:pt idx="108">
                  <c:v>3.0015E-2</c:v>
                </c:pt>
                <c:pt idx="109">
                  <c:v>3.0002999999999998E-2</c:v>
                </c:pt>
                <c:pt idx="110">
                  <c:v>3.0001E-2</c:v>
                </c:pt>
                <c:pt idx="111">
                  <c:v>0.03</c:v>
                </c:pt>
                <c:pt idx="112">
                  <c:v>0.03</c:v>
                </c:pt>
                <c:pt idx="113">
                  <c:v>0.03</c:v>
                </c:pt>
                <c:pt idx="114">
                  <c:v>0.03</c:v>
                </c:pt>
                <c:pt idx="115">
                  <c:v>0.03</c:v>
                </c:pt>
                <c:pt idx="116">
                  <c:v>0.03</c:v>
                </c:pt>
                <c:pt idx="117">
                  <c:v>0.03</c:v>
                </c:pt>
                <c:pt idx="118">
                  <c:v>0.03</c:v>
                </c:pt>
                <c:pt idx="119">
                  <c:v>0.03</c:v>
                </c:pt>
                <c:pt idx="120">
                  <c:v>0.03</c:v>
                </c:pt>
                <c:pt idx="121">
                  <c:v>0.03</c:v>
                </c:pt>
                <c:pt idx="122">
                  <c:v>0.03</c:v>
                </c:pt>
                <c:pt idx="123">
                  <c:v>0.03</c:v>
                </c:pt>
                <c:pt idx="124">
                  <c:v>0.03</c:v>
                </c:pt>
                <c:pt idx="125">
                  <c:v>0.03</c:v>
                </c:pt>
                <c:pt idx="126">
                  <c:v>0.03</c:v>
                </c:pt>
                <c:pt idx="127">
                  <c:v>0.03</c:v>
                </c:pt>
                <c:pt idx="128">
                  <c:v>0.03</c:v>
                </c:pt>
                <c:pt idx="129">
                  <c:v>0.03</c:v>
                </c:pt>
                <c:pt idx="130">
                  <c:v>0.03</c:v>
                </c:pt>
                <c:pt idx="131">
                  <c:v>0.03</c:v>
                </c:pt>
                <c:pt idx="132">
                  <c:v>0.03</c:v>
                </c:pt>
                <c:pt idx="133">
                  <c:v>0.03</c:v>
                </c:pt>
                <c:pt idx="134">
                  <c:v>0.03</c:v>
                </c:pt>
                <c:pt idx="135">
                  <c:v>0.03</c:v>
                </c:pt>
                <c:pt idx="136">
                  <c:v>0.03</c:v>
                </c:pt>
                <c:pt idx="137">
                  <c:v>0.03</c:v>
                </c:pt>
                <c:pt idx="138">
                  <c:v>0.03</c:v>
                </c:pt>
                <c:pt idx="139">
                  <c:v>0.03</c:v>
                </c:pt>
                <c:pt idx="140">
                  <c:v>0.03</c:v>
                </c:pt>
                <c:pt idx="141">
                  <c:v>0.03</c:v>
                </c:pt>
                <c:pt idx="142">
                  <c:v>0.03</c:v>
                </c:pt>
                <c:pt idx="143">
                  <c:v>0.03</c:v>
                </c:pt>
                <c:pt idx="144">
                  <c:v>0.03</c:v>
                </c:pt>
                <c:pt idx="145">
                  <c:v>0.03</c:v>
                </c:pt>
                <c:pt idx="146">
                  <c:v>0.03</c:v>
                </c:pt>
                <c:pt idx="147">
                  <c:v>0.03</c:v>
                </c:pt>
                <c:pt idx="148">
                  <c:v>0.03</c:v>
                </c:pt>
                <c:pt idx="149">
                  <c:v>0.03</c:v>
                </c:pt>
                <c:pt idx="150">
                  <c:v>0.03</c:v>
                </c:pt>
                <c:pt idx="151">
                  <c:v>0.03</c:v>
                </c:pt>
                <c:pt idx="152">
                  <c:v>0.03</c:v>
                </c:pt>
                <c:pt idx="153">
                  <c:v>0.03</c:v>
                </c:pt>
                <c:pt idx="154">
                  <c:v>0.03</c:v>
                </c:pt>
                <c:pt idx="155">
                  <c:v>0.03</c:v>
                </c:pt>
                <c:pt idx="156">
                  <c:v>0.03</c:v>
                </c:pt>
                <c:pt idx="157">
                  <c:v>0.03</c:v>
                </c:pt>
                <c:pt idx="158">
                  <c:v>0.03</c:v>
                </c:pt>
                <c:pt idx="159">
                  <c:v>0.03</c:v>
                </c:pt>
                <c:pt idx="160">
                  <c:v>0.03</c:v>
                </c:pt>
              </c:numCache>
            </c:numRef>
          </c:yVal>
          <c:smooth val="1"/>
          <c:extLst>
            <c:ext xmlns:c16="http://schemas.microsoft.com/office/drawing/2014/chart" uri="{C3380CC4-5D6E-409C-BE32-E72D297353CC}">
              <c16:uniqueId val="{00000000-803C-4478-B1A5-9A99737F3D96}"/>
            </c:ext>
          </c:extLst>
        </c:ser>
        <c:ser>
          <c:idx val="1"/>
          <c:order val="1"/>
          <c:tx>
            <c:strRef>
              <c:f>Motion magnitude M</c:f>
              <c:strCache>
                <c:ptCount val="1"/>
                <c:pt idx="0">
                  <c:v>Motion magnitude M</c:v>
                </c:pt>
              </c:strCache>
            </c:strRef>
          </c:tx>
          <c:spPr>
            <a:ln w="23813" cap="rnd">
              <a:solidFill>
                <a:srgbClr val="B96D20"/>
              </a:solidFill>
              <a:prstDash val="solid"/>
              <a:round/>
            </a:ln>
          </c:spPr>
          <c:marker>
            <c:symbol val="none"/>
          </c:marker>
          <c:xVal>
            <c:numRef>
              <c:f>'Chart Data'!$C$2:$C$162</c:f>
              <c:numCache>
                <c:formatCode>General</c:formatCode>
                <c:ptCount val="161"/>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numCache>
            </c:numRef>
          </c:xVal>
          <c:yVal>
            <c:numRef>
              <c:f>'Chart Data'!$D$2:$D$162</c:f>
              <c:numCache>
                <c:formatCode>0.0</c:formatCode>
                <c:ptCount val="161"/>
                <c:pt idx="0">
                  <c:v>0.01</c:v>
                </c:pt>
                <c:pt idx="1">
                  <c:v>0.01</c:v>
                </c:pt>
                <c:pt idx="2">
                  <c:v>0.01</c:v>
                </c:pt>
                <c:pt idx="3">
                  <c:v>0.01</c:v>
                </c:pt>
                <c:pt idx="4">
                  <c:v>0.01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1.0000999999999999E-2</c:v>
                </c:pt>
                <c:pt idx="21">
                  <c:v>1.0000999999999999E-2</c:v>
                </c:pt>
                <c:pt idx="22">
                  <c:v>1.0003E-2</c:v>
                </c:pt>
                <c:pt idx="23">
                  <c:v>1.0007E-2</c:v>
                </c:pt>
                <c:pt idx="24">
                  <c:v>1.0015E-2</c:v>
                </c:pt>
                <c:pt idx="25">
                  <c:v>1.0031E-2</c:v>
                </c:pt>
                <c:pt idx="26">
                  <c:v>1.0062E-2</c:v>
                </c:pt>
                <c:pt idx="27">
                  <c:v>1.0122000000000001E-2</c:v>
                </c:pt>
                <c:pt idx="28">
                  <c:v>1.0232E-2</c:v>
                </c:pt>
                <c:pt idx="29">
                  <c:v>1.0426E-2</c:v>
                </c:pt>
                <c:pt idx="30">
                  <c:v>1.076E-2</c:v>
                </c:pt>
                <c:pt idx="31">
                  <c:v>1.1311999999999999E-2</c:v>
                </c:pt>
                <c:pt idx="32">
                  <c:v>1.2198000000000001E-2</c:v>
                </c:pt>
                <c:pt idx="33">
                  <c:v>1.3568E-2</c:v>
                </c:pt>
                <c:pt idx="34">
                  <c:v>1.5611999999999999E-2</c:v>
                </c:pt>
                <c:pt idx="35">
                  <c:v>1.8558000000000002E-2</c:v>
                </c:pt>
                <c:pt idx="36">
                  <c:v>2.2648000000000001E-2</c:v>
                </c:pt>
                <c:pt idx="37">
                  <c:v>2.8117E-2</c:v>
                </c:pt>
                <c:pt idx="38">
                  <c:v>3.5152999999999997E-2</c:v>
                </c:pt>
                <c:pt idx="39">
                  <c:v>4.3847999999999998E-2</c:v>
                </c:pt>
                <c:pt idx="40">
                  <c:v>5.4146E-2</c:v>
                </c:pt>
                <c:pt idx="41">
                  <c:v>6.5805000000000002E-2</c:v>
                </c:pt>
                <c:pt idx="42">
                  <c:v>7.8373999999999999E-2</c:v>
                </c:pt>
                <c:pt idx="43">
                  <c:v>9.1195999999999999E-2</c:v>
                </c:pt>
                <c:pt idx="44">
                  <c:v>0.10345600000000001</c:v>
                </c:pt>
                <c:pt idx="45">
                  <c:v>0.114258</c:v>
                </c:pt>
                <c:pt idx="46">
                  <c:v>0.12273000000000001</c:v>
                </c:pt>
                <c:pt idx="47">
                  <c:v>0.12814</c:v>
                </c:pt>
                <c:pt idx="48">
                  <c:v>0.13</c:v>
                </c:pt>
                <c:pt idx="49">
                  <c:v>0.12814</c:v>
                </c:pt>
                <c:pt idx="50">
                  <c:v>0.12273000000000001</c:v>
                </c:pt>
                <c:pt idx="51">
                  <c:v>0.114258</c:v>
                </c:pt>
                <c:pt idx="52">
                  <c:v>0.10345600000000001</c:v>
                </c:pt>
                <c:pt idx="53">
                  <c:v>9.1195999999999999E-2</c:v>
                </c:pt>
                <c:pt idx="54">
                  <c:v>7.8373999999999999E-2</c:v>
                </c:pt>
                <c:pt idx="55">
                  <c:v>6.5805000000000002E-2</c:v>
                </c:pt>
                <c:pt idx="56">
                  <c:v>5.4146E-2</c:v>
                </c:pt>
                <c:pt idx="57">
                  <c:v>4.3847999999999998E-2</c:v>
                </c:pt>
                <c:pt idx="58">
                  <c:v>3.5153999999999998E-2</c:v>
                </c:pt>
                <c:pt idx="59">
                  <c:v>2.8119000000000002E-2</c:v>
                </c:pt>
                <c:pt idx="60">
                  <c:v>2.2653E-2</c:v>
                </c:pt>
                <c:pt idx="61">
                  <c:v>1.8572999999999999E-2</c:v>
                </c:pt>
                <c:pt idx="62">
                  <c:v>1.5651999999999999E-2</c:v>
                </c:pt>
                <c:pt idx="63">
                  <c:v>1.3668E-2</c:v>
                </c:pt>
                <c:pt idx="64">
                  <c:v>1.2442999999999999E-2</c:v>
                </c:pt>
                <c:pt idx="65">
                  <c:v>1.1882E-2</c:v>
                </c:pt>
                <c:pt idx="66">
                  <c:v>1.2026999999999999E-2</c:v>
                </c:pt>
                <c:pt idx="67">
                  <c:v>1.3129E-2</c:v>
                </c:pt>
                <c:pt idx="68">
                  <c:v>1.5748999999999999E-2</c:v>
                </c:pt>
                <c:pt idx="69">
                  <c:v>2.0909000000000001E-2</c:v>
                </c:pt>
                <c:pt idx="70">
                  <c:v>3.0258E-2</c:v>
                </c:pt>
                <c:pt idx="71">
                  <c:v>4.6242999999999999E-2</c:v>
                </c:pt>
                <c:pt idx="72">
                  <c:v>7.2194999999999995E-2</c:v>
                </c:pt>
                <c:pt idx="73">
                  <c:v>0.112259</c:v>
                </c:pt>
                <c:pt idx="74">
                  <c:v>0.17103399999999999</c:v>
                </c:pt>
                <c:pt idx="75">
                  <c:v>0.25286399999999998</c:v>
                </c:pt>
                <c:pt idx="76">
                  <c:v>0.36077500000000001</c:v>
                </c:pt>
                <c:pt idx="77">
                  <c:v>0.49518899999999999</c:v>
                </c:pt>
                <c:pt idx="78">
                  <c:v>0.652702</c:v>
                </c:pt>
                <c:pt idx="79">
                  <c:v>0.82531100000000002</c:v>
                </c:pt>
                <c:pt idx="80">
                  <c:v>1.000497</c:v>
                </c:pt>
                <c:pt idx="81">
                  <c:v>1.1623870000000001</c:v>
                </c:pt>
                <c:pt idx="82">
                  <c:v>1.2939830000000001</c:v>
                </c:pt>
                <c:pt idx="83">
                  <c:v>1.3800479999999999</c:v>
                </c:pt>
                <c:pt idx="84">
                  <c:v>1.41</c:v>
                </c:pt>
                <c:pt idx="85">
                  <c:v>1.3800479999999999</c:v>
                </c:pt>
                <c:pt idx="86">
                  <c:v>1.2939830000000001</c:v>
                </c:pt>
                <c:pt idx="87">
                  <c:v>1.1623870000000001</c:v>
                </c:pt>
                <c:pt idx="88">
                  <c:v>1.000497</c:v>
                </c:pt>
                <c:pt idx="89">
                  <c:v>0.82531100000000002</c:v>
                </c:pt>
                <c:pt idx="90">
                  <c:v>0.652702</c:v>
                </c:pt>
                <c:pt idx="91">
                  <c:v>0.49518899999999999</c:v>
                </c:pt>
                <c:pt idx="92">
                  <c:v>0.36077500000000001</c:v>
                </c:pt>
                <c:pt idx="93">
                  <c:v>0.252863</c:v>
                </c:pt>
                <c:pt idx="94">
                  <c:v>0.17103099999999999</c:v>
                </c:pt>
                <c:pt idx="95">
                  <c:v>0.11225300000000001</c:v>
                </c:pt>
                <c:pt idx="96">
                  <c:v>7.2179999999999994E-2</c:v>
                </c:pt>
                <c:pt idx="97">
                  <c:v>4.6212000000000003E-2</c:v>
                </c:pt>
                <c:pt idx="98">
                  <c:v>3.0196000000000001E-2</c:v>
                </c:pt>
                <c:pt idx="99">
                  <c:v>2.0787E-2</c:v>
                </c:pt>
                <c:pt idx="100">
                  <c:v>1.5517E-2</c:v>
                </c:pt>
                <c:pt idx="101">
                  <c:v>1.2703000000000001E-2</c:v>
                </c:pt>
                <c:pt idx="102">
                  <c:v>1.1268E-2</c:v>
                </c:pt>
                <c:pt idx="103">
                  <c:v>1.057E-2</c:v>
                </c:pt>
                <c:pt idx="104">
                  <c:v>1.0245000000000001E-2</c:v>
                </c:pt>
                <c:pt idx="105">
                  <c:v>1.0101000000000001E-2</c:v>
                </c:pt>
                <c:pt idx="106">
                  <c:v>1.004E-2</c:v>
                </c:pt>
                <c:pt idx="107">
                  <c:v>1.0015E-2</c:v>
                </c:pt>
                <c:pt idx="108">
                  <c:v>1.0005E-2</c:v>
                </c:pt>
                <c:pt idx="109">
                  <c:v>1.0002E-2</c:v>
                </c:pt>
                <c:pt idx="110">
                  <c:v>1.0000999999999999E-2</c:v>
                </c:pt>
                <c:pt idx="111">
                  <c:v>0.01</c:v>
                </c:pt>
                <c:pt idx="112">
                  <c:v>0.01</c:v>
                </c:pt>
                <c:pt idx="113">
                  <c:v>0.01</c:v>
                </c:pt>
                <c:pt idx="114">
                  <c:v>0.01</c:v>
                </c:pt>
                <c:pt idx="115">
                  <c:v>0.01</c:v>
                </c:pt>
                <c:pt idx="116">
                  <c:v>0.01</c:v>
                </c:pt>
                <c:pt idx="117">
                  <c:v>0.01</c:v>
                </c:pt>
                <c:pt idx="118">
                  <c:v>0.01</c:v>
                </c:pt>
                <c:pt idx="119">
                  <c:v>0.01</c:v>
                </c:pt>
                <c:pt idx="120">
                  <c:v>0.01</c:v>
                </c:pt>
                <c:pt idx="121">
                  <c:v>0.01</c:v>
                </c:pt>
                <c:pt idx="122">
                  <c:v>0.01</c:v>
                </c:pt>
                <c:pt idx="123">
                  <c:v>0.01</c:v>
                </c:pt>
                <c:pt idx="124">
                  <c:v>0.01</c:v>
                </c:pt>
                <c:pt idx="125">
                  <c:v>0.01</c:v>
                </c:pt>
                <c:pt idx="126">
                  <c:v>0.01</c:v>
                </c:pt>
                <c:pt idx="127">
                  <c:v>0.01</c:v>
                </c:pt>
                <c:pt idx="128">
                  <c:v>0.01</c:v>
                </c:pt>
                <c:pt idx="129">
                  <c:v>0.01</c:v>
                </c:pt>
                <c:pt idx="130">
                  <c:v>0.01</c:v>
                </c:pt>
                <c:pt idx="131">
                  <c:v>0.01</c:v>
                </c:pt>
                <c:pt idx="132">
                  <c:v>0.01</c:v>
                </c:pt>
                <c:pt idx="133">
                  <c:v>0.01</c:v>
                </c:pt>
                <c:pt idx="134">
                  <c:v>0.01</c:v>
                </c:pt>
                <c:pt idx="135">
                  <c:v>0.01</c:v>
                </c:pt>
                <c:pt idx="136">
                  <c:v>0.01</c:v>
                </c:pt>
                <c:pt idx="137">
                  <c:v>0.01</c:v>
                </c:pt>
                <c:pt idx="138">
                  <c:v>0.01</c:v>
                </c:pt>
                <c:pt idx="139">
                  <c:v>0.01</c:v>
                </c:pt>
                <c:pt idx="140">
                  <c:v>0.01</c:v>
                </c:pt>
                <c:pt idx="141">
                  <c:v>0.01</c:v>
                </c:pt>
                <c:pt idx="142">
                  <c:v>0.01</c:v>
                </c:pt>
                <c:pt idx="143">
                  <c:v>0.01</c:v>
                </c:pt>
                <c:pt idx="144">
                  <c:v>0.01</c:v>
                </c:pt>
                <c:pt idx="145">
                  <c:v>0.01</c:v>
                </c:pt>
                <c:pt idx="146">
                  <c:v>0.01</c:v>
                </c:pt>
                <c:pt idx="147">
                  <c:v>0.01</c:v>
                </c:pt>
                <c:pt idx="148">
                  <c:v>0.01</c:v>
                </c:pt>
                <c:pt idx="149">
                  <c:v>0.01</c:v>
                </c:pt>
                <c:pt idx="150">
                  <c:v>0.01</c:v>
                </c:pt>
                <c:pt idx="151">
                  <c:v>0.01</c:v>
                </c:pt>
                <c:pt idx="152">
                  <c:v>0.01</c:v>
                </c:pt>
                <c:pt idx="153">
                  <c:v>0.01</c:v>
                </c:pt>
                <c:pt idx="154">
                  <c:v>0.01</c:v>
                </c:pt>
                <c:pt idx="155">
                  <c:v>0.01</c:v>
                </c:pt>
                <c:pt idx="156">
                  <c:v>0.01</c:v>
                </c:pt>
                <c:pt idx="157">
                  <c:v>0.01</c:v>
                </c:pt>
                <c:pt idx="158">
                  <c:v>0.01</c:v>
                </c:pt>
                <c:pt idx="159">
                  <c:v>0.01</c:v>
                </c:pt>
                <c:pt idx="160">
                  <c:v>0.01</c:v>
                </c:pt>
              </c:numCache>
            </c:numRef>
          </c:yVal>
          <c:smooth val="1"/>
          <c:extLst>
            <c:ext xmlns:c16="http://schemas.microsoft.com/office/drawing/2014/chart" uri="{C3380CC4-5D6E-409C-BE32-E72D297353CC}">
              <c16:uniqueId val="{00000001-803C-4478-B1A5-9A99737F3D96}"/>
            </c:ext>
          </c:extLst>
        </c:ser>
        <c:ser>
          <c:idx val="2"/>
          <c:order val="2"/>
          <c:tx>
            <c:strRef>
              <c:f>Cardiac-rich frequency</c:f>
              <c:strCache>
                <c:ptCount val="1"/>
                <c:pt idx="0">
                  <c:v>Cardiac-rich frequency</c:v>
                </c:pt>
              </c:strCache>
            </c:strRef>
          </c:tx>
          <c:spPr>
            <a:ln w="9525" cap="rnd">
              <a:solidFill>
                <a:srgbClr val="B9CCD6"/>
              </a:solidFill>
              <a:prstDash val="solid"/>
              <a:round/>
            </a:ln>
          </c:spPr>
          <c:marker>
            <c:symbol val="none"/>
          </c:marker>
          <c:xVal>
            <c:numRef>
              <c:f>'Chart Data'!$E$2:$E$3</c:f>
              <c:numCache>
                <c:formatCode>General</c:formatCode>
                <c:ptCount val="2"/>
                <c:pt idx="0">
                  <c:v>1.2</c:v>
                </c:pt>
                <c:pt idx="1">
                  <c:v>1.2</c:v>
                </c:pt>
              </c:numCache>
            </c:numRef>
          </c:xVal>
          <c:yVal>
            <c:numRef>
              <c:f>'Chart Data'!$F$2:$F$3</c:f>
              <c:numCache>
                <c:formatCode>0.0</c:formatCode>
                <c:ptCount val="2"/>
                <c:pt idx="0">
                  <c:v>0</c:v>
                </c:pt>
                <c:pt idx="1">
                  <c:v>1.55</c:v>
                </c:pt>
              </c:numCache>
            </c:numRef>
          </c:yVal>
          <c:smooth val="1"/>
          <c:extLst>
            <c:ext xmlns:c16="http://schemas.microsoft.com/office/drawing/2014/chart" uri="{C3380CC4-5D6E-409C-BE32-E72D297353CC}">
              <c16:uniqueId val="{00000002-803C-4478-B1A5-9A99737F3D96}"/>
            </c:ext>
          </c:extLst>
        </c:ser>
        <c:ser>
          <c:idx val="3"/>
          <c:order val="3"/>
          <c:tx>
            <c:strRef>
              <c:f>Motion-dominant frequency</c:f>
              <c:strCache>
                <c:ptCount val="1"/>
                <c:pt idx="0">
                  <c:v>Motion-dominant frequency</c:v>
                </c:pt>
              </c:strCache>
            </c:strRef>
          </c:tx>
          <c:spPr>
            <a:ln w="9525" cap="rnd">
              <a:solidFill>
                <a:srgbClr val="B9CCD6"/>
              </a:solidFill>
              <a:prstDash val="solid"/>
              <a:round/>
            </a:ln>
          </c:spPr>
          <c:marker>
            <c:symbol val="none"/>
          </c:marker>
          <c:xVal>
            <c:numRef>
              <c:f>'Chart Data'!$G$2:$G$3</c:f>
              <c:numCache>
                <c:formatCode>General</c:formatCode>
                <c:ptCount val="2"/>
                <c:pt idx="0">
                  <c:v>2.1</c:v>
                </c:pt>
                <c:pt idx="1">
                  <c:v>2.1</c:v>
                </c:pt>
              </c:numCache>
            </c:numRef>
          </c:xVal>
          <c:yVal>
            <c:numRef>
              <c:f>'Chart Data'!$H$2:$H$3</c:f>
              <c:numCache>
                <c:formatCode>0.0</c:formatCode>
                <c:ptCount val="2"/>
                <c:pt idx="0">
                  <c:v>0</c:v>
                </c:pt>
                <c:pt idx="1">
                  <c:v>1.55</c:v>
                </c:pt>
              </c:numCache>
            </c:numRef>
          </c:yVal>
          <c:smooth val="1"/>
          <c:extLst>
            <c:ext xmlns:c16="http://schemas.microsoft.com/office/drawing/2014/chart" uri="{C3380CC4-5D6E-409C-BE32-E72D297353CC}">
              <c16:uniqueId val="{00000003-803C-4478-B1A5-9A99737F3D96}"/>
            </c:ext>
          </c:extLst>
        </c:ser>
        <c:dLbls>
          <c:showLegendKey val="0"/>
          <c:showVal val="0"/>
          <c:showCatName val="0"/>
          <c:showSerName val="0"/>
          <c:showPercent val="0"/>
          <c:showBubbleSize val="0"/>
        </c:dLbls>
        <c:axId val="48650112"/>
        <c:axId val="48672768"/>
      </c:scatterChart>
      <c:valAx>
        <c:axId val="48650112"/>
        <c:scaling>
          <c:orientation val="minMax"/>
          <c:max val="4"/>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Frequency (Hz)</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1"/>
      </c:valAx>
      <c:valAx>
        <c:axId val="48672768"/>
        <c:scaling>
          <c:orientation val="minMax"/>
          <c:max val="1.55"/>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Magnitude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149218e4-d35d-454d-aa3e-350e120c57d2}"/>
      </c:ext>
    </c:extLst>
  </c:chart>
  <c:spPr>
    <a:solidFill>
      <a:srgbClr val="FFFFFF"/>
    </a:solidFill>
    <a:ln w="0">
      <a:noFill/>
    </a:ln>
  </c:spPr>
  <c:txPr>
    <a:bodyPr/>
    <a:lstStyle/>
    <a:p>
      <a:pPr>
        <a:defRPr lang="zh-CN"/>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Gain G</c:f>
              <c:strCache>
                <c:ptCount val="1"/>
                <c:pt idx="0">
                  <c:v>Gain G</c:v>
                </c:pt>
              </c:strCache>
            </c:strRef>
          </c:tx>
          <c:spPr>
            <a:ln w="23813" cap="rnd">
              <a:solidFill>
                <a:srgbClr val="7056A8"/>
              </a:solidFill>
              <a:prstDash val="solid"/>
              <a:round/>
            </a:ln>
          </c:spPr>
          <c:marker>
            <c:symbol val="none"/>
          </c:marker>
          <c:xVal>
            <c:numRef>
              <c:f>'Chart Data'!$A$2:$A$162</c:f>
              <c:numCache>
                <c:formatCode>General</c:formatCode>
                <c:ptCount val="161"/>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numCache>
            </c:numRef>
          </c:xVal>
          <c:yVal>
            <c:numRef>
              <c:f>'Chart Data'!$B$2:$B$162</c:f>
              <c:numCache>
                <c:formatCode>0.0</c:formatCode>
                <c:ptCount val="1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0.79999100000000001</c:v>
                </c:pt>
                <c:pt idx="21">
                  <c:v>0.79998000000000002</c:v>
                </c:pt>
                <c:pt idx="22">
                  <c:v>0.79995300000000003</c:v>
                </c:pt>
                <c:pt idx="23">
                  <c:v>0.79989699999999997</c:v>
                </c:pt>
                <c:pt idx="24">
                  <c:v>0.79977799999999999</c:v>
                </c:pt>
                <c:pt idx="25">
                  <c:v>0.79953700000000005</c:v>
                </c:pt>
                <c:pt idx="26">
                  <c:v>0.79906600000000005</c:v>
                </c:pt>
                <c:pt idx="27">
                  <c:v>0.79817400000000005</c:v>
                </c:pt>
                <c:pt idx="28">
                  <c:v>0.79654499999999995</c:v>
                </c:pt>
                <c:pt idx="29">
                  <c:v>0.79367699999999997</c:v>
                </c:pt>
                <c:pt idx="30">
                  <c:v>0.78882300000000005</c:v>
                </c:pt>
                <c:pt idx="31">
                  <c:v>0.78095800000000004</c:v>
                </c:pt>
                <c:pt idx="32">
                  <c:v>0.76883100000000004</c:v>
                </c:pt>
                <c:pt idx="33">
                  <c:v>0.751197</c:v>
                </c:pt>
                <c:pt idx="34">
                  <c:v>0.72738000000000003</c:v>
                </c:pt>
                <c:pt idx="35">
                  <c:v>0.69830700000000001</c:v>
                </c:pt>
                <c:pt idx="36">
                  <c:v>0.66803100000000004</c:v>
                </c:pt>
                <c:pt idx="37">
                  <c:v>0.64495999999999998</c:v>
                </c:pt>
                <c:pt idx="38">
                  <c:v>0.64031199999999999</c:v>
                </c:pt>
                <c:pt idx="39">
                  <c:v>0.66133299999999995</c:v>
                </c:pt>
                <c:pt idx="40">
                  <c:v>0.70396499999999995</c:v>
                </c:pt>
                <c:pt idx="41">
                  <c:v>0.75517900000000004</c:v>
                </c:pt>
                <c:pt idx="42">
                  <c:v>0.80282399999999998</c:v>
                </c:pt>
                <c:pt idx="43">
                  <c:v>0.84107799999999999</c:v>
                </c:pt>
                <c:pt idx="44">
                  <c:v>0.86921000000000004</c:v>
                </c:pt>
                <c:pt idx="45">
                  <c:v>0.88865000000000005</c:v>
                </c:pt>
                <c:pt idx="46">
                  <c:v>0.90115900000000004</c:v>
                </c:pt>
                <c:pt idx="47">
                  <c:v>0.90811600000000003</c:v>
                </c:pt>
                <c:pt idx="48">
                  <c:v>0.91034499999999996</c:v>
                </c:pt>
                <c:pt idx="49">
                  <c:v>0.90811600000000003</c:v>
                </c:pt>
                <c:pt idx="50">
                  <c:v>0.90115900000000004</c:v>
                </c:pt>
                <c:pt idx="51">
                  <c:v>0.88865000000000005</c:v>
                </c:pt>
                <c:pt idx="52">
                  <c:v>0.86921000000000004</c:v>
                </c:pt>
                <c:pt idx="53">
                  <c:v>0.84107799999999999</c:v>
                </c:pt>
                <c:pt idx="54">
                  <c:v>0.80282399999999998</c:v>
                </c:pt>
                <c:pt idx="55">
                  <c:v>0.75517900000000004</c:v>
                </c:pt>
                <c:pt idx="56">
                  <c:v>0.70396499999999995</c:v>
                </c:pt>
                <c:pt idx="57">
                  <c:v>0.66133200000000003</c:v>
                </c:pt>
                <c:pt idx="58">
                  <c:v>0.64030799999999999</c:v>
                </c:pt>
                <c:pt idx="59">
                  <c:v>0.64494700000000005</c:v>
                </c:pt>
                <c:pt idx="60">
                  <c:v>0.66798800000000003</c:v>
                </c:pt>
                <c:pt idx="61">
                  <c:v>0.69816599999999995</c:v>
                </c:pt>
                <c:pt idx="62">
                  <c:v>0.72695399999999999</c:v>
                </c:pt>
                <c:pt idx="63">
                  <c:v>0.75001499999999999</c:v>
                </c:pt>
                <c:pt idx="64">
                  <c:v>0.76578500000000005</c:v>
                </c:pt>
                <c:pt idx="65">
                  <c:v>0.77366100000000004</c:v>
                </c:pt>
                <c:pt idx="66">
                  <c:v>0.77254999999999996</c:v>
                </c:pt>
                <c:pt idx="67">
                  <c:v>0.760073</c:v>
                </c:pt>
                <c:pt idx="68">
                  <c:v>0.73304999999999998</c:v>
                </c:pt>
                <c:pt idx="69">
                  <c:v>0.69021100000000002</c:v>
                </c:pt>
                <c:pt idx="70">
                  <c:v>0.63611700000000004</c:v>
                </c:pt>
                <c:pt idx="71">
                  <c:v>0.58129399999999998</c:v>
                </c:pt>
                <c:pt idx="72">
                  <c:v>0.53606600000000004</c:v>
                </c:pt>
                <c:pt idx="73">
                  <c:v>0.50479300000000005</c:v>
                </c:pt>
                <c:pt idx="74">
                  <c:v>0.48621599999999998</c:v>
                </c:pt>
                <c:pt idx="75">
                  <c:v>0.47683900000000001</c:v>
                </c:pt>
                <c:pt idx="76">
                  <c:v>0.47330499999999998</c:v>
                </c:pt>
                <c:pt idx="77">
                  <c:v>0.47315000000000002</c:v>
                </c:pt>
                <c:pt idx="78">
                  <c:v>0.47475499999999998</c:v>
                </c:pt>
                <c:pt idx="79">
                  <c:v>0.477105</c:v>
                </c:pt>
                <c:pt idx="80">
                  <c:v>0.479576</c:v>
                </c:pt>
                <c:pt idx="81">
                  <c:v>0.48178300000000002</c:v>
                </c:pt>
                <c:pt idx="82">
                  <c:v>0.48349199999999998</c:v>
                </c:pt>
                <c:pt idx="83">
                  <c:v>0.48456700000000003</c:v>
                </c:pt>
                <c:pt idx="84">
                  <c:v>0.484935</c:v>
                </c:pt>
                <c:pt idx="85">
                  <c:v>0.48458099999999998</c:v>
                </c:pt>
                <c:pt idx="86">
                  <c:v>0.48355199999999998</c:v>
                </c:pt>
                <c:pt idx="87">
                  <c:v>0.48200199999999999</c:v>
                </c:pt>
                <c:pt idx="88">
                  <c:v>0.480319</c:v>
                </c:pt>
                <c:pt idx="89">
                  <c:v>0.47941899999999998</c:v>
                </c:pt>
                <c:pt idx="90">
                  <c:v>0.481354</c:v>
                </c:pt>
                <c:pt idx="91">
                  <c:v>0.49020399999999997</c:v>
                </c:pt>
                <c:pt idx="92">
                  <c:v>0.51257299999999995</c:v>
                </c:pt>
                <c:pt idx="93">
                  <c:v>0.55544899999999997</c:v>
                </c:pt>
                <c:pt idx="94">
                  <c:v>0.61968400000000001</c:v>
                </c:pt>
                <c:pt idx="95">
                  <c:v>0.69462999999999997</c:v>
                </c:pt>
                <c:pt idx="96">
                  <c:v>0.76380499999999996</c:v>
                </c:pt>
                <c:pt idx="97">
                  <c:v>0.81611999999999996</c:v>
                </c:pt>
                <c:pt idx="98">
                  <c:v>0.84894199999999997</c:v>
                </c:pt>
                <c:pt idx="99">
                  <c:v>0.86396899999999999</c:v>
                </c:pt>
                <c:pt idx="100">
                  <c:v>0.86375000000000002</c:v>
                </c:pt>
                <c:pt idx="101">
                  <c:v>0.85165400000000002</c:v>
                </c:pt>
                <c:pt idx="102">
                  <c:v>0.83365699999999998</c:v>
                </c:pt>
                <c:pt idx="103">
                  <c:v>0.81734700000000005</c:v>
                </c:pt>
                <c:pt idx="104">
                  <c:v>0.80708800000000003</c:v>
                </c:pt>
                <c:pt idx="105">
                  <c:v>0.80231200000000003</c:v>
                </c:pt>
                <c:pt idx="106">
                  <c:v>0.80058399999999996</c:v>
                </c:pt>
                <c:pt idx="107">
                  <c:v>0.800095</c:v>
                </c:pt>
                <c:pt idx="108">
                  <c:v>0.79999500000000001</c:v>
                </c:pt>
                <c:pt idx="109">
                  <c:v>0.79998800000000003</c:v>
                </c:pt>
                <c:pt idx="110">
                  <c:v>0.79999399999999998</c:v>
                </c:pt>
                <c:pt idx="111">
                  <c:v>0.79999799999999999</c:v>
                </c:pt>
                <c:pt idx="112">
                  <c:v>0.79999900000000002</c:v>
                </c:pt>
                <c:pt idx="113">
                  <c:v>0.8</c:v>
                </c:pt>
                <c:pt idx="114">
                  <c:v>0.8</c:v>
                </c:pt>
                <c:pt idx="115">
                  <c:v>0.8</c:v>
                </c:pt>
                <c:pt idx="116">
                  <c:v>0.8</c:v>
                </c:pt>
                <c:pt idx="117">
                  <c:v>0.8</c:v>
                </c:pt>
                <c:pt idx="118">
                  <c:v>0.8</c:v>
                </c:pt>
                <c:pt idx="119">
                  <c:v>0.8</c:v>
                </c:pt>
                <c:pt idx="120">
                  <c:v>0.8</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numCache>
            </c:numRef>
          </c:yVal>
          <c:smooth val="1"/>
          <c:extLst>
            <c:ext xmlns:c16="http://schemas.microsoft.com/office/drawing/2014/chart" uri="{C3380CC4-5D6E-409C-BE32-E72D297353CC}">
              <c16:uniqueId val="{00000000-40E6-43C1-A484-21D5085BC423}"/>
            </c:ext>
          </c:extLst>
        </c:ser>
        <c:ser>
          <c:idx val="1"/>
          <c:order val="1"/>
          <c:tx>
            <c:strRef>
              <c:f>Minimum in-band gain</c:f>
              <c:strCache>
                <c:ptCount val="1"/>
                <c:pt idx="0">
                  <c:v>Minimum in-band gain</c:v>
                </c:pt>
              </c:strCache>
            </c:strRef>
          </c:tx>
          <c:spPr>
            <a:ln w="14288" cap="rnd">
              <a:solidFill>
                <a:srgbClr val="B96D20"/>
              </a:solidFill>
              <a:prstDash val="solid"/>
              <a:round/>
            </a:ln>
          </c:spPr>
          <c:marker>
            <c:symbol val="none"/>
          </c:marker>
          <c:xVal>
            <c:numRef>
              <c:f>'Chart Data'!$C$2:$C$3</c:f>
              <c:numCache>
                <c:formatCode>General</c:formatCode>
                <c:ptCount val="2"/>
                <c:pt idx="0">
                  <c:v>0.5</c:v>
                </c:pt>
                <c:pt idx="1">
                  <c:v>3</c:v>
                </c:pt>
              </c:numCache>
            </c:numRef>
          </c:xVal>
          <c:yVal>
            <c:numRef>
              <c:f>'Chart Data'!$D$2:$D$3</c:f>
              <c:numCache>
                <c:formatCode>0.0</c:formatCode>
                <c:ptCount val="2"/>
                <c:pt idx="0">
                  <c:v>0.2</c:v>
                </c:pt>
                <c:pt idx="1">
                  <c:v>0.2</c:v>
                </c:pt>
              </c:numCache>
            </c:numRef>
          </c:yVal>
          <c:smooth val="1"/>
          <c:extLst>
            <c:ext xmlns:c16="http://schemas.microsoft.com/office/drawing/2014/chart" uri="{C3380CC4-5D6E-409C-BE32-E72D297353CC}">
              <c16:uniqueId val="{00000001-40E6-43C1-A484-21D5085BC423}"/>
            </c:ext>
          </c:extLst>
        </c:ser>
        <c:ser>
          <c:idx val="2"/>
          <c:order val="2"/>
          <c:tx>
            <c:strRef>
              <c:f>1.2 Hz gain</c:f>
              <c:strCache>
                <c:ptCount val="1"/>
                <c:pt idx="0">
                  <c:v>1.2 Hz gain</c:v>
                </c:pt>
              </c:strCache>
            </c:strRef>
          </c:tx>
          <c:spPr>
            <a:ln w="9525" cap="rnd">
              <a:solidFill>
                <a:srgbClr val="B9CCD6"/>
              </a:solidFill>
              <a:prstDash val="solid"/>
              <a:round/>
            </a:ln>
          </c:spPr>
          <c:marker>
            <c:symbol val="none"/>
          </c:marker>
          <c:xVal>
            <c:numRef>
              <c:f>'Chart Data'!$E$2:$E$3</c:f>
              <c:numCache>
                <c:formatCode>General</c:formatCode>
                <c:ptCount val="2"/>
                <c:pt idx="0">
                  <c:v>1.2</c:v>
                </c:pt>
                <c:pt idx="1">
                  <c:v>1.2</c:v>
                </c:pt>
              </c:numCache>
            </c:numRef>
          </c:xVal>
          <c:yVal>
            <c:numRef>
              <c:f>'Chart Data'!$F$2:$F$3</c:f>
              <c:numCache>
                <c:formatCode>0.0</c:formatCode>
                <c:ptCount val="2"/>
                <c:pt idx="0">
                  <c:v>0</c:v>
                </c:pt>
                <c:pt idx="1">
                  <c:v>0.91034499999999996</c:v>
                </c:pt>
              </c:numCache>
            </c:numRef>
          </c:yVal>
          <c:smooth val="1"/>
          <c:extLst>
            <c:ext xmlns:c16="http://schemas.microsoft.com/office/drawing/2014/chart" uri="{C3380CC4-5D6E-409C-BE32-E72D297353CC}">
              <c16:uniqueId val="{00000002-40E6-43C1-A484-21D5085BC423}"/>
            </c:ext>
          </c:extLst>
        </c:ser>
        <c:ser>
          <c:idx val="3"/>
          <c:order val="3"/>
          <c:tx>
            <c:strRef>
              <c:f>2.1 Hz gain</c:f>
              <c:strCache>
                <c:ptCount val="1"/>
                <c:pt idx="0">
                  <c:v>2.1 Hz gain</c:v>
                </c:pt>
              </c:strCache>
            </c:strRef>
          </c:tx>
          <c:spPr>
            <a:ln w="9525" cap="rnd">
              <a:solidFill>
                <a:srgbClr val="B9CCD6"/>
              </a:solidFill>
              <a:prstDash val="solid"/>
              <a:round/>
            </a:ln>
          </c:spPr>
          <c:marker>
            <c:symbol val="none"/>
          </c:marker>
          <c:xVal>
            <c:numRef>
              <c:f>'Chart Data'!$G$2:$G$3</c:f>
              <c:numCache>
                <c:formatCode>General</c:formatCode>
                <c:ptCount val="2"/>
                <c:pt idx="0">
                  <c:v>2.1</c:v>
                </c:pt>
                <c:pt idx="1">
                  <c:v>2.1</c:v>
                </c:pt>
              </c:numCache>
            </c:numRef>
          </c:xVal>
          <c:yVal>
            <c:numRef>
              <c:f>'Chart Data'!$H$2:$H$3</c:f>
              <c:numCache>
                <c:formatCode>0.0</c:formatCode>
                <c:ptCount val="2"/>
                <c:pt idx="0">
                  <c:v>0</c:v>
                </c:pt>
                <c:pt idx="1">
                  <c:v>0.484935</c:v>
                </c:pt>
              </c:numCache>
            </c:numRef>
          </c:yVal>
          <c:smooth val="1"/>
          <c:extLst>
            <c:ext xmlns:c16="http://schemas.microsoft.com/office/drawing/2014/chart" uri="{C3380CC4-5D6E-409C-BE32-E72D297353CC}">
              <c16:uniqueId val="{00000003-40E6-43C1-A484-21D5085BC423}"/>
            </c:ext>
          </c:extLst>
        </c:ser>
        <c:dLbls>
          <c:showLegendKey val="0"/>
          <c:showVal val="0"/>
          <c:showCatName val="0"/>
          <c:showSerName val="0"/>
          <c:showPercent val="0"/>
          <c:showBubbleSize val="0"/>
        </c:dLbls>
        <c:axId val="48650112"/>
        <c:axId val="48672768"/>
      </c:scatterChart>
      <c:valAx>
        <c:axId val="48650112"/>
        <c:scaling>
          <c:orientation val="minMax"/>
          <c:max val="4"/>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Frequency (Hz)</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1"/>
      </c:valAx>
      <c:valAx>
        <c:axId val="48672768"/>
        <c:scaling>
          <c:orientation val="minMax"/>
          <c:max val="1.05"/>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Gain</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3c4747bb-91b6-4126-9f40-1f0f179ce4e2}"/>
      </c:ext>
    </c:extLst>
  </c:chart>
  <c:spPr>
    <a:solidFill>
      <a:srgbClr val="FFFFFF"/>
    </a:solidFill>
    <a:ln w="0">
      <a:noFill/>
    </a:ln>
  </c:spPr>
  <c:txPr>
    <a:bodyPr/>
    <a:lstStyle/>
    <a:p>
      <a:pPr>
        <a:defRPr lang="zh-CN"/>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Input mixture</c:f>
              <c:strCache>
                <c:ptCount val="1"/>
                <c:pt idx="0">
                  <c:v>Input mixture</c:v>
                </c:pt>
              </c:strCache>
            </c:strRef>
          </c:tx>
          <c:spPr>
            <a:ln w="23813" cap="rnd">
              <a:solidFill>
                <a:srgbClr val="152C3F"/>
              </a:solidFill>
              <a:prstDash val="solid"/>
              <a:round/>
            </a:ln>
          </c:spPr>
          <c:marker>
            <c:symbol val="none"/>
          </c:marker>
          <c:xVal>
            <c:numRef>
              <c:f>'Chart Data'!$A$2:$A$321</c:f>
              <c:numCache>
                <c:formatCode>General</c:formatCode>
                <c:ptCount val="320"/>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pt idx="161">
                  <c:v>4.0250000000000004</c:v>
                </c:pt>
                <c:pt idx="162">
                  <c:v>4.05</c:v>
                </c:pt>
                <c:pt idx="163">
                  <c:v>4.0750000000000002</c:v>
                </c:pt>
                <c:pt idx="164">
                  <c:v>4.0999999999999996</c:v>
                </c:pt>
                <c:pt idx="165">
                  <c:v>4.125</c:v>
                </c:pt>
                <c:pt idx="166">
                  <c:v>4.1500000000000004</c:v>
                </c:pt>
                <c:pt idx="167">
                  <c:v>4.1749999999999998</c:v>
                </c:pt>
                <c:pt idx="168">
                  <c:v>4.2</c:v>
                </c:pt>
                <c:pt idx="169">
                  <c:v>4.2249999999999996</c:v>
                </c:pt>
                <c:pt idx="170">
                  <c:v>4.25</c:v>
                </c:pt>
                <c:pt idx="171">
                  <c:v>4.2750000000000004</c:v>
                </c:pt>
                <c:pt idx="172">
                  <c:v>4.3</c:v>
                </c:pt>
                <c:pt idx="173">
                  <c:v>4.3250000000000002</c:v>
                </c:pt>
                <c:pt idx="174">
                  <c:v>4.3499999999999996</c:v>
                </c:pt>
                <c:pt idx="175">
                  <c:v>4.375</c:v>
                </c:pt>
                <c:pt idx="176">
                  <c:v>4.4000000000000004</c:v>
                </c:pt>
                <c:pt idx="177">
                  <c:v>4.4249999999999998</c:v>
                </c:pt>
                <c:pt idx="178">
                  <c:v>4.45</c:v>
                </c:pt>
                <c:pt idx="179">
                  <c:v>4.4749999999999996</c:v>
                </c:pt>
                <c:pt idx="180">
                  <c:v>4.5</c:v>
                </c:pt>
                <c:pt idx="181">
                  <c:v>4.5250000000000004</c:v>
                </c:pt>
                <c:pt idx="182">
                  <c:v>4.55</c:v>
                </c:pt>
                <c:pt idx="183">
                  <c:v>4.5750000000000002</c:v>
                </c:pt>
                <c:pt idx="184">
                  <c:v>4.5999999999999996</c:v>
                </c:pt>
                <c:pt idx="185">
                  <c:v>4.625</c:v>
                </c:pt>
                <c:pt idx="186">
                  <c:v>4.6500000000000004</c:v>
                </c:pt>
                <c:pt idx="187">
                  <c:v>4.6749999999999998</c:v>
                </c:pt>
                <c:pt idx="188">
                  <c:v>4.7</c:v>
                </c:pt>
                <c:pt idx="189">
                  <c:v>4.7249999999999996</c:v>
                </c:pt>
                <c:pt idx="190">
                  <c:v>4.75</c:v>
                </c:pt>
                <c:pt idx="191">
                  <c:v>4.7750000000000004</c:v>
                </c:pt>
                <c:pt idx="192">
                  <c:v>4.8</c:v>
                </c:pt>
                <c:pt idx="193">
                  <c:v>4.8250000000000002</c:v>
                </c:pt>
                <c:pt idx="194">
                  <c:v>4.8499999999999996</c:v>
                </c:pt>
                <c:pt idx="195">
                  <c:v>4.875</c:v>
                </c:pt>
                <c:pt idx="196">
                  <c:v>4.9000000000000004</c:v>
                </c:pt>
                <c:pt idx="197">
                  <c:v>4.9249999999999998</c:v>
                </c:pt>
                <c:pt idx="198">
                  <c:v>4.95</c:v>
                </c:pt>
                <c:pt idx="199">
                  <c:v>4.9749999999999996</c:v>
                </c:pt>
                <c:pt idx="200">
                  <c:v>5</c:v>
                </c:pt>
                <c:pt idx="201">
                  <c:v>5.0250000000000004</c:v>
                </c:pt>
                <c:pt idx="202">
                  <c:v>5.05</c:v>
                </c:pt>
                <c:pt idx="203">
                  <c:v>5.0750000000000002</c:v>
                </c:pt>
                <c:pt idx="204">
                  <c:v>5.0999999999999996</c:v>
                </c:pt>
                <c:pt idx="205">
                  <c:v>5.125</c:v>
                </c:pt>
                <c:pt idx="206">
                  <c:v>5.15</c:v>
                </c:pt>
                <c:pt idx="207">
                  <c:v>5.1749999999999998</c:v>
                </c:pt>
                <c:pt idx="208">
                  <c:v>5.2</c:v>
                </c:pt>
                <c:pt idx="209">
                  <c:v>5.2249999999999996</c:v>
                </c:pt>
                <c:pt idx="210">
                  <c:v>5.25</c:v>
                </c:pt>
                <c:pt idx="211">
                  <c:v>5.2750000000000004</c:v>
                </c:pt>
                <c:pt idx="212">
                  <c:v>5.3</c:v>
                </c:pt>
                <c:pt idx="213">
                  <c:v>5.3250000000000002</c:v>
                </c:pt>
                <c:pt idx="214">
                  <c:v>5.35</c:v>
                </c:pt>
                <c:pt idx="215">
                  <c:v>5.375</c:v>
                </c:pt>
                <c:pt idx="216">
                  <c:v>5.4</c:v>
                </c:pt>
                <c:pt idx="217">
                  <c:v>5.4249999999999998</c:v>
                </c:pt>
                <c:pt idx="218">
                  <c:v>5.45</c:v>
                </c:pt>
                <c:pt idx="219">
                  <c:v>5.4749999999999996</c:v>
                </c:pt>
                <c:pt idx="220">
                  <c:v>5.5</c:v>
                </c:pt>
                <c:pt idx="221">
                  <c:v>5.5250000000000004</c:v>
                </c:pt>
                <c:pt idx="222">
                  <c:v>5.55</c:v>
                </c:pt>
                <c:pt idx="223">
                  <c:v>5.5750000000000002</c:v>
                </c:pt>
                <c:pt idx="224">
                  <c:v>5.6</c:v>
                </c:pt>
                <c:pt idx="225">
                  <c:v>5.625</c:v>
                </c:pt>
                <c:pt idx="226">
                  <c:v>5.65</c:v>
                </c:pt>
                <c:pt idx="227">
                  <c:v>5.6749999999999998</c:v>
                </c:pt>
                <c:pt idx="228">
                  <c:v>5.7</c:v>
                </c:pt>
                <c:pt idx="229">
                  <c:v>5.7249999999999996</c:v>
                </c:pt>
                <c:pt idx="230">
                  <c:v>5.75</c:v>
                </c:pt>
                <c:pt idx="231">
                  <c:v>5.7750000000000004</c:v>
                </c:pt>
                <c:pt idx="232">
                  <c:v>5.8</c:v>
                </c:pt>
                <c:pt idx="233">
                  <c:v>5.8250000000000002</c:v>
                </c:pt>
                <c:pt idx="234">
                  <c:v>5.85</c:v>
                </c:pt>
                <c:pt idx="235">
                  <c:v>5.875</c:v>
                </c:pt>
                <c:pt idx="236">
                  <c:v>5.9</c:v>
                </c:pt>
                <c:pt idx="237">
                  <c:v>5.9249999999999998</c:v>
                </c:pt>
                <c:pt idx="238">
                  <c:v>5.95</c:v>
                </c:pt>
                <c:pt idx="239">
                  <c:v>5.9749999999999996</c:v>
                </c:pt>
                <c:pt idx="240">
                  <c:v>6</c:v>
                </c:pt>
                <c:pt idx="241">
                  <c:v>6.0250000000000004</c:v>
                </c:pt>
                <c:pt idx="242">
                  <c:v>6.05</c:v>
                </c:pt>
                <c:pt idx="243">
                  <c:v>6.0750000000000002</c:v>
                </c:pt>
                <c:pt idx="244">
                  <c:v>6.1</c:v>
                </c:pt>
                <c:pt idx="245">
                  <c:v>6.125</c:v>
                </c:pt>
                <c:pt idx="246">
                  <c:v>6.15</c:v>
                </c:pt>
                <c:pt idx="247">
                  <c:v>6.1749999999999998</c:v>
                </c:pt>
                <c:pt idx="248">
                  <c:v>6.2</c:v>
                </c:pt>
                <c:pt idx="249">
                  <c:v>6.2249999999999996</c:v>
                </c:pt>
                <c:pt idx="250">
                  <c:v>6.25</c:v>
                </c:pt>
                <c:pt idx="251">
                  <c:v>6.2750000000000004</c:v>
                </c:pt>
                <c:pt idx="252">
                  <c:v>6.3</c:v>
                </c:pt>
                <c:pt idx="253">
                  <c:v>6.3250000000000002</c:v>
                </c:pt>
                <c:pt idx="254">
                  <c:v>6.35</c:v>
                </c:pt>
                <c:pt idx="255">
                  <c:v>6.375</c:v>
                </c:pt>
                <c:pt idx="256">
                  <c:v>6.4</c:v>
                </c:pt>
                <c:pt idx="257">
                  <c:v>6.4249999999999998</c:v>
                </c:pt>
                <c:pt idx="258">
                  <c:v>6.45</c:v>
                </c:pt>
                <c:pt idx="259">
                  <c:v>6.4749999999999996</c:v>
                </c:pt>
                <c:pt idx="260">
                  <c:v>6.5</c:v>
                </c:pt>
                <c:pt idx="261">
                  <c:v>6.5250000000000004</c:v>
                </c:pt>
                <c:pt idx="262">
                  <c:v>6.55</c:v>
                </c:pt>
                <c:pt idx="263">
                  <c:v>6.5750000000000002</c:v>
                </c:pt>
                <c:pt idx="264">
                  <c:v>6.6</c:v>
                </c:pt>
                <c:pt idx="265">
                  <c:v>6.625</c:v>
                </c:pt>
                <c:pt idx="266">
                  <c:v>6.65</c:v>
                </c:pt>
                <c:pt idx="267">
                  <c:v>6.6749999999999998</c:v>
                </c:pt>
                <c:pt idx="268">
                  <c:v>6.7</c:v>
                </c:pt>
                <c:pt idx="269">
                  <c:v>6.7249999999999996</c:v>
                </c:pt>
                <c:pt idx="270">
                  <c:v>6.75</c:v>
                </c:pt>
                <c:pt idx="271">
                  <c:v>6.7750000000000004</c:v>
                </c:pt>
                <c:pt idx="272">
                  <c:v>6.8</c:v>
                </c:pt>
                <c:pt idx="273">
                  <c:v>6.8250000000000002</c:v>
                </c:pt>
                <c:pt idx="274">
                  <c:v>6.85</c:v>
                </c:pt>
                <c:pt idx="275">
                  <c:v>6.875</c:v>
                </c:pt>
                <c:pt idx="276">
                  <c:v>6.9</c:v>
                </c:pt>
                <c:pt idx="277">
                  <c:v>6.9249999999999998</c:v>
                </c:pt>
                <c:pt idx="278">
                  <c:v>6.95</c:v>
                </c:pt>
                <c:pt idx="279">
                  <c:v>6.9749999999999996</c:v>
                </c:pt>
                <c:pt idx="280">
                  <c:v>7</c:v>
                </c:pt>
                <c:pt idx="281">
                  <c:v>7.0250000000000004</c:v>
                </c:pt>
                <c:pt idx="282">
                  <c:v>7.05</c:v>
                </c:pt>
                <c:pt idx="283">
                  <c:v>7.0750000000000002</c:v>
                </c:pt>
                <c:pt idx="284">
                  <c:v>7.1</c:v>
                </c:pt>
                <c:pt idx="285">
                  <c:v>7.125</c:v>
                </c:pt>
                <c:pt idx="286">
                  <c:v>7.15</c:v>
                </c:pt>
                <c:pt idx="287">
                  <c:v>7.1749999999999998</c:v>
                </c:pt>
                <c:pt idx="288">
                  <c:v>7.2</c:v>
                </c:pt>
                <c:pt idx="289">
                  <c:v>7.2249999999999996</c:v>
                </c:pt>
                <c:pt idx="290">
                  <c:v>7.25</c:v>
                </c:pt>
                <c:pt idx="291">
                  <c:v>7.2750000000000004</c:v>
                </c:pt>
                <c:pt idx="292">
                  <c:v>7.3</c:v>
                </c:pt>
                <c:pt idx="293">
                  <c:v>7.3250000000000002</c:v>
                </c:pt>
                <c:pt idx="294">
                  <c:v>7.35</c:v>
                </c:pt>
                <c:pt idx="295">
                  <c:v>7.375</c:v>
                </c:pt>
                <c:pt idx="296">
                  <c:v>7.4</c:v>
                </c:pt>
                <c:pt idx="297">
                  <c:v>7.4249999999999998</c:v>
                </c:pt>
                <c:pt idx="298">
                  <c:v>7.45</c:v>
                </c:pt>
                <c:pt idx="299">
                  <c:v>7.4749999999999996</c:v>
                </c:pt>
                <c:pt idx="300">
                  <c:v>7.5</c:v>
                </c:pt>
                <c:pt idx="301">
                  <c:v>7.5250000000000004</c:v>
                </c:pt>
                <c:pt idx="302">
                  <c:v>7.55</c:v>
                </c:pt>
                <c:pt idx="303">
                  <c:v>7.5750000000000002</c:v>
                </c:pt>
                <c:pt idx="304">
                  <c:v>7.6</c:v>
                </c:pt>
                <c:pt idx="305">
                  <c:v>7.625</c:v>
                </c:pt>
                <c:pt idx="306">
                  <c:v>7.65</c:v>
                </c:pt>
                <c:pt idx="307">
                  <c:v>7.6749999999999998</c:v>
                </c:pt>
                <c:pt idx="308">
                  <c:v>7.7</c:v>
                </c:pt>
                <c:pt idx="309">
                  <c:v>7.7249999999999996</c:v>
                </c:pt>
                <c:pt idx="310">
                  <c:v>7.75</c:v>
                </c:pt>
                <c:pt idx="311">
                  <c:v>7.7750000000000004</c:v>
                </c:pt>
                <c:pt idx="312">
                  <c:v>7.8</c:v>
                </c:pt>
                <c:pt idx="313">
                  <c:v>7.8250000000000002</c:v>
                </c:pt>
                <c:pt idx="314">
                  <c:v>7.85</c:v>
                </c:pt>
                <c:pt idx="315">
                  <c:v>7.875</c:v>
                </c:pt>
                <c:pt idx="316">
                  <c:v>7.9</c:v>
                </c:pt>
                <c:pt idx="317">
                  <c:v>7.9249999999999998</c:v>
                </c:pt>
                <c:pt idx="318">
                  <c:v>7.95</c:v>
                </c:pt>
                <c:pt idx="319">
                  <c:v>7.9749999999999996</c:v>
                </c:pt>
              </c:numCache>
            </c:numRef>
          </c:xVal>
          <c:yVal>
            <c:numRef>
              <c:f>'Chart Data'!$B$2:$B$321</c:f>
              <c:numCache>
                <c:formatCode>0.0</c:formatCode>
                <c:ptCount val="320"/>
                <c:pt idx="0">
                  <c:v>0.280669</c:v>
                </c:pt>
                <c:pt idx="1">
                  <c:v>0.62450000000000006</c:v>
                </c:pt>
                <c:pt idx="2">
                  <c:v>0.77018799999999998</c:v>
                </c:pt>
                <c:pt idx="3">
                  <c:v>0.760907</c:v>
                </c:pt>
                <c:pt idx="4">
                  <c:v>0.74979700000000005</c:v>
                </c:pt>
                <c:pt idx="5">
                  <c:v>0.87696399999999997</c:v>
                </c:pt>
                <c:pt idx="6">
                  <c:v>1.157076</c:v>
                </c:pt>
                <c:pt idx="7">
                  <c:v>1.4646980000000001</c:v>
                </c:pt>
                <c:pt idx="8">
                  <c:v>1.6288530000000001</c:v>
                </c:pt>
                <c:pt idx="9">
                  <c:v>1.563674</c:v>
                </c:pt>
                <c:pt idx="10">
                  <c:v>1.334068</c:v>
                </c:pt>
                <c:pt idx="11">
                  <c:v>1.10558</c:v>
                </c:pt>
                <c:pt idx="12">
                  <c:v>1.017263</c:v>
                </c:pt>
                <c:pt idx="13">
                  <c:v>1.075944</c:v>
                </c:pt>
                <c:pt idx="14">
                  <c:v>1.1536690000000001</c:v>
                </c:pt>
                <c:pt idx="15">
                  <c:v>1.090214</c:v>
                </c:pt>
                <c:pt idx="16">
                  <c:v>0.82116599999999995</c:v>
                </c:pt>
                <c:pt idx="17">
                  <c:v>0.432282</c:v>
                </c:pt>
                <c:pt idx="18">
                  <c:v>9.7873000000000002E-2</c:v>
                </c:pt>
                <c:pt idx="19">
                  <c:v>-4.9244999999999997E-2</c:v>
                </c:pt>
                <c:pt idx="20">
                  <c:v>-1.5740000000000001E-2</c:v>
                </c:pt>
                <c:pt idx="21">
                  <c:v>6.2014E-2</c:v>
                </c:pt>
                <c:pt idx="22">
                  <c:v>2.7733000000000001E-2</c:v>
                </c:pt>
                <c:pt idx="23">
                  <c:v>-0.17010700000000001</c:v>
                </c:pt>
                <c:pt idx="24">
                  <c:v>-0.43537599999999999</c:v>
                </c:pt>
                <c:pt idx="25">
                  <c:v>-0.59649399999999997</c:v>
                </c:pt>
                <c:pt idx="26">
                  <c:v>-0.53789699999999996</c:v>
                </c:pt>
                <c:pt idx="27">
                  <c:v>-0.28905500000000001</c:v>
                </c:pt>
                <c:pt idx="28">
                  <c:v>-2.124E-3</c:v>
                </c:pt>
                <c:pt idx="29">
                  <c:v>0.16447300000000001</c:v>
                </c:pt>
                <c:pt idx="30">
                  <c:v>0.16645599999999999</c:v>
                </c:pt>
                <c:pt idx="31">
                  <c:v>0.104951</c:v>
                </c:pt>
                <c:pt idx="32">
                  <c:v>0.144511</c:v>
                </c:pt>
                <c:pt idx="33">
                  <c:v>0.38148500000000002</c:v>
                </c:pt>
                <c:pt idx="34">
                  <c:v>0.76479900000000001</c:v>
                </c:pt>
                <c:pt idx="35">
                  <c:v>1.1306480000000001</c:v>
                </c:pt>
                <c:pt idx="36">
                  <c:v>1.3243940000000001</c:v>
                </c:pt>
                <c:pt idx="37">
                  <c:v>1.315499</c:v>
                </c:pt>
                <c:pt idx="38">
                  <c:v>1.216663</c:v>
                </c:pt>
                <c:pt idx="39">
                  <c:v>1.192517</c:v>
                </c:pt>
                <c:pt idx="40">
                  <c:v>1.3287119999999999</c:v>
                </c:pt>
                <c:pt idx="41">
                  <c:v>1.5628610000000001</c:v>
                </c:pt>
                <c:pt idx="42">
                  <c:v>1.730912</c:v>
                </c:pt>
                <c:pt idx="43">
                  <c:v>1.6931080000000001</c:v>
                </c:pt>
                <c:pt idx="44">
                  <c:v>1.442062</c:v>
                </c:pt>
                <c:pt idx="45">
                  <c:v>1.109278</c:v>
                </c:pt>
                <c:pt idx="46">
                  <c:v>0.86504800000000004</c:v>
                </c:pt>
                <c:pt idx="47">
                  <c:v>0.789157</c:v>
                </c:pt>
                <c:pt idx="48">
                  <c:v>0.81241200000000002</c:v>
                </c:pt>
                <c:pt idx="49">
                  <c:v>0.77414099999999997</c:v>
                </c:pt>
                <c:pt idx="50">
                  <c:v>0.55101500000000003</c:v>
                </c:pt>
                <c:pt idx="51">
                  <c:v>0.15729899999999999</c:v>
                </c:pt>
                <c:pt idx="52">
                  <c:v>-0.26124000000000003</c:v>
                </c:pt>
                <c:pt idx="53">
                  <c:v>-0.53523799999999999</c:v>
                </c:pt>
                <c:pt idx="54">
                  <c:v>-0.59807200000000005</c:v>
                </c:pt>
                <c:pt idx="55">
                  <c:v>-0.53300700000000001</c:v>
                </c:pt>
                <c:pt idx="56">
                  <c:v>-0.50478500000000004</c:v>
                </c:pt>
                <c:pt idx="57">
                  <c:v>-0.62878400000000001</c:v>
                </c:pt>
                <c:pt idx="58">
                  <c:v>-0.87913200000000002</c:v>
                </c:pt>
                <c:pt idx="59">
                  <c:v>-1.1070180000000001</c:v>
                </c:pt>
                <c:pt idx="60">
                  <c:v>-1.1550769999999999</c:v>
                </c:pt>
                <c:pt idx="61">
                  <c:v>-0.97932300000000005</c:v>
                </c:pt>
                <c:pt idx="62">
                  <c:v>-0.68422400000000005</c:v>
                </c:pt>
                <c:pt idx="63">
                  <c:v>-0.44372899999999998</c:v>
                </c:pt>
                <c:pt idx="64">
                  <c:v>-0.369313</c:v>
                </c:pt>
                <c:pt idx="65">
                  <c:v>-0.42710999999999999</c:v>
                </c:pt>
                <c:pt idx="66">
                  <c:v>-0.46814800000000001</c:v>
                </c:pt>
                <c:pt idx="67">
                  <c:v>-0.34815200000000002</c:v>
                </c:pt>
                <c:pt idx="68">
                  <c:v>-4.3998000000000002E-2</c:v>
                </c:pt>
                <c:pt idx="69">
                  <c:v>0.323517</c:v>
                </c:pt>
                <c:pt idx="70">
                  <c:v>0.578376</c:v>
                </c:pt>
                <c:pt idx="71">
                  <c:v>0.62102900000000005</c:v>
                </c:pt>
                <c:pt idx="72">
                  <c:v>0.50126999999999999</c:v>
                </c:pt>
                <c:pt idx="73">
                  <c:v>0.37604100000000001</c:v>
                </c:pt>
                <c:pt idx="74">
                  <c:v>0.384959</c:v>
                </c:pt>
                <c:pt idx="75">
                  <c:v>0.54003199999999996</c:v>
                </c:pt>
                <c:pt idx="76">
                  <c:v>0.715036</c:v>
                </c:pt>
                <c:pt idx="77">
                  <c:v>0.74281200000000003</c:v>
                </c:pt>
                <c:pt idx="78">
                  <c:v>0.54518599999999995</c:v>
                </c:pt>
                <c:pt idx="79">
                  <c:v>0.19490199999999999</c:v>
                </c:pt>
                <c:pt idx="80">
                  <c:v>-0.13842099999999999</c:v>
                </c:pt>
                <c:pt idx="81">
                  <c:v>-0.31654900000000002</c:v>
                </c:pt>
                <c:pt idx="82">
                  <c:v>-0.335924</c:v>
                </c:pt>
                <c:pt idx="83">
                  <c:v>-0.32614500000000002</c:v>
                </c:pt>
                <c:pt idx="84">
                  <c:v>-0.444969</c:v>
                </c:pt>
                <c:pt idx="85">
                  <c:v>-0.75128600000000001</c:v>
                </c:pt>
                <c:pt idx="86">
                  <c:v>-1.154574</c:v>
                </c:pt>
                <c:pt idx="87">
                  <c:v>-1.4801519999999999</c:v>
                </c:pt>
                <c:pt idx="88">
                  <c:v>-1.5998699999999999</c:v>
                </c:pt>
                <c:pt idx="89">
                  <c:v>-1.5272289999999999</c:v>
                </c:pt>
                <c:pt idx="90">
                  <c:v>-1.4034260000000001</c:v>
                </c:pt>
                <c:pt idx="91">
                  <c:v>-1.385262</c:v>
                </c:pt>
                <c:pt idx="92">
                  <c:v>-1.521773</c:v>
                </c:pt>
                <c:pt idx="93">
                  <c:v>-1.7151890000000001</c:v>
                </c:pt>
                <c:pt idx="94">
                  <c:v>-1.796459</c:v>
                </c:pt>
                <c:pt idx="95">
                  <c:v>-1.656895</c:v>
                </c:pt>
                <c:pt idx="96">
                  <c:v>-1.333982</c:v>
                </c:pt>
                <c:pt idx="97">
                  <c:v>-0.98486399999999996</c:v>
                </c:pt>
                <c:pt idx="98">
                  <c:v>-0.76794600000000002</c:v>
                </c:pt>
                <c:pt idx="99">
                  <c:v>-0.72415499999999999</c:v>
                </c:pt>
                <c:pt idx="100">
                  <c:v>-0.74964900000000001</c:v>
                </c:pt>
                <c:pt idx="101">
                  <c:v>-0.68095499999999998</c:v>
                </c:pt>
                <c:pt idx="102">
                  <c:v>-0.42643599999999998</c:v>
                </c:pt>
                <c:pt idx="103">
                  <c:v>-4.2158000000000001E-2</c:v>
                </c:pt>
                <c:pt idx="104">
                  <c:v>0.30676799999999999</c:v>
                </c:pt>
                <c:pt idx="105">
                  <c:v>0.46961000000000003</c:v>
                </c:pt>
                <c:pt idx="106">
                  <c:v>0.42279099999999997</c:v>
                </c:pt>
                <c:pt idx="107">
                  <c:v>0.28486400000000001</c:v>
                </c:pt>
                <c:pt idx="108">
                  <c:v>0.222195</c:v>
                </c:pt>
                <c:pt idx="109">
                  <c:v>0.318471</c:v>
                </c:pt>
                <c:pt idx="110">
                  <c:v>0.50910699999999998</c:v>
                </c:pt>
                <c:pt idx="111">
                  <c:v>0.63137399999999999</c:v>
                </c:pt>
                <c:pt idx="112">
                  <c:v>0.55141799999999996</c:v>
                </c:pt>
                <c:pt idx="113">
                  <c:v>0.26980999999999999</c:v>
                </c:pt>
                <c:pt idx="114">
                  <c:v>-7.6161000000000006E-2</c:v>
                </c:pt>
                <c:pt idx="115">
                  <c:v>-0.31533899999999998</c:v>
                </c:pt>
                <c:pt idx="116">
                  <c:v>-0.37116500000000002</c:v>
                </c:pt>
                <c:pt idx="117">
                  <c:v>-0.31647799999999998</c:v>
                </c:pt>
                <c:pt idx="118">
                  <c:v>-0.31235299999999999</c:v>
                </c:pt>
                <c:pt idx="119">
                  <c:v>-0.47852699999999998</c:v>
                </c:pt>
                <c:pt idx="120">
                  <c:v>-0.79587699999999995</c:v>
                </c:pt>
                <c:pt idx="121">
                  <c:v>-1.116638</c:v>
                </c:pt>
                <c:pt idx="122">
                  <c:v>-1.2746120000000001</c:v>
                </c:pt>
                <c:pt idx="123">
                  <c:v>-1.210186</c:v>
                </c:pt>
                <c:pt idx="124">
                  <c:v>-1.0135190000000001</c:v>
                </c:pt>
                <c:pt idx="125">
                  <c:v>-0.85255300000000001</c:v>
                </c:pt>
                <c:pt idx="126">
                  <c:v>-0.841673</c:v>
                </c:pt>
                <c:pt idx="127">
                  <c:v>-0.95274099999999995</c:v>
                </c:pt>
                <c:pt idx="128">
                  <c:v>-1.0373950000000001</c:v>
                </c:pt>
                <c:pt idx="129">
                  <c:v>-0.94333400000000001</c:v>
                </c:pt>
                <c:pt idx="130">
                  <c:v>-0.63451900000000006</c:v>
                </c:pt>
                <c:pt idx="131">
                  <c:v>-0.22214200000000001</c:v>
                </c:pt>
                <c:pt idx="132">
                  <c:v>0.11770700000000001</c:v>
                </c:pt>
                <c:pt idx="133">
                  <c:v>0.27607599999999999</c:v>
                </c:pt>
                <c:pt idx="134">
                  <c:v>0.29081400000000002</c:v>
                </c:pt>
                <c:pt idx="135">
                  <c:v>0.31235000000000002</c:v>
                </c:pt>
                <c:pt idx="136">
                  <c:v>0.48226400000000003</c:v>
                </c:pt>
                <c:pt idx="137">
                  <c:v>0.81881300000000001</c:v>
                </c:pt>
                <c:pt idx="138">
                  <c:v>1.198234</c:v>
                </c:pt>
                <c:pt idx="139">
                  <c:v>1.4464319999999999</c:v>
                </c:pt>
                <c:pt idx="140">
                  <c:v>1.470235</c:v>
                </c:pt>
                <c:pt idx="141">
                  <c:v>1.3267089999999999</c:v>
                </c:pt>
                <c:pt idx="142">
                  <c:v>1.1769780000000001</c:v>
                </c:pt>
                <c:pt idx="143">
                  <c:v>1.160366</c:v>
                </c:pt>
                <c:pt idx="144">
                  <c:v>1.286338</c:v>
                </c:pt>
                <c:pt idx="145">
                  <c:v>1.4278999999999999</c:v>
                </c:pt>
                <c:pt idx="146">
                  <c:v>1.4215469999999999</c:v>
                </c:pt>
                <c:pt idx="147">
                  <c:v>1.1963170000000001</c:v>
                </c:pt>
                <c:pt idx="148">
                  <c:v>0.83194900000000005</c:v>
                </c:pt>
                <c:pt idx="149">
                  <c:v>0.50100800000000001</c:v>
                </c:pt>
                <c:pt idx="150">
                  <c:v>0.33964699999999998</c:v>
                </c:pt>
                <c:pt idx="151">
                  <c:v>0.34689799999999998</c:v>
                </c:pt>
                <c:pt idx="152">
                  <c:v>0.39029700000000001</c:v>
                </c:pt>
                <c:pt idx="153">
                  <c:v>0.31331599999999998</c:v>
                </c:pt>
                <c:pt idx="154">
                  <c:v>6.1248999999999998E-2</c:v>
                </c:pt>
                <c:pt idx="155">
                  <c:v>-0.272065</c:v>
                </c:pt>
                <c:pt idx="156">
                  <c:v>-0.51302099999999995</c:v>
                </c:pt>
                <c:pt idx="157">
                  <c:v>-0.53940600000000005</c:v>
                </c:pt>
                <c:pt idx="158">
                  <c:v>-0.372525</c:v>
                </c:pt>
                <c:pt idx="159">
                  <c:v>-0.15904699999999999</c:v>
                </c:pt>
                <c:pt idx="160">
                  <c:v>-5.6698999999999999E-2</c:v>
                </c:pt>
                <c:pt idx="161">
                  <c:v>-0.112312</c:v>
                </c:pt>
                <c:pt idx="162">
                  <c:v>-0.22665099999999999</c:v>
                </c:pt>
                <c:pt idx="163">
                  <c:v>-0.23319400000000001</c:v>
                </c:pt>
                <c:pt idx="164">
                  <c:v>-2.9822000000000001E-2</c:v>
                </c:pt>
                <c:pt idx="165">
                  <c:v>0.33864100000000003</c:v>
                </c:pt>
                <c:pt idx="166">
                  <c:v>0.71106400000000003</c:v>
                </c:pt>
                <c:pt idx="167">
                  <c:v>0.93023800000000001</c:v>
                </c:pt>
                <c:pt idx="168">
                  <c:v>0.95979099999999995</c:v>
                </c:pt>
                <c:pt idx="169">
                  <c:v>0.90743399999999996</c:v>
                </c:pt>
                <c:pt idx="170">
                  <c:v>0.93672299999999997</c:v>
                </c:pt>
                <c:pt idx="171">
                  <c:v>1.1358200000000001</c:v>
                </c:pt>
                <c:pt idx="172">
                  <c:v>1.445017</c:v>
                </c:pt>
                <c:pt idx="173">
                  <c:v>1.69929</c:v>
                </c:pt>
                <c:pt idx="174">
                  <c:v>1.7530619999999999</c:v>
                </c:pt>
                <c:pt idx="175">
                  <c:v>1.5906979999999999</c:v>
                </c:pt>
                <c:pt idx="176">
                  <c:v>1.337262</c:v>
                </c:pt>
                <c:pt idx="177">
                  <c:v>1.161262</c:v>
                </c:pt>
                <c:pt idx="178">
                  <c:v>1.14469</c:v>
                </c:pt>
                <c:pt idx="179">
                  <c:v>1.220952</c:v>
                </c:pt>
                <c:pt idx="180">
                  <c:v>1.228699</c:v>
                </c:pt>
                <c:pt idx="181">
                  <c:v>1.0397940000000001</c:v>
                </c:pt>
                <c:pt idx="182">
                  <c:v>0.66225400000000001</c:v>
                </c:pt>
                <c:pt idx="183">
                  <c:v>0.23832</c:v>
                </c:pt>
                <c:pt idx="184">
                  <c:v>-6.0984999999999998E-2</c:v>
                </c:pt>
                <c:pt idx="185">
                  <c:v>-0.163351</c:v>
                </c:pt>
                <c:pt idx="186">
                  <c:v>-0.14619299999999999</c:v>
                </c:pt>
                <c:pt idx="187">
                  <c:v>-0.17186399999999999</c:v>
                </c:pt>
                <c:pt idx="188">
                  <c:v>-0.35739500000000002</c:v>
                </c:pt>
                <c:pt idx="189">
                  <c:v>-0.67976899999999996</c:v>
                </c:pt>
                <c:pt idx="190">
                  <c:v>-0.99020900000000001</c:v>
                </c:pt>
                <c:pt idx="191">
                  <c:v>-1.126536</c:v>
                </c:pt>
                <c:pt idx="192">
                  <c:v>-1.036724</c:v>
                </c:pt>
                <c:pt idx="193">
                  <c:v>-0.81804699999999997</c:v>
                </c:pt>
                <c:pt idx="194">
                  <c:v>-0.64156800000000003</c:v>
                </c:pt>
                <c:pt idx="195">
                  <c:v>-0.62041900000000005</c:v>
                </c:pt>
                <c:pt idx="196">
                  <c:v>-0.72383600000000003</c:v>
                </c:pt>
                <c:pt idx="197">
                  <c:v>-0.80342800000000003</c:v>
                </c:pt>
                <c:pt idx="198">
                  <c:v>-0.71126500000000004</c:v>
                </c:pt>
                <c:pt idx="199">
                  <c:v>-0.418244</c:v>
                </c:pt>
                <c:pt idx="200">
                  <c:v>-4.0955999999999999E-2</c:v>
                </c:pt>
                <c:pt idx="201">
                  <c:v>0.243897</c:v>
                </c:pt>
                <c:pt idx="202">
                  <c:v>0.331453</c:v>
                </c:pt>
                <c:pt idx="203">
                  <c:v>0.26501400000000003</c:v>
                </c:pt>
                <c:pt idx="204">
                  <c:v>0.19784599999999999</c:v>
                </c:pt>
                <c:pt idx="205">
                  <c:v>0.270181</c:v>
                </c:pt>
                <c:pt idx="206">
                  <c:v>0.49680800000000003</c:v>
                </c:pt>
                <c:pt idx="207">
                  <c:v>0.75241100000000005</c:v>
                </c:pt>
                <c:pt idx="208">
                  <c:v>0.86612900000000004</c:v>
                </c:pt>
                <c:pt idx="209">
                  <c:v>0.75220600000000004</c:v>
                </c:pt>
                <c:pt idx="210">
                  <c:v>0.47565800000000003</c:v>
                </c:pt>
                <c:pt idx="211">
                  <c:v>0.20213400000000001</c:v>
                </c:pt>
                <c:pt idx="212">
                  <c:v>7.0786000000000002E-2</c:v>
                </c:pt>
                <c:pt idx="213">
                  <c:v>8.8538000000000006E-2</c:v>
                </c:pt>
                <c:pt idx="214">
                  <c:v>0.127526</c:v>
                </c:pt>
                <c:pt idx="215">
                  <c:v>2.7612999999999999E-2</c:v>
                </c:pt>
                <c:pt idx="216">
                  <c:v>-0.275534</c:v>
                </c:pt>
                <c:pt idx="217">
                  <c:v>-0.69608300000000001</c:v>
                </c:pt>
                <c:pt idx="218">
                  <c:v>-1.0596509999999999</c:v>
                </c:pt>
                <c:pt idx="219">
                  <c:v>-1.233358</c:v>
                </c:pt>
                <c:pt idx="220">
                  <c:v>-1.223813</c:v>
                </c:pt>
                <c:pt idx="221">
                  <c:v>-1.1673370000000001</c:v>
                </c:pt>
                <c:pt idx="222">
                  <c:v>-1.220167</c:v>
                </c:pt>
                <c:pt idx="223">
                  <c:v>-1.4337839999999999</c:v>
                </c:pt>
                <c:pt idx="224">
                  <c:v>-1.7120249999999999</c:v>
                </c:pt>
                <c:pt idx="225">
                  <c:v>-1.883281</c:v>
                </c:pt>
                <c:pt idx="226">
                  <c:v>-1.8319639999999999</c:v>
                </c:pt>
                <c:pt idx="227">
                  <c:v>-1.5875300000000001</c:v>
                </c:pt>
                <c:pt idx="228">
                  <c:v>-1.3021229999999999</c:v>
                </c:pt>
                <c:pt idx="229">
                  <c:v>-1.1341639999999999</c:v>
                </c:pt>
                <c:pt idx="230">
                  <c:v>-1.127936</c:v>
                </c:pt>
                <c:pt idx="231">
                  <c:v>-1.1823220000000001</c:v>
                </c:pt>
                <c:pt idx="232">
                  <c:v>-1.132784</c:v>
                </c:pt>
                <c:pt idx="233">
                  <c:v>-0.88299799999999995</c:v>
                </c:pt>
                <c:pt idx="234">
                  <c:v>-0.48406300000000002</c:v>
                </c:pt>
                <c:pt idx="235">
                  <c:v>-9.9820999999999993E-2</c:v>
                </c:pt>
                <c:pt idx="236">
                  <c:v>0.11505</c:v>
                </c:pt>
                <c:pt idx="237">
                  <c:v>0.129966</c:v>
                </c:pt>
                <c:pt idx="238">
                  <c:v>5.7571999999999998E-2</c:v>
                </c:pt>
                <c:pt idx="239">
                  <c:v>6.2441999999999998E-2</c:v>
                </c:pt>
                <c:pt idx="240">
                  <c:v>0.23016200000000001</c:v>
                </c:pt>
                <c:pt idx="241">
                  <c:v>0.49827500000000002</c:v>
                </c:pt>
                <c:pt idx="242">
                  <c:v>0.702654</c:v>
                </c:pt>
                <c:pt idx="243">
                  <c:v>0.703461</c:v>
                </c:pt>
                <c:pt idx="244">
                  <c:v>0.49322199999999999</c:v>
                </c:pt>
                <c:pt idx="245">
                  <c:v>0.20335300000000001</c:v>
                </c:pt>
                <c:pt idx="246">
                  <c:v>4.0480000000000004E-3</c:v>
                </c:pt>
                <c:pt idx="247">
                  <c:v>-2.5004999999999999E-2</c:v>
                </c:pt>
                <c:pt idx="248">
                  <c:v>4.6896E-2</c:v>
                </c:pt>
                <c:pt idx="249">
                  <c:v>5.8970000000000002E-2</c:v>
                </c:pt>
                <c:pt idx="250">
                  <c:v>-0.112224</c:v>
                </c:pt>
                <c:pt idx="251">
                  <c:v>-0.45253399999999999</c:v>
                </c:pt>
                <c:pt idx="252">
                  <c:v>-0.81631399999999998</c:v>
                </c:pt>
                <c:pt idx="253">
                  <c:v>-1.0343199999999999</c:v>
                </c:pt>
                <c:pt idx="254">
                  <c:v>-1.040055</c:v>
                </c:pt>
                <c:pt idx="255">
                  <c:v>-0.91690799999999995</c:v>
                </c:pt>
                <c:pt idx="256">
                  <c:v>-0.82975299999999996</c:v>
                </c:pt>
                <c:pt idx="257">
                  <c:v>-0.89409700000000003</c:v>
                </c:pt>
                <c:pt idx="258">
                  <c:v>-1.084201</c:v>
                </c:pt>
                <c:pt idx="259">
                  <c:v>-1.2513879999999999</c:v>
                </c:pt>
                <c:pt idx="260">
                  <c:v>-1.2384269999999999</c:v>
                </c:pt>
                <c:pt idx="261">
                  <c:v>-1.001468</c:v>
                </c:pt>
                <c:pt idx="262">
                  <c:v>-0.64511499999999999</c:v>
                </c:pt>
                <c:pt idx="263">
                  <c:v>-0.34345199999999998</c:v>
                </c:pt>
                <c:pt idx="264">
                  <c:v>-0.208092</c:v>
                </c:pt>
                <c:pt idx="265">
                  <c:v>-0.20530200000000001</c:v>
                </c:pt>
                <c:pt idx="266">
                  <c:v>-0.18624599999999999</c:v>
                </c:pt>
                <c:pt idx="267">
                  <c:v>-6.7819999999999998E-3</c:v>
                </c:pt>
                <c:pt idx="268">
                  <c:v>0.35608200000000001</c:v>
                </c:pt>
                <c:pt idx="269">
                  <c:v>0.78141899999999997</c:v>
                </c:pt>
                <c:pt idx="270">
                  <c:v>1.0930839999999999</c:v>
                </c:pt>
                <c:pt idx="271">
                  <c:v>1.1913990000000001</c:v>
                </c:pt>
                <c:pt idx="272">
                  <c:v>1.126037</c:v>
                </c:pt>
                <c:pt idx="273">
                  <c:v>1.0538179999999999</c:v>
                </c:pt>
                <c:pt idx="274">
                  <c:v>1.1142399999999999</c:v>
                </c:pt>
                <c:pt idx="275">
                  <c:v>1.3191980000000001</c:v>
                </c:pt>
                <c:pt idx="276">
                  <c:v>1.542357</c:v>
                </c:pt>
                <c:pt idx="277">
                  <c:v>1.6164510000000001</c:v>
                </c:pt>
                <c:pt idx="278">
                  <c:v>1.4632039999999999</c:v>
                </c:pt>
                <c:pt idx="279">
                  <c:v>1.15526</c:v>
                </c:pt>
                <c:pt idx="280">
                  <c:v>0.86214500000000005</c:v>
                </c:pt>
                <c:pt idx="281">
                  <c:v>0.72200399999999998</c:v>
                </c:pt>
                <c:pt idx="282">
                  <c:v>0.73831000000000002</c:v>
                </c:pt>
                <c:pt idx="283">
                  <c:v>0.781385</c:v>
                </c:pt>
                <c:pt idx="284">
                  <c:v>0.69339700000000004</c:v>
                </c:pt>
                <c:pt idx="285">
                  <c:v>0.41538999999999998</c:v>
                </c:pt>
                <c:pt idx="286">
                  <c:v>3.7821E-2</c:v>
                </c:pt>
                <c:pt idx="287">
                  <c:v>-0.264685</c:v>
                </c:pt>
                <c:pt idx="288">
                  <c:v>-0.36403099999999999</c:v>
                </c:pt>
                <c:pt idx="289">
                  <c:v>-0.27376</c:v>
                </c:pt>
                <c:pt idx="290">
                  <c:v>-0.13511200000000001</c:v>
                </c:pt>
                <c:pt idx="291">
                  <c:v>-0.104918</c:v>
                </c:pt>
                <c:pt idx="292">
                  <c:v>-0.232241</c:v>
                </c:pt>
                <c:pt idx="293">
                  <c:v>-0.41933300000000001</c:v>
                </c:pt>
                <c:pt idx="294">
                  <c:v>-0.49715500000000001</c:v>
                </c:pt>
                <c:pt idx="295">
                  <c:v>-0.35702899999999999</c:v>
                </c:pt>
                <c:pt idx="296">
                  <c:v>-3.644E-2</c:v>
                </c:pt>
                <c:pt idx="297">
                  <c:v>0.307473</c:v>
                </c:pt>
                <c:pt idx="298">
                  <c:v>0.51631700000000003</c:v>
                </c:pt>
                <c:pt idx="299">
                  <c:v>0.54918400000000001</c:v>
                </c:pt>
                <c:pt idx="300">
                  <c:v>0.50993699999999997</c:v>
                </c:pt>
                <c:pt idx="301">
                  <c:v>0.562083</c:v>
                </c:pt>
                <c:pt idx="302">
                  <c:v>0.79729300000000003</c:v>
                </c:pt>
                <c:pt idx="303">
                  <c:v>1.1595439999999999</c:v>
                </c:pt>
                <c:pt idx="304">
                  <c:v>1.4837769999999999</c:v>
                </c:pt>
                <c:pt idx="305">
                  <c:v>1.6193120000000001</c:v>
                </c:pt>
                <c:pt idx="306">
                  <c:v>1.5426329999999999</c:v>
                </c:pt>
                <c:pt idx="307">
                  <c:v>1.37236</c:v>
                </c:pt>
                <c:pt idx="308">
                  <c:v>1.2749299999999999</c:v>
                </c:pt>
                <c:pt idx="309">
                  <c:v>1.3341080000000001</c:v>
                </c:pt>
                <c:pt idx="310">
                  <c:v>1.485392</c:v>
                </c:pt>
                <c:pt idx="311">
                  <c:v>1.566138</c:v>
                </c:pt>
                <c:pt idx="312">
                  <c:v>1.4425859999999999</c:v>
                </c:pt>
                <c:pt idx="313">
                  <c:v>1.1154040000000001</c:v>
                </c:pt>
                <c:pt idx="314">
                  <c:v>0.72198099999999998</c:v>
                </c:pt>
                <c:pt idx="315">
                  <c:v>0.43357899999999999</c:v>
                </c:pt>
                <c:pt idx="316">
                  <c:v>0.32686599999999999</c:v>
                </c:pt>
                <c:pt idx="317">
                  <c:v>0.32911699999999999</c:v>
                </c:pt>
                <c:pt idx="318">
                  <c:v>0.27937099999999998</c:v>
                </c:pt>
                <c:pt idx="319">
                  <c:v>5.8014000000000003E-2</c:v>
                </c:pt>
              </c:numCache>
            </c:numRef>
          </c:yVal>
          <c:smooth val="1"/>
          <c:extLst>
            <c:ext xmlns:c16="http://schemas.microsoft.com/office/drawing/2014/chart" uri="{C3380CC4-5D6E-409C-BE32-E72D297353CC}">
              <c16:uniqueId val="{00000000-ADC2-4287-AA1F-D21F3482D47B}"/>
            </c:ext>
          </c:extLst>
        </c:ser>
        <c:ser>
          <c:idx val="1"/>
          <c:order val="1"/>
          <c:tx>
            <c:strRef>
              <c:f>Embedding span</c:f>
              <c:strCache>
                <c:ptCount val="1"/>
                <c:pt idx="0">
                  <c:v>Embedding span</c:v>
                </c:pt>
              </c:strCache>
            </c:strRef>
          </c:tx>
          <c:spPr>
            <a:ln w="28575" cap="rnd">
              <a:solidFill>
                <a:srgbClr val="7056A8"/>
              </a:solidFill>
              <a:prstDash val="solid"/>
              <a:round/>
            </a:ln>
          </c:spPr>
          <c:marker>
            <c:symbol val="none"/>
          </c:marker>
          <c:xVal>
            <c:numRef>
              <c:f>'Chart Data'!$C$2:$C$5</c:f>
              <c:numCache>
                <c:formatCode>General</c:formatCode>
                <c:ptCount val="4"/>
                <c:pt idx="0">
                  <c:v>1</c:v>
                </c:pt>
                <c:pt idx="1">
                  <c:v>1</c:v>
                </c:pt>
                <c:pt idx="2">
                  <c:v>3</c:v>
                </c:pt>
                <c:pt idx="3">
                  <c:v>3</c:v>
                </c:pt>
              </c:numCache>
            </c:numRef>
          </c:xVal>
          <c:yVal>
            <c:numRef>
              <c:f>'Chart Data'!$D$2:$D$5</c:f>
              <c:numCache>
                <c:formatCode>0.0</c:formatCode>
                <c:ptCount val="4"/>
                <c:pt idx="0">
                  <c:v>1.55</c:v>
                </c:pt>
                <c:pt idx="1">
                  <c:v>1.78</c:v>
                </c:pt>
                <c:pt idx="2">
                  <c:v>1.78</c:v>
                </c:pt>
                <c:pt idx="3">
                  <c:v>1.55</c:v>
                </c:pt>
              </c:numCache>
            </c:numRef>
          </c:yVal>
          <c:smooth val="1"/>
          <c:extLst>
            <c:ext xmlns:c16="http://schemas.microsoft.com/office/drawing/2014/chart" uri="{C3380CC4-5D6E-409C-BE32-E72D297353CC}">
              <c16:uniqueId val="{00000001-ADC2-4287-AA1F-D21F3482D47B}"/>
            </c:ext>
          </c:extLst>
        </c:ser>
        <c:dLbls>
          <c:showLegendKey val="0"/>
          <c:showVal val="0"/>
          <c:showCatName val="0"/>
          <c:showSerName val="0"/>
          <c:showPercent val="0"/>
          <c:showBubbleSize val="0"/>
        </c:dLbls>
        <c:axId val="48650112"/>
        <c:axId val="48672768"/>
      </c:scatterChart>
      <c:valAx>
        <c:axId val="48650112"/>
        <c:scaling>
          <c:orientation val="minMax"/>
          <c:max val="8"/>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2"/>
      </c:valAx>
      <c:valAx>
        <c:axId val="48672768"/>
        <c:scaling>
          <c:orientation val="minMax"/>
          <c:max val="2"/>
          <c:min val="-2"/>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PPG (a.u.)</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457bb1b4-7e04-47a9-81c1-72ce1e0282b6}"/>
      </c:ext>
    </c:extLst>
  </c:chart>
  <c:spPr>
    <a:solidFill>
      <a:srgbClr val="FFFFFF"/>
    </a:solidFill>
    <a:ln w="0">
      <a:noFill/>
    </a:ln>
  </c:spPr>
  <c:txPr>
    <a:bodyPr/>
    <a:lstStyle/>
    <a:p>
      <a:pPr>
        <a:defRPr lang="zh-CN"/>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Pulse-rich components</c:f>
              <c:strCache>
                <c:ptCount val="1"/>
                <c:pt idx="0">
                  <c:v>Pulse-rich components</c:v>
                </c:pt>
              </c:strCache>
            </c:strRef>
          </c:tx>
          <c:spPr>
            <a:ln w="23813" cap="rnd">
              <a:solidFill>
                <a:srgbClr val="087E8B"/>
              </a:solidFill>
              <a:prstDash val="solid"/>
              <a:round/>
            </a:ln>
          </c:spPr>
          <c:marker>
            <c:symbol val="none"/>
          </c:marker>
          <c:xVal>
            <c:numRef>
              <c:f>'Chart Data'!$A$2:$A$321</c:f>
              <c:numCache>
                <c:formatCode>General</c:formatCode>
                <c:ptCount val="320"/>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pt idx="161">
                  <c:v>4.0250000000000004</c:v>
                </c:pt>
                <c:pt idx="162">
                  <c:v>4.05</c:v>
                </c:pt>
                <c:pt idx="163">
                  <c:v>4.0750000000000002</c:v>
                </c:pt>
                <c:pt idx="164">
                  <c:v>4.0999999999999996</c:v>
                </c:pt>
                <c:pt idx="165">
                  <c:v>4.125</c:v>
                </c:pt>
                <c:pt idx="166">
                  <c:v>4.1500000000000004</c:v>
                </c:pt>
                <c:pt idx="167">
                  <c:v>4.1749999999999998</c:v>
                </c:pt>
                <c:pt idx="168">
                  <c:v>4.2</c:v>
                </c:pt>
                <c:pt idx="169">
                  <c:v>4.2249999999999996</c:v>
                </c:pt>
                <c:pt idx="170">
                  <c:v>4.25</c:v>
                </c:pt>
                <c:pt idx="171">
                  <c:v>4.2750000000000004</c:v>
                </c:pt>
                <c:pt idx="172">
                  <c:v>4.3</c:v>
                </c:pt>
                <c:pt idx="173">
                  <c:v>4.3250000000000002</c:v>
                </c:pt>
                <c:pt idx="174">
                  <c:v>4.3499999999999996</c:v>
                </c:pt>
                <c:pt idx="175">
                  <c:v>4.375</c:v>
                </c:pt>
                <c:pt idx="176">
                  <c:v>4.4000000000000004</c:v>
                </c:pt>
                <c:pt idx="177">
                  <c:v>4.4249999999999998</c:v>
                </c:pt>
                <c:pt idx="178">
                  <c:v>4.45</c:v>
                </c:pt>
                <c:pt idx="179">
                  <c:v>4.4749999999999996</c:v>
                </c:pt>
                <c:pt idx="180">
                  <c:v>4.5</c:v>
                </c:pt>
                <c:pt idx="181">
                  <c:v>4.5250000000000004</c:v>
                </c:pt>
                <c:pt idx="182">
                  <c:v>4.55</c:v>
                </c:pt>
                <c:pt idx="183">
                  <c:v>4.5750000000000002</c:v>
                </c:pt>
                <c:pt idx="184">
                  <c:v>4.5999999999999996</c:v>
                </c:pt>
                <c:pt idx="185">
                  <c:v>4.625</c:v>
                </c:pt>
                <c:pt idx="186">
                  <c:v>4.6500000000000004</c:v>
                </c:pt>
                <c:pt idx="187">
                  <c:v>4.6749999999999998</c:v>
                </c:pt>
                <c:pt idx="188">
                  <c:v>4.7</c:v>
                </c:pt>
                <c:pt idx="189">
                  <c:v>4.7249999999999996</c:v>
                </c:pt>
                <c:pt idx="190">
                  <c:v>4.75</c:v>
                </c:pt>
                <c:pt idx="191">
                  <c:v>4.7750000000000004</c:v>
                </c:pt>
                <c:pt idx="192">
                  <c:v>4.8</c:v>
                </c:pt>
                <c:pt idx="193">
                  <c:v>4.8250000000000002</c:v>
                </c:pt>
                <c:pt idx="194">
                  <c:v>4.8499999999999996</c:v>
                </c:pt>
                <c:pt idx="195">
                  <c:v>4.875</c:v>
                </c:pt>
                <c:pt idx="196">
                  <c:v>4.9000000000000004</c:v>
                </c:pt>
                <c:pt idx="197">
                  <c:v>4.9249999999999998</c:v>
                </c:pt>
                <c:pt idx="198">
                  <c:v>4.95</c:v>
                </c:pt>
                <c:pt idx="199">
                  <c:v>4.9749999999999996</c:v>
                </c:pt>
                <c:pt idx="200">
                  <c:v>5</c:v>
                </c:pt>
                <c:pt idx="201">
                  <c:v>5.0250000000000004</c:v>
                </c:pt>
                <c:pt idx="202">
                  <c:v>5.05</c:v>
                </c:pt>
                <c:pt idx="203">
                  <c:v>5.0750000000000002</c:v>
                </c:pt>
                <c:pt idx="204">
                  <c:v>5.0999999999999996</c:v>
                </c:pt>
                <c:pt idx="205">
                  <c:v>5.125</c:v>
                </c:pt>
                <c:pt idx="206">
                  <c:v>5.15</c:v>
                </c:pt>
                <c:pt idx="207">
                  <c:v>5.1749999999999998</c:v>
                </c:pt>
                <c:pt idx="208">
                  <c:v>5.2</c:v>
                </c:pt>
                <c:pt idx="209">
                  <c:v>5.2249999999999996</c:v>
                </c:pt>
                <c:pt idx="210">
                  <c:v>5.25</c:v>
                </c:pt>
                <c:pt idx="211">
                  <c:v>5.2750000000000004</c:v>
                </c:pt>
                <c:pt idx="212">
                  <c:v>5.3</c:v>
                </c:pt>
                <c:pt idx="213">
                  <c:v>5.3250000000000002</c:v>
                </c:pt>
                <c:pt idx="214">
                  <c:v>5.35</c:v>
                </c:pt>
                <c:pt idx="215">
                  <c:v>5.375</c:v>
                </c:pt>
                <c:pt idx="216">
                  <c:v>5.4</c:v>
                </c:pt>
                <c:pt idx="217">
                  <c:v>5.4249999999999998</c:v>
                </c:pt>
                <c:pt idx="218">
                  <c:v>5.45</c:v>
                </c:pt>
                <c:pt idx="219">
                  <c:v>5.4749999999999996</c:v>
                </c:pt>
                <c:pt idx="220">
                  <c:v>5.5</c:v>
                </c:pt>
                <c:pt idx="221">
                  <c:v>5.5250000000000004</c:v>
                </c:pt>
                <c:pt idx="222">
                  <c:v>5.55</c:v>
                </c:pt>
                <c:pt idx="223">
                  <c:v>5.5750000000000002</c:v>
                </c:pt>
                <c:pt idx="224">
                  <c:v>5.6</c:v>
                </c:pt>
                <c:pt idx="225">
                  <c:v>5.625</c:v>
                </c:pt>
                <c:pt idx="226">
                  <c:v>5.65</c:v>
                </c:pt>
                <c:pt idx="227">
                  <c:v>5.6749999999999998</c:v>
                </c:pt>
                <c:pt idx="228">
                  <c:v>5.7</c:v>
                </c:pt>
                <c:pt idx="229">
                  <c:v>5.7249999999999996</c:v>
                </c:pt>
                <c:pt idx="230">
                  <c:v>5.75</c:v>
                </c:pt>
                <c:pt idx="231">
                  <c:v>5.7750000000000004</c:v>
                </c:pt>
                <c:pt idx="232">
                  <c:v>5.8</c:v>
                </c:pt>
                <c:pt idx="233">
                  <c:v>5.8250000000000002</c:v>
                </c:pt>
                <c:pt idx="234">
                  <c:v>5.85</c:v>
                </c:pt>
                <c:pt idx="235">
                  <c:v>5.875</c:v>
                </c:pt>
                <c:pt idx="236">
                  <c:v>5.9</c:v>
                </c:pt>
                <c:pt idx="237">
                  <c:v>5.9249999999999998</c:v>
                </c:pt>
                <c:pt idx="238">
                  <c:v>5.95</c:v>
                </c:pt>
                <c:pt idx="239">
                  <c:v>5.9749999999999996</c:v>
                </c:pt>
                <c:pt idx="240">
                  <c:v>6</c:v>
                </c:pt>
                <c:pt idx="241">
                  <c:v>6.0250000000000004</c:v>
                </c:pt>
                <c:pt idx="242">
                  <c:v>6.05</c:v>
                </c:pt>
                <c:pt idx="243">
                  <c:v>6.0750000000000002</c:v>
                </c:pt>
                <c:pt idx="244">
                  <c:v>6.1</c:v>
                </c:pt>
                <c:pt idx="245">
                  <c:v>6.125</c:v>
                </c:pt>
                <c:pt idx="246">
                  <c:v>6.15</c:v>
                </c:pt>
                <c:pt idx="247">
                  <c:v>6.1749999999999998</c:v>
                </c:pt>
                <c:pt idx="248">
                  <c:v>6.2</c:v>
                </c:pt>
                <c:pt idx="249">
                  <c:v>6.2249999999999996</c:v>
                </c:pt>
                <c:pt idx="250">
                  <c:v>6.25</c:v>
                </c:pt>
                <c:pt idx="251">
                  <c:v>6.2750000000000004</c:v>
                </c:pt>
                <c:pt idx="252">
                  <c:v>6.3</c:v>
                </c:pt>
                <c:pt idx="253">
                  <c:v>6.3250000000000002</c:v>
                </c:pt>
                <c:pt idx="254">
                  <c:v>6.35</c:v>
                </c:pt>
                <c:pt idx="255">
                  <c:v>6.375</c:v>
                </c:pt>
                <c:pt idx="256">
                  <c:v>6.4</c:v>
                </c:pt>
                <c:pt idx="257">
                  <c:v>6.4249999999999998</c:v>
                </c:pt>
                <c:pt idx="258">
                  <c:v>6.45</c:v>
                </c:pt>
                <c:pt idx="259">
                  <c:v>6.4749999999999996</c:v>
                </c:pt>
                <c:pt idx="260">
                  <c:v>6.5</c:v>
                </c:pt>
                <c:pt idx="261">
                  <c:v>6.5250000000000004</c:v>
                </c:pt>
                <c:pt idx="262">
                  <c:v>6.55</c:v>
                </c:pt>
                <c:pt idx="263">
                  <c:v>6.5750000000000002</c:v>
                </c:pt>
                <c:pt idx="264">
                  <c:v>6.6</c:v>
                </c:pt>
                <c:pt idx="265">
                  <c:v>6.625</c:v>
                </c:pt>
                <c:pt idx="266">
                  <c:v>6.65</c:v>
                </c:pt>
                <c:pt idx="267">
                  <c:v>6.6749999999999998</c:v>
                </c:pt>
                <c:pt idx="268">
                  <c:v>6.7</c:v>
                </c:pt>
                <c:pt idx="269">
                  <c:v>6.7249999999999996</c:v>
                </c:pt>
                <c:pt idx="270">
                  <c:v>6.75</c:v>
                </c:pt>
                <c:pt idx="271">
                  <c:v>6.7750000000000004</c:v>
                </c:pt>
                <c:pt idx="272">
                  <c:v>6.8</c:v>
                </c:pt>
                <c:pt idx="273">
                  <c:v>6.8250000000000002</c:v>
                </c:pt>
                <c:pt idx="274">
                  <c:v>6.85</c:v>
                </c:pt>
                <c:pt idx="275">
                  <c:v>6.875</c:v>
                </c:pt>
                <c:pt idx="276">
                  <c:v>6.9</c:v>
                </c:pt>
                <c:pt idx="277">
                  <c:v>6.9249999999999998</c:v>
                </c:pt>
                <c:pt idx="278">
                  <c:v>6.95</c:v>
                </c:pt>
                <c:pt idx="279">
                  <c:v>6.9749999999999996</c:v>
                </c:pt>
                <c:pt idx="280">
                  <c:v>7</c:v>
                </c:pt>
                <c:pt idx="281">
                  <c:v>7.0250000000000004</c:v>
                </c:pt>
                <c:pt idx="282">
                  <c:v>7.05</c:v>
                </c:pt>
                <c:pt idx="283">
                  <c:v>7.0750000000000002</c:v>
                </c:pt>
                <c:pt idx="284">
                  <c:v>7.1</c:v>
                </c:pt>
                <c:pt idx="285">
                  <c:v>7.125</c:v>
                </c:pt>
                <c:pt idx="286">
                  <c:v>7.15</c:v>
                </c:pt>
                <c:pt idx="287">
                  <c:v>7.1749999999999998</c:v>
                </c:pt>
                <c:pt idx="288">
                  <c:v>7.2</c:v>
                </c:pt>
                <c:pt idx="289">
                  <c:v>7.2249999999999996</c:v>
                </c:pt>
                <c:pt idx="290">
                  <c:v>7.25</c:v>
                </c:pt>
                <c:pt idx="291">
                  <c:v>7.2750000000000004</c:v>
                </c:pt>
                <c:pt idx="292">
                  <c:v>7.3</c:v>
                </c:pt>
                <c:pt idx="293">
                  <c:v>7.3250000000000002</c:v>
                </c:pt>
                <c:pt idx="294">
                  <c:v>7.35</c:v>
                </c:pt>
                <c:pt idx="295">
                  <c:v>7.375</c:v>
                </c:pt>
                <c:pt idx="296">
                  <c:v>7.4</c:v>
                </c:pt>
                <c:pt idx="297">
                  <c:v>7.4249999999999998</c:v>
                </c:pt>
                <c:pt idx="298">
                  <c:v>7.45</c:v>
                </c:pt>
                <c:pt idx="299">
                  <c:v>7.4749999999999996</c:v>
                </c:pt>
                <c:pt idx="300">
                  <c:v>7.5</c:v>
                </c:pt>
                <c:pt idx="301">
                  <c:v>7.5250000000000004</c:v>
                </c:pt>
                <c:pt idx="302">
                  <c:v>7.55</c:v>
                </c:pt>
                <c:pt idx="303">
                  <c:v>7.5750000000000002</c:v>
                </c:pt>
                <c:pt idx="304">
                  <c:v>7.6</c:v>
                </c:pt>
                <c:pt idx="305">
                  <c:v>7.625</c:v>
                </c:pt>
                <c:pt idx="306">
                  <c:v>7.65</c:v>
                </c:pt>
                <c:pt idx="307">
                  <c:v>7.6749999999999998</c:v>
                </c:pt>
                <c:pt idx="308">
                  <c:v>7.7</c:v>
                </c:pt>
                <c:pt idx="309">
                  <c:v>7.7249999999999996</c:v>
                </c:pt>
                <c:pt idx="310">
                  <c:v>7.75</c:v>
                </c:pt>
                <c:pt idx="311">
                  <c:v>7.7750000000000004</c:v>
                </c:pt>
                <c:pt idx="312">
                  <c:v>7.8</c:v>
                </c:pt>
                <c:pt idx="313">
                  <c:v>7.8250000000000002</c:v>
                </c:pt>
                <c:pt idx="314">
                  <c:v>7.85</c:v>
                </c:pt>
                <c:pt idx="315">
                  <c:v>7.875</c:v>
                </c:pt>
                <c:pt idx="316">
                  <c:v>7.9</c:v>
                </c:pt>
                <c:pt idx="317">
                  <c:v>7.9249999999999998</c:v>
                </c:pt>
                <c:pt idx="318">
                  <c:v>7.95</c:v>
                </c:pt>
                <c:pt idx="319">
                  <c:v>7.9749999999999996</c:v>
                </c:pt>
              </c:numCache>
            </c:numRef>
          </c:xVal>
          <c:yVal>
            <c:numRef>
              <c:f>'Chart Data'!$B$2:$B$321</c:f>
              <c:numCache>
                <c:formatCode>0.0</c:formatCode>
                <c:ptCount val="320"/>
                <c:pt idx="0">
                  <c:v>-6.0231E-2</c:v>
                </c:pt>
                <c:pt idx="1">
                  <c:v>0.117825</c:v>
                </c:pt>
                <c:pt idx="2">
                  <c:v>0.28865800000000003</c:v>
                </c:pt>
                <c:pt idx="3">
                  <c:v>0.44679000000000002</c:v>
                </c:pt>
                <c:pt idx="4">
                  <c:v>0.58757700000000002</c:v>
                </c:pt>
                <c:pt idx="5">
                  <c:v>0.70676799999999995</c:v>
                </c:pt>
                <c:pt idx="6">
                  <c:v>0.80024300000000004</c:v>
                </c:pt>
                <c:pt idx="7">
                  <c:v>0.86416199999999999</c:v>
                </c:pt>
                <c:pt idx="8">
                  <c:v>0.89549199999999995</c:v>
                </c:pt>
                <c:pt idx="9">
                  <c:v>0.89258099999999996</c:v>
                </c:pt>
                <c:pt idx="10">
                  <c:v>0.85549900000000001</c:v>
                </c:pt>
                <c:pt idx="11">
                  <c:v>0.78595700000000002</c:v>
                </c:pt>
                <c:pt idx="12">
                  <c:v>0.68692299999999995</c:v>
                </c:pt>
                <c:pt idx="13">
                  <c:v>0.56218500000000005</c:v>
                </c:pt>
                <c:pt idx="14">
                  <c:v>0.41609800000000002</c:v>
                </c:pt>
                <c:pt idx="15">
                  <c:v>0.253579</c:v>
                </c:pt>
                <c:pt idx="16">
                  <c:v>8.0199999999999994E-2</c:v>
                </c:pt>
                <c:pt idx="17">
                  <c:v>-9.7806000000000004E-2</c:v>
                </c:pt>
                <c:pt idx="18">
                  <c:v>-0.27377499999999999</c:v>
                </c:pt>
                <c:pt idx="19">
                  <c:v>-0.44104300000000002</c:v>
                </c:pt>
                <c:pt idx="20">
                  <c:v>-0.59339500000000001</c:v>
                </c:pt>
                <c:pt idx="21">
                  <c:v>-0.725379</c:v>
                </c:pt>
                <c:pt idx="22">
                  <c:v>-0.83240700000000001</c:v>
                </c:pt>
                <c:pt idx="23">
                  <c:v>-0.91073199999999999</c:v>
                </c:pt>
                <c:pt idx="24">
                  <c:v>-0.95744600000000002</c:v>
                </c:pt>
                <c:pt idx="25">
                  <c:v>-0.97058500000000003</c:v>
                </c:pt>
                <c:pt idx="26">
                  <c:v>-0.94933999999999996</c:v>
                </c:pt>
                <c:pt idx="27">
                  <c:v>-0.89424099999999995</c:v>
                </c:pt>
                <c:pt idx="28">
                  <c:v>-0.80720099999999995</c:v>
                </c:pt>
                <c:pt idx="29">
                  <c:v>-0.69138100000000002</c:v>
                </c:pt>
                <c:pt idx="30">
                  <c:v>-0.55093000000000003</c:v>
                </c:pt>
                <c:pt idx="31">
                  <c:v>-0.39073600000000003</c:v>
                </c:pt>
                <c:pt idx="32">
                  <c:v>-0.21626699999999999</c:v>
                </c:pt>
                <c:pt idx="33">
                  <c:v>-3.3485000000000001E-2</c:v>
                </c:pt>
                <c:pt idx="34">
                  <c:v>0.15124799999999999</c:v>
                </c:pt>
                <c:pt idx="35">
                  <c:v>0.33134999999999998</c:v>
                </c:pt>
                <c:pt idx="36">
                  <c:v>0.50031800000000004</c:v>
                </c:pt>
                <c:pt idx="37">
                  <c:v>0.65207499999999996</c:v>
                </c:pt>
                <c:pt idx="38">
                  <c:v>0.78126300000000004</c:v>
                </c:pt>
                <c:pt idx="39">
                  <c:v>0.88341899999999995</c:v>
                </c:pt>
                <c:pt idx="40">
                  <c:v>0.955044</c:v>
                </c:pt>
                <c:pt idx="41">
                  <c:v>0.99362700000000004</c:v>
                </c:pt>
                <c:pt idx="42">
                  <c:v>0.99771299999999996</c:v>
                </c:pt>
                <c:pt idx="43">
                  <c:v>0.96700900000000001</c:v>
                </c:pt>
                <c:pt idx="44">
                  <c:v>0.90249400000000002</c:v>
                </c:pt>
                <c:pt idx="45">
                  <c:v>0.80644700000000002</c:v>
                </c:pt>
                <c:pt idx="46">
                  <c:v>0.68234499999999998</c:v>
                </c:pt>
                <c:pt idx="47">
                  <c:v>0.53466100000000005</c:v>
                </c:pt>
                <c:pt idx="48">
                  <c:v>0.36862899999999998</c:v>
                </c:pt>
                <c:pt idx="49">
                  <c:v>0.19003700000000001</c:v>
                </c:pt>
                <c:pt idx="50">
                  <c:v>5.0860000000000002E-3</c:v>
                </c:pt>
                <c:pt idx="51">
                  <c:v>-0.179758</c:v>
                </c:pt>
                <c:pt idx="52">
                  <c:v>-0.35793799999999998</c:v>
                </c:pt>
                <c:pt idx="53">
                  <c:v>-0.52306299999999994</c:v>
                </c:pt>
                <c:pt idx="54">
                  <c:v>-0.66920900000000005</c:v>
                </c:pt>
                <c:pt idx="55">
                  <c:v>-0.79119099999999998</c:v>
                </c:pt>
                <c:pt idx="56">
                  <c:v>-0.88475899999999996</c:v>
                </c:pt>
                <c:pt idx="57">
                  <c:v>-0.94669599999999998</c:v>
                </c:pt>
                <c:pt idx="58">
                  <c:v>-0.974858</c:v>
                </c:pt>
                <c:pt idx="59">
                  <c:v>-0.96821900000000005</c:v>
                </c:pt>
                <c:pt idx="60">
                  <c:v>-0.92693199999999998</c:v>
                </c:pt>
                <c:pt idx="61">
                  <c:v>-0.85238700000000001</c:v>
                </c:pt>
                <c:pt idx="62">
                  <c:v>-0.74722</c:v>
                </c:pt>
                <c:pt idx="63">
                  <c:v>-0.61521800000000004</c:v>
                </c:pt>
                <c:pt idx="64">
                  <c:v>-0.461142</c:v>
                </c:pt>
                <c:pt idx="65">
                  <c:v>-0.29049000000000003</c:v>
                </c:pt>
                <c:pt idx="66">
                  <c:v>-0.109278</c:v>
                </c:pt>
                <c:pt idx="67">
                  <c:v>7.6141E-2</c:v>
                </c:pt>
                <c:pt idx="68">
                  <c:v>0.25925100000000001</c:v>
                </c:pt>
                <c:pt idx="69">
                  <c:v>0.43355199999999999</c:v>
                </c:pt>
                <c:pt idx="70">
                  <c:v>0.59279599999999999</c:v>
                </c:pt>
                <c:pt idx="71">
                  <c:v>0.73125499999999999</c:v>
                </c:pt>
                <c:pt idx="72">
                  <c:v>0.84397800000000001</c:v>
                </c:pt>
                <c:pt idx="73">
                  <c:v>0.92698800000000003</c:v>
                </c:pt>
                <c:pt idx="74">
                  <c:v>0.97739299999999996</c:v>
                </c:pt>
                <c:pt idx="75">
                  <c:v>0.99343400000000004</c:v>
                </c:pt>
                <c:pt idx="76">
                  <c:v>0.97451100000000002</c:v>
                </c:pt>
                <c:pt idx="77">
                  <c:v>0.92121200000000003</c:v>
                </c:pt>
                <c:pt idx="78">
                  <c:v>0.83533800000000002</c:v>
                </c:pt>
                <c:pt idx="79">
                  <c:v>0.71988700000000005</c:v>
                </c:pt>
                <c:pt idx="80">
                  <c:v>0.57846600000000004</c:v>
                </c:pt>
                <c:pt idx="81">
                  <c:v>0.41633399999999998</c:v>
                </c:pt>
                <c:pt idx="82">
                  <c:v>0.23922199999999999</c:v>
                </c:pt>
                <c:pt idx="83">
                  <c:v>5.3344999999999997E-2</c:v>
                </c:pt>
                <c:pt idx="84">
                  <c:v>-0.13478200000000001</c:v>
                </c:pt>
                <c:pt idx="85">
                  <c:v>-0.31852599999999998</c:v>
                </c:pt>
                <c:pt idx="86">
                  <c:v>-0.49135600000000001</c:v>
                </c:pt>
                <c:pt idx="87">
                  <c:v>-0.64709499999999998</c:v>
                </c:pt>
                <c:pt idx="88">
                  <c:v>-0.78018799999999999</c:v>
                </c:pt>
                <c:pt idx="89">
                  <c:v>-0.88593200000000005</c:v>
                </c:pt>
                <c:pt idx="90">
                  <c:v>-0.96064000000000005</c:v>
                </c:pt>
                <c:pt idx="91">
                  <c:v>-1.0017259999999999</c:v>
                </c:pt>
                <c:pt idx="92">
                  <c:v>-1.007757</c:v>
                </c:pt>
                <c:pt idx="93">
                  <c:v>-0.978487</c:v>
                </c:pt>
                <c:pt idx="94">
                  <c:v>-0.91489200000000004</c:v>
                </c:pt>
                <c:pt idx="95">
                  <c:v>-0.81918599999999997</c:v>
                </c:pt>
                <c:pt idx="96">
                  <c:v>-0.69477100000000003</c:v>
                </c:pt>
                <c:pt idx="97">
                  <c:v>-0.54611100000000001</c:v>
                </c:pt>
                <c:pt idx="98">
                  <c:v>-0.378525</c:v>
                </c:pt>
                <c:pt idx="99">
                  <c:v>-0.197962</c:v>
                </c:pt>
                <c:pt idx="100">
                  <c:v>-1.0774000000000001E-2</c:v>
                </c:pt>
                <c:pt idx="101">
                  <c:v>0.17647299999999999</c:v>
                </c:pt>
                <c:pt idx="102">
                  <c:v>0.35718699999999998</c:v>
                </c:pt>
                <c:pt idx="103">
                  <c:v>0.52495199999999997</c:v>
                </c:pt>
                <c:pt idx="104">
                  <c:v>0.67377500000000001</c:v>
                </c:pt>
                <c:pt idx="105">
                  <c:v>0.79833600000000005</c:v>
                </c:pt>
                <c:pt idx="106">
                  <c:v>0.89422500000000005</c:v>
                </c:pt>
                <c:pt idx="107">
                  <c:v>0.95809599999999995</c:v>
                </c:pt>
                <c:pt idx="108">
                  <c:v>0.98775800000000002</c:v>
                </c:pt>
                <c:pt idx="109">
                  <c:v>0.98220099999999999</c:v>
                </c:pt>
                <c:pt idx="110">
                  <c:v>0.94160900000000003</c:v>
                </c:pt>
                <c:pt idx="111">
                  <c:v>0.86736999999999997</c:v>
                </c:pt>
                <c:pt idx="112">
                  <c:v>0.76207800000000003</c:v>
                </c:pt>
                <c:pt idx="113">
                  <c:v>0.62947200000000003</c:v>
                </c:pt>
                <c:pt idx="114">
                  <c:v>0.47431299999999998</c:v>
                </c:pt>
                <c:pt idx="115">
                  <c:v>0.30216900000000002</c:v>
                </c:pt>
                <c:pt idx="116">
                  <c:v>0.11917999999999999</c:v>
                </c:pt>
                <c:pt idx="117">
                  <c:v>-6.8186999999999998E-2</c:v>
                </c:pt>
                <c:pt idx="118">
                  <c:v>-0.25334000000000001</c:v>
                </c:pt>
                <c:pt idx="119">
                  <c:v>-0.42975200000000002</c:v>
                </c:pt>
                <c:pt idx="120">
                  <c:v>-0.59115200000000001</c:v>
                </c:pt>
                <c:pt idx="121">
                  <c:v>-0.73175500000000004</c:v>
                </c:pt>
                <c:pt idx="122">
                  <c:v>-0.84650499999999995</c:v>
                </c:pt>
                <c:pt idx="123">
                  <c:v>-0.93130000000000002</c:v>
                </c:pt>
                <c:pt idx="124">
                  <c:v>-0.98315399999999997</c:v>
                </c:pt>
                <c:pt idx="125">
                  <c:v>-1.0002740000000001</c:v>
                </c:pt>
                <c:pt idx="126">
                  <c:v>-0.98207900000000004</c:v>
                </c:pt>
                <c:pt idx="127">
                  <c:v>-0.92918500000000004</c:v>
                </c:pt>
                <c:pt idx="128">
                  <c:v>-0.84339500000000001</c:v>
                </c:pt>
                <c:pt idx="129">
                  <c:v>-0.72767400000000004</c:v>
                </c:pt>
                <c:pt idx="130">
                  <c:v>-0.58608800000000005</c:v>
                </c:pt>
                <c:pt idx="131">
                  <c:v>-0.423676</c:v>
                </c:pt>
                <c:pt idx="132">
                  <c:v>-0.24623500000000001</c:v>
                </c:pt>
                <c:pt idx="133">
                  <c:v>-6.0072E-2</c:v>
                </c:pt>
                <c:pt idx="134">
                  <c:v>0.128251</c:v>
                </c:pt>
                <c:pt idx="135">
                  <c:v>0.312137</c:v>
                </c:pt>
                <c:pt idx="136">
                  <c:v>0.48514299999999999</c:v>
                </c:pt>
                <c:pt idx="137">
                  <c:v>0.64116399999999996</c:v>
                </c:pt>
                <c:pt idx="138">
                  <c:v>0.77464599999999995</c:v>
                </c:pt>
                <c:pt idx="139">
                  <c:v>0.88081500000000001</c:v>
                </c:pt>
                <c:pt idx="140">
                  <c:v>0.95589199999999996</c:v>
                </c:pt>
                <c:pt idx="141">
                  <c:v>0.997255</c:v>
                </c:pt>
                <c:pt idx="142">
                  <c:v>1.003511</c:v>
                </c:pt>
                <c:pt idx="143">
                  <c:v>0.97450400000000004</c:v>
                </c:pt>
                <c:pt idx="144">
                  <c:v>0.91127800000000003</c:v>
                </c:pt>
                <c:pt idx="145">
                  <c:v>0.81603800000000004</c:v>
                </c:pt>
                <c:pt idx="146">
                  <c:v>0.69211100000000003</c:v>
                </c:pt>
                <c:pt idx="147">
                  <c:v>0.54386999999999996</c:v>
                </c:pt>
                <c:pt idx="148">
                  <c:v>0.37660500000000002</c:v>
                </c:pt>
                <c:pt idx="149">
                  <c:v>0.19631299999999999</c:v>
                </c:pt>
                <c:pt idx="150">
                  <c:v>9.4389999999999995E-3</c:v>
                </c:pt>
                <c:pt idx="151">
                  <c:v>-0.17739099999999999</c:v>
                </c:pt>
                <c:pt idx="152">
                  <c:v>-0.35760199999999998</c:v>
                </c:pt>
                <c:pt idx="153">
                  <c:v>-0.52485999999999999</c:v>
                </c:pt>
                <c:pt idx="154">
                  <c:v>-0.67325500000000005</c:v>
                </c:pt>
                <c:pt idx="155">
                  <c:v>-0.79749199999999998</c:v>
                </c:pt>
                <c:pt idx="156">
                  <c:v>-0.89310299999999998</c:v>
                </c:pt>
                <c:pt idx="157">
                  <c:v>-0.95665199999999995</c:v>
                </c:pt>
                <c:pt idx="158">
                  <c:v>-0.98589199999999999</c:v>
                </c:pt>
                <c:pt idx="159">
                  <c:v>-0.97984000000000004</c:v>
                </c:pt>
                <c:pt idx="160">
                  <c:v>-0.93876300000000001</c:v>
                </c:pt>
                <c:pt idx="161">
                  <c:v>-0.86413300000000004</c:v>
                </c:pt>
                <c:pt idx="162">
                  <c:v>-0.75855499999999998</c:v>
                </c:pt>
                <c:pt idx="163">
                  <c:v>-0.62570700000000001</c:v>
                </c:pt>
                <c:pt idx="164">
                  <c:v>-0.47025800000000001</c:v>
                </c:pt>
                <c:pt idx="165">
                  <c:v>-0.29773100000000002</c:v>
                </c:pt>
                <c:pt idx="166">
                  <c:v>-0.11429599999999999</c:v>
                </c:pt>
                <c:pt idx="167">
                  <c:v>7.349E-2</c:v>
                </c:pt>
                <c:pt idx="168">
                  <c:v>0.25896000000000002</c:v>
                </c:pt>
                <c:pt idx="169">
                  <c:v>0.43557899999999999</c:v>
                </c:pt>
                <c:pt idx="170">
                  <c:v>0.59714699999999998</c:v>
                </c:pt>
                <c:pt idx="171">
                  <c:v>0.73796899999999999</c:v>
                </c:pt>
                <c:pt idx="172">
                  <c:v>0.85302900000000004</c:v>
                </c:pt>
                <c:pt idx="173">
                  <c:v>0.93818299999999999</c:v>
                </c:pt>
                <c:pt idx="174">
                  <c:v>0.99035399999999996</c:v>
                </c:pt>
                <c:pt idx="175">
                  <c:v>1.007681</c:v>
                </c:pt>
                <c:pt idx="176">
                  <c:v>0.98958400000000002</c:v>
                </c:pt>
                <c:pt idx="177">
                  <c:v>0.93675600000000003</c:v>
                </c:pt>
                <c:pt idx="178">
                  <c:v>0.85108600000000001</c:v>
                </c:pt>
                <c:pt idx="179">
                  <c:v>0.73556999999999995</c:v>
                </c:pt>
                <c:pt idx="180">
                  <c:v>0.59423000000000004</c:v>
                </c:pt>
                <c:pt idx="181">
                  <c:v>0.43200899999999998</c:v>
                </c:pt>
                <c:pt idx="182">
                  <c:v>0.25464300000000001</c:v>
                </c:pt>
                <c:pt idx="183">
                  <c:v>6.8448999999999996E-2</c:v>
                </c:pt>
                <c:pt idx="184">
                  <c:v>-0.11992999999999999</c:v>
                </c:pt>
                <c:pt idx="185">
                  <c:v>-0.303813</c:v>
                </c:pt>
                <c:pt idx="186">
                  <c:v>-0.47673100000000002</c:v>
                </c:pt>
                <c:pt idx="187">
                  <c:v>-0.63263599999999998</c:v>
                </c:pt>
                <c:pt idx="188">
                  <c:v>-0.766065</c:v>
                </c:pt>
                <c:pt idx="189">
                  <c:v>-0.87230200000000002</c:v>
                </c:pt>
                <c:pt idx="190">
                  <c:v>-0.947546</c:v>
                </c:pt>
                <c:pt idx="191">
                  <c:v>-0.98909100000000005</c:v>
                </c:pt>
                <c:pt idx="192">
                  <c:v>-0.99546400000000002</c:v>
                </c:pt>
                <c:pt idx="193">
                  <c:v>-0.96649099999999999</c:v>
                </c:pt>
                <c:pt idx="194">
                  <c:v>-0.90327800000000003</c:v>
                </c:pt>
                <c:pt idx="195">
                  <c:v>-0.80812200000000001</c:v>
                </c:pt>
                <c:pt idx="196">
                  <c:v>-0.68440000000000001</c:v>
                </c:pt>
                <c:pt idx="197">
                  <c:v>-0.53645500000000002</c:v>
                </c:pt>
                <c:pt idx="198">
                  <c:v>-0.36948999999999999</c:v>
                </c:pt>
                <c:pt idx="199">
                  <c:v>-0.18942400000000001</c:v>
                </c:pt>
                <c:pt idx="200">
                  <c:v>-2.6940000000000002E-3</c:v>
                </c:pt>
                <c:pt idx="201">
                  <c:v>0.184007</c:v>
                </c:pt>
                <c:pt idx="202">
                  <c:v>0.364012</c:v>
                </c:pt>
                <c:pt idx="203">
                  <c:v>0.53094699999999995</c:v>
                </c:pt>
                <c:pt idx="204">
                  <c:v>0.67893800000000004</c:v>
                </c:pt>
                <c:pt idx="205">
                  <c:v>0.80278099999999997</c:v>
                </c:pt>
                <c:pt idx="206">
                  <c:v>0.89807999999999999</c:v>
                </c:pt>
                <c:pt idx="207">
                  <c:v>0.961399</c:v>
                </c:pt>
                <c:pt idx="208">
                  <c:v>0.99041900000000005</c:v>
                </c:pt>
                <c:pt idx="209">
                  <c:v>0.98406700000000003</c:v>
                </c:pt>
                <c:pt idx="210">
                  <c:v>0.94257800000000003</c:v>
                </c:pt>
                <c:pt idx="211">
                  <c:v>0.86746699999999999</c:v>
                </c:pt>
                <c:pt idx="212">
                  <c:v>0.76143400000000006</c:v>
                </c:pt>
                <c:pt idx="213">
                  <c:v>0.62822199999999995</c:v>
                </c:pt>
                <c:pt idx="214">
                  <c:v>0.47249200000000002</c:v>
                </c:pt>
                <c:pt idx="215">
                  <c:v>0.29968800000000001</c:v>
                </c:pt>
                <c:pt idx="216">
                  <c:v>0.115897</c:v>
                </c:pt>
                <c:pt idx="217">
                  <c:v>-7.2350999999999999E-2</c:v>
                </c:pt>
                <c:pt idx="218">
                  <c:v>-0.25833699999999998</c:v>
                </c:pt>
                <c:pt idx="219">
                  <c:v>-0.43543199999999999</c:v>
                </c:pt>
                <c:pt idx="220">
                  <c:v>-0.59737600000000002</c:v>
                </c:pt>
                <c:pt idx="221">
                  <c:v>-0.73848999999999998</c:v>
                </c:pt>
                <c:pt idx="222">
                  <c:v>-0.85384099999999996</c:v>
                </c:pt>
                <c:pt idx="223">
                  <c:v>-0.93936600000000003</c:v>
                </c:pt>
                <c:pt idx="224">
                  <c:v>-0.992008</c:v>
                </c:pt>
                <c:pt idx="225">
                  <c:v>-1.0098419999999999</c:v>
                </c:pt>
                <c:pt idx="226">
                  <c:v>-0.99219900000000005</c:v>
                </c:pt>
                <c:pt idx="227">
                  <c:v>-0.93971499999999997</c:v>
                </c:pt>
                <c:pt idx="228">
                  <c:v>-0.85430600000000001</c:v>
                </c:pt>
                <c:pt idx="229">
                  <c:v>-0.73905500000000002</c:v>
                </c:pt>
                <c:pt idx="230">
                  <c:v>-0.59805799999999998</c:v>
                </c:pt>
                <c:pt idx="231">
                  <c:v>-0.43627100000000002</c:v>
                </c:pt>
                <c:pt idx="232">
                  <c:v>-0.25936199999999998</c:v>
                </c:pt>
                <c:pt idx="233">
                  <c:v>-7.3555999999999996E-2</c:v>
                </c:pt>
                <c:pt idx="234">
                  <c:v>0.114551</c:v>
                </c:pt>
                <c:pt idx="235">
                  <c:v>0.29824200000000001</c:v>
                </c:pt>
                <c:pt idx="236">
                  <c:v>0.47096199999999999</c:v>
                </c:pt>
                <c:pt idx="237">
                  <c:v>0.62658800000000003</c:v>
                </c:pt>
                <c:pt idx="238">
                  <c:v>0.75965800000000006</c:v>
                </c:pt>
                <c:pt idx="239">
                  <c:v>0.86552700000000005</c:v>
                </c:pt>
                <c:pt idx="240">
                  <c:v>0.94048399999999999</c:v>
                </c:pt>
                <c:pt idx="241">
                  <c:v>0.98182400000000003</c:v>
                </c:pt>
                <c:pt idx="242">
                  <c:v>0.98824400000000001</c:v>
                </c:pt>
                <c:pt idx="243">
                  <c:v>0.95950899999999995</c:v>
                </c:pt>
                <c:pt idx="244">
                  <c:v>0.89668700000000001</c:v>
                </c:pt>
                <c:pt idx="245">
                  <c:v>0.80208400000000002</c:v>
                </c:pt>
                <c:pt idx="246">
                  <c:v>0.67911699999999997</c:v>
                </c:pt>
                <c:pt idx="247">
                  <c:v>0.53215199999999996</c:v>
                </c:pt>
                <c:pt idx="248">
                  <c:v>0.36635499999999999</c:v>
                </c:pt>
                <c:pt idx="249">
                  <c:v>0.187553</c:v>
                </c:pt>
                <c:pt idx="250">
                  <c:v>2.0799999999999998E-3</c:v>
                </c:pt>
                <c:pt idx="251">
                  <c:v>-0.18343599999999999</c:v>
                </c:pt>
                <c:pt idx="252">
                  <c:v>-0.36233500000000002</c:v>
                </c:pt>
                <c:pt idx="253">
                  <c:v>-0.52821700000000005</c:v>
                </c:pt>
                <c:pt idx="254">
                  <c:v>-0.67520500000000006</c:v>
                </c:pt>
                <c:pt idx="255">
                  <c:v>-0.79814300000000005</c:v>
                </c:pt>
                <c:pt idx="256">
                  <c:v>-0.89273100000000005</c:v>
                </c:pt>
                <c:pt idx="257">
                  <c:v>-0.95562100000000005</c:v>
                </c:pt>
                <c:pt idx="258">
                  <c:v>-0.98452300000000004</c:v>
                </c:pt>
                <c:pt idx="259">
                  <c:v>-0.97832399999999997</c:v>
                </c:pt>
                <c:pt idx="260">
                  <c:v>-0.93718500000000005</c:v>
                </c:pt>
                <c:pt idx="261">
                  <c:v>-0.86257799999999996</c:v>
                </c:pt>
                <c:pt idx="262">
                  <c:v>-0.75721300000000002</c:v>
                </c:pt>
                <c:pt idx="263">
                  <c:v>-0.624888</c:v>
                </c:pt>
                <c:pt idx="264">
                  <c:v>-0.47029100000000001</c:v>
                </c:pt>
                <c:pt idx="265">
                  <c:v>-0.29882900000000001</c:v>
                </c:pt>
                <c:pt idx="266">
                  <c:v>-0.116477</c:v>
                </c:pt>
                <c:pt idx="267">
                  <c:v>7.0360000000000006E-2</c:v>
                </c:pt>
                <c:pt idx="268">
                  <c:v>0.25504399999999999</c:v>
                </c:pt>
                <c:pt idx="269">
                  <c:v>0.430952</c:v>
                </c:pt>
                <c:pt idx="270">
                  <c:v>0.59178900000000001</c:v>
                </c:pt>
                <c:pt idx="271">
                  <c:v>0.73186600000000002</c:v>
                </c:pt>
                <c:pt idx="272">
                  <c:v>0.84631500000000004</c:v>
                </c:pt>
                <c:pt idx="273">
                  <c:v>0.93119799999999997</c:v>
                </c:pt>
                <c:pt idx="274">
                  <c:v>0.98357499999999998</c:v>
                </c:pt>
                <c:pt idx="275">
                  <c:v>1.001565</c:v>
                </c:pt>
                <c:pt idx="276">
                  <c:v>0.98444900000000002</c:v>
                </c:pt>
                <c:pt idx="277">
                  <c:v>0.93276899999999996</c:v>
                </c:pt>
                <c:pt idx="278">
                  <c:v>0.848387</c:v>
                </c:pt>
                <c:pt idx="279">
                  <c:v>0.73440899999999998</c:v>
                </c:pt>
                <c:pt idx="280">
                  <c:v>0.59501400000000004</c:v>
                </c:pt>
                <c:pt idx="281">
                  <c:v>0.43521100000000001</c:v>
                </c:pt>
                <c:pt idx="282">
                  <c:v>0.260625</c:v>
                </c:pt>
                <c:pt idx="283">
                  <c:v>7.7335000000000001E-2</c:v>
                </c:pt>
                <c:pt idx="284">
                  <c:v>-0.108238</c:v>
                </c:pt>
                <c:pt idx="285">
                  <c:v>-0.289489</c:v>
                </c:pt>
                <c:pt idx="286">
                  <c:v>-0.45986199999999999</c:v>
                </c:pt>
                <c:pt idx="287">
                  <c:v>-0.61317500000000003</c:v>
                </c:pt>
                <c:pt idx="288">
                  <c:v>-0.74394400000000005</c:v>
                </c:pt>
                <c:pt idx="289">
                  <c:v>-0.84761799999999998</c:v>
                </c:pt>
                <c:pt idx="290">
                  <c:v>-0.920686</c:v>
                </c:pt>
                <c:pt idx="291">
                  <c:v>-0.96067400000000003</c:v>
                </c:pt>
                <c:pt idx="292">
                  <c:v>-0.96615499999999999</c:v>
                </c:pt>
                <c:pt idx="293">
                  <c:v>-0.93680300000000005</c:v>
                </c:pt>
                <c:pt idx="294">
                  <c:v>-0.87352099999999999</c:v>
                </c:pt>
                <c:pt idx="295">
                  <c:v>-0.77854000000000001</c:v>
                </c:pt>
                <c:pt idx="296">
                  <c:v>-0.65538399999999997</c:v>
                </c:pt>
                <c:pt idx="297">
                  <c:v>-0.50866699999999998</c:v>
                </c:pt>
                <c:pt idx="298">
                  <c:v>-0.34377200000000002</c:v>
                </c:pt>
                <c:pt idx="299">
                  <c:v>-0.16655400000000001</c:v>
                </c:pt>
                <c:pt idx="300">
                  <c:v>1.6851000000000001E-2</c:v>
                </c:pt>
                <c:pt idx="301">
                  <c:v>0.20009199999999999</c:v>
                </c:pt>
                <c:pt idx="302">
                  <c:v>0.37665500000000002</c:v>
                </c:pt>
                <c:pt idx="303">
                  <c:v>0.54003800000000002</c:v>
                </c:pt>
                <c:pt idx="304">
                  <c:v>0.68409399999999998</c:v>
                </c:pt>
                <c:pt idx="305">
                  <c:v>0.80345699999999998</c:v>
                </c:pt>
                <c:pt idx="306">
                  <c:v>0.89389700000000005</c:v>
                </c:pt>
                <c:pt idx="307">
                  <c:v>0.95244300000000004</c:v>
                </c:pt>
                <c:pt idx="308">
                  <c:v>0.977271</c:v>
                </c:pt>
                <c:pt idx="309">
                  <c:v>0.96751399999999999</c:v>
                </c:pt>
                <c:pt idx="310">
                  <c:v>0.92318699999999998</c:v>
                </c:pt>
                <c:pt idx="311">
                  <c:v>0.84533199999999997</c:v>
                </c:pt>
                <c:pt idx="312">
                  <c:v>0.73631800000000003</c:v>
                </c:pt>
                <c:pt idx="313">
                  <c:v>0.60005500000000001</c:v>
                </c:pt>
                <c:pt idx="314">
                  <c:v>0.44189099999999998</c:v>
                </c:pt>
                <c:pt idx="315">
                  <c:v>0.26812900000000001</c:v>
                </c:pt>
                <c:pt idx="316">
                  <c:v>8.5347999999999993E-2</c:v>
                </c:pt>
                <c:pt idx="317">
                  <c:v>-0.100185</c:v>
                </c:pt>
                <c:pt idx="318">
                  <c:v>-0.28271600000000002</c:v>
                </c:pt>
                <c:pt idx="319">
                  <c:v>-0.45680500000000002</c:v>
                </c:pt>
              </c:numCache>
            </c:numRef>
          </c:yVal>
          <c:smooth val="1"/>
          <c:extLst>
            <c:ext xmlns:c16="http://schemas.microsoft.com/office/drawing/2014/chart" uri="{C3380CC4-5D6E-409C-BE32-E72D297353CC}">
              <c16:uniqueId val="{00000000-EB62-43DD-B115-91EE5D953840}"/>
            </c:ext>
          </c:extLst>
        </c:ser>
        <c:ser>
          <c:idx val="1"/>
          <c:order val="1"/>
          <c:tx>
            <c:strRef>
              <c:f>Zero reference</c:f>
              <c:strCache>
                <c:ptCount val="1"/>
                <c:pt idx="0">
                  <c:v>Zero reference</c:v>
                </c:pt>
              </c:strCache>
            </c:strRef>
          </c:tx>
          <c:spPr>
            <a:ln w="9525" cap="rnd">
              <a:solidFill>
                <a:srgbClr val="BDCCD4"/>
              </a:solidFill>
              <a:prstDash val="solid"/>
              <a:round/>
            </a:ln>
          </c:spPr>
          <c:marker>
            <c:symbol val="none"/>
          </c:marker>
          <c:xVal>
            <c:numRef>
              <c:f>'Chart Data'!$C$2:$C$3</c:f>
              <c:numCache>
                <c:formatCode>General</c:formatCode>
                <c:ptCount val="2"/>
                <c:pt idx="0">
                  <c:v>0</c:v>
                </c:pt>
                <c:pt idx="1">
                  <c:v>8</c:v>
                </c:pt>
              </c:numCache>
            </c:numRef>
          </c:xVal>
          <c:yVal>
            <c:numRef>
              <c:f>'Chart Data'!$D$2:$D$3</c:f>
              <c:numCache>
                <c:formatCode>0.0</c:formatCode>
                <c:ptCount val="2"/>
                <c:pt idx="0">
                  <c:v>0</c:v>
                </c:pt>
                <c:pt idx="1">
                  <c:v>0</c:v>
                </c:pt>
              </c:numCache>
            </c:numRef>
          </c:yVal>
          <c:smooth val="1"/>
          <c:extLst>
            <c:ext xmlns:c16="http://schemas.microsoft.com/office/drawing/2014/chart" uri="{C3380CC4-5D6E-409C-BE32-E72D297353CC}">
              <c16:uniqueId val="{00000001-EB62-43DD-B115-91EE5D953840}"/>
            </c:ext>
          </c:extLst>
        </c:ser>
        <c:dLbls>
          <c:showLegendKey val="0"/>
          <c:showVal val="0"/>
          <c:showCatName val="0"/>
          <c:showSerName val="0"/>
          <c:showPercent val="0"/>
          <c:showBubbleSize val="0"/>
        </c:dLbls>
        <c:axId val="48650112"/>
        <c:axId val="48672768"/>
      </c:scatterChart>
      <c:valAx>
        <c:axId val="48650112"/>
        <c:scaling>
          <c:orientation val="minMax"/>
          <c:max val="8"/>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2"/>
      </c:valAx>
      <c:valAx>
        <c:axId val="48672768"/>
        <c:scaling>
          <c:orientation val="minMax"/>
          <c:max val="1.25"/>
          <c:min val="-1.25"/>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Amplitude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fa759fc4-5c05-4faf-ba38-2029222dc055}"/>
      </c:ext>
    </c:extLst>
  </c:chart>
  <c:spPr>
    <a:solidFill>
      <a:srgbClr val="FFFFFF"/>
    </a:solidFill>
    <a:ln w="0">
      <a:noFill/>
    </a:ln>
  </c:spPr>
  <c:txPr>
    <a:bodyPr/>
    <a:lstStyle/>
    <a:p>
      <a:pPr>
        <a:defRPr lang="zh-CN"/>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Slow interference</c:f>
              <c:strCache>
                <c:ptCount val="1"/>
                <c:pt idx="0">
                  <c:v>Slow interference</c:v>
                </c:pt>
              </c:strCache>
            </c:strRef>
          </c:tx>
          <c:spPr>
            <a:ln w="23813" cap="rnd">
              <a:solidFill>
                <a:srgbClr val="B96D20"/>
              </a:solidFill>
              <a:prstDash val="solid"/>
              <a:round/>
            </a:ln>
          </c:spPr>
          <c:marker>
            <c:symbol val="none"/>
          </c:marker>
          <c:xVal>
            <c:numRef>
              <c:f>'Chart Data'!$A$2:$A$321</c:f>
              <c:numCache>
                <c:formatCode>General</c:formatCode>
                <c:ptCount val="320"/>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pt idx="161">
                  <c:v>4.0250000000000004</c:v>
                </c:pt>
                <c:pt idx="162">
                  <c:v>4.05</c:v>
                </c:pt>
                <c:pt idx="163">
                  <c:v>4.0750000000000002</c:v>
                </c:pt>
                <c:pt idx="164">
                  <c:v>4.0999999999999996</c:v>
                </c:pt>
                <c:pt idx="165">
                  <c:v>4.125</c:v>
                </c:pt>
                <c:pt idx="166">
                  <c:v>4.1500000000000004</c:v>
                </c:pt>
                <c:pt idx="167">
                  <c:v>4.1749999999999998</c:v>
                </c:pt>
                <c:pt idx="168">
                  <c:v>4.2</c:v>
                </c:pt>
                <c:pt idx="169">
                  <c:v>4.2249999999999996</c:v>
                </c:pt>
                <c:pt idx="170">
                  <c:v>4.25</c:v>
                </c:pt>
                <c:pt idx="171">
                  <c:v>4.2750000000000004</c:v>
                </c:pt>
                <c:pt idx="172">
                  <c:v>4.3</c:v>
                </c:pt>
                <c:pt idx="173">
                  <c:v>4.3250000000000002</c:v>
                </c:pt>
                <c:pt idx="174">
                  <c:v>4.3499999999999996</c:v>
                </c:pt>
                <c:pt idx="175">
                  <c:v>4.375</c:v>
                </c:pt>
                <c:pt idx="176">
                  <c:v>4.4000000000000004</c:v>
                </c:pt>
                <c:pt idx="177">
                  <c:v>4.4249999999999998</c:v>
                </c:pt>
                <c:pt idx="178">
                  <c:v>4.45</c:v>
                </c:pt>
                <c:pt idx="179">
                  <c:v>4.4749999999999996</c:v>
                </c:pt>
                <c:pt idx="180">
                  <c:v>4.5</c:v>
                </c:pt>
                <c:pt idx="181">
                  <c:v>4.5250000000000004</c:v>
                </c:pt>
                <c:pt idx="182">
                  <c:v>4.55</c:v>
                </c:pt>
                <c:pt idx="183">
                  <c:v>4.5750000000000002</c:v>
                </c:pt>
                <c:pt idx="184">
                  <c:v>4.5999999999999996</c:v>
                </c:pt>
                <c:pt idx="185">
                  <c:v>4.625</c:v>
                </c:pt>
                <c:pt idx="186">
                  <c:v>4.6500000000000004</c:v>
                </c:pt>
                <c:pt idx="187">
                  <c:v>4.6749999999999998</c:v>
                </c:pt>
                <c:pt idx="188">
                  <c:v>4.7</c:v>
                </c:pt>
                <c:pt idx="189">
                  <c:v>4.7249999999999996</c:v>
                </c:pt>
                <c:pt idx="190">
                  <c:v>4.75</c:v>
                </c:pt>
                <c:pt idx="191">
                  <c:v>4.7750000000000004</c:v>
                </c:pt>
                <c:pt idx="192">
                  <c:v>4.8</c:v>
                </c:pt>
                <c:pt idx="193">
                  <c:v>4.8250000000000002</c:v>
                </c:pt>
                <c:pt idx="194">
                  <c:v>4.8499999999999996</c:v>
                </c:pt>
                <c:pt idx="195">
                  <c:v>4.875</c:v>
                </c:pt>
                <c:pt idx="196">
                  <c:v>4.9000000000000004</c:v>
                </c:pt>
                <c:pt idx="197">
                  <c:v>4.9249999999999998</c:v>
                </c:pt>
                <c:pt idx="198">
                  <c:v>4.95</c:v>
                </c:pt>
                <c:pt idx="199">
                  <c:v>4.9749999999999996</c:v>
                </c:pt>
                <c:pt idx="200">
                  <c:v>5</c:v>
                </c:pt>
                <c:pt idx="201">
                  <c:v>5.0250000000000004</c:v>
                </c:pt>
                <c:pt idx="202">
                  <c:v>5.05</c:v>
                </c:pt>
                <c:pt idx="203">
                  <c:v>5.0750000000000002</c:v>
                </c:pt>
                <c:pt idx="204">
                  <c:v>5.0999999999999996</c:v>
                </c:pt>
                <c:pt idx="205">
                  <c:v>5.125</c:v>
                </c:pt>
                <c:pt idx="206">
                  <c:v>5.15</c:v>
                </c:pt>
                <c:pt idx="207">
                  <c:v>5.1749999999999998</c:v>
                </c:pt>
                <c:pt idx="208">
                  <c:v>5.2</c:v>
                </c:pt>
                <c:pt idx="209">
                  <c:v>5.2249999999999996</c:v>
                </c:pt>
                <c:pt idx="210">
                  <c:v>5.25</c:v>
                </c:pt>
                <c:pt idx="211">
                  <c:v>5.2750000000000004</c:v>
                </c:pt>
                <c:pt idx="212">
                  <c:v>5.3</c:v>
                </c:pt>
                <c:pt idx="213">
                  <c:v>5.3250000000000002</c:v>
                </c:pt>
                <c:pt idx="214">
                  <c:v>5.35</c:v>
                </c:pt>
                <c:pt idx="215">
                  <c:v>5.375</c:v>
                </c:pt>
                <c:pt idx="216">
                  <c:v>5.4</c:v>
                </c:pt>
                <c:pt idx="217">
                  <c:v>5.4249999999999998</c:v>
                </c:pt>
                <c:pt idx="218">
                  <c:v>5.45</c:v>
                </c:pt>
                <c:pt idx="219">
                  <c:v>5.4749999999999996</c:v>
                </c:pt>
                <c:pt idx="220">
                  <c:v>5.5</c:v>
                </c:pt>
                <c:pt idx="221">
                  <c:v>5.5250000000000004</c:v>
                </c:pt>
                <c:pt idx="222">
                  <c:v>5.55</c:v>
                </c:pt>
                <c:pt idx="223">
                  <c:v>5.5750000000000002</c:v>
                </c:pt>
                <c:pt idx="224">
                  <c:v>5.6</c:v>
                </c:pt>
                <c:pt idx="225">
                  <c:v>5.625</c:v>
                </c:pt>
                <c:pt idx="226">
                  <c:v>5.65</c:v>
                </c:pt>
                <c:pt idx="227">
                  <c:v>5.6749999999999998</c:v>
                </c:pt>
                <c:pt idx="228">
                  <c:v>5.7</c:v>
                </c:pt>
                <c:pt idx="229">
                  <c:v>5.7249999999999996</c:v>
                </c:pt>
                <c:pt idx="230">
                  <c:v>5.75</c:v>
                </c:pt>
                <c:pt idx="231">
                  <c:v>5.7750000000000004</c:v>
                </c:pt>
                <c:pt idx="232">
                  <c:v>5.8</c:v>
                </c:pt>
                <c:pt idx="233">
                  <c:v>5.8250000000000002</c:v>
                </c:pt>
                <c:pt idx="234">
                  <c:v>5.85</c:v>
                </c:pt>
                <c:pt idx="235">
                  <c:v>5.875</c:v>
                </c:pt>
                <c:pt idx="236">
                  <c:v>5.9</c:v>
                </c:pt>
                <c:pt idx="237">
                  <c:v>5.9249999999999998</c:v>
                </c:pt>
                <c:pt idx="238">
                  <c:v>5.95</c:v>
                </c:pt>
                <c:pt idx="239">
                  <c:v>5.9749999999999996</c:v>
                </c:pt>
                <c:pt idx="240">
                  <c:v>6</c:v>
                </c:pt>
                <c:pt idx="241">
                  <c:v>6.0250000000000004</c:v>
                </c:pt>
                <c:pt idx="242">
                  <c:v>6.05</c:v>
                </c:pt>
                <c:pt idx="243">
                  <c:v>6.0750000000000002</c:v>
                </c:pt>
                <c:pt idx="244">
                  <c:v>6.1</c:v>
                </c:pt>
                <c:pt idx="245">
                  <c:v>6.125</c:v>
                </c:pt>
                <c:pt idx="246">
                  <c:v>6.15</c:v>
                </c:pt>
                <c:pt idx="247">
                  <c:v>6.1749999999999998</c:v>
                </c:pt>
                <c:pt idx="248">
                  <c:v>6.2</c:v>
                </c:pt>
                <c:pt idx="249">
                  <c:v>6.2249999999999996</c:v>
                </c:pt>
                <c:pt idx="250">
                  <c:v>6.25</c:v>
                </c:pt>
                <c:pt idx="251">
                  <c:v>6.2750000000000004</c:v>
                </c:pt>
                <c:pt idx="252">
                  <c:v>6.3</c:v>
                </c:pt>
                <c:pt idx="253">
                  <c:v>6.3250000000000002</c:v>
                </c:pt>
                <c:pt idx="254">
                  <c:v>6.35</c:v>
                </c:pt>
                <c:pt idx="255">
                  <c:v>6.375</c:v>
                </c:pt>
                <c:pt idx="256">
                  <c:v>6.4</c:v>
                </c:pt>
                <c:pt idx="257">
                  <c:v>6.4249999999999998</c:v>
                </c:pt>
                <c:pt idx="258">
                  <c:v>6.45</c:v>
                </c:pt>
                <c:pt idx="259">
                  <c:v>6.4749999999999996</c:v>
                </c:pt>
                <c:pt idx="260">
                  <c:v>6.5</c:v>
                </c:pt>
                <c:pt idx="261">
                  <c:v>6.5250000000000004</c:v>
                </c:pt>
                <c:pt idx="262">
                  <c:v>6.55</c:v>
                </c:pt>
                <c:pt idx="263">
                  <c:v>6.5750000000000002</c:v>
                </c:pt>
                <c:pt idx="264">
                  <c:v>6.6</c:v>
                </c:pt>
                <c:pt idx="265">
                  <c:v>6.625</c:v>
                </c:pt>
                <c:pt idx="266">
                  <c:v>6.65</c:v>
                </c:pt>
                <c:pt idx="267">
                  <c:v>6.6749999999999998</c:v>
                </c:pt>
                <c:pt idx="268">
                  <c:v>6.7</c:v>
                </c:pt>
                <c:pt idx="269">
                  <c:v>6.7249999999999996</c:v>
                </c:pt>
                <c:pt idx="270">
                  <c:v>6.75</c:v>
                </c:pt>
                <c:pt idx="271">
                  <c:v>6.7750000000000004</c:v>
                </c:pt>
                <c:pt idx="272">
                  <c:v>6.8</c:v>
                </c:pt>
                <c:pt idx="273">
                  <c:v>6.8250000000000002</c:v>
                </c:pt>
                <c:pt idx="274">
                  <c:v>6.85</c:v>
                </c:pt>
                <c:pt idx="275">
                  <c:v>6.875</c:v>
                </c:pt>
                <c:pt idx="276">
                  <c:v>6.9</c:v>
                </c:pt>
                <c:pt idx="277">
                  <c:v>6.9249999999999998</c:v>
                </c:pt>
                <c:pt idx="278">
                  <c:v>6.95</c:v>
                </c:pt>
                <c:pt idx="279">
                  <c:v>6.9749999999999996</c:v>
                </c:pt>
                <c:pt idx="280">
                  <c:v>7</c:v>
                </c:pt>
                <c:pt idx="281">
                  <c:v>7.0250000000000004</c:v>
                </c:pt>
                <c:pt idx="282">
                  <c:v>7.05</c:v>
                </c:pt>
                <c:pt idx="283">
                  <c:v>7.0750000000000002</c:v>
                </c:pt>
                <c:pt idx="284">
                  <c:v>7.1</c:v>
                </c:pt>
                <c:pt idx="285">
                  <c:v>7.125</c:v>
                </c:pt>
                <c:pt idx="286">
                  <c:v>7.15</c:v>
                </c:pt>
                <c:pt idx="287">
                  <c:v>7.1749999999999998</c:v>
                </c:pt>
                <c:pt idx="288">
                  <c:v>7.2</c:v>
                </c:pt>
                <c:pt idx="289">
                  <c:v>7.2249999999999996</c:v>
                </c:pt>
                <c:pt idx="290">
                  <c:v>7.25</c:v>
                </c:pt>
                <c:pt idx="291">
                  <c:v>7.2750000000000004</c:v>
                </c:pt>
                <c:pt idx="292">
                  <c:v>7.3</c:v>
                </c:pt>
                <c:pt idx="293">
                  <c:v>7.3250000000000002</c:v>
                </c:pt>
                <c:pt idx="294">
                  <c:v>7.35</c:v>
                </c:pt>
                <c:pt idx="295">
                  <c:v>7.375</c:v>
                </c:pt>
                <c:pt idx="296">
                  <c:v>7.4</c:v>
                </c:pt>
                <c:pt idx="297">
                  <c:v>7.4249999999999998</c:v>
                </c:pt>
                <c:pt idx="298">
                  <c:v>7.45</c:v>
                </c:pt>
                <c:pt idx="299">
                  <c:v>7.4749999999999996</c:v>
                </c:pt>
                <c:pt idx="300">
                  <c:v>7.5</c:v>
                </c:pt>
                <c:pt idx="301">
                  <c:v>7.5250000000000004</c:v>
                </c:pt>
                <c:pt idx="302">
                  <c:v>7.55</c:v>
                </c:pt>
                <c:pt idx="303">
                  <c:v>7.5750000000000002</c:v>
                </c:pt>
                <c:pt idx="304">
                  <c:v>7.6</c:v>
                </c:pt>
                <c:pt idx="305">
                  <c:v>7.625</c:v>
                </c:pt>
                <c:pt idx="306">
                  <c:v>7.65</c:v>
                </c:pt>
                <c:pt idx="307">
                  <c:v>7.6749999999999998</c:v>
                </c:pt>
                <c:pt idx="308">
                  <c:v>7.7</c:v>
                </c:pt>
                <c:pt idx="309">
                  <c:v>7.7249999999999996</c:v>
                </c:pt>
                <c:pt idx="310">
                  <c:v>7.75</c:v>
                </c:pt>
                <c:pt idx="311">
                  <c:v>7.7750000000000004</c:v>
                </c:pt>
                <c:pt idx="312">
                  <c:v>7.8</c:v>
                </c:pt>
                <c:pt idx="313">
                  <c:v>7.8250000000000002</c:v>
                </c:pt>
                <c:pt idx="314">
                  <c:v>7.85</c:v>
                </c:pt>
                <c:pt idx="315">
                  <c:v>7.875</c:v>
                </c:pt>
                <c:pt idx="316">
                  <c:v>7.9</c:v>
                </c:pt>
                <c:pt idx="317">
                  <c:v>7.9249999999999998</c:v>
                </c:pt>
                <c:pt idx="318">
                  <c:v>7.95</c:v>
                </c:pt>
                <c:pt idx="319">
                  <c:v>7.9749999999999996</c:v>
                </c:pt>
              </c:numCache>
            </c:numRef>
          </c:xVal>
          <c:yVal>
            <c:numRef>
              <c:f>'Chart Data'!$B$2:$B$321</c:f>
              <c:numCache>
                <c:formatCode>0.0</c:formatCode>
                <c:ptCount val="320"/>
                <c:pt idx="0">
                  <c:v>0.23180899999999999</c:v>
                </c:pt>
                <c:pt idx="1">
                  <c:v>0.271287</c:v>
                </c:pt>
                <c:pt idx="2">
                  <c:v>0.30756</c:v>
                </c:pt>
                <c:pt idx="3">
                  <c:v>0.34129300000000001</c:v>
                </c:pt>
                <c:pt idx="4">
                  <c:v>0.37332799999999999</c:v>
                </c:pt>
                <c:pt idx="5">
                  <c:v>0.40413199999999999</c:v>
                </c:pt>
                <c:pt idx="6">
                  <c:v>0.43353000000000003</c:v>
                </c:pt>
                <c:pt idx="7">
                  <c:v>0.46085700000000002</c:v>
                </c:pt>
                <c:pt idx="8">
                  <c:v>0.48539700000000002</c:v>
                </c:pt>
                <c:pt idx="9">
                  <c:v>0.50680400000000003</c:v>
                </c:pt>
                <c:pt idx="10">
                  <c:v>0.52525999999999995</c:v>
                </c:pt>
                <c:pt idx="11">
                  <c:v>0.54129099999999997</c:v>
                </c:pt>
                <c:pt idx="12">
                  <c:v>0.55541799999999997</c:v>
                </c:pt>
                <c:pt idx="13">
                  <c:v>0.56787799999999999</c:v>
                </c:pt>
                <c:pt idx="14">
                  <c:v>0.57859499999999997</c:v>
                </c:pt>
                <c:pt idx="15">
                  <c:v>0.58738699999999999</c:v>
                </c:pt>
                <c:pt idx="16">
                  <c:v>0.59423400000000004</c:v>
                </c:pt>
                <c:pt idx="17">
                  <c:v>0.59940099999999996</c:v>
                </c:pt>
                <c:pt idx="18">
                  <c:v>0.60335899999999998</c:v>
                </c:pt>
                <c:pt idx="19">
                  <c:v>0.60655599999999998</c:v>
                </c:pt>
                <c:pt idx="20">
                  <c:v>0.60922900000000002</c:v>
                </c:pt>
                <c:pt idx="21">
                  <c:v>0.61136699999999999</c:v>
                </c:pt>
                <c:pt idx="22">
                  <c:v>0.61285800000000001</c:v>
                </c:pt>
                <c:pt idx="23">
                  <c:v>0.61366500000000002</c:v>
                </c:pt>
                <c:pt idx="24">
                  <c:v>0.61393500000000001</c:v>
                </c:pt>
                <c:pt idx="25">
                  <c:v>0.613927</c:v>
                </c:pt>
                <c:pt idx="26">
                  <c:v>0.61385199999999995</c:v>
                </c:pt>
                <c:pt idx="27">
                  <c:v>0.61373599999999995</c:v>
                </c:pt>
                <c:pt idx="28">
                  <c:v>0.61340700000000004</c:v>
                </c:pt>
                <c:pt idx="29">
                  <c:v>0.61260899999999996</c:v>
                </c:pt>
                <c:pt idx="30">
                  <c:v>0.61115399999999998</c:v>
                </c:pt>
                <c:pt idx="31">
                  <c:v>0.60899800000000004</c:v>
                </c:pt>
                <c:pt idx="32">
                  <c:v>0.60618700000000003</c:v>
                </c:pt>
                <c:pt idx="33">
                  <c:v>0.60273200000000005</c:v>
                </c:pt>
                <c:pt idx="34">
                  <c:v>0.59850800000000004</c:v>
                </c:pt>
                <c:pt idx="35">
                  <c:v>0.593252</c:v>
                </c:pt>
                <c:pt idx="36">
                  <c:v>0.58666700000000005</c:v>
                </c:pt>
                <c:pt idx="37">
                  <c:v>0.57855000000000001</c:v>
                </c:pt>
                <c:pt idx="38">
                  <c:v>0.56884699999999999</c:v>
                </c:pt>
                <c:pt idx="39">
                  <c:v>0.55760100000000001</c:v>
                </c:pt>
                <c:pt idx="40">
                  <c:v>0.544848</c:v>
                </c:pt>
                <c:pt idx="41">
                  <c:v>0.530528</c:v>
                </c:pt>
                <c:pt idx="42">
                  <c:v>0.51449800000000001</c:v>
                </c:pt>
                <c:pt idx="43">
                  <c:v>0.49661699999999998</c:v>
                </c:pt>
                <c:pt idx="44">
                  <c:v>0.47685499999999997</c:v>
                </c:pt>
                <c:pt idx="45">
                  <c:v>0.45532099999999998</c:v>
                </c:pt>
                <c:pt idx="46">
                  <c:v>0.43221500000000002</c:v>
                </c:pt>
                <c:pt idx="47">
                  <c:v>0.40772399999999998</c:v>
                </c:pt>
                <c:pt idx="48">
                  <c:v>0.38195200000000001</c:v>
                </c:pt>
                <c:pt idx="49">
                  <c:v>0.35492899999999999</c:v>
                </c:pt>
                <c:pt idx="50">
                  <c:v>0.32669100000000001</c:v>
                </c:pt>
                <c:pt idx="51">
                  <c:v>0.29736000000000001</c:v>
                </c:pt>
                <c:pt idx="52">
                  <c:v>0.26716800000000002</c:v>
                </c:pt>
                <c:pt idx="53">
                  <c:v>0.2364</c:v>
                </c:pt>
                <c:pt idx="54">
                  <c:v>0.20529700000000001</c:v>
                </c:pt>
                <c:pt idx="55">
                  <c:v>0.17400099999999999</c:v>
                </c:pt>
                <c:pt idx="56">
                  <c:v>0.14257</c:v>
                </c:pt>
                <c:pt idx="57">
                  <c:v>0.11105</c:v>
                </c:pt>
                <c:pt idx="58">
                  <c:v>7.9547999999999994E-2</c:v>
                </c:pt>
                <c:pt idx="59">
                  <c:v>4.8245000000000003E-2</c:v>
                </c:pt>
                <c:pt idx="60">
                  <c:v>1.7340000000000001E-2</c:v>
                </c:pt>
                <c:pt idx="61">
                  <c:v>-1.3025999999999999E-2</c:v>
                </c:pt>
                <c:pt idx="62">
                  <c:v>-4.2819999999999997E-2</c:v>
                </c:pt>
                <c:pt idx="63">
                  <c:v>-7.2093000000000004E-2</c:v>
                </c:pt>
                <c:pt idx="64">
                  <c:v>-0.1009</c:v>
                </c:pt>
                <c:pt idx="65">
                  <c:v>-0.12924099999999999</c:v>
                </c:pt>
                <c:pt idx="66">
                  <c:v>-0.15704699999999999</c:v>
                </c:pt>
                <c:pt idx="67">
                  <c:v>-0.18423500000000001</c:v>
                </c:pt>
                <c:pt idx="68">
                  <c:v>-0.21077399999999999</c:v>
                </c:pt>
                <c:pt idx="69">
                  <c:v>-0.23672099999999999</c:v>
                </c:pt>
                <c:pt idx="70">
                  <c:v>-0.262185</c:v>
                </c:pt>
                <c:pt idx="71">
                  <c:v>-0.28726299999999999</c:v>
                </c:pt>
                <c:pt idx="72">
                  <c:v>-0.31197399999999997</c:v>
                </c:pt>
                <c:pt idx="73">
                  <c:v>-0.33626</c:v>
                </c:pt>
                <c:pt idx="74">
                  <c:v>-0.360039</c:v>
                </c:pt>
                <c:pt idx="75">
                  <c:v>-0.383266</c:v>
                </c:pt>
                <c:pt idx="76">
                  <c:v>-0.40595999999999999</c:v>
                </c:pt>
                <c:pt idx="77">
                  <c:v>-0.42817100000000002</c:v>
                </c:pt>
                <c:pt idx="78">
                  <c:v>-0.44991599999999998</c:v>
                </c:pt>
                <c:pt idx="79">
                  <c:v>-0.47113100000000002</c:v>
                </c:pt>
                <c:pt idx="80">
                  <c:v>-0.491145</c:v>
                </c:pt>
                <c:pt idx="81">
                  <c:v>-0.51000800000000002</c:v>
                </c:pt>
                <c:pt idx="82">
                  <c:v>-0.52767299999999995</c:v>
                </c:pt>
                <c:pt idx="83">
                  <c:v>-0.54415899999999995</c:v>
                </c:pt>
                <c:pt idx="84">
                  <c:v>-0.5595</c:v>
                </c:pt>
                <c:pt idx="85">
                  <c:v>-0.57368699999999995</c:v>
                </c:pt>
                <c:pt idx="86">
                  <c:v>-0.58664000000000005</c:v>
                </c:pt>
                <c:pt idx="87">
                  <c:v>-0.59824299999999997</c:v>
                </c:pt>
                <c:pt idx="88">
                  <c:v>-0.60840399999999994</c:v>
                </c:pt>
                <c:pt idx="89">
                  <c:v>-0.61710600000000004</c:v>
                </c:pt>
                <c:pt idx="90">
                  <c:v>-0.62439299999999998</c:v>
                </c:pt>
                <c:pt idx="91">
                  <c:v>-0.630324</c:v>
                </c:pt>
                <c:pt idx="92">
                  <c:v>-0.634907</c:v>
                </c:pt>
                <c:pt idx="93">
                  <c:v>-0.63808500000000001</c:v>
                </c:pt>
                <c:pt idx="94">
                  <c:v>-0.63977099999999998</c:v>
                </c:pt>
                <c:pt idx="95">
                  <c:v>-0.63991100000000001</c:v>
                </c:pt>
                <c:pt idx="96">
                  <c:v>-0.63852399999999998</c:v>
                </c:pt>
                <c:pt idx="97">
                  <c:v>-0.63569200000000003</c:v>
                </c:pt>
                <c:pt idx="98">
                  <c:v>-0.63149999999999995</c:v>
                </c:pt>
                <c:pt idx="99">
                  <c:v>-0.62598100000000001</c:v>
                </c:pt>
                <c:pt idx="100">
                  <c:v>-0.61910200000000004</c:v>
                </c:pt>
                <c:pt idx="101">
                  <c:v>-0.61080400000000001</c:v>
                </c:pt>
                <c:pt idx="102">
                  <c:v>-0.60106599999999999</c:v>
                </c:pt>
                <c:pt idx="103">
                  <c:v>-0.58994000000000002</c:v>
                </c:pt>
                <c:pt idx="104">
                  <c:v>-0.57753399999999999</c:v>
                </c:pt>
                <c:pt idx="105">
                  <c:v>-0.56395099999999998</c:v>
                </c:pt>
                <c:pt idx="106">
                  <c:v>-0.54923599999999995</c:v>
                </c:pt>
                <c:pt idx="107">
                  <c:v>-0.53336700000000004</c:v>
                </c:pt>
                <c:pt idx="108">
                  <c:v>-0.51630100000000001</c:v>
                </c:pt>
                <c:pt idx="109">
                  <c:v>-0.49803500000000001</c:v>
                </c:pt>
                <c:pt idx="110">
                  <c:v>-0.47864200000000001</c:v>
                </c:pt>
                <c:pt idx="111">
                  <c:v>-0.45824199999999998</c:v>
                </c:pt>
                <c:pt idx="112">
                  <c:v>-0.43694100000000002</c:v>
                </c:pt>
                <c:pt idx="113">
                  <c:v>-0.41478599999999999</c:v>
                </c:pt>
                <c:pt idx="114">
                  <c:v>-0.39175599999999999</c:v>
                </c:pt>
                <c:pt idx="115">
                  <c:v>-0.36781599999999998</c:v>
                </c:pt>
                <c:pt idx="116">
                  <c:v>-0.34297899999999998</c:v>
                </c:pt>
                <c:pt idx="117">
                  <c:v>-0.31733099999999997</c:v>
                </c:pt>
                <c:pt idx="118">
                  <c:v>-0.29100100000000001</c:v>
                </c:pt>
                <c:pt idx="119">
                  <c:v>-0.264102</c:v>
                </c:pt>
                <c:pt idx="120">
                  <c:v>-0.236679</c:v>
                </c:pt>
                <c:pt idx="121">
                  <c:v>-0.20871899999999999</c:v>
                </c:pt>
                <c:pt idx="122">
                  <c:v>-0.180201</c:v>
                </c:pt>
                <c:pt idx="123">
                  <c:v>-0.15115700000000001</c:v>
                </c:pt>
                <c:pt idx="124">
                  <c:v>-0.121693</c:v>
                </c:pt>
                <c:pt idx="125">
                  <c:v>-9.1952999999999993E-2</c:v>
                </c:pt>
                <c:pt idx="126">
                  <c:v>-6.2058000000000002E-2</c:v>
                </c:pt>
                <c:pt idx="127">
                  <c:v>-3.2060999999999999E-2</c:v>
                </c:pt>
                <c:pt idx="128">
                  <c:v>-1.9589999999999998E-3</c:v>
                </c:pt>
                <c:pt idx="129">
                  <c:v>2.8253E-2</c:v>
                </c:pt>
                <c:pt idx="130">
                  <c:v>5.8521999999999998E-2</c:v>
                </c:pt>
                <c:pt idx="131">
                  <c:v>8.8723999999999997E-2</c:v>
                </c:pt>
                <c:pt idx="132">
                  <c:v>0.118704</c:v>
                </c:pt>
                <c:pt idx="133">
                  <c:v>0.14834</c:v>
                </c:pt>
                <c:pt idx="134">
                  <c:v>0.17757899999999999</c:v>
                </c:pt>
                <c:pt idx="135">
                  <c:v>0.206424</c:v>
                </c:pt>
                <c:pt idx="136">
                  <c:v>0.234875</c:v>
                </c:pt>
                <c:pt idx="137">
                  <c:v>0.262874</c:v>
                </c:pt>
                <c:pt idx="138">
                  <c:v>0.29029500000000003</c:v>
                </c:pt>
                <c:pt idx="139">
                  <c:v>0.31699100000000002</c:v>
                </c:pt>
                <c:pt idx="140">
                  <c:v>0.34285599999999999</c:v>
                </c:pt>
                <c:pt idx="141">
                  <c:v>0.36785800000000002</c:v>
                </c:pt>
                <c:pt idx="142">
                  <c:v>0.39201799999999998</c:v>
                </c:pt>
                <c:pt idx="143">
                  <c:v>0.41534900000000002</c:v>
                </c:pt>
                <c:pt idx="144">
                  <c:v>0.43780400000000003</c:v>
                </c:pt>
                <c:pt idx="145">
                  <c:v>0.45927400000000002</c:v>
                </c:pt>
                <c:pt idx="146">
                  <c:v>0.47963499999999998</c:v>
                </c:pt>
                <c:pt idx="147">
                  <c:v>0.498811</c:v>
                </c:pt>
                <c:pt idx="148">
                  <c:v>0.51680199999999998</c:v>
                </c:pt>
                <c:pt idx="149">
                  <c:v>0.53365200000000002</c:v>
                </c:pt>
                <c:pt idx="150">
                  <c:v>0.549396</c:v>
                </c:pt>
                <c:pt idx="151">
                  <c:v>0.56400099999999997</c:v>
                </c:pt>
                <c:pt idx="152">
                  <c:v>0.577376</c:v>
                </c:pt>
                <c:pt idx="153">
                  <c:v>0.58942099999999997</c:v>
                </c:pt>
                <c:pt idx="154">
                  <c:v>0.60008600000000001</c:v>
                </c:pt>
                <c:pt idx="155">
                  <c:v>0.60939699999999997</c:v>
                </c:pt>
                <c:pt idx="156">
                  <c:v>0.61741699999999999</c:v>
                </c:pt>
                <c:pt idx="157">
                  <c:v>0.62419199999999997</c:v>
                </c:pt>
                <c:pt idx="158">
                  <c:v>0.62969600000000003</c:v>
                </c:pt>
                <c:pt idx="159">
                  <c:v>0.63384799999999997</c:v>
                </c:pt>
                <c:pt idx="160">
                  <c:v>0.63656299999999999</c:v>
                </c:pt>
                <c:pt idx="161">
                  <c:v>0.63781200000000005</c:v>
                </c:pt>
                <c:pt idx="162">
                  <c:v>0.63763700000000001</c:v>
                </c:pt>
                <c:pt idx="163">
                  <c:v>0.63611700000000004</c:v>
                </c:pt>
                <c:pt idx="164">
                  <c:v>0.633301</c:v>
                </c:pt>
                <c:pt idx="165">
                  <c:v>0.62916899999999998</c:v>
                </c:pt>
                <c:pt idx="166">
                  <c:v>0.62365000000000004</c:v>
                </c:pt>
                <c:pt idx="167">
                  <c:v>0.61667700000000003</c:v>
                </c:pt>
                <c:pt idx="168">
                  <c:v>0.60824199999999995</c:v>
                </c:pt>
                <c:pt idx="169">
                  <c:v>0.59841299999999997</c:v>
                </c:pt>
                <c:pt idx="170">
                  <c:v>0.58728499999999995</c:v>
                </c:pt>
                <c:pt idx="171">
                  <c:v>0.57492200000000004</c:v>
                </c:pt>
                <c:pt idx="172">
                  <c:v>0.56131900000000001</c:v>
                </c:pt>
                <c:pt idx="173">
                  <c:v>0.54642400000000002</c:v>
                </c:pt>
                <c:pt idx="174">
                  <c:v>0.5302</c:v>
                </c:pt>
                <c:pt idx="175">
                  <c:v>0.51267200000000002</c:v>
                </c:pt>
                <c:pt idx="176">
                  <c:v>0.49393999999999999</c:v>
                </c:pt>
                <c:pt idx="177">
                  <c:v>0.47412599999999999</c:v>
                </c:pt>
                <c:pt idx="178">
                  <c:v>0.453316</c:v>
                </c:pt>
                <c:pt idx="179">
                  <c:v>0.43152400000000002</c:v>
                </c:pt>
                <c:pt idx="180">
                  <c:v>0.408725</c:v>
                </c:pt>
                <c:pt idx="181">
                  <c:v>0.384911</c:v>
                </c:pt>
                <c:pt idx="182">
                  <c:v>0.36014299999999999</c:v>
                </c:pt>
                <c:pt idx="183">
                  <c:v>0.33454699999999998</c:v>
                </c:pt>
                <c:pt idx="184">
                  <c:v>0.30826700000000001</c:v>
                </c:pt>
                <c:pt idx="185">
                  <c:v>0.28140100000000001</c:v>
                </c:pt>
                <c:pt idx="186">
                  <c:v>0.25397399999999998</c:v>
                </c:pt>
                <c:pt idx="187">
                  <c:v>0.22597500000000001</c:v>
                </c:pt>
                <c:pt idx="188">
                  <c:v>0.197412</c:v>
                </c:pt>
                <c:pt idx="189">
                  <c:v>0.16836300000000001</c:v>
                </c:pt>
                <c:pt idx="190">
                  <c:v>0.13896600000000001</c:v>
                </c:pt>
                <c:pt idx="191">
                  <c:v>0.10936700000000001</c:v>
                </c:pt>
                <c:pt idx="192">
                  <c:v>7.9656000000000005E-2</c:v>
                </c:pt>
                <c:pt idx="193">
                  <c:v>4.9853000000000001E-2</c:v>
                </c:pt>
                <c:pt idx="194">
                  <c:v>1.9941E-2</c:v>
                </c:pt>
                <c:pt idx="195">
                  <c:v>-1.0068000000000001E-2</c:v>
                </c:pt>
                <c:pt idx="196">
                  <c:v>-4.0096E-2</c:v>
                </c:pt>
                <c:pt idx="197">
                  <c:v>-7.0008000000000001E-2</c:v>
                </c:pt>
                <c:pt idx="198">
                  <c:v>-9.9669999999999995E-2</c:v>
                </c:pt>
                <c:pt idx="199">
                  <c:v>-0.12900600000000001</c:v>
                </c:pt>
                <c:pt idx="200">
                  <c:v>-0.15801000000000001</c:v>
                </c:pt>
                <c:pt idx="201">
                  <c:v>-0.18670900000000001</c:v>
                </c:pt>
                <c:pt idx="202">
                  <c:v>-0.21509200000000001</c:v>
                </c:pt>
                <c:pt idx="203">
                  <c:v>-0.24307999999999999</c:v>
                </c:pt>
                <c:pt idx="204">
                  <c:v>-0.27054099999999998</c:v>
                </c:pt>
                <c:pt idx="205">
                  <c:v>-0.29735099999999998</c:v>
                </c:pt>
                <c:pt idx="206">
                  <c:v>-0.32344600000000001</c:v>
                </c:pt>
                <c:pt idx="207">
                  <c:v>-0.34882999999999997</c:v>
                </c:pt>
                <c:pt idx="208">
                  <c:v>-0.37352999999999997</c:v>
                </c:pt>
                <c:pt idx="209">
                  <c:v>-0.39753300000000003</c:v>
                </c:pt>
                <c:pt idx="210">
                  <c:v>-0.42075499999999999</c:v>
                </c:pt>
                <c:pt idx="211">
                  <c:v>-0.44306400000000001</c:v>
                </c:pt>
                <c:pt idx="212">
                  <c:v>-0.46434199999999998</c:v>
                </c:pt>
                <c:pt idx="213">
                  <c:v>-0.48453499999999999</c:v>
                </c:pt>
                <c:pt idx="214">
                  <c:v>-0.50365800000000005</c:v>
                </c:pt>
                <c:pt idx="215">
                  <c:v>-0.52173999999999998</c:v>
                </c:pt>
                <c:pt idx="216">
                  <c:v>-0.53876999999999997</c:v>
                </c:pt>
                <c:pt idx="217">
                  <c:v>-0.55466300000000002</c:v>
                </c:pt>
                <c:pt idx="218">
                  <c:v>-0.56929600000000002</c:v>
                </c:pt>
                <c:pt idx="219">
                  <c:v>-0.582569</c:v>
                </c:pt>
                <c:pt idx="220">
                  <c:v>-0.59445199999999998</c:v>
                </c:pt>
                <c:pt idx="221">
                  <c:v>-0.60497900000000004</c:v>
                </c:pt>
                <c:pt idx="222">
                  <c:v>-0.61419999999999997</c:v>
                </c:pt>
                <c:pt idx="223">
                  <c:v>-0.62211499999999997</c:v>
                </c:pt>
                <c:pt idx="224">
                  <c:v>-0.62865899999999997</c:v>
                </c:pt>
                <c:pt idx="225">
                  <c:v>-0.63373400000000002</c:v>
                </c:pt>
                <c:pt idx="226">
                  <c:v>-0.63727299999999998</c:v>
                </c:pt>
                <c:pt idx="227">
                  <c:v>-0.63928200000000002</c:v>
                </c:pt>
                <c:pt idx="228">
                  <c:v>-0.63983199999999996</c:v>
                </c:pt>
                <c:pt idx="229">
                  <c:v>-0.63899799999999995</c:v>
                </c:pt>
                <c:pt idx="230">
                  <c:v>-0.63680800000000004</c:v>
                </c:pt>
                <c:pt idx="231">
                  <c:v>-0.63321899999999998</c:v>
                </c:pt>
                <c:pt idx="232">
                  <c:v>-0.628166</c:v>
                </c:pt>
                <c:pt idx="233">
                  <c:v>-0.62161699999999998</c:v>
                </c:pt>
                <c:pt idx="234">
                  <c:v>-0.61361600000000005</c:v>
                </c:pt>
                <c:pt idx="235">
                  <c:v>-0.60426199999999997</c:v>
                </c:pt>
                <c:pt idx="236">
                  <c:v>-0.59365699999999999</c:v>
                </c:pt>
                <c:pt idx="237">
                  <c:v>-0.58184000000000002</c:v>
                </c:pt>
                <c:pt idx="238">
                  <c:v>-0.56878899999999999</c:v>
                </c:pt>
                <c:pt idx="239">
                  <c:v>-0.55445699999999998</c:v>
                </c:pt>
                <c:pt idx="240">
                  <c:v>-0.53883599999999998</c:v>
                </c:pt>
                <c:pt idx="241">
                  <c:v>-0.52195100000000005</c:v>
                </c:pt>
                <c:pt idx="242">
                  <c:v>-0.50421099999999996</c:v>
                </c:pt>
                <c:pt idx="243">
                  <c:v>-0.48569800000000002</c:v>
                </c:pt>
                <c:pt idx="244">
                  <c:v>-0.46641500000000002</c:v>
                </c:pt>
                <c:pt idx="245">
                  <c:v>-0.44630700000000001</c:v>
                </c:pt>
                <c:pt idx="246">
                  <c:v>-0.42532399999999998</c:v>
                </c:pt>
                <c:pt idx="247">
                  <c:v>-0.40348000000000001</c:v>
                </c:pt>
                <c:pt idx="248">
                  <c:v>-0.38085200000000002</c:v>
                </c:pt>
                <c:pt idx="249">
                  <c:v>-0.35753699999999999</c:v>
                </c:pt>
                <c:pt idx="250">
                  <c:v>-0.33357900000000001</c:v>
                </c:pt>
                <c:pt idx="251">
                  <c:v>-0.30894100000000002</c:v>
                </c:pt>
                <c:pt idx="252">
                  <c:v>-0.28354000000000001</c:v>
                </c:pt>
                <c:pt idx="253">
                  <c:v>-0.25731799999999999</c:v>
                </c:pt>
                <c:pt idx="254">
                  <c:v>-0.230294</c:v>
                </c:pt>
                <c:pt idx="255">
                  <c:v>-0.202568</c:v>
                </c:pt>
                <c:pt idx="256">
                  <c:v>-0.174261</c:v>
                </c:pt>
                <c:pt idx="257">
                  <c:v>-0.14543900000000001</c:v>
                </c:pt>
                <c:pt idx="258">
                  <c:v>-0.116094</c:v>
                </c:pt>
                <c:pt idx="259">
                  <c:v>-8.6180000000000007E-2</c:v>
                </c:pt>
                <c:pt idx="260">
                  <c:v>-5.5692999999999999E-2</c:v>
                </c:pt>
                <c:pt idx="261">
                  <c:v>-2.4728E-2</c:v>
                </c:pt>
                <c:pt idx="262">
                  <c:v>6.5370000000000003E-3</c:v>
                </c:pt>
                <c:pt idx="263">
                  <c:v>3.7908999999999998E-2</c:v>
                </c:pt>
                <c:pt idx="264">
                  <c:v>6.9262000000000004E-2</c:v>
                </c:pt>
                <c:pt idx="265">
                  <c:v>0.100551</c:v>
                </c:pt>
                <c:pt idx="266">
                  <c:v>0.131771</c:v>
                </c:pt>
                <c:pt idx="267">
                  <c:v>0.16286800000000001</c:v>
                </c:pt>
                <c:pt idx="268">
                  <c:v>0.193688</c:v>
                </c:pt>
                <c:pt idx="269">
                  <c:v>0.223996</c:v>
                </c:pt>
                <c:pt idx="270">
                  <c:v>0.25357000000000002</c:v>
                </c:pt>
                <c:pt idx="271">
                  <c:v>0.282273</c:v>
                </c:pt>
                <c:pt idx="272">
                  <c:v>0.31008000000000002</c:v>
                </c:pt>
                <c:pt idx="273">
                  <c:v>0.337009</c:v>
                </c:pt>
                <c:pt idx="274">
                  <c:v>0.36303000000000002</c:v>
                </c:pt>
                <c:pt idx="275">
                  <c:v>0.38800800000000002</c:v>
                </c:pt>
                <c:pt idx="276">
                  <c:v>0.411746</c:v>
                </c:pt>
                <c:pt idx="277">
                  <c:v>0.43407299999999999</c:v>
                </c:pt>
                <c:pt idx="278">
                  <c:v>0.45493899999999998</c:v>
                </c:pt>
                <c:pt idx="279">
                  <c:v>0.47441899999999998</c:v>
                </c:pt>
                <c:pt idx="280">
                  <c:v>0.49263499999999999</c:v>
                </c:pt>
                <c:pt idx="281">
                  <c:v>0.50964399999999999</c:v>
                </c:pt>
                <c:pt idx="282">
                  <c:v>0.52538499999999999</c:v>
                </c:pt>
                <c:pt idx="283">
                  <c:v>0.53972699999999996</c:v>
                </c:pt>
                <c:pt idx="284">
                  <c:v>0.55257999999999996</c:v>
                </c:pt>
                <c:pt idx="285">
                  <c:v>0.563994</c:v>
                </c:pt>
                <c:pt idx="286">
                  <c:v>0.57414699999999996</c:v>
                </c:pt>
                <c:pt idx="287">
                  <c:v>0.58325000000000005</c:v>
                </c:pt>
                <c:pt idx="288">
                  <c:v>0.59141200000000005</c:v>
                </c:pt>
                <c:pt idx="289">
                  <c:v>0.59858900000000004</c:v>
                </c:pt>
                <c:pt idx="290">
                  <c:v>0.60465000000000002</c:v>
                </c:pt>
                <c:pt idx="291">
                  <c:v>0.60950899999999997</c:v>
                </c:pt>
                <c:pt idx="292">
                  <c:v>0.61323799999999995</c:v>
                </c:pt>
                <c:pt idx="293">
                  <c:v>0.61604700000000001</c:v>
                </c:pt>
                <c:pt idx="294">
                  <c:v>0.61815100000000001</c:v>
                </c:pt>
                <c:pt idx="295">
                  <c:v>0.61962300000000003</c:v>
                </c:pt>
                <c:pt idx="296">
                  <c:v>0.62033300000000002</c:v>
                </c:pt>
                <c:pt idx="297">
                  <c:v>0.62004499999999996</c:v>
                </c:pt>
                <c:pt idx="298">
                  <c:v>0.61859399999999998</c:v>
                </c:pt>
                <c:pt idx="299">
                  <c:v>0.61600900000000003</c:v>
                </c:pt>
                <c:pt idx="300">
                  <c:v>0.61249299999999995</c:v>
                </c:pt>
                <c:pt idx="301">
                  <c:v>0.60824500000000004</c:v>
                </c:pt>
                <c:pt idx="302">
                  <c:v>0.60326800000000003</c:v>
                </c:pt>
                <c:pt idx="303">
                  <c:v>0.59730799999999995</c:v>
                </c:pt>
                <c:pt idx="304">
                  <c:v>0.58998700000000004</c:v>
                </c:pt>
                <c:pt idx="305">
                  <c:v>0.58104500000000003</c:v>
                </c:pt>
                <c:pt idx="306">
                  <c:v>0.57051799999999997</c:v>
                </c:pt>
                <c:pt idx="307">
                  <c:v>0.55869500000000005</c:v>
                </c:pt>
                <c:pt idx="308">
                  <c:v>0.545875</c:v>
                </c:pt>
                <c:pt idx="309">
                  <c:v>0.532084</c:v>
                </c:pt>
                <c:pt idx="310">
                  <c:v>0.51696799999999998</c:v>
                </c:pt>
                <c:pt idx="311">
                  <c:v>0.49998100000000001</c:v>
                </c:pt>
                <c:pt idx="312">
                  <c:v>0.48076000000000002</c:v>
                </c:pt>
                <c:pt idx="313">
                  <c:v>0.45944099999999999</c:v>
                </c:pt>
                <c:pt idx="314">
                  <c:v>0.436664</c:v>
                </c:pt>
                <c:pt idx="315">
                  <c:v>0.41322900000000001</c:v>
                </c:pt>
                <c:pt idx="316">
                  <c:v>0.38958100000000001</c:v>
                </c:pt>
                <c:pt idx="317">
                  <c:v>0.36545699999999998</c:v>
                </c:pt>
                <c:pt idx="318">
                  <c:v>0.33995500000000001</c:v>
                </c:pt>
                <c:pt idx="319">
                  <c:v>0.31201699999999999</c:v>
                </c:pt>
              </c:numCache>
            </c:numRef>
          </c:yVal>
          <c:smooth val="1"/>
          <c:extLst>
            <c:ext xmlns:c16="http://schemas.microsoft.com/office/drawing/2014/chart" uri="{C3380CC4-5D6E-409C-BE32-E72D297353CC}">
              <c16:uniqueId val="{00000000-1F44-4F79-8574-8F94270F0A54}"/>
            </c:ext>
          </c:extLst>
        </c:ser>
        <c:ser>
          <c:idx val="1"/>
          <c:order val="1"/>
          <c:tx>
            <c:strRef>
              <c:f>Zero reference</c:f>
              <c:strCache>
                <c:ptCount val="1"/>
                <c:pt idx="0">
                  <c:v>Zero reference</c:v>
                </c:pt>
              </c:strCache>
            </c:strRef>
          </c:tx>
          <c:spPr>
            <a:ln w="9525" cap="rnd">
              <a:solidFill>
                <a:srgbClr val="BDCCD4"/>
              </a:solidFill>
              <a:prstDash val="solid"/>
              <a:round/>
            </a:ln>
          </c:spPr>
          <c:marker>
            <c:symbol val="none"/>
          </c:marker>
          <c:xVal>
            <c:numRef>
              <c:f>'Chart Data'!$C$2:$C$3</c:f>
              <c:numCache>
                <c:formatCode>General</c:formatCode>
                <c:ptCount val="2"/>
                <c:pt idx="0">
                  <c:v>0</c:v>
                </c:pt>
                <c:pt idx="1">
                  <c:v>8</c:v>
                </c:pt>
              </c:numCache>
            </c:numRef>
          </c:xVal>
          <c:yVal>
            <c:numRef>
              <c:f>'Chart Data'!$D$2:$D$3</c:f>
              <c:numCache>
                <c:formatCode>0.0</c:formatCode>
                <c:ptCount val="2"/>
                <c:pt idx="0">
                  <c:v>0</c:v>
                </c:pt>
                <c:pt idx="1">
                  <c:v>0</c:v>
                </c:pt>
              </c:numCache>
            </c:numRef>
          </c:yVal>
          <c:smooth val="1"/>
          <c:extLst>
            <c:ext xmlns:c16="http://schemas.microsoft.com/office/drawing/2014/chart" uri="{C3380CC4-5D6E-409C-BE32-E72D297353CC}">
              <c16:uniqueId val="{00000001-1F44-4F79-8574-8F94270F0A54}"/>
            </c:ext>
          </c:extLst>
        </c:ser>
        <c:dLbls>
          <c:showLegendKey val="0"/>
          <c:showVal val="0"/>
          <c:showCatName val="0"/>
          <c:showSerName val="0"/>
          <c:showPercent val="0"/>
          <c:showBubbleSize val="0"/>
        </c:dLbls>
        <c:axId val="48650112"/>
        <c:axId val="48672768"/>
      </c:scatterChart>
      <c:valAx>
        <c:axId val="48650112"/>
        <c:scaling>
          <c:orientation val="minMax"/>
          <c:max val="8"/>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2"/>
      </c:valAx>
      <c:valAx>
        <c:axId val="48672768"/>
        <c:scaling>
          <c:orientation val="minMax"/>
          <c:max val="1.25"/>
          <c:min val="-1.25"/>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Amplitude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83a82f5e-5e6e-4578-8ef0-3c8977def7e1}"/>
      </c:ext>
    </c:extLst>
  </c:chart>
  <c:spPr>
    <a:solidFill>
      <a:srgbClr val="FFFFFF"/>
    </a:solidFill>
    <a:ln w="0">
      <a:noFill/>
    </a:ln>
  </c:spPr>
  <c:txPr>
    <a:bodyPr/>
    <a:lstStyle/>
    <a:p>
      <a:pPr>
        <a:defRPr lang="zh-CN"/>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Fast interference</c:f>
              <c:strCache>
                <c:ptCount val="1"/>
                <c:pt idx="0">
                  <c:v>Fast interference</c:v>
                </c:pt>
              </c:strCache>
            </c:strRef>
          </c:tx>
          <c:spPr>
            <a:ln w="23813" cap="rnd">
              <a:solidFill>
                <a:srgbClr val="7056A8"/>
              </a:solidFill>
              <a:prstDash val="solid"/>
              <a:round/>
            </a:ln>
          </c:spPr>
          <c:marker>
            <c:symbol val="none"/>
          </c:marker>
          <c:xVal>
            <c:numRef>
              <c:f>'Chart Data'!$A$2:$A$321</c:f>
              <c:numCache>
                <c:formatCode>General</c:formatCode>
                <c:ptCount val="320"/>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pt idx="161">
                  <c:v>4.0250000000000004</c:v>
                </c:pt>
                <c:pt idx="162">
                  <c:v>4.05</c:v>
                </c:pt>
                <c:pt idx="163">
                  <c:v>4.0750000000000002</c:v>
                </c:pt>
                <c:pt idx="164">
                  <c:v>4.0999999999999996</c:v>
                </c:pt>
                <c:pt idx="165">
                  <c:v>4.125</c:v>
                </c:pt>
                <c:pt idx="166">
                  <c:v>4.1500000000000004</c:v>
                </c:pt>
                <c:pt idx="167">
                  <c:v>4.1749999999999998</c:v>
                </c:pt>
                <c:pt idx="168">
                  <c:v>4.2</c:v>
                </c:pt>
                <c:pt idx="169">
                  <c:v>4.2249999999999996</c:v>
                </c:pt>
                <c:pt idx="170">
                  <c:v>4.25</c:v>
                </c:pt>
                <c:pt idx="171">
                  <c:v>4.2750000000000004</c:v>
                </c:pt>
                <c:pt idx="172">
                  <c:v>4.3</c:v>
                </c:pt>
                <c:pt idx="173">
                  <c:v>4.3250000000000002</c:v>
                </c:pt>
                <c:pt idx="174">
                  <c:v>4.3499999999999996</c:v>
                </c:pt>
                <c:pt idx="175">
                  <c:v>4.375</c:v>
                </c:pt>
                <c:pt idx="176">
                  <c:v>4.4000000000000004</c:v>
                </c:pt>
                <c:pt idx="177">
                  <c:v>4.4249999999999998</c:v>
                </c:pt>
                <c:pt idx="178">
                  <c:v>4.45</c:v>
                </c:pt>
                <c:pt idx="179">
                  <c:v>4.4749999999999996</c:v>
                </c:pt>
                <c:pt idx="180">
                  <c:v>4.5</c:v>
                </c:pt>
                <c:pt idx="181">
                  <c:v>4.5250000000000004</c:v>
                </c:pt>
                <c:pt idx="182">
                  <c:v>4.55</c:v>
                </c:pt>
                <c:pt idx="183">
                  <c:v>4.5750000000000002</c:v>
                </c:pt>
                <c:pt idx="184">
                  <c:v>4.5999999999999996</c:v>
                </c:pt>
                <c:pt idx="185">
                  <c:v>4.625</c:v>
                </c:pt>
                <c:pt idx="186">
                  <c:v>4.6500000000000004</c:v>
                </c:pt>
                <c:pt idx="187">
                  <c:v>4.6749999999999998</c:v>
                </c:pt>
                <c:pt idx="188">
                  <c:v>4.7</c:v>
                </c:pt>
                <c:pt idx="189">
                  <c:v>4.7249999999999996</c:v>
                </c:pt>
                <c:pt idx="190">
                  <c:v>4.75</c:v>
                </c:pt>
                <c:pt idx="191">
                  <c:v>4.7750000000000004</c:v>
                </c:pt>
                <c:pt idx="192">
                  <c:v>4.8</c:v>
                </c:pt>
                <c:pt idx="193">
                  <c:v>4.8250000000000002</c:v>
                </c:pt>
                <c:pt idx="194">
                  <c:v>4.8499999999999996</c:v>
                </c:pt>
                <c:pt idx="195">
                  <c:v>4.875</c:v>
                </c:pt>
                <c:pt idx="196">
                  <c:v>4.9000000000000004</c:v>
                </c:pt>
                <c:pt idx="197">
                  <c:v>4.9249999999999998</c:v>
                </c:pt>
                <c:pt idx="198">
                  <c:v>4.95</c:v>
                </c:pt>
                <c:pt idx="199">
                  <c:v>4.9749999999999996</c:v>
                </c:pt>
                <c:pt idx="200">
                  <c:v>5</c:v>
                </c:pt>
                <c:pt idx="201">
                  <c:v>5.0250000000000004</c:v>
                </c:pt>
                <c:pt idx="202">
                  <c:v>5.05</c:v>
                </c:pt>
                <c:pt idx="203">
                  <c:v>5.0750000000000002</c:v>
                </c:pt>
                <c:pt idx="204">
                  <c:v>5.0999999999999996</c:v>
                </c:pt>
                <c:pt idx="205">
                  <c:v>5.125</c:v>
                </c:pt>
                <c:pt idx="206">
                  <c:v>5.15</c:v>
                </c:pt>
                <c:pt idx="207">
                  <c:v>5.1749999999999998</c:v>
                </c:pt>
                <c:pt idx="208">
                  <c:v>5.2</c:v>
                </c:pt>
                <c:pt idx="209">
                  <c:v>5.2249999999999996</c:v>
                </c:pt>
                <c:pt idx="210">
                  <c:v>5.25</c:v>
                </c:pt>
                <c:pt idx="211">
                  <c:v>5.2750000000000004</c:v>
                </c:pt>
                <c:pt idx="212">
                  <c:v>5.3</c:v>
                </c:pt>
                <c:pt idx="213">
                  <c:v>5.3250000000000002</c:v>
                </c:pt>
                <c:pt idx="214">
                  <c:v>5.35</c:v>
                </c:pt>
                <c:pt idx="215">
                  <c:v>5.375</c:v>
                </c:pt>
                <c:pt idx="216">
                  <c:v>5.4</c:v>
                </c:pt>
                <c:pt idx="217">
                  <c:v>5.4249999999999998</c:v>
                </c:pt>
                <c:pt idx="218">
                  <c:v>5.45</c:v>
                </c:pt>
                <c:pt idx="219">
                  <c:v>5.4749999999999996</c:v>
                </c:pt>
                <c:pt idx="220">
                  <c:v>5.5</c:v>
                </c:pt>
                <c:pt idx="221">
                  <c:v>5.5250000000000004</c:v>
                </c:pt>
                <c:pt idx="222">
                  <c:v>5.55</c:v>
                </c:pt>
                <c:pt idx="223">
                  <c:v>5.5750000000000002</c:v>
                </c:pt>
                <c:pt idx="224">
                  <c:v>5.6</c:v>
                </c:pt>
                <c:pt idx="225">
                  <c:v>5.625</c:v>
                </c:pt>
                <c:pt idx="226">
                  <c:v>5.65</c:v>
                </c:pt>
                <c:pt idx="227">
                  <c:v>5.6749999999999998</c:v>
                </c:pt>
                <c:pt idx="228">
                  <c:v>5.7</c:v>
                </c:pt>
                <c:pt idx="229">
                  <c:v>5.7249999999999996</c:v>
                </c:pt>
                <c:pt idx="230">
                  <c:v>5.75</c:v>
                </c:pt>
                <c:pt idx="231">
                  <c:v>5.7750000000000004</c:v>
                </c:pt>
                <c:pt idx="232">
                  <c:v>5.8</c:v>
                </c:pt>
                <c:pt idx="233">
                  <c:v>5.8250000000000002</c:v>
                </c:pt>
                <c:pt idx="234">
                  <c:v>5.85</c:v>
                </c:pt>
                <c:pt idx="235">
                  <c:v>5.875</c:v>
                </c:pt>
                <c:pt idx="236">
                  <c:v>5.9</c:v>
                </c:pt>
                <c:pt idx="237">
                  <c:v>5.9249999999999998</c:v>
                </c:pt>
                <c:pt idx="238">
                  <c:v>5.95</c:v>
                </c:pt>
                <c:pt idx="239">
                  <c:v>5.9749999999999996</c:v>
                </c:pt>
                <c:pt idx="240">
                  <c:v>6</c:v>
                </c:pt>
                <c:pt idx="241">
                  <c:v>6.0250000000000004</c:v>
                </c:pt>
                <c:pt idx="242">
                  <c:v>6.05</c:v>
                </c:pt>
                <c:pt idx="243">
                  <c:v>6.0750000000000002</c:v>
                </c:pt>
                <c:pt idx="244">
                  <c:v>6.1</c:v>
                </c:pt>
                <c:pt idx="245">
                  <c:v>6.125</c:v>
                </c:pt>
                <c:pt idx="246">
                  <c:v>6.15</c:v>
                </c:pt>
                <c:pt idx="247">
                  <c:v>6.1749999999999998</c:v>
                </c:pt>
                <c:pt idx="248">
                  <c:v>6.2</c:v>
                </c:pt>
                <c:pt idx="249">
                  <c:v>6.2249999999999996</c:v>
                </c:pt>
                <c:pt idx="250">
                  <c:v>6.25</c:v>
                </c:pt>
                <c:pt idx="251">
                  <c:v>6.2750000000000004</c:v>
                </c:pt>
                <c:pt idx="252">
                  <c:v>6.3</c:v>
                </c:pt>
                <c:pt idx="253">
                  <c:v>6.3250000000000002</c:v>
                </c:pt>
                <c:pt idx="254">
                  <c:v>6.35</c:v>
                </c:pt>
                <c:pt idx="255">
                  <c:v>6.375</c:v>
                </c:pt>
                <c:pt idx="256">
                  <c:v>6.4</c:v>
                </c:pt>
                <c:pt idx="257">
                  <c:v>6.4249999999999998</c:v>
                </c:pt>
                <c:pt idx="258">
                  <c:v>6.45</c:v>
                </c:pt>
                <c:pt idx="259">
                  <c:v>6.4749999999999996</c:v>
                </c:pt>
                <c:pt idx="260">
                  <c:v>6.5</c:v>
                </c:pt>
                <c:pt idx="261">
                  <c:v>6.5250000000000004</c:v>
                </c:pt>
                <c:pt idx="262">
                  <c:v>6.55</c:v>
                </c:pt>
                <c:pt idx="263">
                  <c:v>6.5750000000000002</c:v>
                </c:pt>
                <c:pt idx="264">
                  <c:v>6.6</c:v>
                </c:pt>
                <c:pt idx="265">
                  <c:v>6.625</c:v>
                </c:pt>
                <c:pt idx="266">
                  <c:v>6.65</c:v>
                </c:pt>
                <c:pt idx="267">
                  <c:v>6.6749999999999998</c:v>
                </c:pt>
                <c:pt idx="268">
                  <c:v>6.7</c:v>
                </c:pt>
                <c:pt idx="269">
                  <c:v>6.7249999999999996</c:v>
                </c:pt>
                <c:pt idx="270">
                  <c:v>6.75</c:v>
                </c:pt>
                <c:pt idx="271">
                  <c:v>6.7750000000000004</c:v>
                </c:pt>
                <c:pt idx="272">
                  <c:v>6.8</c:v>
                </c:pt>
                <c:pt idx="273">
                  <c:v>6.8250000000000002</c:v>
                </c:pt>
                <c:pt idx="274">
                  <c:v>6.85</c:v>
                </c:pt>
                <c:pt idx="275">
                  <c:v>6.875</c:v>
                </c:pt>
                <c:pt idx="276">
                  <c:v>6.9</c:v>
                </c:pt>
                <c:pt idx="277">
                  <c:v>6.9249999999999998</c:v>
                </c:pt>
                <c:pt idx="278">
                  <c:v>6.95</c:v>
                </c:pt>
                <c:pt idx="279">
                  <c:v>6.9749999999999996</c:v>
                </c:pt>
                <c:pt idx="280">
                  <c:v>7</c:v>
                </c:pt>
                <c:pt idx="281">
                  <c:v>7.0250000000000004</c:v>
                </c:pt>
                <c:pt idx="282">
                  <c:v>7.05</c:v>
                </c:pt>
                <c:pt idx="283">
                  <c:v>7.0750000000000002</c:v>
                </c:pt>
                <c:pt idx="284">
                  <c:v>7.1</c:v>
                </c:pt>
                <c:pt idx="285">
                  <c:v>7.125</c:v>
                </c:pt>
                <c:pt idx="286">
                  <c:v>7.15</c:v>
                </c:pt>
                <c:pt idx="287">
                  <c:v>7.1749999999999998</c:v>
                </c:pt>
                <c:pt idx="288">
                  <c:v>7.2</c:v>
                </c:pt>
                <c:pt idx="289">
                  <c:v>7.2249999999999996</c:v>
                </c:pt>
                <c:pt idx="290">
                  <c:v>7.25</c:v>
                </c:pt>
                <c:pt idx="291">
                  <c:v>7.2750000000000004</c:v>
                </c:pt>
                <c:pt idx="292">
                  <c:v>7.3</c:v>
                </c:pt>
                <c:pt idx="293">
                  <c:v>7.3250000000000002</c:v>
                </c:pt>
                <c:pt idx="294">
                  <c:v>7.35</c:v>
                </c:pt>
                <c:pt idx="295">
                  <c:v>7.375</c:v>
                </c:pt>
                <c:pt idx="296">
                  <c:v>7.4</c:v>
                </c:pt>
                <c:pt idx="297">
                  <c:v>7.4249999999999998</c:v>
                </c:pt>
                <c:pt idx="298">
                  <c:v>7.45</c:v>
                </c:pt>
                <c:pt idx="299">
                  <c:v>7.4749999999999996</c:v>
                </c:pt>
                <c:pt idx="300">
                  <c:v>7.5</c:v>
                </c:pt>
                <c:pt idx="301">
                  <c:v>7.5250000000000004</c:v>
                </c:pt>
                <c:pt idx="302">
                  <c:v>7.55</c:v>
                </c:pt>
                <c:pt idx="303">
                  <c:v>7.5750000000000002</c:v>
                </c:pt>
                <c:pt idx="304">
                  <c:v>7.6</c:v>
                </c:pt>
                <c:pt idx="305">
                  <c:v>7.625</c:v>
                </c:pt>
                <c:pt idx="306">
                  <c:v>7.65</c:v>
                </c:pt>
                <c:pt idx="307">
                  <c:v>7.6749999999999998</c:v>
                </c:pt>
                <c:pt idx="308">
                  <c:v>7.7</c:v>
                </c:pt>
                <c:pt idx="309">
                  <c:v>7.7249999999999996</c:v>
                </c:pt>
                <c:pt idx="310">
                  <c:v>7.75</c:v>
                </c:pt>
                <c:pt idx="311">
                  <c:v>7.7750000000000004</c:v>
                </c:pt>
                <c:pt idx="312">
                  <c:v>7.8</c:v>
                </c:pt>
                <c:pt idx="313">
                  <c:v>7.8250000000000002</c:v>
                </c:pt>
                <c:pt idx="314">
                  <c:v>7.85</c:v>
                </c:pt>
                <c:pt idx="315">
                  <c:v>7.875</c:v>
                </c:pt>
                <c:pt idx="316">
                  <c:v>7.9</c:v>
                </c:pt>
                <c:pt idx="317">
                  <c:v>7.9249999999999998</c:v>
                </c:pt>
                <c:pt idx="318">
                  <c:v>7.95</c:v>
                </c:pt>
                <c:pt idx="319">
                  <c:v>7.9749999999999996</c:v>
                </c:pt>
              </c:numCache>
            </c:numRef>
          </c:xVal>
          <c:yVal>
            <c:numRef>
              <c:f>'Chart Data'!$B$2:$B$321</c:f>
              <c:numCache>
                <c:formatCode>0.0</c:formatCode>
                <c:ptCount val="320"/>
                <c:pt idx="0">
                  <c:v>0.10909099999999999</c:v>
                </c:pt>
                <c:pt idx="1">
                  <c:v>0.23538799999999999</c:v>
                </c:pt>
                <c:pt idx="2">
                  <c:v>0.17397000000000001</c:v>
                </c:pt>
                <c:pt idx="3">
                  <c:v>-2.7175000000000001E-2</c:v>
                </c:pt>
                <c:pt idx="4">
                  <c:v>-0.21110699999999999</c:v>
                </c:pt>
                <c:pt idx="5">
                  <c:v>-0.23393600000000001</c:v>
                </c:pt>
                <c:pt idx="6">
                  <c:v>-7.6697000000000001E-2</c:v>
                </c:pt>
                <c:pt idx="7">
                  <c:v>0.139678</c:v>
                </c:pt>
                <c:pt idx="8">
                  <c:v>0.24796399999999999</c:v>
                </c:pt>
                <c:pt idx="9">
                  <c:v>0.16428899999999999</c:v>
                </c:pt>
                <c:pt idx="10">
                  <c:v>-4.6690000000000002E-2</c:v>
                </c:pt>
                <c:pt idx="11">
                  <c:v>-0.221667</c:v>
                </c:pt>
                <c:pt idx="12">
                  <c:v>-0.225078</c:v>
                </c:pt>
                <c:pt idx="13">
                  <c:v>-5.4117999999999999E-2</c:v>
                </c:pt>
                <c:pt idx="14">
                  <c:v>0.15897600000000001</c:v>
                </c:pt>
                <c:pt idx="15">
                  <c:v>0.249248</c:v>
                </c:pt>
                <c:pt idx="16">
                  <c:v>0.146733</c:v>
                </c:pt>
                <c:pt idx="17">
                  <c:v>-6.9313E-2</c:v>
                </c:pt>
                <c:pt idx="18">
                  <c:v>-0.23171</c:v>
                </c:pt>
                <c:pt idx="19">
                  <c:v>-0.214758</c:v>
                </c:pt>
                <c:pt idx="20">
                  <c:v>-3.1572999999999997E-2</c:v>
                </c:pt>
                <c:pt idx="21">
                  <c:v>0.17602499999999999</c:v>
                </c:pt>
                <c:pt idx="22">
                  <c:v>0.247282</c:v>
                </c:pt>
                <c:pt idx="23">
                  <c:v>0.12695999999999999</c:v>
                </c:pt>
                <c:pt idx="24">
                  <c:v>-9.1866000000000003E-2</c:v>
                </c:pt>
                <c:pt idx="25">
                  <c:v>-0.23983599999999999</c:v>
                </c:pt>
                <c:pt idx="26">
                  <c:v>-0.20240900000000001</c:v>
                </c:pt>
                <c:pt idx="27">
                  <c:v>-8.5509999999999996E-3</c:v>
                </c:pt>
                <c:pt idx="28">
                  <c:v>0.19167100000000001</c:v>
                </c:pt>
                <c:pt idx="29">
                  <c:v>0.24324499999999999</c:v>
                </c:pt>
                <c:pt idx="30">
                  <c:v>0.10623100000000001</c:v>
                </c:pt>
                <c:pt idx="31">
                  <c:v>-0.113311</c:v>
                </c:pt>
                <c:pt idx="32">
                  <c:v>-0.24540799999999999</c:v>
                </c:pt>
                <c:pt idx="33">
                  <c:v>-0.18776300000000001</c:v>
                </c:pt>
                <c:pt idx="34">
                  <c:v>1.5043000000000001E-2</c:v>
                </c:pt>
                <c:pt idx="35">
                  <c:v>0.20604600000000001</c:v>
                </c:pt>
                <c:pt idx="36">
                  <c:v>0.23740900000000001</c:v>
                </c:pt>
                <c:pt idx="37">
                  <c:v>8.4874000000000005E-2</c:v>
                </c:pt>
                <c:pt idx="38">
                  <c:v>-0.13344700000000001</c:v>
                </c:pt>
                <c:pt idx="39">
                  <c:v>-0.248504</c:v>
                </c:pt>
                <c:pt idx="40">
                  <c:v>-0.17118</c:v>
                </c:pt>
                <c:pt idx="41">
                  <c:v>3.8705999999999997E-2</c:v>
                </c:pt>
                <c:pt idx="42">
                  <c:v>0.21870200000000001</c:v>
                </c:pt>
                <c:pt idx="43">
                  <c:v>0.22948199999999999</c:v>
                </c:pt>
                <c:pt idx="44">
                  <c:v>6.2712000000000004E-2</c:v>
                </c:pt>
                <c:pt idx="45">
                  <c:v>-0.15249099999999999</c:v>
                </c:pt>
                <c:pt idx="46">
                  <c:v>-0.24951300000000001</c:v>
                </c:pt>
                <c:pt idx="47">
                  <c:v>-0.153229</c:v>
                </c:pt>
                <c:pt idx="48">
                  <c:v>6.1830999999999997E-2</c:v>
                </c:pt>
                <c:pt idx="49">
                  <c:v>0.22917399999999999</c:v>
                </c:pt>
                <c:pt idx="50">
                  <c:v>0.21923799999999999</c:v>
                </c:pt>
                <c:pt idx="51">
                  <c:v>3.9697999999999997E-2</c:v>
                </c:pt>
                <c:pt idx="52">
                  <c:v>-0.17047000000000001</c:v>
                </c:pt>
                <c:pt idx="53">
                  <c:v>-0.24857499999999999</c:v>
                </c:pt>
                <c:pt idx="54">
                  <c:v>-0.134161</c:v>
                </c:pt>
                <c:pt idx="55">
                  <c:v>8.4182999999999994E-2</c:v>
                </c:pt>
                <c:pt idx="56">
                  <c:v>0.237404</c:v>
                </c:pt>
                <c:pt idx="57">
                  <c:v>0.20686099999999999</c:v>
                </c:pt>
                <c:pt idx="58">
                  <c:v>1.6178000000000001E-2</c:v>
                </c:pt>
                <c:pt idx="59">
                  <c:v>-0.18704299999999999</c:v>
                </c:pt>
                <c:pt idx="60">
                  <c:v>-0.24548500000000001</c:v>
                </c:pt>
                <c:pt idx="61">
                  <c:v>-0.11391</c:v>
                </c:pt>
                <c:pt idx="62">
                  <c:v>0.10581599999999999</c:v>
                </c:pt>
                <c:pt idx="63">
                  <c:v>0.24358299999999999</c:v>
                </c:pt>
                <c:pt idx="64">
                  <c:v>0.19272900000000001</c:v>
                </c:pt>
                <c:pt idx="65">
                  <c:v>-7.3800000000000003E-3</c:v>
                </c:pt>
                <c:pt idx="66">
                  <c:v>-0.201822</c:v>
                </c:pt>
                <c:pt idx="67">
                  <c:v>-0.24005799999999999</c:v>
                </c:pt>
                <c:pt idx="68">
                  <c:v>-9.2475000000000002E-2</c:v>
                </c:pt>
                <c:pt idx="69">
                  <c:v>0.12668499999999999</c:v>
                </c:pt>
                <c:pt idx="70">
                  <c:v>0.24776500000000001</c:v>
                </c:pt>
                <c:pt idx="71">
                  <c:v>0.177037</c:v>
                </c:pt>
                <c:pt idx="72">
                  <c:v>-3.0734999999999998E-2</c:v>
                </c:pt>
                <c:pt idx="73">
                  <c:v>-0.21468699999999999</c:v>
                </c:pt>
                <c:pt idx="74">
                  <c:v>-0.23239499999999999</c:v>
                </c:pt>
                <c:pt idx="75">
                  <c:v>-7.0135000000000003E-2</c:v>
                </c:pt>
                <c:pt idx="76">
                  <c:v>0.146485</c:v>
                </c:pt>
                <c:pt idx="77">
                  <c:v>0.24977099999999999</c:v>
                </c:pt>
                <c:pt idx="78">
                  <c:v>0.15976399999999999</c:v>
                </c:pt>
                <c:pt idx="79">
                  <c:v>-5.3855E-2</c:v>
                </c:pt>
                <c:pt idx="80">
                  <c:v>-0.225743</c:v>
                </c:pt>
                <c:pt idx="81">
                  <c:v>-0.22287499999999999</c:v>
                </c:pt>
                <c:pt idx="82">
                  <c:v>-4.7473000000000001E-2</c:v>
                </c:pt>
                <c:pt idx="83">
                  <c:v>0.16467000000000001</c:v>
                </c:pt>
                <c:pt idx="84">
                  <c:v>0.24931300000000001</c:v>
                </c:pt>
                <c:pt idx="85">
                  <c:v>0.140928</c:v>
                </c:pt>
                <c:pt idx="86">
                  <c:v>-7.6577999999999993E-2</c:v>
                </c:pt>
                <c:pt idx="87">
                  <c:v>-0.23481399999999999</c:v>
                </c:pt>
                <c:pt idx="88">
                  <c:v>-0.21127699999999999</c:v>
                </c:pt>
                <c:pt idx="89">
                  <c:v>-2.419E-2</c:v>
                </c:pt>
                <c:pt idx="90">
                  <c:v>0.18160599999999999</c:v>
                </c:pt>
                <c:pt idx="91">
                  <c:v>0.24678800000000001</c:v>
                </c:pt>
                <c:pt idx="92">
                  <c:v>0.120891</c:v>
                </c:pt>
                <c:pt idx="93">
                  <c:v>-9.8616999999999996E-2</c:v>
                </c:pt>
                <c:pt idx="94">
                  <c:v>-0.24179500000000001</c:v>
                </c:pt>
                <c:pt idx="95">
                  <c:v>-0.197798</c:v>
                </c:pt>
                <c:pt idx="96">
                  <c:v>-6.87E-4</c:v>
                </c:pt>
                <c:pt idx="97">
                  <c:v>0.196938</c:v>
                </c:pt>
                <c:pt idx="98">
                  <c:v>0.24207899999999999</c:v>
                </c:pt>
                <c:pt idx="99">
                  <c:v>9.9788000000000002E-2</c:v>
                </c:pt>
                <c:pt idx="100">
                  <c:v>-0.119773</c:v>
                </c:pt>
                <c:pt idx="101">
                  <c:v>-0.24662400000000001</c:v>
                </c:pt>
                <c:pt idx="102">
                  <c:v>-0.182557</c:v>
                </c:pt>
                <c:pt idx="103">
                  <c:v>2.2828999999999999E-2</c:v>
                </c:pt>
                <c:pt idx="104">
                  <c:v>0.21052699999999999</c:v>
                </c:pt>
                <c:pt idx="105">
                  <c:v>0.23522499999999999</c:v>
                </c:pt>
                <c:pt idx="106">
                  <c:v>7.7802999999999997E-2</c:v>
                </c:pt>
                <c:pt idx="107">
                  <c:v>-0.13986499999999999</c:v>
                </c:pt>
                <c:pt idx="108">
                  <c:v>-0.24926300000000001</c:v>
                </c:pt>
                <c:pt idx="109">
                  <c:v>-0.16569500000000001</c:v>
                </c:pt>
                <c:pt idx="110">
                  <c:v>4.6141000000000001E-2</c:v>
                </c:pt>
                <c:pt idx="111">
                  <c:v>0.222245</c:v>
                </c:pt>
                <c:pt idx="112">
                  <c:v>0.22628100000000001</c:v>
                </c:pt>
                <c:pt idx="113">
                  <c:v>5.5123999999999999E-2</c:v>
                </c:pt>
                <c:pt idx="114">
                  <c:v>-0.158718</c:v>
                </c:pt>
                <c:pt idx="115">
                  <c:v>-0.249692</c:v>
                </c:pt>
                <c:pt idx="116">
                  <c:v>-0.147366</c:v>
                </c:pt>
                <c:pt idx="117">
                  <c:v>6.9040000000000004E-2</c:v>
                </c:pt>
                <c:pt idx="118">
                  <c:v>0.231988</c:v>
                </c:pt>
                <c:pt idx="119">
                  <c:v>0.21532599999999999</c:v>
                </c:pt>
                <c:pt idx="120">
                  <c:v>3.1954000000000003E-2</c:v>
                </c:pt>
                <c:pt idx="121">
                  <c:v>-0.17616399999999999</c:v>
                </c:pt>
                <c:pt idx="122">
                  <c:v>-0.24790599999999999</c:v>
                </c:pt>
                <c:pt idx="123">
                  <c:v>-0.12772900000000001</c:v>
                </c:pt>
                <c:pt idx="124">
                  <c:v>9.1328000000000006E-2</c:v>
                </c:pt>
                <c:pt idx="125">
                  <c:v>0.239674</c:v>
                </c:pt>
                <c:pt idx="126">
                  <c:v>0.202463</c:v>
                </c:pt>
                <c:pt idx="127">
                  <c:v>8.5050000000000004E-3</c:v>
                </c:pt>
                <c:pt idx="128">
                  <c:v>-0.19204199999999999</c:v>
                </c:pt>
                <c:pt idx="129">
                  <c:v>-0.24391399999999999</c:v>
                </c:pt>
                <c:pt idx="130">
                  <c:v>-0.10695300000000001</c:v>
                </c:pt>
                <c:pt idx="131">
                  <c:v>0.11280999999999999</c:v>
                </c:pt>
                <c:pt idx="132">
                  <c:v>0.24523800000000001</c:v>
                </c:pt>
                <c:pt idx="133">
                  <c:v>0.187809</c:v>
                </c:pt>
                <c:pt idx="134">
                  <c:v>-1.5016E-2</c:v>
                </c:pt>
                <c:pt idx="135">
                  <c:v>-0.20621</c:v>
                </c:pt>
                <c:pt idx="136">
                  <c:v>-0.23775399999999999</c:v>
                </c:pt>
                <c:pt idx="137">
                  <c:v>-8.5223999999999994E-2</c:v>
                </c:pt>
                <c:pt idx="138">
                  <c:v>0.13329299999999999</c:v>
                </c:pt>
                <c:pt idx="139">
                  <c:v>0.24862600000000001</c:v>
                </c:pt>
                <c:pt idx="140">
                  <c:v>0.171486</c:v>
                </c:pt>
                <c:pt idx="141">
                  <c:v>-3.8404000000000001E-2</c:v>
                </c:pt>
                <c:pt idx="142">
                  <c:v>-0.218551</c:v>
                </c:pt>
                <c:pt idx="143">
                  <c:v>-0.229486</c:v>
                </c:pt>
                <c:pt idx="144">
                  <c:v>-6.2742999999999993E-2</c:v>
                </c:pt>
                <c:pt idx="145">
                  <c:v>0.152588</c:v>
                </c:pt>
                <c:pt idx="146">
                  <c:v>0.249802</c:v>
                </c:pt>
                <c:pt idx="147">
                  <c:v>0.15363599999999999</c:v>
                </c:pt>
                <c:pt idx="148">
                  <c:v>-6.1457999999999999E-2</c:v>
                </c:pt>
                <c:pt idx="149">
                  <c:v>-0.22895799999999999</c:v>
                </c:pt>
                <c:pt idx="150">
                  <c:v>-0.21918799999999999</c:v>
                </c:pt>
                <c:pt idx="151">
                  <c:v>-3.9711999999999997E-2</c:v>
                </c:pt>
                <c:pt idx="152">
                  <c:v>0.17052300000000001</c:v>
                </c:pt>
                <c:pt idx="153">
                  <c:v>0.248755</c:v>
                </c:pt>
                <c:pt idx="154">
                  <c:v>0.13441800000000001</c:v>
                </c:pt>
                <c:pt idx="155">
                  <c:v>-8.3970000000000003E-2</c:v>
                </c:pt>
                <c:pt idx="156">
                  <c:v>-0.23733599999999999</c:v>
                </c:pt>
                <c:pt idx="157">
                  <c:v>-0.20694599999999999</c:v>
                </c:pt>
                <c:pt idx="158">
                  <c:v>-1.6327999999999999E-2</c:v>
                </c:pt>
                <c:pt idx="159">
                  <c:v>0.186944</c:v>
                </c:pt>
                <c:pt idx="160">
                  <c:v>0.245501</c:v>
                </c:pt>
                <c:pt idx="161">
                  <c:v>0.114008</c:v>
                </c:pt>
                <c:pt idx="162">
                  <c:v>-0.10573399999999999</c:v>
                </c:pt>
                <c:pt idx="163">
                  <c:v>-0.24360399999999999</c:v>
                </c:pt>
                <c:pt idx="164">
                  <c:v>-0.19286500000000001</c:v>
                </c:pt>
                <c:pt idx="165">
                  <c:v>7.2030000000000002E-3</c:v>
                </c:pt>
                <c:pt idx="166">
                  <c:v>0.201709</c:v>
                </c:pt>
                <c:pt idx="167">
                  <c:v>0.24007100000000001</c:v>
                </c:pt>
                <c:pt idx="168">
                  <c:v>9.2589000000000005E-2</c:v>
                </c:pt>
                <c:pt idx="169">
                  <c:v>-0.126558</c:v>
                </c:pt>
                <c:pt idx="170">
                  <c:v>-0.24770900000000001</c:v>
                </c:pt>
                <c:pt idx="171">
                  <c:v>-0.17707100000000001</c:v>
                </c:pt>
                <c:pt idx="172">
                  <c:v>3.0669999999999999E-2</c:v>
                </c:pt>
                <c:pt idx="173">
                  <c:v>0.21468300000000001</c:v>
                </c:pt>
                <c:pt idx="174">
                  <c:v>0.23250799999999999</c:v>
                </c:pt>
                <c:pt idx="175">
                  <c:v>7.0344000000000004E-2</c:v>
                </c:pt>
                <c:pt idx="176">
                  <c:v>-0.146263</c:v>
                </c:pt>
                <c:pt idx="177">
                  <c:v>-0.24962100000000001</c:v>
                </c:pt>
                <c:pt idx="178">
                  <c:v>-0.15971099999999999</c:v>
                </c:pt>
                <c:pt idx="179">
                  <c:v>5.3858000000000003E-2</c:v>
                </c:pt>
                <c:pt idx="180">
                  <c:v>0.225744</c:v>
                </c:pt>
                <c:pt idx="181">
                  <c:v>0.22287399999999999</c:v>
                </c:pt>
                <c:pt idx="182">
                  <c:v>4.7468999999999997E-2</c:v>
                </c:pt>
                <c:pt idx="183">
                  <c:v>-0.16467599999999999</c:v>
                </c:pt>
                <c:pt idx="184">
                  <c:v>-0.24932199999999999</c:v>
                </c:pt>
                <c:pt idx="185">
                  <c:v>-0.14093900000000001</c:v>
                </c:pt>
                <c:pt idx="186">
                  <c:v>7.6563000000000006E-2</c:v>
                </c:pt>
                <c:pt idx="187">
                  <c:v>0.23479700000000001</c:v>
                </c:pt>
                <c:pt idx="188">
                  <c:v>0.211258</c:v>
                </c:pt>
                <c:pt idx="189">
                  <c:v>2.4170000000000001E-2</c:v>
                </c:pt>
                <c:pt idx="190">
                  <c:v>-0.18162900000000001</c:v>
                </c:pt>
                <c:pt idx="191">
                  <c:v>-0.246812</c:v>
                </c:pt>
                <c:pt idx="192">
                  <c:v>-0.120916</c:v>
                </c:pt>
                <c:pt idx="193">
                  <c:v>9.8590999999999998E-2</c:v>
                </c:pt>
                <c:pt idx="194">
                  <c:v>0.24176900000000001</c:v>
                </c:pt>
                <c:pt idx="195">
                  <c:v>0.197771</c:v>
                </c:pt>
                <c:pt idx="196">
                  <c:v>6.6E-4</c:v>
                </c:pt>
                <c:pt idx="197">
                  <c:v>-0.196965</c:v>
                </c:pt>
                <c:pt idx="198">
                  <c:v>-0.24210499999999999</c:v>
                </c:pt>
                <c:pt idx="199">
                  <c:v>-9.9814E-2</c:v>
                </c:pt>
                <c:pt idx="200">
                  <c:v>0.11974799999999999</c:v>
                </c:pt>
                <c:pt idx="201">
                  <c:v>0.24659900000000001</c:v>
                </c:pt>
                <c:pt idx="202">
                  <c:v>0.182532</c:v>
                </c:pt>
                <c:pt idx="203">
                  <c:v>-2.2852999999999998E-2</c:v>
                </c:pt>
                <c:pt idx="204">
                  <c:v>-0.21054999999999999</c:v>
                </c:pt>
                <c:pt idx="205">
                  <c:v>-0.23524800000000001</c:v>
                </c:pt>
                <c:pt idx="206">
                  <c:v>-7.7826000000000006E-2</c:v>
                </c:pt>
                <c:pt idx="207">
                  <c:v>0.13984199999999999</c:v>
                </c:pt>
                <c:pt idx="208">
                  <c:v>0.24923999999999999</c:v>
                </c:pt>
                <c:pt idx="209">
                  <c:v>0.16567200000000001</c:v>
                </c:pt>
                <c:pt idx="210">
                  <c:v>-4.6163999999999997E-2</c:v>
                </c:pt>
                <c:pt idx="211">
                  <c:v>-0.22226899999999999</c:v>
                </c:pt>
                <c:pt idx="212">
                  <c:v>-0.22630600000000001</c:v>
                </c:pt>
                <c:pt idx="213">
                  <c:v>-5.5149999999999998E-2</c:v>
                </c:pt>
                <c:pt idx="214">
                  <c:v>0.158692</c:v>
                </c:pt>
                <c:pt idx="215">
                  <c:v>0.249665</c:v>
                </c:pt>
                <c:pt idx="216">
                  <c:v>0.147338</c:v>
                </c:pt>
                <c:pt idx="217">
                  <c:v>-6.9069000000000005E-2</c:v>
                </c:pt>
                <c:pt idx="218">
                  <c:v>-0.232018</c:v>
                </c:pt>
                <c:pt idx="219">
                  <c:v>-0.21535699999999999</c:v>
                </c:pt>
                <c:pt idx="220">
                  <c:v>-3.1986000000000001E-2</c:v>
                </c:pt>
                <c:pt idx="221">
                  <c:v>0.17613200000000001</c:v>
                </c:pt>
                <c:pt idx="222">
                  <c:v>0.24787400000000001</c:v>
                </c:pt>
                <c:pt idx="223">
                  <c:v>0.127697</c:v>
                </c:pt>
                <c:pt idx="224">
                  <c:v>-9.1358999999999996E-2</c:v>
                </c:pt>
                <c:pt idx="225">
                  <c:v>-0.239705</c:v>
                </c:pt>
                <c:pt idx="226">
                  <c:v>-0.20249300000000001</c:v>
                </c:pt>
                <c:pt idx="227">
                  <c:v>-8.5330000000000007E-3</c:v>
                </c:pt>
                <c:pt idx="228">
                  <c:v>0.19201499999999999</c:v>
                </c:pt>
                <c:pt idx="229">
                  <c:v>0.24388899999999999</c:v>
                </c:pt>
                <c:pt idx="230">
                  <c:v>0.10693</c:v>
                </c:pt>
                <c:pt idx="231">
                  <c:v>-0.112831</c:v>
                </c:pt>
                <c:pt idx="232">
                  <c:v>-0.245256</c:v>
                </c:pt>
                <c:pt idx="233">
                  <c:v>-0.18782499999999999</c:v>
                </c:pt>
                <c:pt idx="234">
                  <c:v>1.5002E-2</c:v>
                </c:pt>
                <c:pt idx="235">
                  <c:v>0.20619899999999999</c:v>
                </c:pt>
                <c:pt idx="236">
                  <c:v>0.23774500000000001</c:v>
                </c:pt>
                <c:pt idx="237">
                  <c:v>8.5218000000000002E-2</c:v>
                </c:pt>
                <c:pt idx="238">
                  <c:v>-0.133297</c:v>
                </c:pt>
                <c:pt idx="239">
                  <c:v>-0.24862799999999999</c:v>
                </c:pt>
                <c:pt idx="240">
                  <c:v>-0.171487</c:v>
                </c:pt>
                <c:pt idx="241">
                  <c:v>3.8401999999999999E-2</c:v>
                </c:pt>
                <c:pt idx="242">
                  <c:v>0.21862100000000001</c:v>
                </c:pt>
                <c:pt idx="243">
                  <c:v>0.22964999999999999</c:v>
                </c:pt>
                <c:pt idx="244">
                  <c:v>6.2950999999999993E-2</c:v>
                </c:pt>
                <c:pt idx="245">
                  <c:v>-0.152425</c:v>
                </c:pt>
                <c:pt idx="246">
                  <c:v>-0.24974499999999999</c:v>
                </c:pt>
                <c:pt idx="247">
                  <c:v>-0.15367700000000001</c:v>
                </c:pt>
                <c:pt idx="248">
                  <c:v>6.1393999999999997E-2</c:v>
                </c:pt>
                <c:pt idx="249">
                  <c:v>0.22895399999999999</c:v>
                </c:pt>
                <c:pt idx="250">
                  <c:v>0.219275</c:v>
                </c:pt>
                <c:pt idx="251">
                  <c:v>3.9843000000000003E-2</c:v>
                </c:pt>
                <c:pt idx="252">
                  <c:v>-0.17043800000000001</c:v>
                </c:pt>
                <c:pt idx="253">
                  <c:v>-0.24878500000000001</c:v>
                </c:pt>
                <c:pt idx="254">
                  <c:v>-0.13455700000000001</c:v>
                </c:pt>
                <c:pt idx="255">
                  <c:v>8.3803000000000002E-2</c:v>
                </c:pt>
                <c:pt idx="256">
                  <c:v>0.23723900000000001</c:v>
                </c:pt>
                <c:pt idx="257">
                  <c:v>0.20696300000000001</c:v>
                </c:pt>
                <c:pt idx="258">
                  <c:v>1.6416E-2</c:v>
                </c:pt>
                <c:pt idx="259">
                  <c:v>-0.18688399999999999</c:v>
                </c:pt>
                <c:pt idx="260">
                  <c:v>-0.24554799999999999</c:v>
                </c:pt>
                <c:pt idx="261">
                  <c:v>-0.114161</c:v>
                </c:pt>
                <c:pt idx="262">
                  <c:v>0.105562</c:v>
                </c:pt>
                <c:pt idx="263">
                  <c:v>0.24352599999999999</c:v>
                </c:pt>
                <c:pt idx="264">
                  <c:v>0.192937</c:v>
                </c:pt>
                <c:pt idx="265">
                  <c:v>-7.025E-3</c:v>
                </c:pt>
                <c:pt idx="266">
                  <c:v>-0.20154</c:v>
                </c:pt>
                <c:pt idx="267">
                  <c:v>-0.240011</c:v>
                </c:pt>
                <c:pt idx="268">
                  <c:v>-9.2648999999999995E-2</c:v>
                </c:pt>
                <c:pt idx="269">
                  <c:v>0.126471</c:v>
                </c:pt>
                <c:pt idx="270">
                  <c:v>0.247725</c:v>
                </c:pt>
                <c:pt idx="271">
                  <c:v>0.17726</c:v>
                </c:pt>
                <c:pt idx="272">
                  <c:v>-3.0359000000000001E-2</c:v>
                </c:pt>
                <c:pt idx="273">
                  <c:v>-0.21439</c:v>
                </c:pt>
                <c:pt idx="274">
                  <c:v>-0.23236499999999999</c:v>
                </c:pt>
                <c:pt idx="275">
                  <c:v>-7.0375999999999994E-2</c:v>
                </c:pt>
                <c:pt idx="276">
                  <c:v>0.14616199999999999</c:v>
                </c:pt>
                <c:pt idx="277">
                  <c:v>0.249608</c:v>
                </c:pt>
                <c:pt idx="278">
                  <c:v>0.15987799999999999</c:v>
                </c:pt>
                <c:pt idx="279">
                  <c:v>-5.3567999999999998E-2</c:v>
                </c:pt>
                <c:pt idx="280">
                  <c:v>-0.22550400000000001</c:v>
                </c:pt>
                <c:pt idx="281">
                  <c:v>-0.22285199999999999</c:v>
                </c:pt>
                <c:pt idx="282">
                  <c:v>-4.7699999999999999E-2</c:v>
                </c:pt>
                <c:pt idx="283">
                  <c:v>0.164323</c:v>
                </c:pt>
                <c:pt idx="284">
                  <c:v>0.249056</c:v>
                </c:pt>
                <c:pt idx="285">
                  <c:v>0.14088500000000001</c:v>
                </c:pt>
                <c:pt idx="286">
                  <c:v>-7.6464000000000004E-2</c:v>
                </c:pt>
                <c:pt idx="287">
                  <c:v>-0.23476</c:v>
                </c:pt>
                <c:pt idx="288">
                  <c:v>-0.21149799999999999</c:v>
                </c:pt>
                <c:pt idx="289">
                  <c:v>-2.4731E-2</c:v>
                </c:pt>
                <c:pt idx="290">
                  <c:v>0.180924</c:v>
                </c:pt>
                <c:pt idx="291">
                  <c:v>0.24624799999999999</c:v>
                </c:pt>
                <c:pt idx="292">
                  <c:v>0.120675</c:v>
                </c:pt>
                <c:pt idx="293">
                  <c:v>-9.8576999999999998E-2</c:v>
                </c:pt>
                <c:pt idx="294">
                  <c:v>-0.241785</c:v>
                </c:pt>
                <c:pt idx="295">
                  <c:v>-0.19811200000000001</c:v>
                </c:pt>
                <c:pt idx="296">
                  <c:v>-1.389E-3</c:v>
                </c:pt>
                <c:pt idx="297">
                  <c:v>0.19609499999999999</c:v>
                </c:pt>
                <c:pt idx="298">
                  <c:v>0.24149599999999999</c:v>
                </c:pt>
                <c:pt idx="299">
                  <c:v>9.9728999999999998E-2</c:v>
                </c:pt>
                <c:pt idx="300">
                  <c:v>-0.119407</c:v>
                </c:pt>
                <c:pt idx="301">
                  <c:v>-0.246254</c:v>
                </c:pt>
                <c:pt idx="302">
                  <c:v>-0.18262999999999999</c:v>
                </c:pt>
                <c:pt idx="303">
                  <c:v>2.2197999999999999E-2</c:v>
                </c:pt>
                <c:pt idx="304">
                  <c:v>0.20969599999999999</c:v>
                </c:pt>
                <c:pt idx="305">
                  <c:v>0.23480999999999999</c:v>
                </c:pt>
                <c:pt idx="306">
                  <c:v>7.8217999999999996E-2</c:v>
                </c:pt>
                <c:pt idx="307">
                  <c:v>-0.13877800000000001</c:v>
                </c:pt>
                <c:pt idx="308">
                  <c:v>-0.24821599999999999</c:v>
                </c:pt>
                <c:pt idx="309">
                  <c:v>-0.16549</c:v>
                </c:pt>
                <c:pt idx="310">
                  <c:v>4.5238E-2</c:v>
                </c:pt>
                <c:pt idx="311">
                  <c:v>0.22082599999999999</c:v>
                </c:pt>
                <c:pt idx="312">
                  <c:v>0.22550799999999999</c:v>
                </c:pt>
                <c:pt idx="313">
                  <c:v>5.5907999999999999E-2</c:v>
                </c:pt>
                <c:pt idx="314">
                  <c:v>-0.15657399999999999</c:v>
                </c:pt>
                <c:pt idx="315">
                  <c:v>-0.247779</c:v>
                </c:pt>
                <c:pt idx="316">
                  <c:v>-0.148063</c:v>
                </c:pt>
                <c:pt idx="317">
                  <c:v>6.3844999999999999E-2</c:v>
                </c:pt>
                <c:pt idx="318">
                  <c:v>0.222132</c:v>
                </c:pt>
                <c:pt idx="319">
                  <c:v>0.20280200000000001</c:v>
                </c:pt>
              </c:numCache>
            </c:numRef>
          </c:yVal>
          <c:smooth val="1"/>
          <c:extLst>
            <c:ext xmlns:c16="http://schemas.microsoft.com/office/drawing/2014/chart" uri="{C3380CC4-5D6E-409C-BE32-E72D297353CC}">
              <c16:uniqueId val="{00000000-3DE0-4DA9-A5CC-2D0FB0D35233}"/>
            </c:ext>
          </c:extLst>
        </c:ser>
        <c:ser>
          <c:idx val="1"/>
          <c:order val="1"/>
          <c:tx>
            <c:strRef>
              <c:f>Zero reference</c:f>
              <c:strCache>
                <c:ptCount val="1"/>
                <c:pt idx="0">
                  <c:v>Zero reference</c:v>
                </c:pt>
              </c:strCache>
            </c:strRef>
          </c:tx>
          <c:spPr>
            <a:ln w="9525" cap="rnd">
              <a:solidFill>
                <a:srgbClr val="BDCCD4"/>
              </a:solidFill>
              <a:prstDash val="solid"/>
              <a:round/>
            </a:ln>
          </c:spPr>
          <c:marker>
            <c:symbol val="none"/>
          </c:marker>
          <c:xVal>
            <c:numRef>
              <c:f>'Chart Data'!$C$2:$C$3</c:f>
              <c:numCache>
                <c:formatCode>General</c:formatCode>
                <c:ptCount val="2"/>
                <c:pt idx="0">
                  <c:v>0</c:v>
                </c:pt>
                <c:pt idx="1">
                  <c:v>8</c:v>
                </c:pt>
              </c:numCache>
            </c:numRef>
          </c:xVal>
          <c:yVal>
            <c:numRef>
              <c:f>'Chart Data'!$D$2:$D$3</c:f>
              <c:numCache>
                <c:formatCode>0.0</c:formatCode>
                <c:ptCount val="2"/>
                <c:pt idx="0">
                  <c:v>0</c:v>
                </c:pt>
                <c:pt idx="1">
                  <c:v>0</c:v>
                </c:pt>
              </c:numCache>
            </c:numRef>
          </c:yVal>
          <c:smooth val="1"/>
          <c:extLst>
            <c:ext xmlns:c16="http://schemas.microsoft.com/office/drawing/2014/chart" uri="{C3380CC4-5D6E-409C-BE32-E72D297353CC}">
              <c16:uniqueId val="{00000001-3DE0-4DA9-A5CC-2D0FB0D35233}"/>
            </c:ext>
          </c:extLst>
        </c:ser>
        <c:dLbls>
          <c:showLegendKey val="0"/>
          <c:showVal val="0"/>
          <c:showCatName val="0"/>
          <c:showSerName val="0"/>
          <c:showPercent val="0"/>
          <c:showBubbleSize val="0"/>
        </c:dLbls>
        <c:axId val="48650112"/>
        <c:axId val="48672768"/>
      </c:scatterChart>
      <c:valAx>
        <c:axId val="48650112"/>
        <c:scaling>
          <c:orientation val="minMax"/>
          <c:max val="8"/>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2"/>
      </c:valAx>
      <c:valAx>
        <c:axId val="48672768"/>
        <c:scaling>
          <c:orientation val="minMax"/>
          <c:max val="1.25"/>
          <c:min val="-1.25"/>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Amplitude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41462bdd-9f48-43f4-9072-cbd69f3dd595}"/>
      </c:ext>
    </c:extLst>
  </c:chart>
  <c:spPr>
    <a:solidFill>
      <a:srgbClr val="FFFFFF"/>
    </a:solidFill>
    <a:ln w="0">
      <a:noFill/>
    </a:ln>
  </c:spPr>
  <c:txPr>
    <a:bodyPr/>
    <a:lstStyle/>
    <a:p>
      <a:pPr>
        <a:defRPr lang="zh-CN"/>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RED mixture</c:f>
              <c:strCache>
                <c:ptCount val="1"/>
                <c:pt idx="0">
                  <c:v>RED mixture</c:v>
                </c:pt>
              </c:strCache>
            </c:strRef>
          </c:tx>
          <c:spPr>
            <a:ln w="23813" cap="rnd">
              <a:solidFill>
                <a:srgbClr val="BA4D42"/>
              </a:solidFill>
              <a:prstDash val="solid"/>
              <a:round/>
            </a:ln>
          </c:spPr>
          <c:marker>
            <c:symbol val="none"/>
          </c:marker>
          <c:xVal>
            <c:numRef>
              <c:f>'Chart Data'!$A$2:$A$302</c:f>
              <c:numCache>
                <c:formatCode>General</c:formatCode>
                <c:ptCount val="301"/>
                <c:pt idx="0">
                  <c:v>0</c:v>
                </c:pt>
                <c:pt idx="1">
                  <c:v>0.02</c:v>
                </c:pt>
                <c:pt idx="2">
                  <c:v>0.04</c:v>
                </c:pt>
                <c:pt idx="3">
                  <c:v>0.06</c:v>
                </c:pt>
                <c:pt idx="4">
                  <c:v>0.08</c:v>
                </c:pt>
                <c:pt idx="5">
                  <c:v>0.1</c:v>
                </c:pt>
                <c:pt idx="6">
                  <c:v>0.12</c:v>
                </c:pt>
                <c:pt idx="7">
                  <c:v>0.14000000000000001</c:v>
                </c:pt>
                <c:pt idx="8">
                  <c:v>0.16</c:v>
                </c:pt>
                <c:pt idx="9">
                  <c:v>0.18</c:v>
                </c:pt>
                <c:pt idx="10">
                  <c:v>0.2</c:v>
                </c:pt>
                <c:pt idx="11">
                  <c:v>0.22</c:v>
                </c:pt>
                <c:pt idx="12">
                  <c:v>0.24</c:v>
                </c:pt>
                <c:pt idx="13">
                  <c:v>0.26</c:v>
                </c:pt>
                <c:pt idx="14">
                  <c:v>0.28000000000000003</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0.56000000000000005</c:v>
                </c:pt>
                <c:pt idx="29">
                  <c:v>0.57999999999999996</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1.1000000000000001</c:v>
                </c:pt>
                <c:pt idx="56">
                  <c:v>1.1200000000000001</c:v>
                </c:pt>
                <c:pt idx="57">
                  <c:v>1.1399999999999999</c:v>
                </c:pt>
                <c:pt idx="58">
                  <c:v>1.1599999999999999</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2.1800000000000002</c:v>
                </c:pt>
                <c:pt idx="110">
                  <c:v>2.2000000000000002</c:v>
                </c:pt>
                <c:pt idx="111">
                  <c:v>2.2200000000000002</c:v>
                </c:pt>
                <c:pt idx="112">
                  <c:v>2.2400000000000002</c:v>
                </c:pt>
                <c:pt idx="113">
                  <c:v>2.2599999999999998</c:v>
                </c:pt>
                <c:pt idx="114">
                  <c:v>2.2799999999999998</c:v>
                </c:pt>
                <c:pt idx="115">
                  <c:v>2.2999999999999998</c:v>
                </c:pt>
                <c:pt idx="116">
                  <c:v>2.3199999999999998</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4.0199999999999996</c:v>
                </c:pt>
                <c:pt idx="202">
                  <c:v>4.04</c:v>
                </c:pt>
                <c:pt idx="203">
                  <c:v>4.0599999999999996</c:v>
                </c:pt>
                <c:pt idx="204">
                  <c:v>4.08</c:v>
                </c:pt>
                <c:pt idx="205">
                  <c:v>4.0999999999999996</c:v>
                </c:pt>
                <c:pt idx="206">
                  <c:v>4.12</c:v>
                </c:pt>
                <c:pt idx="207">
                  <c:v>4.1399999999999997</c:v>
                </c:pt>
                <c:pt idx="208">
                  <c:v>4.16</c:v>
                </c:pt>
                <c:pt idx="209">
                  <c:v>4.18</c:v>
                </c:pt>
                <c:pt idx="210">
                  <c:v>4.2</c:v>
                </c:pt>
                <c:pt idx="211">
                  <c:v>4.22</c:v>
                </c:pt>
                <c:pt idx="212">
                  <c:v>4.24</c:v>
                </c:pt>
                <c:pt idx="213">
                  <c:v>4.26</c:v>
                </c:pt>
                <c:pt idx="214">
                  <c:v>4.28</c:v>
                </c:pt>
                <c:pt idx="215">
                  <c:v>4.3</c:v>
                </c:pt>
                <c:pt idx="216">
                  <c:v>4.32</c:v>
                </c:pt>
                <c:pt idx="217">
                  <c:v>4.34</c:v>
                </c:pt>
                <c:pt idx="218">
                  <c:v>4.3600000000000003</c:v>
                </c:pt>
                <c:pt idx="219">
                  <c:v>4.38</c:v>
                </c:pt>
                <c:pt idx="220">
                  <c:v>4.4000000000000004</c:v>
                </c:pt>
                <c:pt idx="221">
                  <c:v>4.42</c:v>
                </c:pt>
                <c:pt idx="222">
                  <c:v>4.4400000000000004</c:v>
                </c:pt>
                <c:pt idx="223">
                  <c:v>4.46</c:v>
                </c:pt>
                <c:pt idx="224">
                  <c:v>4.4800000000000004</c:v>
                </c:pt>
                <c:pt idx="225">
                  <c:v>4.5</c:v>
                </c:pt>
                <c:pt idx="226">
                  <c:v>4.5199999999999996</c:v>
                </c:pt>
                <c:pt idx="227">
                  <c:v>4.54</c:v>
                </c:pt>
                <c:pt idx="228">
                  <c:v>4.5599999999999996</c:v>
                </c:pt>
                <c:pt idx="229">
                  <c:v>4.58</c:v>
                </c:pt>
                <c:pt idx="230">
                  <c:v>4.5999999999999996</c:v>
                </c:pt>
                <c:pt idx="231">
                  <c:v>4.62</c:v>
                </c:pt>
                <c:pt idx="232">
                  <c:v>4.6399999999999997</c:v>
                </c:pt>
                <c:pt idx="233">
                  <c:v>4.66</c:v>
                </c:pt>
                <c:pt idx="234">
                  <c:v>4.68</c:v>
                </c:pt>
                <c:pt idx="235">
                  <c:v>4.7</c:v>
                </c:pt>
                <c:pt idx="236">
                  <c:v>4.72</c:v>
                </c:pt>
                <c:pt idx="237">
                  <c:v>4.74</c:v>
                </c:pt>
                <c:pt idx="238">
                  <c:v>4.76</c:v>
                </c:pt>
                <c:pt idx="239">
                  <c:v>4.78</c:v>
                </c:pt>
                <c:pt idx="240">
                  <c:v>4.8</c:v>
                </c:pt>
                <c:pt idx="241">
                  <c:v>4.82</c:v>
                </c:pt>
                <c:pt idx="242">
                  <c:v>4.84</c:v>
                </c:pt>
                <c:pt idx="243">
                  <c:v>4.8600000000000003</c:v>
                </c:pt>
                <c:pt idx="244">
                  <c:v>4.88</c:v>
                </c:pt>
                <c:pt idx="245">
                  <c:v>4.9000000000000004</c:v>
                </c:pt>
                <c:pt idx="246">
                  <c:v>4.92</c:v>
                </c:pt>
                <c:pt idx="247">
                  <c:v>4.9400000000000004</c:v>
                </c:pt>
                <c:pt idx="248">
                  <c:v>4.96</c:v>
                </c:pt>
                <c:pt idx="249">
                  <c:v>4.9800000000000004</c:v>
                </c:pt>
                <c:pt idx="250">
                  <c:v>5</c:v>
                </c:pt>
                <c:pt idx="251">
                  <c:v>5.0199999999999996</c:v>
                </c:pt>
                <c:pt idx="252">
                  <c:v>5.04</c:v>
                </c:pt>
                <c:pt idx="253">
                  <c:v>5.0599999999999996</c:v>
                </c:pt>
                <c:pt idx="254">
                  <c:v>5.08</c:v>
                </c:pt>
                <c:pt idx="255">
                  <c:v>5.0999999999999996</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numCache>
            </c:numRef>
          </c:xVal>
          <c:yVal>
            <c:numRef>
              <c:f>'Chart Data'!$B$2:$B$302</c:f>
              <c:numCache>
                <c:formatCode>0.0</c:formatCode>
                <c:ptCount val="301"/>
                <c:pt idx="0">
                  <c:v>3.2892269999999999</c:v>
                </c:pt>
                <c:pt idx="1">
                  <c:v>3.5385550000000001</c:v>
                </c:pt>
                <c:pt idx="2">
                  <c:v>3.7785489999999999</c:v>
                </c:pt>
                <c:pt idx="3">
                  <c:v>4.0009350000000001</c:v>
                </c:pt>
                <c:pt idx="4">
                  <c:v>4.198518</c:v>
                </c:pt>
                <c:pt idx="5">
                  <c:v>4.3656100000000002</c:v>
                </c:pt>
                <c:pt idx="6">
                  <c:v>4.4983389999999996</c:v>
                </c:pt>
                <c:pt idx="7">
                  <c:v>4.5948130000000003</c:v>
                </c:pt>
                <c:pt idx="8">
                  <c:v>4.6551309999999999</c:v>
                </c:pt>
                <c:pt idx="9">
                  <c:v>4.6812399999999998</c:v>
                </c:pt>
                <c:pt idx="10">
                  <c:v>4.6766540000000001</c:v>
                </c:pt>
                <c:pt idx="11">
                  <c:v>4.6460670000000004</c:v>
                </c:pt>
                <c:pt idx="12">
                  <c:v>4.594894</c:v>
                </c:pt>
                <c:pt idx="13">
                  <c:v>4.5287810000000004</c:v>
                </c:pt>
                <c:pt idx="14">
                  <c:v>4.453125</c:v>
                </c:pt>
                <c:pt idx="15">
                  <c:v>4.3726570000000002</c:v>
                </c:pt>
                <c:pt idx="16">
                  <c:v>4.2911159999999997</c:v>
                </c:pt>
                <c:pt idx="17">
                  <c:v>4.2110349999999999</c:v>
                </c:pt>
                <c:pt idx="18">
                  <c:v>4.1336779999999997</c:v>
                </c:pt>
                <c:pt idx="19">
                  <c:v>4.0590970000000004</c:v>
                </c:pt>
                <c:pt idx="20">
                  <c:v>3.986332</c:v>
                </c:pt>
                <c:pt idx="21">
                  <c:v>3.9137110000000002</c:v>
                </c:pt>
                <c:pt idx="22">
                  <c:v>3.8392219999999999</c:v>
                </c:pt>
                <c:pt idx="23">
                  <c:v>3.760926</c:v>
                </c:pt>
                <c:pt idx="24">
                  <c:v>3.6773560000000001</c:v>
                </c:pt>
                <c:pt idx="25">
                  <c:v>3.5878760000000001</c:v>
                </c:pt>
                <c:pt idx="26">
                  <c:v>3.4929420000000002</c:v>
                </c:pt>
                <c:pt idx="27">
                  <c:v>3.3942649999999999</c:v>
                </c:pt>
                <c:pt idx="28">
                  <c:v>3.2948230000000001</c:v>
                </c:pt>
                <c:pt idx="29">
                  <c:v>3.1987459999999999</c:v>
                </c:pt>
                <c:pt idx="30">
                  <c:v>3.1110660000000001</c:v>
                </c:pt>
                <c:pt idx="31">
                  <c:v>3.0373570000000001</c:v>
                </c:pt>
                <c:pt idx="32">
                  <c:v>2.9832869999999998</c:v>
                </c:pt>
                <c:pt idx="33">
                  <c:v>2.9541369999999998</c:v>
                </c:pt>
                <c:pt idx="34">
                  <c:v>2.9543110000000001</c:v>
                </c:pt>
                <c:pt idx="35">
                  <c:v>2.9868999999999999</c:v>
                </c:pt>
                <c:pt idx="36">
                  <c:v>3.053321</c:v>
                </c:pt>
                <c:pt idx="37">
                  <c:v>3.153089</c:v>
                </c:pt>
                <c:pt idx="38">
                  <c:v>3.2837139999999998</c:v>
                </c:pt>
                <c:pt idx="39">
                  <c:v>3.4407700000000001</c:v>
                </c:pt>
                <c:pt idx="40">
                  <c:v>3.618106</c:v>
                </c:pt>
                <c:pt idx="41">
                  <c:v>3.8081969999999998</c:v>
                </c:pt>
                <c:pt idx="42">
                  <c:v>4.0026089999999996</c:v>
                </c:pt>
                <c:pt idx="43">
                  <c:v>4.1925319999999999</c:v>
                </c:pt>
                <c:pt idx="44">
                  <c:v>4.3693489999999997</c:v>
                </c:pt>
                <c:pt idx="45">
                  <c:v>4.5251840000000003</c:v>
                </c:pt>
                <c:pt idx="46">
                  <c:v>4.6533980000000001</c:v>
                </c:pt>
                <c:pt idx="47">
                  <c:v>4.7489780000000001</c:v>
                </c:pt>
                <c:pt idx="48">
                  <c:v>4.8087989999999996</c:v>
                </c:pt>
                <c:pt idx="49">
                  <c:v>4.8317379999999996</c:v>
                </c:pt>
                <c:pt idx="50">
                  <c:v>4.8186309999999999</c:v>
                </c:pt>
                <c:pt idx="51">
                  <c:v>4.7720849999999997</c:v>
                </c:pt>
                <c:pt idx="52">
                  <c:v>4.6961550000000001</c:v>
                </c:pt>
                <c:pt idx="53">
                  <c:v>4.5959289999999999</c:v>
                </c:pt>
                <c:pt idx="54">
                  <c:v>4.477055</c:v>
                </c:pt>
                <c:pt idx="55">
                  <c:v>4.3452469999999996</c:v>
                </c:pt>
                <c:pt idx="56">
                  <c:v>4.2058220000000004</c:v>
                </c:pt>
                <c:pt idx="57">
                  <c:v>4.0633119999999998</c:v>
                </c:pt>
                <c:pt idx="58">
                  <c:v>3.9211689999999999</c:v>
                </c:pt>
                <c:pt idx="59">
                  <c:v>3.7816040000000002</c:v>
                </c:pt>
                <c:pt idx="60">
                  <c:v>3.645559</c:v>
                </c:pt>
                <c:pt idx="61">
                  <c:v>3.5128180000000002</c:v>
                </c:pt>
                <c:pt idx="62">
                  <c:v>3.3822420000000002</c:v>
                </c:pt>
                <c:pt idx="63">
                  <c:v>3.252094</c:v>
                </c:pt>
                <c:pt idx="64">
                  <c:v>3.1204339999999999</c:v>
                </c:pt>
                <c:pt idx="65">
                  <c:v>2.9855269999999998</c:v>
                </c:pt>
                <c:pt idx="66">
                  <c:v>2.8462360000000002</c:v>
                </c:pt>
                <c:pt idx="67">
                  <c:v>2.7023519999999999</c:v>
                </c:pt>
                <c:pt idx="68">
                  <c:v>2.5548229999999998</c:v>
                </c:pt>
                <c:pt idx="69">
                  <c:v>2.405869</c:v>
                </c:pt>
                <c:pt idx="70">
                  <c:v>2.258953</c:v>
                </c:pt>
                <c:pt idx="71">
                  <c:v>2.118617</c:v>
                </c:pt>
                <c:pt idx="72">
                  <c:v>1.9901949999999999</c:v>
                </c:pt>
                <c:pt idx="73">
                  <c:v>1.8794139999999999</c:v>
                </c:pt>
                <c:pt idx="74">
                  <c:v>1.7919400000000001</c:v>
                </c:pt>
                <c:pt idx="75">
                  <c:v>1.73288</c:v>
                </c:pt>
                <c:pt idx="76">
                  <c:v>1.7063079999999999</c:v>
                </c:pt>
                <c:pt idx="77">
                  <c:v>1.7148540000000001</c:v>
                </c:pt>
                <c:pt idx="78">
                  <c:v>1.7593760000000001</c:v>
                </c:pt>
                <c:pt idx="79">
                  <c:v>1.8387770000000001</c:v>
                </c:pt>
                <c:pt idx="80">
                  <c:v>1.9499580000000001</c:v>
                </c:pt>
                <c:pt idx="81">
                  <c:v>2.087933</c:v>
                </c:pt>
                <c:pt idx="82">
                  <c:v>2.246092</c:v>
                </c:pt>
                <c:pt idx="83">
                  <c:v>2.4165890000000001</c:v>
                </c:pt>
                <c:pt idx="84">
                  <c:v>2.5908389999999999</c:v>
                </c:pt>
                <c:pt idx="85">
                  <c:v>2.760065</c:v>
                </c:pt>
                <c:pt idx="86">
                  <c:v>2.9158650000000002</c:v>
                </c:pt>
                <c:pt idx="87">
                  <c:v>3.0507499999999999</c:v>
                </c:pt>
                <c:pt idx="88">
                  <c:v>3.1586050000000001</c:v>
                </c:pt>
                <c:pt idx="89">
                  <c:v>3.235039</c:v>
                </c:pt>
                <c:pt idx="90">
                  <c:v>3.277603</c:v>
                </c:pt>
                <c:pt idx="91">
                  <c:v>3.2858480000000001</c:v>
                </c:pt>
                <c:pt idx="92">
                  <c:v>3.261231</c:v>
                </c:pt>
                <c:pt idx="93">
                  <c:v>3.2068829999999999</c:v>
                </c:pt>
                <c:pt idx="94">
                  <c:v>3.1272500000000001</c:v>
                </c:pt>
                <c:pt idx="95">
                  <c:v>3.0276519999999998</c:v>
                </c:pt>
                <c:pt idx="96">
                  <c:v>2.913802</c:v>
                </c:pt>
                <c:pt idx="97">
                  <c:v>2.7913130000000002</c:v>
                </c:pt>
                <c:pt idx="98">
                  <c:v>2.6652610000000001</c:v>
                </c:pt>
                <c:pt idx="99">
                  <c:v>2.539819</c:v>
                </c:pt>
                <c:pt idx="100">
                  <c:v>2.4180100000000002</c:v>
                </c:pt>
                <c:pt idx="101">
                  <c:v>2.3015850000000002</c:v>
                </c:pt>
                <c:pt idx="102">
                  <c:v>2.1910470000000002</c:v>
                </c:pt>
                <c:pt idx="103">
                  <c:v>2.085801</c:v>
                </c:pt>
                <c:pt idx="104">
                  <c:v>1.984426</c:v>
                </c:pt>
                <c:pt idx="105">
                  <c:v>1.885024</c:v>
                </c:pt>
                <c:pt idx="106">
                  <c:v>1.785628</c:v>
                </c:pt>
                <c:pt idx="107">
                  <c:v>1.6846080000000001</c:v>
                </c:pt>
                <c:pt idx="108">
                  <c:v>1.5810470000000001</c:v>
                </c:pt>
                <c:pt idx="109">
                  <c:v>1.475041</c:v>
                </c:pt>
                <c:pt idx="110">
                  <c:v>1.367893</c:v>
                </c:pt>
                <c:pt idx="111">
                  <c:v>1.2621800000000001</c:v>
                </c:pt>
                <c:pt idx="112">
                  <c:v>1.16168</c:v>
                </c:pt>
                <c:pt idx="113">
                  <c:v>1.071164</c:v>
                </c:pt>
                <c:pt idx="114">
                  <c:v>0.99607100000000004</c:v>
                </c:pt>
                <c:pt idx="115">
                  <c:v>0.94208400000000003</c:v>
                </c:pt>
                <c:pt idx="116">
                  <c:v>0.914655</c:v>
                </c:pt>
                <c:pt idx="117">
                  <c:v>0.918516</c:v>
                </c:pt>
                <c:pt idx="118">
                  <c:v>0.95721699999999998</c:v>
                </c:pt>
                <c:pt idx="119">
                  <c:v>1.03274</c:v>
                </c:pt>
                <c:pt idx="120">
                  <c:v>1.1452169999999999</c:v>
                </c:pt>
                <c:pt idx="121">
                  <c:v>1.292789</c:v>
                </c:pt>
                <c:pt idx="122">
                  <c:v>1.471616</c:v>
                </c:pt>
                <c:pt idx="123">
                  <c:v>1.6760409999999999</c:v>
                </c:pt>
                <c:pt idx="124">
                  <c:v>1.8988970000000001</c:v>
                </c:pt>
                <c:pt idx="125">
                  <c:v>2.1319370000000002</c:v>
                </c:pt>
                <c:pt idx="126">
                  <c:v>2.366352</c:v>
                </c:pt>
                <c:pt idx="127">
                  <c:v>2.5933290000000002</c:v>
                </c:pt>
                <c:pt idx="128">
                  <c:v>2.8046139999999999</c:v>
                </c:pt>
                <c:pt idx="129">
                  <c:v>2.9930289999999999</c:v>
                </c:pt>
                <c:pt idx="130">
                  <c:v>3.1529029999999998</c:v>
                </c:pt>
                <c:pt idx="131">
                  <c:v>3.2803740000000001</c:v>
                </c:pt>
                <c:pt idx="132">
                  <c:v>3.3735599999999999</c:v>
                </c:pt>
                <c:pt idx="133">
                  <c:v>3.4325649999999999</c:v>
                </c:pt>
                <c:pt idx="134">
                  <c:v>3.4593370000000001</c:v>
                </c:pt>
                <c:pt idx="135">
                  <c:v>3.457389</c:v>
                </c:pt>
                <c:pt idx="136">
                  <c:v>3.4314119999999999</c:v>
                </c:pt>
                <c:pt idx="137">
                  <c:v>3.3868130000000001</c:v>
                </c:pt>
                <c:pt idx="138">
                  <c:v>3.3292269999999999</c:v>
                </c:pt>
                <c:pt idx="139">
                  <c:v>3.2640370000000001</c:v>
                </c:pt>
                <c:pt idx="140">
                  <c:v>3.1959590000000002</c:v>
                </c:pt>
                <c:pt idx="141">
                  <c:v>3.128708</c:v>
                </c:pt>
                <c:pt idx="142">
                  <c:v>3.0647989999999998</c:v>
                </c:pt>
                <c:pt idx="143">
                  <c:v>3.0054660000000002</c:v>
                </c:pt>
                <c:pt idx="144">
                  <c:v>2.9507330000000001</c:v>
                </c:pt>
                <c:pt idx="145">
                  <c:v>2.8996089999999999</c:v>
                </c:pt>
                <c:pt idx="146">
                  <c:v>2.8503850000000002</c:v>
                </c:pt>
                <c:pt idx="147">
                  <c:v>2.8010130000000002</c:v>
                </c:pt>
                <c:pt idx="148">
                  <c:v>2.7495120000000002</c:v>
                </c:pt>
                <c:pt idx="149">
                  <c:v>2.6943730000000001</c:v>
                </c:pt>
                <c:pt idx="150">
                  <c:v>2.6349119999999999</c:v>
                </c:pt>
                <c:pt idx="151">
                  <c:v>2.571539</c:v>
                </c:pt>
                <c:pt idx="152">
                  <c:v>2.5059119999999999</c:v>
                </c:pt>
                <c:pt idx="153">
                  <c:v>2.4409559999999999</c:v>
                </c:pt>
                <c:pt idx="154">
                  <c:v>2.3807459999999998</c:v>
                </c:pt>
                <c:pt idx="155">
                  <c:v>2.3302559999999999</c:v>
                </c:pt>
                <c:pt idx="156">
                  <c:v>2.2949989999999998</c:v>
                </c:pt>
                <c:pt idx="157">
                  <c:v>2.2805819999999999</c:v>
                </c:pt>
                <c:pt idx="158">
                  <c:v>2.2922199999999999</c:v>
                </c:pt>
                <c:pt idx="159">
                  <c:v>2.3342529999999999</c:v>
                </c:pt>
                <c:pt idx="160">
                  <c:v>2.4097029999999999</c:v>
                </c:pt>
                <c:pt idx="161">
                  <c:v>2.5199189999999998</c:v>
                </c:pt>
                <c:pt idx="162">
                  <c:v>2.6643430000000001</c:v>
                </c:pt>
                <c:pt idx="163">
                  <c:v>2.8404150000000001</c:v>
                </c:pt>
                <c:pt idx="164">
                  <c:v>3.0436350000000001</c:v>
                </c:pt>
                <c:pt idx="165">
                  <c:v>3.2677770000000002</c:v>
                </c:pt>
                <c:pt idx="166">
                  <c:v>3.5052409999999998</c:v>
                </c:pt>
                <c:pt idx="167">
                  <c:v>3.7475149999999999</c:v>
                </c:pt>
                <c:pt idx="168">
                  <c:v>3.9857119999999999</c:v>
                </c:pt>
                <c:pt idx="169">
                  <c:v>4.211138</c:v>
                </c:pt>
                <c:pt idx="170">
                  <c:v>4.4158379999999999</c:v>
                </c:pt>
                <c:pt idx="171">
                  <c:v>4.5930939999999998</c:v>
                </c:pt>
                <c:pt idx="172">
                  <c:v>4.7378130000000001</c:v>
                </c:pt>
                <c:pt idx="173">
                  <c:v>4.8467909999999996</c:v>
                </c:pt>
                <c:pt idx="174">
                  <c:v>4.918825</c:v>
                </c:pt>
                <c:pt idx="175">
                  <c:v>4.9546729999999997</c:v>
                </c:pt>
                <c:pt idx="176">
                  <c:v>4.9568620000000001</c:v>
                </c:pt>
                <c:pt idx="177">
                  <c:v>4.9293680000000002</c:v>
                </c:pt>
                <c:pt idx="178">
                  <c:v>4.8772019999999996</c:v>
                </c:pt>
                <c:pt idx="179">
                  <c:v>4.8059320000000003</c:v>
                </c:pt>
                <c:pt idx="180">
                  <c:v>4.7211959999999999</c:v>
                </c:pt>
                <c:pt idx="181">
                  <c:v>4.6282360000000002</c:v>
                </c:pt>
                <c:pt idx="182">
                  <c:v>4.5315079999999996</c:v>
                </c:pt>
                <c:pt idx="183">
                  <c:v>4.4343899999999996</c:v>
                </c:pt>
                <c:pt idx="184">
                  <c:v>4.3390199999999997</c:v>
                </c:pt>
                <c:pt idx="185">
                  <c:v>4.2462689999999998</c:v>
                </c:pt>
                <c:pt idx="186">
                  <c:v>4.1558510000000002</c:v>
                </c:pt>
                <c:pt idx="187">
                  <c:v>4.0665570000000004</c:v>
                </c:pt>
                <c:pt idx="188">
                  <c:v>3.9765860000000002</c:v>
                </c:pt>
                <c:pt idx="189">
                  <c:v>3.883931</c:v>
                </c:pt>
                <c:pt idx="190">
                  <c:v>3.786794</c:v>
                </c:pt>
                <c:pt idx="191">
                  <c:v>3.6839780000000002</c:v>
                </c:pt>
                <c:pt idx="192">
                  <c:v>3.575215</c:v>
                </c:pt>
                <c:pt idx="193">
                  <c:v>3.4613960000000001</c:v>
                </c:pt>
                <c:pt idx="194">
                  <c:v>3.3446859999999998</c:v>
                </c:pt>
                <c:pt idx="195">
                  <c:v>3.2284950000000001</c:v>
                </c:pt>
                <c:pt idx="196">
                  <c:v>3.117318</c:v>
                </c:pt>
                <c:pt idx="197">
                  <c:v>3.0164390000000001</c:v>
                </c:pt>
                <c:pt idx="198">
                  <c:v>2.931543</c:v>
                </c:pt>
                <c:pt idx="199">
                  <c:v>2.868252</c:v>
                </c:pt>
                <c:pt idx="200">
                  <c:v>2.8316340000000002</c:v>
                </c:pt>
                <c:pt idx="201">
                  <c:v>2.8257289999999999</c:v>
                </c:pt>
                <c:pt idx="202">
                  <c:v>2.8531309999999999</c:v>
                </c:pt>
                <c:pt idx="203">
                  <c:v>2.914669</c:v>
                </c:pt>
                <c:pt idx="204">
                  <c:v>3.0092189999999999</c:v>
                </c:pt>
                <c:pt idx="205">
                  <c:v>3.1336560000000002</c:v>
                </c:pt>
                <c:pt idx="206">
                  <c:v>3.2829730000000001</c:v>
                </c:pt>
                <c:pt idx="207">
                  <c:v>3.4505409999999999</c:v>
                </c:pt>
                <c:pt idx="208">
                  <c:v>3.628501</c:v>
                </c:pt>
                <c:pt idx="209">
                  <c:v>3.8082539999999998</c:v>
                </c:pt>
                <c:pt idx="210">
                  <c:v>3.9810140000000001</c:v>
                </c:pt>
                <c:pt idx="211">
                  <c:v>4.1383749999999999</c:v>
                </c:pt>
                <c:pt idx="212">
                  <c:v>4.2728440000000001</c:v>
                </c:pt>
                <c:pt idx="213">
                  <c:v>4.3783070000000004</c:v>
                </c:pt>
                <c:pt idx="214">
                  <c:v>4.4503779999999997</c:v>
                </c:pt>
                <c:pt idx="215">
                  <c:v>4.4866130000000002</c:v>
                </c:pt>
                <c:pt idx="216">
                  <c:v>4.4865740000000001</c:v>
                </c:pt>
                <c:pt idx="217">
                  <c:v>4.4517319999999998</c:v>
                </c:pt>
                <c:pt idx="218">
                  <c:v>4.3852349999999998</c:v>
                </c:pt>
                <c:pt idx="219">
                  <c:v>4.2915469999999996</c:v>
                </c:pt>
                <c:pt idx="220">
                  <c:v>4.1760120000000001</c:v>
                </c:pt>
                <c:pt idx="221">
                  <c:v>4.0443670000000003</c:v>
                </c:pt>
                <c:pt idx="222">
                  <c:v>3.9022559999999999</c:v>
                </c:pt>
                <c:pt idx="223">
                  <c:v>3.7547860000000002</c:v>
                </c:pt>
                <c:pt idx="224">
                  <c:v>3.6061649999999998</c:v>
                </c:pt>
                <c:pt idx="225">
                  <c:v>3.4594520000000002</c:v>
                </c:pt>
                <c:pt idx="226">
                  <c:v>3.3164389999999999</c:v>
                </c:pt>
                <c:pt idx="227">
                  <c:v>3.177673</c:v>
                </c:pt>
                <c:pt idx="228">
                  <c:v>3.0426030000000002</c:v>
                </c:pt>
                <c:pt idx="229">
                  <c:v>2.9098570000000001</c:v>
                </c:pt>
                <c:pt idx="230">
                  <c:v>2.7775880000000002</c:v>
                </c:pt>
                <c:pt idx="231">
                  <c:v>2.6438820000000001</c:v>
                </c:pt>
                <c:pt idx="232">
                  <c:v>2.5071650000000001</c:v>
                </c:pt>
                <c:pt idx="233">
                  <c:v>2.3665759999999998</c:v>
                </c:pt>
                <c:pt idx="234">
                  <c:v>2.2222719999999998</c:v>
                </c:pt>
                <c:pt idx="235">
                  <c:v>2.075618</c:v>
                </c:pt>
                <c:pt idx="236">
                  <c:v>1.9292549999999999</c:v>
                </c:pt>
                <c:pt idx="237">
                  <c:v>1.787026</c:v>
                </c:pt>
                <c:pt idx="238">
                  <c:v>1.653772</c:v>
                </c:pt>
                <c:pt idx="239">
                  <c:v>1.5349969999999999</c:v>
                </c:pt>
                <c:pt idx="240">
                  <c:v>1.436456</c:v>
                </c:pt>
                <c:pt idx="241">
                  <c:v>1.363675</c:v>
                </c:pt>
                <c:pt idx="242">
                  <c:v>1.321458</c:v>
                </c:pt>
                <c:pt idx="243">
                  <c:v>1.313429</c:v>
                </c:pt>
                <c:pt idx="244">
                  <c:v>1.3416459999999999</c:v>
                </c:pt>
                <c:pt idx="245">
                  <c:v>1.406318</c:v>
                </c:pt>
                <c:pt idx="246">
                  <c:v>1.505663</c:v>
                </c:pt>
                <c:pt idx="247">
                  <c:v>1.6359189999999999</c:v>
                </c:pt>
                <c:pt idx="248">
                  <c:v>1.791506</c:v>
                </c:pt>
                <c:pt idx="249">
                  <c:v>1.9653389999999999</c:v>
                </c:pt>
                <c:pt idx="250">
                  <c:v>2.149248</c:v>
                </c:pt>
                <c:pt idx="251">
                  <c:v>2.3345030000000002</c:v>
                </c:pt>
                <c:pt idx="252">
                  <c:v>2.512372</c:v>
                </c:pt>
                <c:pt idx="253">
                  <c:v>2.6746799999999999</c:v>
                </c:pt>
                <c:pt idx="254">
                  <c:v>2.8143289999999999</c:v>
                </c:pt>
                <c:pt idx="255">
                  <c:v>2.9257249999999999</c:v>
                </c:pt>
                <c:pt idx="256">
                  <c:v>3.0050849999999998</c:v>
                </c:pt>
                <c:pt idx="257">
                  <c:v>3.0506060000000002</c:v>
                </c:pt>
                <c:pt idx="258">
                  <c:v>3.062468</c:v>
                </c:pt>
                <c:pt idx="259">
                  <c:v>3.0426950000000001</c:v>
                </c:pt>
                <c:pt idx="260">
                  <c:v>2.994875</c:v>
                </c:pt>
                <c:pt idx="261">
                  <c:v>2.923775</c:v>
                </c:pt>
                <c:pt idx="262">
                  <c:v>2.8348740000000001</c:v>
                </c:pt>
                <c:pt idx="263">
                  <c:v>2.7338770000000001</c:v>
                </c:pt>
                <c:pt idx="264">
                  <c:v>2.6262400000000001</c:v>
                </c:pt>
                <c:pt idx="265">
                  <c:v>2.5167449999999998</c:v>
                </c:pt>
                <c:pt idx="266">
                  <c:v>2.409176</c:v>
                </c:pt>
                <c:pt idx="267">
                  <c:v>2.3061120000000002</c:v>
                </c:pt>
                <c:pt idx="268">
                  <c:v>2.20885</c:v>
                </c:pt>
                <c:pt idx="269">
                  <c:v>2.1174770000000001</c:v>
                </c:pt>
                <c:pt idx="270">
                  <c:v>2.0310600000000001</c:v>
                </c:pt>
                <c:pt idx="271">
                  <c:v>1.9479470000000001</c:v>
                </c:pt>
                <c:pt idx="272">
                  <c:v>1.8661449999999999</c:v>
                </c:pt>
                <c:pt idx="273">
                  <c:v>1.7837259999999999</c:v>
                </c:pt>
                <c:pt idx="274">
                  <c:v>1.69923</c:v>
                </c:pt>
                <c:pt idx="275">
                  <c:v>1.6120209999999999</c:v>
                </c:pt>
                <c:pt idx="276">
                  <c:v>1.522554</c:v>
                </c:pt>
                <c:pt idx="277">
                  <c:v>1.4325289999999999</c:v>
                </c:pt>
                <c:pt idx="278">
                  <c:v>1.344911</c:v>
                </c:pt>
                <c:pt idx="279">
                  <c:v>1.2638100000000001</c:v>
                </c:pt>
                <c:pt idx="280">
                  <c:v>1.1942360000000001</c:v>
                </c:pt>
                <c:pt idx="281">
                  <c:v>1.1417310000000001</c:v>
                </c:pt>
                <c:pt idx="282">
                  <c:v>1.111931</c:v>
                </c:pt>
                <c:pt idx="283">
                  <c:v>1.1100749999999999</c:v>
                </c:pt>
                <c:pt idx="284">
                  <c:v>1.1405259999999999</c:v>
                </c:pt>
                <c:pt idx="285">
                  <c:v>1.206323</c:v>
                </c:pt>
                <c:pt idx="286">
                  <c:v>1.3088329999999999</c:v>
                </c:pt>
                <c:pt idx="287">
                  <c:v>1.447508</c:v>
                </c:pt>
                <c:pt idx="288">
                  <c:v>1.619799</c:v>
                </c:pt>
                <c:pt idx="289">
                  <c:v>1.8212120000000001</c:v>
                </c:pt>
                <c:pt idx="290">
                  <c:v>2.0455220000000001</c:v>
                </c:pt>
                <c:pt idx="291">
                  <c:v>2.2851309999999998</c:v>
                </c:pt>
                <c:pt idx="292">
                  <c:v>2.531523</c:v>
                </c:pt>
                <c:pt idx="293">
                  <c:v>2.7758039999999999</c:v>
                </c:pt>
                <c:pt idx="294">
                  <c:v>3.0092690000000002</c:v>
                </c:pt>
                <c:pt idx="295">
                  <c:v>3.2239529999999998</c:v>
                </c:pt>
                <c:pt idx="296">
                  <c:v>3.413119</c:v>
                </c:pt>
                <c:pt idx="297">
                  <c:v>3.5716559999999999</c:v>
                </c:pt>
                <c:pt idx="298">
                  <c:v>3.6963370000000002</c:v>
                </c:pt>
                <c:pt idx="299">
                  <c:v>3.7859349999999998</c:v>
                </c:pt>
                <c:pt idx="300">
                  <c:v>3.8411780000000002</c:v>
                </c:pt>
              </c:numCache>
            </c:numRef>
          </c:yVal>
          <c:smooth val="1"/>
          <c:extLst>
            <c:ext xmlns:c16="http://schemas.microsoft.com/office/drawing/2014/chart" uri="{C3380CC4-5D6E-409C-BE32-E72D297353CC}">
              <c16:uniqueId val="{00000000-44EF-4EBC-B01D-F490827F4710}"/>
            </c:ext>
          </c:extLst>
        </c:ser>
        <c:ser>
          <c:idx val="1"/>
          <c:order val="1"/>
          <c:tx>
            <c:strRef>
              <c:f>IR mixture</c:f>
              <c:strCache>
                <c:ptCount val="1"/>
                <c:pt idx="0">
                  <c:v>IR mixture</c:v>
                </c:pt>
              </c:strCache>
            </c:strRef>
          </c:tx>
          <c:spPr>
            <a:ln w="23813" cap="rnd">
              <a:solidFill>
                <a:srgbClr val="7056A8"/>
              </a:solidFill>
              <a:prstDash val="solid"/>
              <a:round/>
            </a:ln>
          </c:spPr>
          <c:marker>
            <c:symbol val="none"/>
          </c:marker>
          <c:xVal>
            <c:numRef>
              <c:f>'Chart Data'!$C$2:$C$302</c:f>
              <c:numCache>
                <c:formatCode>General</c:formatCode>
                <c:ptCount val="301"/>
                <c:pt idx="0">
                  <c:v>0</c:v>
                </c:pt>
                <c:pt idx="1">
                  <c:v>0.02</c:v>
                </c:pt>
                <c:pt idx="2">
                  <c:v>0.04</c:v>
                </c:pt>
                <c:pt idx="3">
                  <c:v>0.06</c:v>
                </c:pt>
                <c:pt idx="4">
                  <c:v>0.08</c:v>
                </c:pt>
                <c:pt idx="5">
                  <c:v>0.1</c:v>
                </c:pt>
                <c:pt idx="6">
                  <c:v>0.12</c:v>
                </c:pt>
                <c:pt idx="7">
                  <c:v>0.14000000000000001</c:v>
                </c:pt>
                <c:pt idx="8">
                  <c:v>0.16</c:v>
                </c:pt>
                <c:pt idx="9">
                  <c:v>0.18</c:v>
                </c:pt>
                <c:pt idx="10">
                  <c:v>0.2</c:v>
                </c:pt>
                <c:pt idx="11">
                  <c:v>0.22</c:v>
                </c:pt>
                <c:pt idx="12">
                  <c:v>0.24</c:v>
                </c:pt>
                <c:pt idx="13">
                  <c:v>0.26</c:v>
                </c:pt>
                <c:pt idx="14">
                  <c:v>0.28000000000000003</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0.56000000000000005</c:v>
                </c:pt>
                <c:pt idx="29">
                  <c:v>0.57999999999999996</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1.1000000000000001</c:v>
                </c:pt>
                <c:pt idx="56">
                  <c:v>1.1200000000000001</c:v>
                </c:pt>
                <c:pt idx="57">
                  <c:v>1.1399999999999999</c:v>
                </c:pt>
                <c:pt idx="58">
                  <c:v>1.1599999999999999</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2.1800000000000002</c:v>
                </c:pt>
                <c:pt idx="110">
                  <c:v>2.2000000000000002</c:v>
                </c:pt>
                <c:pt idx="111">
                  <c:v>2.2200000000000002</c:v>
                </c:pt>
                <c:pt idx="112">
                  <c:v>2.2400000000000002</c:v>
                </c:pt>
                <c:pt idx="113">
                  <c:v>2.2599999999999998</c:v>
                </c:pt>
                <c:pt idx="114">
                  <c:v>2.2799999999999998</c:v>
                </c:pt>
                <c:pt idx="115">
                  <c:v>2.2999999999999998</c:v>
                </c:pt>
                <c:pt idx="116">
                  <c:v>2.3199999999999998</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4.0199999999999996</c:v>
                </c:pt>
                <c:pt idx="202">
                  <c:v>4.04</c:v>
                </c:pt>
                <c:pt idx="203">
                  <c:v>4.0599999999999996</c:v>
                </c:pt>
                <c:pt idx="204">
                  <c:v>4.08</c:v>
                </c:pt>
                <c:pt idx="205">
                  <c:v>4.0999999999999996</c:v>
                </c:pt>
                <c:pt idx="206">
                  <c:v>4.12</c:v>
                </c:pt>
                <c:pt idx="207">
                  <c:v>4.1399999999999997</c:v>
                </c:pt>
                <c:pt idx="208">
                  <c:v>4.16</c:v>
                </c:pt>
                <c:pt idx="209">
                  <c:v>4.18</c:v>
                </c:pt>
                <c:pt idx="210">
                  <c:v>4.2</c:v>
                </c:pt>
                <c:pt idx="211">
                  <c:v>4.22</c:v>
                </c:pt>
                <c:pt idx="212">
                  <c:v>4.24</c:v>
                </c:pt>
                <c:pt idx="213">
                  <c:v>4.26</c:v>
                </c:pt>
                <c:pt idx="214">
                  <c:v>4.28</c:v>
                </c:pt>
                <c:pt idx="215">
                  <c:v>4.3</c:v>
                </c:pt>
                <c:pt idx="216">
                  <c:v>4.32</c:v>
                </c:pt>
                <c:pt idx="217">
                  <c:v>4.34</c:v>
                </c:pt>
                <c:pt idx="218">
                  <c:v>4.3600000000000003</c:v>
                </c:pt>
                <c:pt idx="219">
                  <c:v>4.38</c:v>
                </c:pt>
                <c:pt idx="220">
                  <c:v>4.4000000000000004</c:v>
                </c:pt>
                <c:pt idx="221">
                  <c:v>4.42</c:v>
                </c:pt>
                <c:pt idx="222">
                  <c:v>4.4400000000000004</c:v>
                </c:pt>
                <c:pt idx="223">
                  <c:v>4.46</c:v>
                </c:pt>
                <c:pt idx="224">
                  <c:v>4.4800000000000004</c:v>
                </c:pt>
                <c:pt idx="225">
                  <c:v>4.5</c:v>
                </c:pt>
                <c:pt idx="226">
                  <c:v>4.5199999999999996</c:v>
                </c:pt>
                <c:pt idx="227">
                  <c:v>4.54</c:v>
                </c:pt>
                <c:pt idx="228">
                  <c:v>4.5599999999999996</c:v>
                </c:pt>
                <c:pt idx="229">
                  <c:v>4.58</c:v>
                </c:pt>
                <c:pt idx="230">
                  <c:v>4.5999999999999996</c:v>
                </c:pt>
                <c:pt idx="231">
                  <c:v>4.62</c:v>
                </c:pt>
                <c:pt idx="232">
                  <c:v>4.6399999999999997</c:v>
                </c:pt>
                <c:pt idx="233">
                  <c:v>4.66</c:v>
                </c:pt>
                <c:pt idx="234">
                  <c:v>4.68</c:v>
                </c:pt>
                <c:pt idx="235">
                  <c:v>4.7</c:v>
                </c:pt>
                <c:pt idx="236">
                  <c:v>4.72</c:v>
                </c:pt>
                <c:pt idx="237">
                  <c:v>4.74</c:v>
                </c:pt>
                <c:pt idx="238">
                  <c:v>4.76</c:v>
                </c:pt>
                <c:pt idx="239">
                  <c:v>4.78</c:v>
                </c:pt>
                <c:pt idx="240">
                  <c:v>4.8</c:v>
                </c:pt>
                <c:pt idx="241">
                  <c:v>4.82</c:v>
                </c:pt>
                <c:pt idx="242">
                  <c:v>4.84</c:v>
                </c:pt>
                <c:pt idx="243">
                  <c:v>4.8600000000000003</c:v>
                </c:pt>
                <c:pt idx="244">
                  <c:v>4.88</c:v>
                </c:pt>
                <c:pt idx="245">
                  <c:v>4.9000000000000004</c:v>
                </c:pt>
                <c:pt idx="246">
                  <c:v>4.92</c:v>
                </c:pt>
                <c:pt idx="247">
                  <c:v>4.9400000000000004</c:v>
                </c:pt>
                <c:pt idx="248">
                  <c:v>4.96</c:v>
                </c:pt>
                <c:pt idx="249">
                  <c:v>4.9800000000000004</c:v>
                </c:pt>
                <c:pt idx="250">
                  <c:v>5</c:v>
                </c:pt>
                <c:pt idx="251">
                  <c:v>5.0199999999999996</c:v>
                </c:pt>
                <c:pt idx="252">
                  <c:v>5.04</c:v>
                </c:pt>
                <c:pt idx="253">
                  <c:v>5.0599999999999996</c:v>
                </c:pt>
                <c:pt idx="254">
                  <c:v>5.08</c:v>
                </c:pt>
                <c:pt idx="255">
                  <c:v>5.0999999999999996</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numCache>
            </c:numRef>
          </c:xVal>
          <c:yVal>
            <c:numRef>
              <c:f>'Chart Data'!$D$2:$D$302</c:f>
              <c:numCache>
                <c:formatCode>0.0</c:formatCode>
                <c:ptCount val="301"/>
                <c:pt idx="0">
                  <c:v>-1.509388</c:v>
                </c:pt>
                <c:pt idx="1">
                  <c:v>-1.319105</c:v>
                </c:pt>
                <c:pt idx="2">
                  <c:v>-1.134998</c:v>
                </c:pt>
                <c:pt idx="3">
                  <c:v>-0.96209500000000003</c:v>
                </c:pt>
                <c:pt idx="4">
                  <c:v>-0.80477799999999999</c:v>
                </c:pt>
                <c:pt idx="5">
                  <c:v>-0.66652199999999995</c:v>
                </c:pt>
                <c:pt idx="6">
                  <c:v>-0.54971199999999998</c:v>
                </c:pt>
                <c:pt idx="7">
                  <c:v>-0.45554299999999998</c:v>
                </c:pt>
                <c:pt idx="8">
                  <c:v>-0.38401299999999999</c:v>
                </c:pt>
                <c:pt idx="9">
                  <c:v>-0.33401399999999998</c:v>
                </c:pt>
                <c:pt idx="10">
                  <c:v>-0.30349100000000001</c:v>
                </c:pt>
                <c:pt idx="11">
                  <c:v>-0.28968100000000002</c:v>
                </c:pt>
                <c:pt idx="12">
                  <c:v>-0.28938700000000001</c:v>
                </c:pt>
                <c:pt idx="13">
                  <c:v>-0.29927399999999998</c:v>
                </c:pt>
                <c:pt idx="14">
                  <c:v>-0.31614900000000001</c:v>
                </c:pt>
                <c:pt idx="15">
                  <c:v>-0.33722099999999999</c:v>
                </c:pt>
                <c:pt idx="16">
                  <c:v>-0.36029099999999997</c:v>
                </c:pt>
                <c:pt idx="17">
                  <c:v>-0.38387900000000003</c:v>
                </c:pt>
                <c:pt idx="18">
                  <c:v>-0.40726899999999999</c:v>
                </c:pt>
                <c:pt idx="19">
                  <c:v>-0.43046400000000001</c:v>
                </c:pt>
                <c:pt idx="20">
                  <c:v>-0.45407700000000001</c:v>
                </c:pt>
                <c:pt idx="21">
                  <c:v>-0.47914299999999999</c:v>
                </c:pt>
                <c:pt idx="22">
                  <c:v>-0.50689899999999999</c:v>
                </c:pt>
                <c:pt idx="23">
                  <c:v>-0.53853600000000001</c:v>
                </c:pt>
                <c:pt idx="24">
                  <c:v>-0.57495799999999997</c:v>
                </c:pt>
                <c:pt idx="25">
                  <c:v>-0.61657099999999998</c:v>
                </c:pt>
                <c:pt idx="26">
                  <c:v>-0.66311799999999999</c:v>
                </c:pt>
                <c:pt idx="27">
                  <c:v>-0.713592</c:v>
                </c:pt>
                <c:pt idx="28">
                  <c:v>-0.76621899999999998</c:v>
                </c:pt>
                <c:pt idx="29">
                  <c:v>-0.81853200000000004</c:v>
                </c:pt>
                <c:pt idx="30">
                  <c:v>-0.86752099999999999</c:v>
                </c:pt>
                <c:pt idx="31">
                  <c:v>-0.90984699999999996</c:v>
                </c:pt>
                <c:pt idx="32">
                  <c:v>-0.94211299999999998</c:v>
                </c:pt>
                <c:pt idx="33">
                  <c:v>-0.96114999999999995</c:v>
                </c:pt>
                <c:pt idx="34">
                  <c:v>-0.964314</c:v>
                </c:pt>
                <c:pt idx="35">
                  <c:v>-0.94974499999999995</c:v>
                </c:pt>
                <c:pt idx="36">
                  <c:v>-0.91658300000000004</c:v>
                </c:pt>
                <c:pt idx="37">
                  <c:v>-0.86511000000000005</c:v>
                </c:pt>
                <c:pt idx="38">
                  <c:v>-0.79680600000000001</c:v>
                </c:pt>
                <c:pt idx="39">
                  <c:v>-0.71431</c:v>
                </c:pt>
                <c:pt idx="40">
                  <c:v>-0.62129400000000001</c:v>
                </c:pt>
                <c:pt idx="41">
                  <c:v>-0.52224999999999999</c:v>
                </c:pt>
                <c:pt idx="42">
                  <c:v>-0.42221700000000001</c:v>
                </c:pt>
                <c:pt idx="43">
                  <c:v>-0.32645200000000002</c:v>
                </c:pt>
                <c:pt idx="44">
                  <c:v>-0.240096</c:v>
                </c:pt>
                <c:pt idx="45">
                  <c:v>-0.16784299999999999</c:v>
                </c:pt>
                <c:pt idx="46">
                  <c:v>-0.11364100000000001</c:v>
                </c:pt>
                <c:pt idx="47">
                  <c:v>-8.0463000000000007E-2</c:v>
                </c:pt>
                <c:pt idx="48">
                  <c:v>-7.0144999999999999E-2</c:v>
                </c:pt>
                <c:pt idx="49">
                  <c:v>-8.3317000000000002E-2</c:v>
                </c:pt>
                <c:pt idx="50">
                  <c:v>-0.119436</c:v>
                </c:pt>
                <c:pt idx="51">
                  <c:v>-0.17689099999999999</c:v>
                </c:pt>
                <c:pt idx="52">
                  <c:v>-0.25320100000000001</c:v>
                </c:pt>
                <c:pt idx="53">
                  <c:v>-0.34526499999999999</c:v>
                </c:pt>
                <c:pt idx="54">
                  <c:v>-0.44964100000000001</c:v>
                </c:pt>
                <c:pt idx="55">
                  <c:v>-0.56284900000000004</c:v>
                </c:pt>
                <c:pt idx="56">
                  <c:v>-0.68164199999999997</c:v>
                </c:pt>
                <c:pt idx="57">
                  <c:v>-0.80324399999999996</c:v>
                </c:pt>
                <c:pt idx="58">
                  <c:v>-0.92552599999999996</c:v>
                </c:pt>
                <c:pt idx="59">
                  <c:v>-1.0471010000000001</c:v>
                </c:pt>
                <c:pt idx="60">
                  <c:v>-1.1673439999999999</c:v>
                </c:pt>
                <c:pt idx="61">
                  <c:v>-1.286321</c:v>
                </c:pt>
                <c:pt idx="62">
                  <c:v>-1.404652</c:v>
                </c:pt>
                <c:pt idx="63">
                  <c:v>-1.523315</c:v>
                </c:pt>
                <c:pt idx="64">
                  <c:v>-1.643408</c:v>
                </c:pt>
                <c:pt idx="65">
                  <c:v>-1.765906</c:v>
                </c:pt>
                <c:pt idx="66">
                  <c:v>-1.8914230000000001</c:v>
                </c:pt>
                <c:pt idx="67">
                  <c:v>-2.0200170000000002</c:v>
                </c:pt>
                <c:pt idx="68">
                  <c:v>-2.1510509999999998</c:v>
                </c:pt>
                <c:pt idx="69">
                  <c:v>-2.2831250000000001</c:v>
                </c:pt>
                <c:pt idx="70">
                  <c:v>-2.414091</c:v>
                </c:pt>
                <c:pt idx="71">
                  <c:v>-2.5411549999999998</c:v>
                </c:pt>
                <c:pt idx="72">
                  <c:v>-2.6610480000000001</c:v>
                </c:pt>
                <c:pt idx="73">
                  <c:v>-2.7702629999999999</c:v>
                </c:pt>
                <c:pt idx="74">
                  <c:v>-2.865332</c:v>
                </c:pt>
                <c:pt idx="75">
                  <c:v>-2.9431240000000001</c:v>
                </c:pt>
                <c:pt idx="76">
                  <c:v>-3.0011220000000001</c:v>
                </c:pt>
                <c:pt idx="77">
                  <c:v>-3.0376840000000001</c:v>
                </c:pt>
                <c:pt idx="78">
                  <c:v>-3.052225</c:v>
                </c:pt>
                <c:pt idx="79">
                  <c:v>-3.0453380000000001</c:v>
                </c:pt>
                <c:pt idx="80">
                  <c:v>-3.0188160000000002</c:v>
                </c:pt>
                <c:pt idx="81">
                  <c:v>-2.9755850000000001</c:v>
                </c:pt>
                <c:pt idx="82">
                  <c:v>-2.9195479999999998</c:v>
                </c:pt>
                <c:pt idx="83">
                  <c:v>-2.8553500000000001</c:v>
                </c:pt>
                <c:pt idx="84">
                  <c:v>-2.7880799999999999</c:v>
                </c:pt>
                <c:pt idx="85">
                  <c:v>-2.722944</c:v>
                </c:pt>
                <c:pt idx="86">
                  <c:v>-2.6649229999999999</c:v>
                </c:pt>
                <c:pt idx="87">
                  <c:v>-2.618455</c:v>
                </c:pt>
                <c:pt idx="88">
                  <c:v>-2.5871529999999998</c:v>
                </c:pt>
                <c:pt idx="89">
                  <c:v>-2.5735960000000002</c:v>
                </c:pt>
                <c:pt idx="90">
                  <c:v>-2.5792030000000001</c:v>
                </c:pt>
                <c:pt idx="91">
                  <c:v>-2.6041919999999998</c:v>
                </c:pt>
                <c:pt idx="92">
                  <c:v>-2.6476410000000001</c:v>
                </c:pt>
                <c:pt idx="93">
                  <c:v>-2.707624</c:v>
                </c:pt>
                <c:pt idx="94">
                  <c:v>-2.781431</c:v>
                </c:pt>
                <c:pt idx="95">
                  <c:v>-2.8658260000000002</c:v>
                </c:pt>
                <c:pt idx="96">
                  <c:v>-2.9573429999999998</c:v>
                </c:pt>
                <c:pt idx="97">
                  <c:v>-3.052575</c:v>
                </c:pt>
                <c:pt idx="98">
                  <c:v>-3.1484429999999999</c:v>
                </c:pt>
                <c:pt idx="99">
                  <c:v>-3.2424080000000002</c:v>
                </c:pt>
                <c:pt idx="100">
                  <c:v>-3.3326289999999998</c:v>
                </c:pt>
                <c:pt idx="101">
                  <c:v>-3.4180259999999998</c:v>
                </c:pt>
                <c:pt idx="102">
                  <c:v>-3.498272</c:v>
                </c:pt>
                <c:pt idx="103">
                  <c:v>-3.5737019999999999</c:v>
                </c:pt>
                <c:pt idx="104">
                  <c:v>-3.645149</c:v>
                </c:pt>
                <c:pt idx="105">
                  <c:v>-3.713733</c:v>
                </c:pt>
                <c:pt idx="106">
                  <c:v>-3.7806220000000001</c:v>
                </c:pt>
                <c:pt idx="107">
                  <c:v>-3.846781</c:v>
                </c:pt>
                <c:pt idx="108">
                  <c:v>-3.9127510000000001</c:v>
                </c:pt>
                <c:pt idx="109">
                  <c:v>-3.978469</c:v>
                </c:pt>
                <c:pt idx="110">
                  <c:v>-4.0431489999999997</c:v>
                </c:pt>
                <c:pt idx="111">
                  <c:v>-4.105245</c:v>
                </c:pt>
                <c:pt idx="112">
                  <c:v>-4.1624920000000003</c:v>
                </c:pt>
                <c:pt idx="113">
                  <c:v>-4.2120309999999996</c:v>
                </c:pt>
                <c:pt idx="114">
                  <c:v>-4.2506089999999999</c:v>
                </c:pt>
                <c:pt idx="115">
                  <c:v>-4.2748249999999999</c:v>
                </c:pt>
                <c:pt idx="116">
                  <c:v>-4.2814209999999999</c:v>
                </c:pt>
                <c:pt idx="117">
                  <c:v>-4.2675739999999998</c:v>
                </c:pt>
                <c:pt idx="118">
                  <c:v>-4.2311730000000001</c:v>
                </c:pt>
                <c:pt idx="119">
                  <c:v>-4.1710500000000001</c:v>
                </c:pt>
                <c:pt idx="120">
                  <c:v>-4.0871490000000001</c:v>
                </c:pt>
                <c:pt idx="121">
                  <c:v>-3.9806119999999998</c:v>
                </c:pt>
                <c:pt idx="122">
                  <c:v>-3.8537729999999999</c:v>
                </c:pt>
                <c:pt idx="123">
                  <c:v>-3.7100580000000001</c:v>
                </c:pt>
                <c:pt idx="124">
                  <c:v>-3.5537999999999998</c:v>
                </c:pt>
                <c:pt idx="125">
                  <c:v>-3.3899840000000001</c:v>
                </c:pt>
                <c:pt idx="126">
                  <c:v>-3.223935</c:v>
                </c:pt>
                <c:pt idx="127">
                  <c:v>-3.060981</c:v>
                </c:pt>
                <c:pt idx="128">
                  <c:v>-2.9061180000000002</c:v>
                </c:pt>
                <c:pt idx="129">
                  <c:v>-2.7636980000000002</c:v>
                </c:pt>
                <c:pt idx="130">
                  <c:v>-2.6371709999999999</c:v>
                </c:pt>
                <c:pt idx="131">
                  <c:v>-2.528905</c:v>
                </c:pt>
                <c:pt idx="132">
                  <c:v>-2.4400789999999999</c:v>
                </c:pt>
                <c:pt idx="133">
                  <c:v>-2.3706839999999998</c:v>
                </c:pt>
                <c:pt idx="134">
                  <c:v>-2.319607</c:v>
                </c:pt>
                <c:pt idx="135">
                  <c:v>-2.284796</c:v>
                </c:pt>
                <c:pt idx="136">
                  <c:v>-2.2634949999999998</c:v>
                </c:pt>
                <c:pt idx="137">
                  <c:v>-2.2525189999999999</c:v>
                </c:pt>
                <c:pt idx="138">
                  <c:v>-2.2485490000000001</c:v>
                </c:pt>
                <c:pt idx="139">
                  <c:v>-2.2484169999999999</c:v>
                </c:pt>
                <c:pt idx="140">
                  <c:v>-2.2493569999999998</c:v>
                </c:pt>
                <c:pt idx="141">
                  <c:v>-2.2492030000000001</c:v>
                </c:pt>
                <c:pt idx="142">
                  <c:v>-2.2465130000000002</c:v>
                </c:pt>
                <c:pt idx="143">
                  <c:v>-2.2406130000000002</c:v>
                </c:pt>
                <c:pt idx="144">
                  <c:v>-2.2315550000000002</c:v>
                </c:pt>
                <c:pt idx="145">
                  <c:v>-2.220002</c:v>
                </c:pt>
                <c:pt idx="146">
                  <c:v>-2.2070479999999999</c:v>
                </c:pt>
                <c:pt idx="147">
                  <c:v>-2.1939890000000002</c:v>
                </c:pt>
                <c:pt idx="148">
                  <c:v>-2.1820840000000001</c:v>
                </c:pt>
                <c:pt idx="149">
                  <c:v>-2.172307</c:v>
                </c:pt>
                <c:pt idx="150">
                  <c:v>-2.1651370000000001</c:v>
                </c:pt>
                <c:pt idx="151">
                  <c:v>-2.160399</c:v>
                </c:pt>
                <c:pt idx="152">
                  <c:v>-2.1571660000000001</c:v>
                </c:pt>
                <c:pt idx="153">
                  <c:v>-2.1537519999999999</c:v>
                </c:pt>
                <c:pt idx="154">
                  <c:v>-2.1477810000000002</c:v>
                </c:pt>
                <c:pt idx="155">
                  <c:v>-2.1363370000000002</c:v>
                </c:pt>
                <c:pt idx="156">
                  <c:v>-2.1161780000000001</c:v>
                </c:pt>
                <c:pt idx="157">
                  <c:v>-2.084009</c:v>
                </c:pt>
                <c:pt idx="158">
                  <c:v>-2.0367649999999999</c:v>
                </c:pt>
                <c:pt idx="159">
                  <c:v>-1.9719089999999999</c:v>
                </c:pt>
                <c:pt idx="160">
                  <c:v>-1.8876900000000001</c:v>
                </c:pt>
                <c:pt idx="161">
                  <c:v>-1.7833619999999999</c:v>
                </c:pt>
                <c:pt idx="162">
                  <c:v>-1.659322</c:v>
                </c:pt>
                <c:pt idx="163">
                  <c:v>-1.517166</c:v>
                </c:pt>
                <c:pt idx="164">
                  <c:v>-1.3596539999999999</c:v>
                </c:pt>
                <c:pt idx="165">
                  <c:v>-1.1905779999999999</c:v>
                </c:pt>
                <c:pt idx="166">
                  <c:v>-1.0145550000000001</c:v>
                </c:pt>
                <c:pt idx="167">
                  <c:v>-0.83674499999999996</c:v>
                </c:pt>
                <c:pt idx="168">
                  <c:v>-0.66253399999999996</c:v>
                </c:pt>
                <c:pt idx="169">
                  <c:v>-0.49718899999999999</c:v>
                </c:pt>
                <c:pt idx="170">
                  <c:v>-0.34553</c:v>
                </c:pt>
                <c:pt idx="171">
                  <c:v>-0.21163599999999999</c:v>
                </c:pt>
                <c:pt idx="172">
                  <c:v>-9.8607E-2</c:v>
                </c:pt>
                <c:pt idx="173">
                  <c:v>-8.4080000000000005E-3</c:v>
                </c:pt>
                <c:pt idx="174">
                  <c:v>5.8200000000000002E-2</c:v>
                </c:pt>
                <c:pt idx="175">
                  <c:v>0.101633</c:v>
                </c:pt>
                <c:pt idx="176">
                  <c:v>0.123372</c:v>
                </c:pt>
                <c:pt idx="177">
                  <c:v>0.12576999999999999</c:v>
                </c:pt>
                <c:pt idx="178">
                  <c:v>0.111803</c:v>
                </c:pt>
                <c:pt idx="179">
                  <c:v>8.4783999999999998E-2</c:v>
                </c:pt>
                <c:pt idx="180">
                  <c:v>4.8069000000000001E-2</c:v>
                </c:pt>
                <c:pt idx="181">
                  <c:v>4.7819999999999998E-3</c:v>
                </c:pt>
                <c:pt idx="182">
                  <c:v>-4.2424999999999997E-2</c:v>
                </c:pt>
                <c:pt idx="183">
                  <c:v>-9.1541999999999998E-2</c:v>
                </c:pt>
                <c:pt idx="184">
                  <c:v>-0.14130000000000001</c:v>
                </c:pt>
                <c:pt idx="185">
                  <c:v>-0.191191</c:v>
                </c:pt>
                <c:pt idx="186">
                  <c:v>-0.241394</c:v>
                </c:pt>
                <c:pt idx="187">
                  <c:v>-0.29264000000000001</c:v>
                </c:pt>
                <c:pt idx="188">
                  <c:v>-0.34601599999999999</c:v>
                </c:pt>
                <c:pt idx="189">
                  <c:v>-0.40272599999999997</c:v>
                </c:pt>
                <c:pt idx="190">
                  <c:v>-0.46384599999999998</c:v>
                </c:pt>
                <c:pt idx="191">
                  <c:v>-0.53009099999999998</c:v>
                </c:pt>
                <c:pt idx="192">
                  <c:v>-0.60161399999999998</c:v>
                </c:pt>
                <c:pt idx="193">
                  <c:v>-0.67786999999999997</c:v>
                </c:pt>
                <c:pt idx="194">
                  <c:v>-0.757548</c:v>
                </c:pt>
                <c:pt idx="195">
                  <c:v>-0.83858500000000002</c:v>
                </c:pt>
                <c:pt idx="196">
                  <c:v>-0.91826700000000006</c:v>
                </c:pt>
                <c:pt idx="197">
                  <c:v>-0.99340099999999998</c:v>
                </c:pt>
                <c:pt idx="198">
                  <c:v>-1.0605549999999999</c:v>
                </c:pt>
                <c:pt idx="199">
                  <c:v>-1.1163270000000001</c:v>
                </c:pt>
                <c:pt idx="200">
                  <c:v>-1.157648</c:v>
                </c:pt>
                <c:pt idx="201">
                  <c:v>-1.182064</c:v>
                </c:pt>
                <c:pt idx="202">
                  <c:v>-1.187983</c:v>
                </c:pt>
                <c:pt idx="203">
                  <c:v>-1.1748730000000001</c:v>
                </c:pt>
                <c:pt idx="204">
                  <c:v>-1.14337</c:v>
                </c:pt>
                <c:pt idx="205">
                  <c:v>-1.095307</c:v>
                </c:pt>
                <c:pt idx="206">
                  <c:v>-1.0336460000000001</c:v>
                </c:pt>
                <c:pt idx="207">
                  <c:v>-0.96231800000000001</c:v>
                </c:pt>
                <c:pt idx="208">
                  <c:v>-0.88599300000000003</c:v>
                </c:pt>
                <c:pt idx="209">
                  <c:v>-0.80978000000000006</c:v>
                </c:pt>
                <c:pt idx="210">
                  <c:v>-0.7389</c:v>
                </c:pt>
                <c:pt idx="211">
                  <c:v>-0.67834399999999995</c:v>
                </c:pt>
                <c:pt idx="212">
                  <c:v>-0.63255099999999997</c:v>
                </c:pt>
                <c:pt idx="213">
                  <c:v>-0.60513600000000001</c:v>
                </c:pt>
                <c:pt idx="214">
                  <c:v>-0.59867000000000004</c:v>
                </c:pt>
                <c:pt idx="215">
                  <c:v>-0.61456100000000002</c:v>
                </c:pt>
                <c:pt idx="216">
                  <c:v>-0.65301200000000004</c:v>
                </c:pt>
                <c:pt idx="217">
                  <c:v>-0.71307600000000004</c:v>
                </c:pt>
                <c:pt idx="218">
                  <c:v>-0.79280300000000004</c:v>
                </c:pt>
                <c:pt idx="219">
                  <c:v>-0.88944900000000005</c:v>
                </c:pt>
                <c:pt idx="220">
                  <c:v>-0.99974200000000002</c:v>
                </c:pt>
                <c:pt idx="221">
                  <c:v>-1.120174</c:v>
                </c:pt>
                <c:pt idx="222">
                  <c:v>-1.2472920000000001</c:v>
                </c:pt>
                <c:pt idx="223">
                  <c:v>-1.377964</c:v>
                </c:pt>
                <c:pt idx="224">
                  <c:v>-1.5095970000000001</c:v>
                </c:pt>
                <c:pt idx="225">
                  <c:v>-1.6402859999999999</c:v>
                </c:pt>
                <c:pt idx="226">
                  <c:v>-1.768888</c:v>
                </c:pt>
                <c:pt idx="227">
                  <c:v>-1.895006</c:v>
                </c:pt>
                <c:pt idx="228">
                  <c:v>-2.0188990000000002</c:v>
                </c:pt>
                <c:pt idx="229">
                  <c:v>-2.1413229999999999</c:v>
                </c:pt>
                <c:pt idx="230">
                  <c:v>-2.2633169999999998</c:v>
                </c:pt>
                <c:pt idx="231">
                  <c:v>-2.3859590000000002</c:v>
                </c:pt>
                <c:pt idx="232">
                  <c:v>-2.5101260000000001</c:v>
                </c:pt>
                <c:pt idx="233">
                  <c:v>-2.636266</c:v>
                </c:pt>
                <c:pt idx="234">
                  <c:v>-2.7642180000000001</c:v>
                </c:pt>
                <c:pt idx="235">
                  <c:v>-2.8930950000000002</c:v>
                </c:pt>
                <c:pt idx="236">
                  <c:v>-3.0212469999999998</c:v>
                </c:pt>
                <c:pt idx="237">
                  <c:v>-3.1463030000000001</c:v>
                </c:pt>
                <c:pt idx="238">
                  <c:v>-3.2652950000000001</c:v>
                </c:pt>
                <c:pt idx="239">
                  <c:v>-3.3748550000000002</c:v>
                </c:pt>
                <c:pt idx="240">
                  <c:v>-3.4714700000000001</c:v>
                </c:pt>
                <c:pt idx="241">
                  <c:v>-3.5517629999999998</c:v>
                </c:pt>
                <c:pt idx="242">
                  <c:v>-3.6127940000000001</c:v>
                </c:pt>
                <c:pt idx="243">
                  <c:v>-3.6523279999999998</c:v>
                </c:pt>
                <c:pt idx="244">
                  <c:v>-3.6690770000000001</c:v>
                </c:pt>
                <c:pt idx="245">
                  <c:v>-3.6628590000000001</c:v>
                </c:pt>
                <c:pt idx="246">
                  <c:v>-3.6346919999999998</c:v>
                </c:pt>
                <c:pt idx="247">
                  <c:v>-3.5867819999999999</c:v>
                </c:pt>
                <c:pt idx="248">
                  <c:v>-3.5224259999999998</c:v>
                </c:pt>
                <c:pt idx="249">
                  <c:v>-3.4458319999999998</c:v>
                </c:pt>
                <c:pt idx="250">
                  <c:v>-3.3618540000000001</c:v>
                </c:pt>
                <c:pt idx="251">
                  <c:v>-3.2756889999999999</c:v>
                </c:pt>
                <c:pt idx="252">
                  <c:v>-3.1925349999999999</c:v>
                </c:pt>
                <c:pt idx="253">
                  <c:v>-3.1172589999999998</c:v>
                </c:pt>
                <c:pt idx="254">
                  <c:v>-3.0540850000000002</c:v>
                </c:pt>
                <c:pt idx="255">
                  <c:v>-3.006335</c:v>
                </c:pt>
                <c:pt idx="256">
                  <c:v>-2.976248</c:v>
                </c:pt>
                <c:pt idx="257">
                  <c:v>-2.9648789999999998</c:v>
                </c:pt>
                <c:pt idx="258">
                  <c:v>-2.972092</c:v>
                </c:pt>
                <c:pt idx="259">
                  <c:v>-2.9966499999999998</c:v>
                </c:pt>
                <c:pt idx="260">
                  <c:v>-3.0363799999999999</c:v>
                </c:pt>
                <c:pt idx="261">
                  <c:v>-3.0884049999999998</c:v>
                </c:pt>
                <c:pt idx="262">
                  <c:v>-3.1494209999999998</c:v>
                </c:pt>
                <c:pt idx="263">
                  <c:v>-3.2159930000000001</c:v>
                </c:pt>
                <c:pt idx="264">
                  <c:v>-3.2848380000000001</c:v>
                </c:pt>
                <c:pt idx="265">
                  <c:v>-3.3530790000000001</c:v>
                </c:pt>
                <c:pt idx="266">
                  <c:v>-3.4184429999999999</c:v>
                </c:pt>
                <c:pt idx="267">
                  <c:v>-3.4793799999999999</c:v>
                </c:pt>
                <c:pt idx="268">
                  <c:v>-3.5351140000000001</c:v>
                </c:pt>
                <c:pt idx="269">
                  <c:v>-3.5855959999999998</c:v>
                </c:pt>
                <c:pt idx="270">
                  <c:v>-3.6313949999999999</c:v>
                </c:pt>
                <c:pt idx="271">
                  <c:v>-3.6735099999999998</c:v>
                </c:pt>
                <c:pt idx="272">
                  <c:v>-3.7131500000000002</c:v>
                </c:pt>
                <c:pt idx="273">
                  <c:v>-3.751487</c:v>
                </c:pt>
                <c:pt idx="274">
                  <c:v>-3.7894139999999998</c:v>
                </c:pt>
                <c:pt idx="275">
                  <c:v>-3.8273350000000002</c:v>
                </c:pt>
                <c:pt idx="276">
                  <c:v>-3.8649990000000001</c:v>
                </c:pt>
                <c:pt idx="277">
                  <c:v>-3.9014129999999998</c:v>
                </c:pt>
                <c:pt idx="278">
                  <c:v>-3.9348260000000002</c:v>
                </c:pt>
                <c:pt idx="279">
                  <c:v>-3.9628019999999999</c:v>
                </c:pt>
                <c:pt idx="280">
                  <c:v>-3.9823689999999998</c:v>
                </c:pt>
                <c:pt idx="281">
                  <c:v>-3.9902389999999999</c:v>
                </c:pt>
                <c:pt idx="282">
                  <c:v>-3.9830670000000001</c:v>
                </c:pt>
                <c:pt idx="283">
                  <c:v>-3.957751</c:v>
                </c:pt>
                <c:pt idx="284">
                  <c:v>-3.9117150000000001</c:v>
                </c:pt>
                <c:pt idx="285">
                  <c:v>-3.843181</c:v>
                </c:pt>
                <c:pt idx="286">
                  <c:v>-3.7513770000000002</c:v>
                </c:pt>
                <c:pt idx="287">
                  <c:v>-3.6366779999999999</c:v>
                </c:pt>
                <c:pt idx="288">
                  <c:v>-3.500667</c:v>
                </c:pt>
                <c:pt idx="289">
                  <c:v>-3.3460920000000001</c:v>
                </c:pt>
                <c:pt idx="290">
                  <c:v>-3.176742</c:v>
                </c:pt>
                <c:pt idx="291">
                  <c:v>-2.997233</c:v>
                </c:pt>
                <c:pt idx="292">
                  <c:v>-2.812732</c:v>
                </c:pt>
                <c:pt idx="293">
                  <c:v>-2.6286350000000001</c:v>
                </c:pt>
                <c:pt idx="294">
                  <c:v>-2.4502250000000001</c:v>
                </c:pt>
                <c:pt idx="295">
                  <c:v>-2.2823440000000002</c:v>
                </c:pt>
                <c:pt idx="296">
                  <c:v>-2.1290960000000001</c:v>
                </c:pt>
                <c:pt idx="297">
                  <c:v>-1.9936130000000001</c:v>
                </c:pt>
                <c:pt idx="298">
                  <c:v>-1.8778950000000001</c:v>
                </c:pt>
                <c:pt idx="299">
                  <c:v>-1.7827470000000001</c:v>
                </c:pt>
                <c:pt idx="300">
                  <c:v>-1.7077960000000001</c:v>
                </c:pt>
              </c:numCache>
            </c:numRef>
          </c:yVal>
          <c:smooth val="1"/>
          <c:extLst>
            <c:ext xmlns:c16="http://schemas.microsoft.com/office/drawing/2014/chart" uri="{C3380CC4-5D6E-409C-BE32-E72D297353CC}">
              <c16:uniqueId val="{00000001-44EF-4EBC-B01D-F490827F4710}"/>
            </c:ext>
          </c:extLst>
        </c:ser>
        <c:dLbls>
          <c:showLegendKey val="0"/>
          <c:showVal val="0"/>
          <c:showCatName val="0"/>
          <c:showSerName val="0"/>
          <c:showPercent val="0"/>
          <c:showBubbleSize val="0"/>
        </c:dLbls>
        <c:axId val="48650112"/>
        <c:axId val="48672768"/>
      </c:scatterChart>
      <c:valAx>
        <c:axId val="48650112"/>
        <c:scaling>
          <c:orientation val="minMax"/>
          <c:max val="6"/>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2"/>
      </c:valAx>
      <c:valAx>
        <c:axId val="48672768"/>
        <c:scaling>
          <c:orientation val="minMax"/>
          <c:max val="6"/>
          <c:min val="-5"/>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Offset amplitude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06f5476e-564b-4265-9928-18e1d2bafcf7}"/>
      </c:ext>
    </c:extLst>
  </c:chart>
  <c:spPr>
    <a:solidFill>
      <a:srgbClr val="FFFFFF"/>
    </a:solidFill>
    <a:ln w="0">
      <a:noFill/>
    </a:ln>
  </c:spPr>
  <c:txPr>
    <a:bodyPr/>
    <a:lstStyle/>
    <a:p>
      <a:pPr>
        <a:defRPr lang="zh-CN"/>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PC1</c:f>
              <c:strCache>
                <c:ptCount val="1"/>
                <c:pt idx="0">
                  <c:v>PC1</c:v>
                </c:pt>
              </c:strCache>
            </c:strRef>
          </c:tx>
          <c:spPr>
            <a:ln w="23813" cap="rnd">
              <a:solidFill>
                <a:srgbClr val="B96D20"/>
              </a:solidFill>
              <a:prstDash val="solid"/>
              <a:round/>
            </a:ln>
          </c:spPr>
          <c:marker>
            <c:symbol val="none"/>
          </c:marker>
          <c:xVal>
            <c:numRef>
              <c:f>'Chart Data'!$A$2:$A$302</c:f>
              <c:numCache>
                <c:formatCode>General</c:formatCode>
                <c:ptCount val="301"/>
                <c:pt idx="0">
                  <c:v>0</c:v>
                </c:pt>
                <c:pt idx="1">
                  <c:v>0.02</c:v>
                </c:pt>
                <c:pt idx="2">
                  <c:v>0.04</c:v>
                </c:pt>
                <c:pt idx="3">
                  <c:v>0.06</c:v>
                </c:pt>
                <c:pt idx="4">
                  <c:v>0.08</c:v>
                </c:pt>
                <c:pt idx="5">
                  <c:v>0.1</c:v>
                </c:pt>
                <c:pt idx="6">
                  <c:v>0.12</c:v>
                </c:pt>
                <c:pt idx="7">
                  <c:v>0.14000000000000001</c:v>
                </c:pt>
                <c:pt idx="8">
                  <c:v>0.16</c:v>
                </c:pt>
                <c:pt idx="9">
                  <c:v>0.18</c:v>
                </c:pt>
                <c:pt idx="10">
                  <c:v>0.2</c:v>
                </c:pt>
                <c:pt idx="11">
                  <c:v>0.22</c:v>
                </c:pt>
                <c:pt idx="12">
                  <c:v>0.24</c:v>
                </c:pt>
                <c:pt idx="13">
                  <c:v>0.26</c:v>
                </c:pt>
                <c:pt idx="14">
                  <c:v>0.28000000000000003</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0.56000000000000005</c:v>
                </c:pt>
                <c:pt idx="29">
                  <c:v>0.57999999999999996</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1.1000000000000001</c:v>
                </c:pt>
                <c:pt idx="56">
                  <c:v>1.1200000000000001</c:v>
                </c:pt>
                <c:pt idx="57">
                  <c:v>1.1399999999999999</c:v>
                </c:pt>
                <c:pt idx="58">
                  <c:v>1.1599999999999999</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2.1800000000000002</c:v>
                </c:pt>
                <c:pt idx="110">
                  <c:v>2.2000000000000002</c:v>
                </c:pt>
                <c:pt idx="111">
                  <c:v>2.2200000000000002</c:v>
                </c:pt>
                <c:pt idx="112">
                  <c:v>2.2400000000000002</c:v>
                </c:pt>
                <c:pt idx="113">
                  <c:v>2.2599999999999998</c:v>
                </c:pt>
                <c:pt idx="114">
                  <c:v>2.2799999999999998</c:v>
                </c:pt>
                <c:pt idx="115">
                  <c:v>2.2999999999999998</c:v>
                </c:pt>
                <c:pt idx="116">
                  <c:v>2.3199999999999998</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4.0199999999999996</c:v>
                </c:pt>
                <c:pt idx="202">
                  <c:v>4.04</c:v>
                </c:pt>
                <c:pt idx="203">
                  <c:v>4.0599999999999996</c:v>
                </c:pt>
                <c:pt idx="204">
                  <c:v>4.08</c:v>
                </c:pt>
                <c:pt idx="205">
                  <c:v>4.0999999999999996</c:v>
                </c:pt>
                <c:pt idx="206">
                  <c:v>4.12</c:v>
                </c:pt>
                <c:pt idx="207">
                  <c:v>4.1399999999999997</c:v>
                </c:pt>
                <c:pt idx="208">
                  <c:v>4.16</c:v>
                </c:pt>
                <c:pt idx="209">
                  <c:v>4.18</c:v>
                </c:pt>
                <c:pt idx="210">
                  <c:v>4.2</c:v>
                </c:pt>
                <c:pt idx="211">
                  <c:v>4.22</c:v>
                </c:pt>
                <c:pt idx="212">
                  <c:v>4.24</c:v>
                </c:pt>
                <c:pt idx="213">
                  <c:v>4.26</c:v>
                </c:pt>
                <c:pt idx="214">
                  <c:v>4.28</c:v>
                </c:pt>
                <c:pt idx="215">
                  <c:v>4.3</c:v>
                </c:pt>
                <c:pt idx="216">
                  <c:v>4.32</c:v>
                </c:pt>
                <c:pt idx="217">
                  <c:v>4.34</c:v>
                </c:pt>
                <c:pt idx="218">
                  <c:v>4.3600000000000003</c:v>
                </c:pt>
                <c:pt idx="219">
                  <c:v>4.38</c:v>
                </c:pt>
                <c:pt idx="220">
                  <c:v>4.4000000000000004</c:v>
                </c:pt>
                <c:pt idx="221">
                  <c:v>4.42</c:v>
                </c:pt>
                <c:pt idx="222">
                  <c:v>4.4400000000000004</c:v>
                </c:pt>
                <c:pt idx="223">
                  <c:v>4.46</c:v>
                </c:pt>
                <c:pt idx="224">
                  <c:v>4.4800000000000004</c:v>
                </c:pt>
                <c:pt idx="225">
                  <c:v>4.5</c:v>
                </c:pt>
                <c:pt idx="226">
                  <c:v>4.5199999999999996</c:v>
                </c:pt>
                <c:pt idx="227">
                  <c:v>4.54</c:v>
                </c:pt>
                <c:pt idx="228">
                  <c:v>4.5599999999999996</c:v>
                </c:pt>
                <c:pt idx="229">
                  <c:v>4.58</c:v>
                </c:pt>
                <c:pt idx="230">
                  <c:v>4.5999999999999996</c:v>
                </c:pt>
                <c:pt idx="231">
                  <c:v>4.62</c:v>
                </c:pt>
                <c:pt idx="232">
                  <c:v>4.6399999999999997</c:v>
                </c:pt>
                <c:pt idx="233">
                  <c:v>4.66</c:v>
                </c:pt>
                <c:pt idx="234">
                  <c:v>4.68</c:v>
                </c:pt>
                <c:pt idx="235">
                  <c:v>4.7</c:v>
                </c:pt>
                <c:pt idx="236">
                  <c:v>4.72</c:v>
                </c:pt>
                <c:pt idx="237">
                  <c:v>4.74</c:v>
                </c:pt>
                <c:pt idx="238">
                  <c:v>4.76</c:v>
                </c:pt>
                <c:pt idx="239">
                  <c:v>4.78</c:v>
                </c:pt>
                <c:pt idx="240">
                  <c:v>4.8</c:v>
                </c:pt>
                <c:pt idx="241">
                  <c:v>4.82</c:v>
                </c:pt>
                <c:pt idx="242">
                  <c:v>4.84</c:v>
                </c:pt>
                <c:pt idx="243">
                  <c:v>4.8600000000000003</c:v>
                </c:pt>
                <c:pt idx="244">
                  <c:v>4.88</c:v>
                </c:pt>
                <c:pt idx="245">
                  <c:v>4.9000000000000004</c:v>
                </c:pt>
                <c:pt idx="246">
                  <c:v>4.92</c:v>
                </c:pt>
                <c:pt idx="247">
                  <c:v>4.9400000000000004</c:v>
                </c:pt>
                <c:pt idx="248">
                  <c:v>4.96</c:v>
                </c:pt>
                <c:pt idx="249">
                  <c:v>4.9800000000000004</c:v>
                </c:pt>
                <c:pt idx="250">
                  <c:v>5</c:v>
                </c:pt>
                <c:pt idx="251">
                  <c:v>5.0199999999999996</c:v>
                </c:pt>
                <c:pt idx="252">
                  <c:v>5.04</c:v>
                </c:pt>
                <c:pt idx="253">
                  <c:v>5.0599999999999996</c:v>
                </c:pt>
                <c:pt idx="254">
                  <c:v>5.08</c:v>
                </c:pt>
                <c:pt idx="255">
                  <c:v>5.0999999999999996</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numCache>
            </c:numRef>
          </c:xVal>
          <c:yVal>
            <c:numRef>
              <c:f>'Chart Data'!$B$2:$B$302</c:f>
              <c:numCache>
                <c:formatCode>0.0</c:formatCode>
                <c:ptCount val="301"/>
                <c:pt idx="0">
                  <c:v>1.7179599999999999</c:v>
                </c:pt>
                <c:pt idx="1">
                  <c:v>1.565933</c:v>
                </c:pt>
                <c:pt idx="2">
                  <c:v>1.4192260000000001</c:v>
                </c:pt>
                <c:pt idx="3">
                  <c:v>1.282381</c:v>
                </c:pt>
                <c:pt idx="4">
                  <c:v>1.1593500000000001</c:v>
                </c:pt>
                <c:pt idx="5">
                  <c:v>1.0532619999999999</c:v>
                </c:pt>
                <c:pt idx="6">
                  <c:v>0.966256</c:v>
                </c:pt>
                <c:pt idx="7">
                  <c:v>0.89938700000000005</c:v>
                </c:pt>
                <c:pt idx="8">
                  <c:v>0.85262400000000005</c:v>
                </c:pt>
                <c:pt idx="9">
                  <c:v>0.82492699999999997</c:v>
                </c:pt>
                <c:pt idx="10">
                  <c:v>0.81440000000000001</c:v>
                </c:pt>
                <c:pt idx="11">
                  <c:v>0.81850100000000003</c:v>
                </c:pt>
                <c:pt idx="12">
                  <c:v>0.83429500000000001</c:v>
                </c:pt>
                <c:pt idx="13">
                  <c:v>0.85872099999999996</c:v>
                </c:pt>
                <c:pt idx="14">
                  <c:v>0.888849</c:v>
                </c:pt>
                <c:pt idx="15">
                  <c:v>0.92211699999999996</c:v>
                </c:pt>
                <c:pt idx="16">
                  <c:v>0.95650199999999996</c:v>
                </c:pt>
                <c:pt idx="17">
                  <c:v>0.99063500000000004</c:v>
                </c:pt>
                <c:pt idx="18">
                  <c:v>1.0238430000000001</c:v>
                </c:pt>
                <c:pt idx="19">
                  <c:v>1.0561130000000001</c:v>
                </c:pt>
                <c:pt idx="20">
                  <c:v>1.0879810000000001</c:v>
                </c:pt>
                <c:pt idx="21">
                  <c:v>1.120374</c:v>
                </c:pt>
                <c:pt idx="22">
                  <c:v>1.1544000000000001</c:v>
                </c:pt>
                <c:pt idx="23">
                  <c:v>1.1911309999999999</c:v>
                </c:pt>
                <c:pt idx="24">
                  <c:v>1.231374</c:v>
                </c:pt>
                <c:pt idx="25">
                  <c:v>1.275488</c:v>
                </c:pt>
                <c:pt idx="26">
                  <c:v>1.323229</c:v>
                </c:pt>
                <c:pt idx="27">
                  <c:v>1.373672</c:v>
                </c:pt>
                <c:pt idx="28">
                  <c:v>1.4251959999999999</c:v>
                </c:pt>
                <c:pt idx="29">
                  <c:v>1.4755510000000001</c:v>
                </c:pt>
                <c:pt idx="30">
                  <c:v>1.5219929999999999</c:v>
                </c:pt>
                <c:pt idx="31">
                  <c:v>1.561483</c:v>
                </c:pt>
                <c:pt idx="32">
                  <c:v>1.5909279999999999</c:v>
                </c:pt>
                <c:pt idx="33">
                  <c:v>1.607445</c:v>
                </c:pt>
                <c:pt idx="34">
                  <c:v>1.60863</c:v>
                </c:pt>
                <c:pt idx="35">
                  <c:v>1.5927929999999999</c:v>
                </c:pt>
                <c:pt idx="36">
                  <c:v>1.559158</c:v>
                </c:pt>
                <c:pt idx="37">
                  <c:v>1.5079849999999999</c:v>
                </c:pt>
                <c:pt idx="38">
                  <c:v>1.4406270000000001</c:v>
                </c:pt>
                <c:pt idx="39">
                  <c:v>1.3594949999999999</c:v>
                </c:pt>
                <c:pt idx="40">
                  <c:v>1.2679389999999999</c:v>
                </c:pt>
                <c:pt idx="41">
                  <c:v>1.1700569999999999</c:v>
                </c:pt>
                <c:pt idx="42">
                  <c:v>1.070444</c:v>
                </c:pt>
                <c:pt idx="43">
                  <c:v>0.97389800000000004</c:v>
                </c:pt>
                <c:pt idx="44">
                  <c:v>0.88511200000000001</c:v>
                </c:pt>
                <c:pt idx="45">
                  <c:v>0.80837000000000003</c:v>
                </c:pt>
                <c:pt idx="46">
                  <c:v>0.74728499999999998</c:v>
                </c:pt>
                <c:pt idx="47">
                  <c:v>0.70457800000000004</c:v>
                </c:pt>
                <c:pt idx="48">
                  <c:v>0.68193999999999999</c:v>
                </c:pt>
                <c:pt idx="49">
                  <c:v>0.67996699999999999</c:v>
                </c:pt>
                <c:pt idx="50">
                  <c:v>0.69818599999999997</c:v>
                </c:pt>
                <c:pt idx="51">
                  <c:v>0.73515600000000003</c:v>
                </c:pt>
                <c:pt idx="52">
                  <c:v>0.78864400000000001</c:v>
                </c:pt>
                <c:pt idx="53">
                  <c:v>0.85585500000000003</c:v>
                </c:pt>
                <c:pt idx="54">
                  <c:v>0.93368499999999999</c:v>
                </c:pt>
                <c:pt idx="55">
                  <c:v>1.0189950000000001</c:v>
                </c:pt>
                <c:pt idx="56">
                  <c:v>1.108859</c:v>
                </c:pt>
                <c:pt idx="57">
                  <c:v>1.200782</c:v>
                </c:pt>
                <c:pt idx="58">
                  <c:v>1.2928580000000001</c:v>
                </c:pt>
                <c:pt idx="59">
                  <c:v>1.383856</c:v>
                </c:pt>
                <c:pt idx="60">
                  <c:v>1.473238</c:v>
                </c:pt>
                <c:pt idx="61">
                  <c:v>1.561096</c:v>
                </c:pt>
                <c:pt idx="62">
                  <c:v>1.648029</c:v>
                </c:pt>
                <c:pt idx="63">
                  <c:v>1.734958</c:v>
                </c:pt>
                <c:pt idx="64">
                  <c:v>1.822918</c:v>
                </c:pt>
                <c:pt idx="65">
                  <c:v>1.912828</c:v>
                </c:pt>
                <c:pt idx="66">
                  <c:v>2.0052840000000001</c:v>
                </c:pt>
                <c:pt idx="67">
                  <c:v>2.1003729999999998</c:v>
                </c:pt>
                <c:pt idx="68">
                  <c:v>2.1975509999999998</c:v>
                </c:pt>
                <c:pt idx="69">
                  <c:v>2.2955779999999999</c:v>
                </c:pt>
                <c:pt idx="70">
                  <c:v>2.3925390000000002</c:v>
                </c:pt>
                <c:pt idx="71">
                  <c:v>2.4859249999999999</c:v>
                </c:pt>
                <c:pt idx="72">
                  <c:v>2.5728</c:v>
                </c:pt>
                <c:pt idx="73">
                  <c:v>2.6500080000000001</c:v>
                </c:pt>
                <c:pt idx="74">
                  <c:v>2.714432</c:v>
                </c:pt>
                <c:pt idx="75">
                  <c:v>2.7632560000000002</c:v>
                </c:pt>
                <c:pt idx="76">
                  <c:v>2.7942290000000001</c:v>
                </c:pt>
                <c:pt idx="77">
                  <c:v>2.8058900000000002</c:v>
                </c:pt>
                <c:pt idx="78">
                  <c:v>2.7977430000000001</c:v>
                </c:pt>
                <c:pt idx="79">
                  <c:v>2.7703609999999999</c:v>
                </c:pt>
                <c:pt idx="80">
                  <c:v>2.7254109999999998</c:v>
                </c:pt>
                <c:pt idx="81">
                  <c:v>2.6655869999999999</c:v>
                </c:pt>
                <c:pt idx="82">
                  <c:v>2.5944739999999999</c:v>
                </c:pt>
                <c:pt idx="83">
                  <c:v>2.5163289999999998</c:v>
                </c:pt>
                <c:pt idx="84">
                  <c:v>2.4358140000000001</c:v>
                </c:pt>
                <c:pt idx="85">
                  <c:v>2.3576969999999999</c:v>
                </c:pt>
                <c:pt idx="86">
                  <c:v>2.28654</c:v>
                </c:pt>
                <c:pt idx="87">
                  <c:v>2.2264089999999999</c:v>
                </c:pt>
                <c:pt idx="88">
                  <c:v>2.1806209999999999</c:v>
                </c:pt>
                <c:pt idx="89">
                  <c:v>2.1515499999999999</c:v>
                </c:pt>
                <c:pt idx="90">
                  <c:v>2.1405129999999999</c:v>
                </c:pt>
                <c:pt idx="91">
                  <c:v>2.1477349999999999</c:v>
                </c:pt>
                <c:pt idx="92">
                  <c:v>2.1724030000000001</c:v>
                </c:pt>
                <c:pt idx="93">
                  <c:v>2.2127880000000002</c:v>
                </c:pt>
                <c:pt idx="94">
                  <c:v>2.266448</c:v>
                </c:pt>
                <c:pt idx="95">
                  <c:v>2.33046</c:v>
                </c:pt>
                <c:pt idx="96">
                  <c:v>2.4016929999999999</c:v>
                </c:pt>
                <c:pt idx="97">
                  <c:v>2.4770660000000002</c:v>
                </c:pt>
                <c:pt idx="98">
                  <c:v>2.553795</c:v>
                </c:pt>
                <c:pt idx="99">
                  <c:v>2.6295899999999999</c:v>
                </c:pt>
                <c:pt idx="100">
                  <c:v>2.7027890000000001</c:v>
                </c:pt>
                <c:pt idx="101">
                  <c:v>2.7724250000000001</c:v>
                </c:pt>
                <c:pt idx="102">
                  <c:v>2.8382139999999998</c:v>
                </c:pt>
                <c:pt idx="103">
                  <c:v>2.9004720000000002</c:v>
                </c:pt>
                <c:pt idx="104">
                  <c:v>2.9599669999999998</c:v>
                </c:pt>
                <c:pt idx="105">
                  <c:v>3.0177269999999998</c:v>
                </c:pt>
                <c:pt idx="106">
                  <c:v>3.074821</c:v>
                </c:pt>
                <c:pt idx="107">
                  <c:v>3.1321349999999999</c:v>
                </c:pt>
                <c:pt idx="108">
                  <c:v>3.1901640000000002</c:v>
                </c:pt>
                <c:pt idx="109">
                  <c:v>3.2488549999999998</c:v>
                </c:pt>
                <c:pt idx="110">
                  <c:v>3.3074949999999999</c:v>
                </c:pt>
                <c:pt idx="111">
                  <c:v>3.3646760000000002</c:v>
                </c:pt>
                <c:pt idx="112">
                  <c:v>3.4183379999999999</c:v>
                </c:pt>
                <c:pt idx="113">
                  <c:v>3.465878</c:v>
                </c:pt>
                <c:pt idx="114">
                  <c:v>3.5043299999999999</c:v>
                </c:pt>
                <c:pt idx="115">
                  <c:v>3.5305970000000002</c:v>
                </c:pt>
                <c:pt idx="116">
                  <c:v>3.5417070000000002</c:v>
                </c:pt>
                <c:pt idx="117">
                  <c:v>3.5350839999999999</c:v>
                </c:pt>
                <c:pt idx="118">
                  <c:v>3.5087980000000001</c:v>
                </c:pt>
                <c:pt idx="119">
                  <c:v>3.4617749999999998</c:v>
                </c:pt>
                <c:pt idx="120">
                  <c:v>3.3939520000000001</c:v>
                </c:pt>
                <c:pt idx="121">
                  <c:v>3.3063539999999998</c:v>
                </c:pt>
                <c:pt idx="122">
                  <c:v>3.2010890000000001</c:v>
                </c:pt>
                <c:pt idx="123">
                  <c:v>3.0812569999999999</c:v>
                </c:pt>
                <c:pt idx="124">
                  <c:v>2.9507840000000001</c:v>
                </c:pt>
                <c:pt idx="125">
                  <c:v>2.8141850000000002</c:v>
                </c:pt>
                <c:pt idx="126">
                  <c:v>2.6762839999999999</c:v>
                </c:pt>
                <c:pt idx="127">
                  <c:v>2.5419079999999998</c:v>
                </c:pt>
                <c:pt idx="128">
                  <c:v>2.415578</c:v>
                </c:pt>
                <c:pt idx="129">
                  <c:v>2.301231</c:v>
                </c:pt>
                <c:pt idx="130">
                  <c:v>2.201981</c:v>
                </c:pt>
                <c:pt idx="131">
                  <c:v>2.1199539999999999</c:v>
                </c:pt>
                <c:pt idx="132">
                  <c:v>2.0562</c:v>
                </c:pt>
                <c:pt idx="133">
                  <c:v>2.0106809999999999</c:v>
                </c:pt>
                <c:pt idx="134">
                  <c:v>1.9823569999999999</c:v>
                </c:pt>
                <c:pt idx="135">
                  <c:v>1.96933</c:v>
                </c:pt>
                <c:pt idx="136">
                  <c:v>1.9690650000000001</c:v>
                </c:pt>
                <c:pt idx="137">
                  <c:v>1.9786319999999999</c:v>
                </c:pt>
                <c:pt idx="138">
                  <c:v>1.99498</c:v>
                </c:pt>
                <c:pt idx="139">
                  <c:v>2.0151949999999998</c:v>
                </c:pt>
                <c:pt idx="140">
                  <c:v>2.036727</c:v>
                </c:pt>
                <c:pt idx="141">
                  <c:v>2.0575739999999998</c:v>
                </c:pt>
                <c:pt idx="142">
                  <c:v>2.0763889999999998</c:v>
                </c:pt>
                <c:pt idx="143">
                  <c:v>2.0925250000000002</c:v>
                </c:pt>
                <c:pt idx="144">
                  <c:v>2.1059929999999998</c:v>
                </c:pt>
                <c:pt idx="145">
                  <c:v>2.1173630000000001</c:v>
                </c:pt>
                <c:pt idx="146">
                  <c:v>2.1275930000000001</c:v>
                </c:pt>
                <c:pt idx="147">
                  <c:v>2.1378279999999998</c:v>
                </c:pt>
                <c:pt idx="148">
                  <c:v>2.1491769999999999</c:v>
                </c:pt>
                <c:pt idx="149">
                  <c:v>2.16249</c:v>
                </c:pt>
                <c:pt idx="150">
                  <c:v>2.1781679999999999</c:v>
                </c:pt>
                <c:pt idx="151">
                  <c:v>2.1960139999999999</c:v>
                </c:pt>
                <c:pt idx="152">
                  <c:v>2.2151510000000001</c:v>
                </c:pt>
                <c:pt idx="153">
                  <c:v>2.2340080000000002</c:v>
                </c:pt>
                <c:pt idx="154">
                  <c:v>2.2503880000000001</c:v>
                </c:pt>
                <c:pt idx="155">
                  <c:v>2.261603</c:v>
                </c:pt>
                <c:pt idx="156">
                  <c:v>2.2646700000000002</c:v>
                </c:pt>
                <c:pt idx="157">
                  <c:v>2.2565550000000001</c:v>
                </c:pt>
                <c:pt idx="158">
                  <c:v>2.2344360000000001</c:v>
                </c:pt>
                <c:pt idx="159">
                  <c:v>2.1959710000000001</c:v>
                </c:pt>
                <c:pt idx="160">
                  <c:v>2.1395339999999998</c:v>
                </c:pt>
                <c:pt idx="161">
                  <c:v>2.0644149999999999</c:v>
                </c:pt>
                <c:pt idx="162">
                  <c:v>1.970942</c:v>
                </c:pt>
                <c:pt idx="163">
                  <c:v>1.860535</c:v>
                </c:pt>
                <c:pt idx="164">
                  <c:v>1.7356750000000001</c:v>
                </c:pt>
                <c:pt idx="165">
                  <c:v>1.599783</c:v>
                </c:pt>
                <c:pt idx="166">
                  <c:v>1.457028</c:v>
                </c:pt>
                <c:pt idx="167">
                  <c:v>1.312079</c:v>
                </c:pt>
                <c:pt idx="168">
                  <c:v>1.169805</c:v>
                </c:pt>
                <c:pt idx="169">
                  <c:v>1.034975</c:v>
                </c:pt>
                <c:pt idx="170">
                  <c:v>0.91194699999999995</c:v>
                </c:pt>
                <c:pt idx="171">
                  <c:v>0.80440800000000001</c:v>
                </c:pt>
                <c:pt idx="172">
                  <c:v>0.71515499999999999</c:v>
                </c:pt>
                <c:pt idx="173">
                  <c:v>0.645953</c:v>
                </c:pt>
                <c:pt idx="174">
                  <c:v>0.59747499999999998</c:v>
                </c:pt>
                <c:pt idx="175">
                  <c:v>0.56932199999999999</c:v>
                </c:pt>
                <c:pt idx="176">
                  <c:v>0.56012799999999996</c:v>
                </c:pt>
                <c:pt idx="177">
                  <c:v>0.56773700000000005</c:v>
                </c:pt>
                <c:pt idx="178">
                  <c:v>0.58942399999999995</c:v>
                </c:pt>
                <c:pt idx="179">
                  <c:v>0.62216099999999996</c:v>
                </c:pt>
                <c:pt idx="180">
                  <c:v>0.66288199999999997</c:v>
                </c:pt>
                <c:pt idx="181">
                  <c:v>0.70873299999999995</c:v>
                </c:pt>
                <c:pt idx="182">
                  <c:v>0.75729100000000005</c:v>
                </c:pt>
                <c:pt idx="183">
                  <c:v>0.80671800000000005</c:v>
                </c:pt>
                <c:pt idx="184">
                  <c:v>0.85585199999999995</c:v>
                </c:pt>
                <c:pt idx="185">
                  <c:v>0.90422400000000003</c:v>
                </c:pt>
                <c:pt idx="186">
                  <c:v>0.95199299999999998</c:v>
                </c:pt>
                <c:pt idx="187">
                  <c:v>0.99982199999999999</c:v>
                </c:pt>
                <c:pt idx="188">
                  <c:v>1.048694</c:v>
                </c:pt>
                <c:pt idx="189">
                  <c:v>1.099707</c:v>
                </c:pt>
                <c:pt idx="190">
                  <c:v>1.15384</c:v>
                </c:pt>
                <c:pt idx="191">
                  <c:v>1.2117450000000001</c:v>
                </c:pt>
                <c:pt idx="192">
                  <c:v>1.2735669999999999</c:v>
                </c:pt>
                <c:pt idx="193">
                  <c:v>1.3388139999999999</c:v>
                </c:pt>
                <c:pt idx="194">
                  <c:v>1.406299</c:v>
                </c:pt>
                <c:pt idx="195">
                  <c:v>1.4741550000000001</c:v>
                </c:pt>
                <c:pt idx="196">
                  <c:v>1.539922</c:v>
                </c:pt>
                <c:pt idx="197">
                  <c:v>1.600706</c:v>
                </c:pt>
                <c:pt idx="198">
                  <c:v>1.6533960000000001</c:v>
                </c:pt>
                <c:pt idx="199">
                  <c:v>1.6949129999999999</c:v>
                </c:pt>
                <c:pt idx="200">
                  <c:v>1.722478</c:v>
                </c:pt>
                <c:pt idx="201">
                  <c:v>1.7338750000000001</c:v>
                </c:pt>
                <c:pt idx="202">
                  <c:v>1.7276739999999999</c:v>
                </c:pt>
                <c:pt idx="203">
                  <c:v>1.703409</c:v>
                </c:pt>
                <c:pt idx="204">
                  <c:v>1.661678</c:v>
                </c:pt>
                <c:pt idx="205">
                  <c:v>1.604171</c:v>
                </c:pt>
                <c:pt idx="206">
                  <c:v>1.533604</c:v>
                </c:pt>
                <c:pt idx="207">
                  <c:v>1.453578</c:v>
                </c:pt>
                <c:pt idx="208">
                  <c:v>1.3683639999999999</c:v>
                </c:pt>
                <c:pt idx="209">
                  <c:v>1.2826360000000001</c:v>
                </c:pt>
                <c:pt idx="210">
                  <c:v>1.201171</c:v>
                </c:pt>
                <c:pt idx="211">
                  <c:v>1.128536</c:v>
                </c:pt>
                <c:pt idx="212">
                  <c:v>1.0687990000000001</c:v>
                </c:pt>
                <c:pt idx="213">
                  <c:v>1.0252760000000001</c:v>
                </c:pt>
                <c:pt idx="214">
                  <c:v>1.0003379999999999</c:v>
                </c:pt>
                <c:pt idx="215">
                  <c:v>0.99529599999999996</c:v>
                </c:pt>
                <c:pt idx="216">
                  <c:v>1.0103660000000001</c:v>
                </c:pt>
                <c:pt idx="217">
                  <c:v>1.044718</c:v>
                </c:pt>
                <c:pt idx="218">
                  <c:v>1.0966130000000001</c:v>
                </c:pt>
                <c:pt idx="219">
                  <c:v>1.1635850000000001</c:v>
                </c:pt>
                <c:pt idx="220">
                  <c:v>1.242694</c:v>
                </c:pt>
                <c:pt idx="221">
                  <c:v>1.3307819999999999</c:v>
                </c:pt>
                <c:pt idx="222">
                  <c:v>1.424741</c:v>
                </c:pt>
                <c:pt idx="223">
                  <c:v>1.5217590000000001</c:v>
                </c:pt>
                <c:pt idx="224">
                  <c:v>1.6195109999999999</c:v>
                </c:pt>
                <c:pt idx="225">
                  <c:v>1.716299</c:v>
                </c:pt>
                <c:pt idx="226">
                  <c:v>1.8111200000000001</c:v>
                </c:pt>
                <c:pt idx="227">
                  <c:v>1.903648</c:v>
                </c:pt>
                <c:pt idx="228">
                  <c:v>1.994156</c:v>
                </c:pt>
                <c:pt idx="229">
                  <c:v>2.0833659999999998</c:v>
                </c:pt>
                <c:pt idx="230">
                  <c:v>2.1722589999999999</c:v>
                </c:pt>
                <c:pt idx="231">
                  <c:v>2.2618529999999999</c:v>
                </c:pt>
                <c:pt idx="232">
                  <c:v>2.3529810000000002</c:v>
                </c:pt>
                <c:pt idx="233">
                  <c:v>2.4460839999999999</c:v>
                </c:pt>
                <c:pt idx="234">
                  <c:v>2.5410520000000001</c:v>
                </c:pt>
                <c:pt idx="235">
                  <c:v>2.6371129999999998</c:v>
                </c:pt>
                <c:pt idx="236">
                  <c:v>2.732799</c:v>
                </c:pt>
                <c:pt idx="237">
                  <c:v>2.8259880000000002</c:v>
                </c:pt>
                <c:pt idx="238">
                  <c:v>2.914012</c:v>
                </c:pt>
                <c:pt idx="239">
                  <c:v>2.9938410000000002</c:v>
                </c:pt>
                <c:pt idx="240">
                  <c:v>3.0623100000000001</c:v>
                </c:pt>
                <c:pt idx="241">
                  <c:v>3.1163799999999999</c:v>
                </c:pt>
                <c:pt idx="242">
                  <c:v>3.1534040000000001</c:v>
                </c:pt>
                <c:pt idx="243">
                  <c:v>3.1713809999999998</c:v>
                </c:pt>
                <c:pt idx="244">
                  <c:v>3.169168</c:v>
                </c:pt>
                <c:pt idx="245">
                  <c:v>3.1466280000000002</c:v>
                </c:pt>
                <c:pt idx="246">
                  <c:v>3.1047129999999998</c:v>
                </c:pt>
                <c:pt idx="247">
                  <c:v>3.0454560000000002</c:v>
                </c:pt>
                <c:pt idx="248">
                  <c:v>2.9718849999999999</c:v>
                </c:pt>
                <c:pt idx="249">
                  <c:v>2.887848</c:v>
                </c:pt>
                <c:pt idx="250">
                  <c:v>2.7977880000000002</c:v>
                </c:pt>
                <c:pt idx="251">
                  <c:v>2.7064520000000001</c:v>
                </c:pt>
                <c:pt idx="252">
                  <c:v>2.6185930000000002</c:v>
                </c:pt>
                <c:pt idx="253">
                  <c:v>2.5386549999999999</c:v>
                </c:pt>
                <c:pt idx="254">
                  <c:v>2.4705010000000001</c:v>
                </c:pt>
                <c:pt idx="255">
                  <c:v>2.4171710000000002</c:v>
                </c:pt>
                <c:pt idx="256">
                  <c:v>2.3807170000000002</c:v>
                </c:pt>
                <c:pt idx="257">
                  <c:v>2.3621129999999999</c:v>
                </c:pt>
                <c:pt idx="258">
                  <c:v>2.3612500000000001</c:v>
                </c:pt>
                <c:pt idx="259">
                  <c:v>2.377014</c:v>
                </c:pt>
                <c:pt idx="260">
                  <c:v>2.4074390000000001</c:v>
                </c:pt>
                <c:pt idx="261">
                  <c:v>2.449916</c:v>
                </c:pt>
                <c:pt idx="262">
                  <c:v>2.5014479999999999</c:v>
                </c:pt>
                <c:pt idx="263">
                  <c:v>2.558916</c:v>
                </c:pt>
                <c:pt idx="264">
                  <c:v>2.6193379999999999</c:v>
                </c:pt>
                <c:pt idx="265">
                  <c:v>2.6801020000000002</c:v>
                </c:pt>
                <c:pt idx="266">
                  <c:v>2.7391399999999999</c:v>
                </c:pt>
                <c:pt idx="267">
                  <c:v>2.7950439999999999</c:v>
                </c:pt>
                <c:pt idx="268">
                  <c:v>2.8471069999999998</c:v>
                </c:pt>
                <c:pt idx="269">
                  <c:v>2.8952819999999999</c:v>
                </c:pt>
                <c:pt idx="270">
                  <c:v>2.940083</c:v>
                </c:pt>
                <c:pt idx="271">
                  <c:v>2.9824139999999999</c:v>
                </c:pt>
                <c:pt idx="272">
                  <c:v>3.0233680000000001</c:v>
                </c:pt>
                <c:pt idx="273">
                  <c:v>3.064003</c:v>
                </c:pt>
                <c:pt idx="274">
                  <c:v>3.105124</c:v>
                </c:pt>
                <c:pt idx="275">
                  <c:v>3.1470859999999998</c:v>
                </c:pt>
                <c:pt idx="276">
                  <c:v>3.1896490000000002</c:v>
                </c:pt>
                <c:pt idx="277">
                  <c:v>3.2318959999999999</c:v>
                </c:pt>
                <c:pt idx="278">
                  <c:v>3.2722199999999999</c:v>
                </c:pt>
                <c:pt idx="279">
                  <c:v>3.308389</c:v>
                </c:pt>
                <c:pt idx="280">
                  <c:v>3.3376809999999999</c:v>
                </c:pt>
                <c:pt idx="281">
                  <c:v>3.3570850000000001</c:v>
                </c:pt>
                <c:pt idx="282">
                  <c:v>3.3635419999999998</c:v>
                </c:pt>
                <c:pt idx="283">
                  <c:v>3.3542040000000002</c:v>
                </c:pt>
                <c:pt idx="284">
                  <c:v>3.3267099999999998</c:v>
                </c:pt>
                <c:pt idx="285">
                  <c:v>3.279417</c:v>
                </c:pt>
                <c:pt idx="286">
                  <c:v>3.211598</c:v>
                </c:pt>
                <c:pt idx="287">
                  <c:v>3.12357</c:v>
                </c:pt>
                <c:pt idx="288">
                  <c:v>3.0167449999999998</c:v>
                </c:pt>
                <c:pt idx="289">
                  <c:v>2.8935970000000002</c:v>
                </c:pt>
                <c:pt idx="290">
                  <c:v>2.7575449999999999</c:v>
                </c:pt>
                <c:pt idx="291">
                  <c:v>2.6127579999999999</c:v>
                </c:pt>
                <c:pt idx="292">
                  <c:v>2.463908</c:v>
                </c:pt>
                <c:pt idx="293">
                  <c:v>2.3158720000000002</c:v>
                </c:pt>
                <c:pt idx="294">
                  <c:v>2.1734260000000001</c:v>
                </c:pt>
                <c:pt idx="295">
                  <c:v>2.0409419999999998</c:v>
                </c:pt>
                <c:pt idx="296">
                  <c:v>1.922121</c:v>
                </c:pt>
                <c:pt idx="297">
                  <c:v>1.819779</c:v>
                </c:pt>
                <c:pt idx="298">
                  <c:v>1.735703</c:v>
                </c:pt>
                <c:pt idx="299">
                  <c:v>1.670588</c:v>
                </c:pt>
                <c:pt idx="300">
                  <c:v>1.624063</c:v>
                </c:pt>
              </c:numCache>
            </c:numRef>
          </c:yVal>
          <c:smooth val="1"/>
          <c:extLst>
            <c:ext xmlns:c16="http://schemas.microsoft.com/office/drawing/2014/chart" uri="{C3380CC4-5D6E-409C-BE32-E72D297353CC}">
              <c16:uniqueId val="{00000000-DAA8-474D-BC15-0B67FA718DB0}"/>
            </c:ext>
          </c:extLst>
        </c:ser>
        <c:ser>
          <c:idx val="1"/>
          <c:order val="1"/>
          <c:tx>
            <c:strRef>
              <c:f>PC2</c:f>
              <c:strCache>
                <c:ptCount val="1"/>
                <c:pt idx="0">
                  <c:v>PC2</c:v>
                </c:pt>
              </c:strCache>
            </c:strRef>
          </c:tx>
          <c:spPr>
            <a:ln w="23813" cap="rnd">
              <a:solidFill>
                <a:srgbClr val="087E8B"/>
              </a:solidFill>
              <a:prstDash val="solid"/>
              <a:round/>
            </a:ln>
          </c:spPr>
          <c:marker>
            <c:symbol val="none"/>
          </c:marker>
          <c:xVal>
            <c:numRef>
              <c:f>'Chart Data'!$C$2:$C$302</c:f>
              <c:numCache>
                <c:formatCode>General</c:formatCode>
                <c:ptCount val="301"/>
                <c:pt idx="0">
                  <c:v>0</c:v>
                </c:pt>
                <c:pt idx="1">
                  <c:v>0.02</c:v>
                </c:pt>
                <c:pt idx="2">
                  <c:v>0.04</c:v>
                </c:pt>
                <c:pt idx="3">
                  <c:v>0.06</c:v>
                </c:pt>
                <c:pt idx="4">
                  <c:v>0.08</c:v>
                </c:pt>
                <c:pt idx="5">
                  <c:v>0.1</c:v>
                </c:pt>
                <c:pt idx="6">
                  <c:v>0.12</c:v>
                </c:pt>
                <c:pt idx="7">
                  <c:v>0.14000000000000001</c:v>
                </c:pt>
                <c:pt idx="8">
                  <c:v>0.16</c:v>
                </c:pt>
                <c:pt idx="9">
                  <c:v>0.18</c:v>
                </c:pt>
                <c:pt idx="10">
                  <c:v>0.2</c:v>
                </c:pt>
                <c:pt idx="11">
                  <c:v>0.22</c:v>
                </c:pt>
                <c:pt idx="12">
                  <c:v>0.24</c:v>
                </c:pt>
                <c:pt idx="13">
                  <c:v>0.26</c:v>
                </c:pt>
                <c:pt idx="14">
                  <c:v>0.28000000000000003</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0.56000000000000005</c:v>
                </c:pt>
                <c:pt idx="29">
                  <c:v>0.57999999999999996</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1.1000000000000001</c:v>
                </c:pt>
                <c:pt idx="56">
                  <c:v>1.1200000000000001</c:v>
                </c:pt>
                <c:pt idx="57">
                  <c:v>1.1399999999999999</c:v>
                </c:pt>
                <c:pt idx="58">
                  <c:v>1.1599999999999999</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2.1800000000000002</c:v>
                </c:pt>
                <c:pt idx="110">
                  <c:v>2.2000000000000002</c:v>
                </c:pt>
                <c:pt idx="111">
                  <c:v>2.2200000000000002</c:v>
                </c:pt>
                <c:pt idx="112">
                  <c:v>2.2400000000000002</c:v>
                </c:pt>
                <c:pt idx="113">
                  <c:v>2.2599999999999998</c:v>
                </c:pt>
                <c:pt idx="114">
                  <c:v>2.2799999999999998</c:v>
                </c:pt>
                <c:pt idx="115">
                  <c:v>2.2999999999999998</c:v>
                </c:pt>
                <c:pt idx="116">
                  <c:v>2.3199999999999998</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4.0199999999999996</c:v>
                </c:pt>
                <c:pt idx="202">
                  <c:v>4.04</c:v>
                </c:pt>
                <c:pt idx="203">
                  <c:v>4.0599999999999996</c:v>
                </c:pt>
                <c:pt idx="204">
                  <c:v>4.08</c:v>
                </c:pt>
                <c:pt idx="205">
                  <c:v>4.0999999999999996</c:v>
                </c:pt>
                <c:pt idx="206">
                  <c:v>4.12</c:v>
                </c:pt>
                <c:pt idx="207">
                  <c:v>4.1399999999999997</c:v>
                </c:pt>
                <c:pt idx="208">
                  <c:v>4.16</c:v>
                </c:pt>
                <c:pt idx="209">
                  <c:v>4.18</c:v>
                </c:pt>
                <c:pt idx="210">
                  <c:v>4.2</c:v>
                </c:pt>
                <c:pt idx="211">
                  <c:v>4.22</c:v>
                </c:pt>
                <c:pt idx="212">
                  <c:v>4.24</c:v>
                </c:pt>
                <c:pt idx="213">
                  <c:v>4.26</c:v>
                </c:pt>
                <c:pt idx="214">
                  <c:v>4.28</c:v>
                </c:pt>
                <c:pt idx="215">
                  <c:v>4.3</c:v>
                </c:pt>
                <c:pt idx="216">
                  <c:v>4.32</c:v>
                </c:pt>
                <c:pt idx="217">
                  <c:v>4.34</c:v>
                </c:pt>
                <c:pt idx="218">
                  <c:v>4.3600000000000003</c:v>
                </c:pt>
                <c:pt idx="219">
                  <c:v>4.38</c:v>
                </c:pt>
                <c:pt idx="220">
                  <c:v>4.4000000000000004</c:v>
                </c:pt>
                <c:pt idx="221">
                  <c:v>4.42</c:v>
                </c:pt>
                <c:pt idx="222">
                  <c:v>4.4400000000000004</c:v>
                </c:pt>
                <c:pt idx="223">
                  <c:v>4.46</c:v>
                </c:pt>
                <c:pt idx="224">
                  <c:v>4.4800000000000004</c:v>
                </c:pt>
                <c:pt idx="225">
                  <c:v>4.5</c:v>
                </c:pt>
                <c:pt idx="226">
                  <c:v>4.5199999999999996</c:v>
                </c:pt>
                <c:pt idx="227">
                  <c:v>4.54</c:v>
                </c:pt>
                <c:pt idx="228">
                  <c:v>4.5599999999999996</c:v>
                </c:pt>
                <c:pt idx="229">
                  <c:v>4.58</c:v>
                </c:pt>
                <c:pt idx="230">
                  <c:v>4.5999999999999996</c:v>
                </c:pt>
                <c:pt idx="231">
                  <c:v>4.62</c:v>
                </c:pt>
                <c:pt idx="232">
                  <c:v>4.6399999999999997</c:v>
                </c:pt>
                <c:pt idx="233">
                  <c:v>4.66</c:v>
                </c:pt>
                <c:pt idx="234">
                  <c:v>4.68</c:v>
                </c:pt>
                <c:pt idx="235">
                  <c:v>4.7</c:v>
                </c:pt>
                <c:pt idx="236">
                  <c:v>4.72</c:v>
                </c:pt>
                <c:pt idx="237">
                  <c:v>4.74</c:v>
                </c:pt>
                <c:pt idx="238">
                  <c:v>4.76</c:v>
                </c:pt>
                <c:pt idx="239">
                  <c:v>4.78</c:v>
                </c:pt>
                <c:pt idx="240">
                  <c:v>4.8</c:v>
                </c:pt>
                <c:pt idx="241">
                  <c:v>4.82</c:v>
                </c:pt>
                <c:pt idx="242">
                  <c:v>4.84</c:v>
                </c:pt>
                <c:pt idx="243">
                  <c:v>4.8600000000000003</c:v>
                </c:pt>
                <c:pt idx="244">
                  <c:v>4.88</c:v>
                </c:pt>
                <c:pt idx="245">
                  <c:v>4.9000000000000004</c:v>
                </c:pt>
                <c:pt idx="246">
                  <c:v>4.92</c:v>
                </c:pt>
                <c:pt idx="247">
                  <c:v>4.9400000000000004</c:v>
                </c:pt>
                <c:pt idx="248">
                  <c:v>4.96</c:v>
                </c:pt>
                <c:pt idx="249">
                  <c:v>4.9800000000000004</c:v>
                </c:pt>
                <c:pt idx="250">
                  <c:v>5</c:v>
                </c:pt>
                <c:pt idx="251">
                  <c:v>5.0199999999999996</c:v>
                </c:pt>
                <c:pt idx="252">
                  <c:v>5.04</c:v>
                </c:pt>
                <c:pt idx="253">
                  <c:v>5.0599999999999996</c:v>
                </c:pt>
                <c:pt idx="254">
                  <c:v>5.08</c:v>
                </c:pt>
                <c:pt idx="255">
                  <c:v>5.0999999999999996</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numCache>
            </c:numRef>
          </c:xVal>
          <c:yVal>
            <c:numRef>
              <c:f>'Chart Data'!$D$2:$D$302</c:f>
              <c:numCache>
                <c:formatCode>0.0</c:formatCode>
                <c:ptCount val="301"/>
                <c:pt idx="0">
                  <c:v>-1.5785260000000001</c:v>
                </c:pt>
                <c:pt idx="1">
                  <c:v>-1.501565</c:v>
                </c:pt>
                <c:pt idx="2">
                  <c:v>-1.428075</c:v>
                </c:pt>
                <c:pt idx="3">
                  <c:v>-1.3614090000000001</c:v>
                </c:pt>
                <c:pt idx="4">
                  <c:v>-1.3044770000000001</c:v>
                </c:pt>
                <c:pt idx="5">
                  <c:v>-1.2595749999999999</c:v>
                </c:pt>
                <c:pt idx="6">
                  <c:v>-1.228251</c:v>
                </c:pt>
                <c:pt idx="7">
                  <c:v>-1.211244</c:v>
                </c:pt>
                <c:pt idx="8">
                  <c:v>-1.2084779999999999</c:v>
                </c:pt>
                <c:pt idx="9">
                  <c:v>-1.2191179999999999</c:v>
                </c:pt>
                <c:pt idx="10">
                  <c:v>-1.2416879999999999</c:v>
                </c:pt>
                <c:pt idx="11">
                  <c:v>-1.27423</c:v>
                </c:pt>
                <c:pt idx="12">
                  <c:v>-1.3144910000000001</c:v>
                </c:pt>
                <c:pt idx="13">
                  <c:v>-1.3601240000000001</c:v>
                </c:pt>
                <c:pt idx="14">
                  <c:v>-1.4088849999999999</c:v>
                </c:pt>
                <c:pt idx="15">
                  <c:v>-1.4588049999999999</c:v>
                </c:pt>
                <c:pt idx="16">
                  <c:v>-1.508324</c:v>
                </c:pt>
                <c:pt idx="17">
                  <c:v>-1.556376</c:v>
                </c:pt>
                <c:pt idx="18">
                  <c:v>-1.60242</c:v>
                </c:pt>
                <c:pt idx="19">
                  <c:v>-1.646409</c:v>
                </c:pt>
                <c:pt idx="20">
                  <c:v>-1.688717</c:v>
                </c:pt>
                <c:pt idx="21">
                  <c:v>-1.730008</c:v>
                </c:pt>
                <c:pt idx="22">
                  <c:v>-1.7710900000000001</c:v>
                </c:pt>
                <c:pt idx="23">
                  <c:v>-1.81274</c:v>
                </c:pt>
                <c:pt idx="24">
                  <c:v>-1.8555459999999999</c:v>
                </c:pt>
                <c:pt idx="25">
                  <c:v>-1.899753</c:v>
                </c:pt>
                <c:pt idx="26">
                  <c:v>-1.945163</c:v>
                </c:pt>
                <c:pt idx="27">
                  <c:v>-1.9910639999999999</c:v>
                </c:pt>
                <c:pt idx="28">
                  <c:v>-2.036225</c:v>
                </c:pt>
                <c:pt idx="29">
                  <c:v>-2.0789460000000002</c:v>
                </c:pt>
                <c:pt idx="30">
                  <c:v>-2.117156</c:v>
                </c:pt>
                <c:pt idx="31">
                  <c:v>-2.148568</c:v>
                </c:pt>
                <c:pt idx="32">
                  <c:v>-2.1708530000000001</c:v>
                </c:pt>
                <c:pt idx="33">
                  <c:v>-2.1818469999999999</c:v>
                </c:pt>
                <c:pt idx="34">
                  <c:v>-2.1797430000000002</c:v>
                </c:pt>
                <c:pt idx="35">
                  <c:v>-2.1632790000000002</c:v>
                </c:pt>
                <c:pt idx="36">
                  <c:v>-2.1318769999999998</c:v>
                </c:pt>
                <c:pt idx="37">
                  <c:v>-2.0857429999999999</c:v>
                </c:pt>
                <c:pt idx="38">
                  <c:v>-2.0259079999999998</c:v>
                </c:pt>
                <c:pt idx="39">
                  <c:v>-1.9541949999999999</c:v>
                </c:pt>
                <c:pt idx="40">
                  <c:v>-1.8731409999999999</c:v>
                </c:pt>
                <c:pt idx="41">
                  <c:v>-1.785844</c:v>
                </c:pt>
                <c:pt idx="42">
                  <c:v>-1.695778</c:v>
                </c:pt>
                <c:pt idx="43">
                  <c:v>-1.6065750000000001</c:v>
                </c:pt>
                <c:pt idx="44">
                  <c:v>-1.5217860000000001</c:v>
                </c:pt>
                <c:pt idx="45">
                  <c:v>-1.444661</c:v>
                </c:pt>
                <c:pt idx="46">
                  <c:v>-1.3779440000000001</c:v>
                </c:pt>
                <c:pt idx="47">
                  <c:v>-1.3237159999999999</c:v>
                </c:pt>
                <c:pt idx="48">
                  <c:v>-1.28328</c:v>
                </c:pt>
                <c:pt idx="49">
                  <c:v>-1.2571239999999999</c:v>
                </c:pt>
                <c:pt idx="50">
                  <c:v>-1.2449319999999999</c:v>
                </c:pt>
                <c:pt idx="51">
                  <c:v>-1.245663</c:v>
                </c:pt>
                <c:pt idx="52">
                  <c:v>-1.2576830000000001</c:v>
                </c:pt>
                <c:pt idx="53">
                  <c:v>-1.278937</c:v>
                </c:pt>
                <c:pt idx="54">
                  <c:v>-1.3071410000000001</c:v>
                </c:pt>
                <c:pt idx="55">
                  <c:v>-1.3399840000000001</c:v>
                </c:pt>
                <c:pt idx="56">
                  <c:v>-1.3753200000000001</c:v>
                </c:pt>
                <c:pt idx="57">
                  <c:v>-1.411324</c:v>
                </c:pt>
                <c:pt idx="58">
                  <c:v>-1.4466190000000001</c:v>
                </c:pt>
                <c:pt idx="59">
                  <c:v>-1.480334</c:v>
                </c:pt>
                <c:pt idx="60">
                  <c:v>-1.512121</c:v>
                </c:pt>
                <c:pt idx="61">
                  <c:v>-1.5421069999999999</c:v>
                </c:pt>
                <c:pt idx="62">
                  <c:v>-1.5707990000000001</c:v>
                </c:pt>
                <c:pt idx="63">
                  <c:v>-1.598949</c:v>
                </c:pt>
                <c:pt idx="64">
                  <c:v>-1.6273949999999999</c:v>
                </c:pt>
                <c:pt idx="65">
                  <c:v>-1.6568890000000001</c:v>
                </c:pt>
                <c:pt idx="66">
                  <c:v>-1.6879379999999999</c:v>
                </c:pt>
                <c:pt idx="67">
                  <c:v>-1.720672</c:v>
                </c:pt>
                <c:pt idx="68">
                  <c:v>-1.7547429999999999</c:v>
                </c:pt>
                <c:pt idx="69">
                  <c:v>-1.7892840000000001</c:v>
                </c:pt>
                <c:pt idx="70">
                  <c:v>-1.8229169999999999</c:v>
                </c:pt>
                <c:pt idx="71">
                  <c:v>-1.853823</c:v>
                </c:pt>
                <c:pt idx="72">
                  <c:v>-1.879858</c:v>
                </c:pt>
                <c:pt idx="73">
                  <c:v>-1.898714</c:v>
                </c:pt>
                <c:pt idx="74">
                  <c:v>-1.908112</c:v>
                </c:pt>
                <c:pt idx="75">
                  <c:v>-1.9059999999999999</c:v>
                </c:pt>
                <c:pt idx="76">
                  <c:v>-1.8907480000000001</c:v>
                </c:pt>
                <c:pt idx="77">
                  <c:v>-1.8613230000000001</c:v>
                </c:pt>
                <c:pt idx="78">
                  <c:v>-1.817412</c:v>
                </c:pt>
                <c:pt idx="79">
                  <c:v>-1.7595069999999999</c:v>
                </c:pt>
                <c:pt idx="80">
                  <c:v>-1.6889209999999999</c:v>
                </c:pt>
                <c:pt idx="81">
                  <c:v>-1.607739</c:v>
                </c:pt>
                <c:pt idx="82">
                  <c:v>-1.5187109999999999</c:v>
                </c:pt>
                <c:pt idx="83">
                  <c:v>-1.4250940000000001</c:v>
                </c:pt>
                <c:pt idx="84">
                  <c:v>-1.330449</c:v>
                </c:pt>
                <c:pt idx="85">
                  <c:v>-1.2384109999999999</c:v>
                </c:pt>
                <c:pt idx="86">
                  <c:v>-1.1524639999999999</c:v>
                </c:pt>
                <c:pt idx="87">
                  <c:v>-1.075715</c:v>
                </c:pt>
                <c:pt idx="88">
                  <c:v>-1.0107060000000001</c:v>
                </c:pt>
                <c:pt idx="89">
                  <c:v>-0.95927200000000001</c:v>
                </c:pt>
                <c:pt idx="90">
                  <c:v>-0.92244999999999999</c:v>
                </c:pt>
                <c:pt idx="91">
                  <c:v>-0.90045500000000001</c:v>
                </c:pt>
                <c:pt idx="92">
                  <c:v>-0.89271999999999996</c:v>
                </c:pt>
                <c:pt idx="93">
                  <c:v>-0.89798900000000004</c:v>
                </c:pt>
                <c:pt idx="94">
                  <c:v>-0.91446700000000003</c:v>
                </c:pt>
                <c:pt idx="95">
                  <c:v>-0.93999699999999997</c:v>
                </c:pt>
                <c:pt idx="96">
                  <c:v>-0.97226199999999996</c:v>
                </c:pt>
                <c:pt idx="97">
                  <c:v>-1.008982</c:v>
                </c:pt>
                <c:pt idx="98">
                  <c:v>-1.0480989999999999</c:v>
                </c:pt>
                <c:pt idx="99">
                  <c:v>-1.0879190000000001</c:v>
                </c:pt>
                <c:pt idx="100">
                  <c:v>-1.1272230000000001</c:v>
                </c:pt>
                <c:pt idx="101">
                  <c:v>-1.1653100000000001</c:v>
                </c:pt>
                <c:pt idx="102">
                  <c:v>-1.2019880000000001</c:v>
                </c:pt>
                <c:pt idx="103">
                  <c:v>-1.2375160000000001</c:v>
                </c:pt>
                <c:pt idx="104">
                  <c:v>-1.2724899999999999</c:v>
                </c:pt>
                <c:pt idx="105">
                  <c:v>-1.3076970000000001</c:v>
                </c:pt>
                <c:pt idx="106">
                  <c:v>-1.343955</c:v>
                </c:pt>
                <c:pt idx="107">
                  <c:v>-1.3819380000000001</c:v>
                </c:pt>
                <c:pt idx="108">
                  <c:v>-1.4220280000000001</c:v>
                </c:pt>
                <c:pt idx="109">
                  <c:v>-1.464191</c:v>
                </c:pt>
                <c:pt idx="110">
                  <c:v>-1.507892</c:v>
                </c:pt>
                <c:pt idx="111">
                  <c:v>-1.5520769999999999</c:v>
                </c:pt>
                <c:pt idx="112">
                  <c:v>-1.595194</c:v>
                </c:pt>
                <c:pt idx="113">
                  <c:v>-1.635284</c:v>
                </c:pt>
                <c:pt idx="114">
                  <c:v>-1.67011</c:v>
                </c:pt>
                <c:pt idx="115">
                  <c:v>-1.697336</c:v>
                </c:pt>
                <c:pt idx="116">
                  <c:v>-1.714717</c:v>
                </c:pt>
                <c:pt idx="117">
                  <c:v>-1.7203029999999999</c:v>
                </c:pt>
                <c:pt idx="118">
                  <c:v>-1.7126250000000001</c:v>
                </c:pt>
                <c:pt idx="119">
                  <c:v>-1.6908589999999999</c:v>
                </c:pt>
                <c:pt idx="120">
                  <c:v>-1.6549339999999999</c:v>
                </c:pt>
                <c:pt idx="121">
                  <c:v>-1.6055969999999999</c:v>
                </c:pt>
                <c:pt idx="122">
                  <c:v>-1.544405</c:v>
                </c:pt>
                <c:pt idx="123">
                  <c:v>-1.4736579999999999</c:v>
                </c:pt>
                <c:pt idx="124">
                  <c:v>-1.396274</c:v>
                </c:pt>
                <c:pt idx="125">
                  <c:v>-1.3156129999999999</c:v>
                </c:pt>
                <c:pt idx="126">
                  <c:v>-1.2352650000000001</c:v>
                </c:pt>
                <c:pt idx="127">
                  <c:v>-1.158817</c:v>
                </c:pt>
                <c:pt idx="128">
                  <c:v>-1.089628</c:v>
                </c:pt>
                <c:pt idx="129">
                  <c:v>-1.0306139999999999</c:v>
                </c:pt>
                <c:pt idx="130">
                  <c:v>-0.98407199999999995</c:v>
                </c:pt>
                <c:pt idx="131">
                  <c:v>-0.95155400000000001</c:v>
                </c:pt>
                <c:pt idx="132">
                  <c:v>-0.93379999999999996</c:v>
                </c:pt>
                <c:pt idx="133">
                  <c:v>-0.93073499999999998</c:v>
                </c:pt>
                <c:pt idx="134">
                  <c:v>-0.94152599999999997</c:v>
                </c:pt>
                <c:pt idx="135">
                  <c:v>-0.964696</c:v>
                </c:pt>
                <c:pt idx="136">
                  <c:v>-0.99828499999999998</c:v>
                </c:pt>
                <c:pt idx="137">
                  <c:v>-1.0400389999999999</c:v>
                </c:pt>
                <c:pt idx="138">
                  <c:v>-1.087609</c:v>
                </c:pt>
                <c:pt idx="139">
                  <c:v>-1.1387480000000001</c:v>
                </c:pt>
                <c:pt idx="140">
                  <c:v>-1.1914830000000001</c:v>
                </c:pt>
                <c:pt idx="141">
                  <c:v>-1.2442489999999999</c:v>
                </c:pt>
                <c:pt idx="142">
                  <c:v>-1.2959750000000001</c:v>
                </c:pt>
                <c:pt idx="143">
                  <c:v>-1.3461129999999999</c:v>
                </c:pt>
                <c:pt idx="144">
                  <c:v>-1.394611</c:v>
                </c:pt>
                <c:pt idx="145">
                  <c:v>-1.441835</c:v>
                </c:pt>
                <c:pt idx="146">
                  <c:v>-1.488442</c:v>
                </c:pt>
                <c:pt idx="147">
                  <c:v>-1.535229</c:v>
                </c:pt>
                <c:pt idx="148">
                  <c:v>-1.582967</c:v>
                </c:pt>
                <c:pt idx="149">
                  <c:v>-1.6322319999999999</c:v>
                </c:pt>
                <c:pt idx="150">
                  <c:v>-1.6832590000000001</c:v>
                </c:pt>
                <c:pt idx="151">
                  <c:v>-1.7358389999999999</c:v>
                </c:pt>
                <c:pt idx="152">
                  <c:v>-1.7892479999999999</c:v>
                </c:pt>
                <c:pt idx="153">
                  <c:v>-1.842244</c:v>
                </c:pt>
                <c:pt idx="154">
                  <c:v>-1.893113</c:v>
                </c:pt>
                <c:pt idx="155">
                  <c:v>-1.9397720000000001</c:v>
                </c:pt>
                <c:pt idx="156">
                  <c:v>-1.979919</c:v>
                </c:pt>
                <c:pt idx="157">
                  <c:v>-2.0112130000000001</c:v>
                </c:pt>
                <c:pt idx="158">
                  <c:v>-2.0314730000000001</c:v>
                </c:pt>
                <c:pt idx="159">
                  <c:v>-2.0388790000000001</c:v>
                </c:pt>
                <c:pt idx="160">
                  <c:v>-2.032152</c:v>
                </c:pt>
                <c:pt idx="161">
                  <c:v>-2.0106980000000001</c:v>
                </c:pt>
                <c:pt idx="162">
                  <c:v>-1.97471</c:v>
                </c:pt>
                <c:pt idx="163">
                  <c:v>-1.9251990000000001</c:v>
                </c:pt>
                <c:pt idx="164">
                  <c:v>-1.863974</c:v>
                </c:pt>
                <c:pt idx="165">
                  <c:v>-1.793553</c:v>
                </c:pt>
                <c:pt idx="166">
                  <c:v>-1.7170179999999999</c:v>
                </c:pt>
                <c:pt idx="167">
                  <c:v>-1.637826</c:v>
                </c:pt>
                <c:pt idx="168">
                  <c:v>-1.55959</c:v>
                </c:pt>
                <c:pt idx="169">
                  <c:v>-1.4858439999999999</c:v>
                </c:pt>
                <c:pt idx="170">
                  <c:v>-1.4198200000000001</c:v>
                </c:pt>
                <c:pt idx="171">
                  <c:v>-1.364244</c:v>
                </c:pt>
                <c:pt idx="172">
                  <c:v>-1.3211790000000001</c:v>
                </c:pt>
                <c:pt idx="173">
                  <c:v>-1.291911</c:v>
                </c:pt>
                <c:pt idx="174">
                  <c:v>-1.2769090000000001</c:v>
                </c:pt>
                <c:pt idx="175">
                  <c:v>-1.275838</c:v>
                </c:pt>
                <c:pt idx="176">
                  <c:v>-1.2876399999999999</c:v>
                </c:pt>
                <c:pt idx="177">
                  <c:v>-1.310665</c:v>
                </c:pt>
                <c:pt idx="178">
                  <c:v>-1.3428370000000001</c:v>
                </c:pt>
                <c:pt idx="179">
                  <c:v>-1.3818550000000001</c:v>
                </c:pt>
                <c:pt idx="180">
                  <c:v>-1.425392</c:v>
                </c:pt>
                <c:pt idx="181">
                  <c:v>-1.471284</c:v>
                </c:pt>
                <c:pt idx="182">
                  <c:v>-1.5176890000000001</c:v>
                </c:pt>
                <c:pt idx="183">
                  <c:v>-1.563212</c:v>
                </c:pt>
                <c:pt idx="184">
                  <c:v>-1.606968</c:v>
                </c:pt>
                <c:pt idx="185">
                  <c:v>-1.64859</c:v>
                </c:pt>
                <c:pt idx="186">
                  <c:v>-1.688191</c:v>
                </c:pt>
                <c:pt idx="187">
                  <c:v>-1.726261</c:v>
                </c:pt>
                <c:pt idx="188">
                  <c:v>-1.763539</c:v>
                </c:pt>
                <c:pt idx="189">
                  <c:v>-1.8008459999999999</c:v>
                </c:pt>
                <c:pt idx="190">
                  <c:v>-1.838921</c:v>
                </c:pt>
                <c:pt idx="191">
                  <c:v>-1.8782559999999999</c:v>
                </c:pt>
                <c:pt idx="192">
                  <c:v>-1.9189689999999999</c:v>
                </c:pt>
                <c:pt idx="193">
                  <c:v>-1.9606980000000001</c:v>
                </c:pt>
                <c:pt idx="194">
                  <c:v>-2.002564</c:v>
                </c:pt>
                <c:pt idx="195">
                  <c:v>-2.0431780000000002</c:v>
                </c:pt>
                <c:pt idx="196">
                  <c:v>-2.080708</c:v>
                </c:pt>
                <c:pt idx="197">
                  <c:v>-2.113</c:v>
                </c:pt>
                <c:pt idx="198">
                  <c:v>-2.1377359999999999</c:v>
                </c:pt>
                <c:pt idx="199">
                  <c:v>-2.152628</c:v>
                </c:pt>
                <c:pt idx="200">
                  <c:v>-2.1556150000000001</c:v>
                </c:pt>
                <c:pt idx="201">
                  <c:v>-2.1450580000000001</c:v>
                </c:pt>
                <c:pt idx="202">
                  <c:v>-2.1199159999999999</c:v>
                </c:pt>
                <c:pt idx="203">
                  <c:v>-2.0798709999999998</c:v>
                </c:pt>
                <c:pt idx="204">
                  <c:v>-2.0254080000000001</c:v>
                </c:pt>
                <c:pt idx="205">
                  <c:v>-1.9578329999999999</c:v>
                </c:pt>
                <c:pt idx="206">
                  <c:v>-1.8792279999999999</c:v>
                </c:pt>
                <c:pt idx="207">
                  <c:v>-1.792338</c:v>
                </c:pt>
                <c:pt idx="208">
                  <c:v>-1.7004159999999999</c:v>
                </c:pt>
                <c:pt idx="209">
                  <c:v>-1.607021</c:v>
                </c:pt>
                <c:pt idx="210">
                  <c:v>-1.515787</c:v>
                </c:pt>
                <c:pt idx="211">
                  <c:v>-1.430194</c:v>
                </c:pt>
                <c:pt idx="212">
                  <c:v>-1.3533500000000001</c:v>
                </c:pt>
                <c:pt idx="213">
                  <c:v>-1.287798</c:v>
                </c:pt>
                <c:pt idx="214">
                  <c:v>-1.2353730000000001</c:v>
                </c:pt>
                <c:pt idx="215">
                  <c:v>-1.1971130000000001</c:v>
                </c:pt>
                <c:pt idx="216">
                  <c:v>-1.1732359999999999</c:v>
                </c:pt>
                <c:pt idx="217">
                  <c:v>-1.163178</c:v>
                </c:pt>
                <c:pt idx="218">
                  <c:v>-1.1656869999999999</c:v>
                </c:pt>
                <c:pt idx="219">
                  <c:v>-1.1789719999999999</c:v>
                </c:pt>
                <c:pt idx="220">
                  <c:v>-1.2008810000000001</c:v>
                </c:pt>
                <c:pt idx="221">
                  <c:v>-1.229104</c:v>
                </c:pt>
                <c:pt idx="222">
                  <c:v>-1.261366</c:v>
                </c:pt>
                <c:pt idx="223">
                  <c:v>-1.295617</c:v>
                </c:pt>
                <c:pt idx="224">
                  <c:v>-1.330171</c:v>
                </c:pt>
                <c:pt idx="225">
                  <c:v>-1.363818</c:v>
                </c:pt>
                <c:pt idx="226">
                  <c:v>-1.395864</c:v>
                </c:pt>
                <c:pt idx="227">
                  <c:v>-1.4261299999999999</c:v>
                </c:pt>
                <c:pt idx="228">
                  <c:v>-1.4548829999999999</c:v>
                </c:pt>
                <c:pt idx="229">
                  <c:v>-1.482729</c:v>
                </c:pt>
                <c:pt idx="230">
                  <c:v>-1.51047</c:v>
                </c:pt>
                <c:pt idx="231">
                  <c:v>-1.5389330000000001</c:v>
                </c:pt>
                <c:pt idx="232">
                  <c:v>-1.5688059999999999</c:v>
                </c:pt>
                <c:pt idx="233">
                  <c:v>-1.6004849999999999</c:v>
                </c:pt>
                <c:pt idx="234">
                  <c:v>-1.633947</c:v>
                </c:pt>
                <c:pt idx="235">
                  <c:v>-1.6686730000000001</c:v>
                </c:pt>
                <c:pt idx="236">
                  <c:v>-1.703624</c:v>
                </c:pt>
                <c:pt idx="237">
                  <c:v>-1.7372609999999999</c:v>
                </c:pt>
                <c:pt idx="238">
                  <c:v>-1.7676400000000001</c:v>
                </c:pt>
                <c:pt idx="239">
                  <c:v>-1.792543</c:v>
                </c:pt>
                <c:pt idx="240">
                  <c:v>-1.809647</c:v>
                </c:pt>
                <c:pt idx="241">
                  <c:v>-1.8167249999999999</c:v>
                </c:pt>
                <c:pt idx="242">
                  <c:v>-1.8118430000000001</c:v>
                </c:pt>
                <c:pt idx="243">
                  <c:v>-1.7935490000000001</c:v>
                </c:pt>
                <c:pt idx="244">
                  <c:v>-1.761036</c:v>
                </c:pt>
                <c:pt idx="245">
                  <c:v>-1.714251</c:v>
                </c:pt>
                <c:pt idx="246">
                  <c:v>-1.653958</c:v>
                </c:pt>
                <c:pt idx="247">
                  <c:v>-1.581731</c:v>
                </c:pt>
                <c:pt idx="248">
                  <c:v>-1.499889</c:v>
                </c:pt>
                <c:pt idx="249">
                  <c:v>-1.411368</c:v>
                </c:pt>
                <c:pt idx="250">
                  <c:v>-1.3195460000000001</c:v>
                </c:pt>
                <c:pt idx="251">
                  <c:v>-1.228029</c:v>
                </c:pt>
                <c:pt idx="252">
                  <c:v>-1.140425</c:v>
                </c:pt>
                <c:pt idx="253">
                  <c:v>-1.0601100000000001</c:v>
                </c:pt>
                <c:pt idx="254">
                  <c:v>-0.99001700000000004</c:v>
                </c:pt>
                <c:pt idx="255">
                  <c:v>-0.93246200000000001</c:v>
                </c:pt>
                <c:pt idx="256">
                  <c:v>-0.88901399999999997</c:v>
                </c:pt>
                <c:pt idx="257">
                  <c:v>-0.86043099999999995</c:v>
                </c:pt>
                <c:pt idx="258">
                  <c:v>-0.84665599999999996</c:v>
                </c:pt>
                <c:pt idx="259">
                  <c:v>-0.84687299999999999</c:v>
                </c:pt>
                <c:pt idx="260">
                  <c:v>-0.859622</c:v>
                </c:pt>
                <c:pt idx="261">
                  <c:v>-0.88295999999999997</c:v>
                </c:pt>
                <c:pt idx="262">
                  <c:v>-0.91464999999999996</c:v>
                </c:pt>
                <c:pt idx="263">
                  <c:v>-0.95235800000000004</c:v>
                </c:pt>
                <c:pt idx="264">
                  <c:v>-0.99385299999999999</c:v>
                </c:pt>
                <c:pt idx="265">
                  <c:v>-1.0371790000000001</c:v>
                </c:pt>
                <c:pt idx="266">
                  <c:v>-1.0807850000000001</c:v>
                </c:pt>
                <c:pt idx="267">
                  <c:v>-1.1236159999999999</c:v>
                </c:pt>
                <c:pt idx="268">
                  <c:v>-1.1651370000000001</c:v>
                </c:pt>
                <c:pt idx="269">
                  <c:v>-1.2053119999999999</c:v>
                </c:pt>
                <c:pt idx="270">
                  <c:v>-1.244518</c:v>
                </c:pt>
                <c:pt idx="271">
                  <c:v>-1.283426</c:v>
                </c:pt>
                <c:pt idx="272">
                  <c:v>-1.322846</c:v>
                </c:pt>
                <c:pt idx="273">
                  <c:v>-1.3635600000000001</c:v>
                </c:pt>
                <c:pt idx="274">
                  <c:v>-1.406155</c:v>
                </c:pt>
                <c:pt idx="275">
                  <c:v>-1.450879</c:v>
                </c:pt>
                <c:pt idx="276">
                  <c:v>-1.49753</c:v>
                </c:pt>
                <c:pt idx="277">
                  <c:v>-1.5453969999999999</c:v>
                </c:pt>
                <c:pt idx="278">
                  <c:v>-1.5932440000000001</c:v>
                </c:pt>
                <c:pt idx="279">
                  <c:v>-1.639367</c:v>
                </c:pt>
                <c:pt idx="280">
                  <c:v>-1.681691</c:v>
                </c:pt>
                <c:pt idx="281">
                  <c:v>-1.7179199999999999</c:v>
                </c:pt>
                <c:pt idx="282">
                  <c:v>-1.745719</c:v>
                </c:pt>
                <c:pt idx="283">
                  <c:v>-1.762913</c:v>
                </c:pt>
                <c:pt idx="284">
                  <c:v>-1.7676879999999999</c:v>
                </c:pt>
                <c:pt idx="285">
                  <c:v>-1.7587680000000001</c:v>
                </c:pt>
                <c:pt idx="286">
                  <c:v>-1.7355640000000001</c:v>
                </c:pt>
                <c:pt idx="287">
                  <c:v>-1.6982699999999999</c:v>
                </c:pt>
                <c:pt idx="288">
                  <c:v>-1.6478999999999999</c:v>
                </c:pt>
                <c:pt idx="289">
                  <c:v>-1.5862639999999999</c:v>
                </c:pt>
                <c:pt idx="290">
                  <c:v>-1.515881</c:v>
                </c:pt>
                <c:pt idx="291">
                  <c:v>-1.4398329999999999</c:v>
                </c:pt>
                <c:pt idx="292">
                  <c:v>-1.361577</c:v>
                </c:pt>
                <c:pt idx="293">
                  <c:v>-1.2847230000000001</c:v>
                </c:pt>
                <c:pt idx="294">
                  <c:v>-1.2128030000000001</c:v>
                </c:pt>
                <c:pt idx="295">
                  <c:v>-1.1490469999999999</c:v>
                </c:pt>
                <c:pt idx="296">
                  <c:v>-1.0961780000000001</c:v>
                </c:pt>
                <c:pt idx="297">
                  <c:v>-1.0562510000000001</c:v>
                </c:pt>
                <c:pt idx="298">
                  <c:v>-1.030551</c:v>
                </c:pt>
                <c:pt idx="299">
                  <c:v>-1.019539</c:v>
                </c:pt>
                <c:pt idx="300">
                  <c:v>-1.0228740000000001</c:v>
                </c:pt>
              </c:numCache>
            </c:numRef>
          </c:yVal>
          <c:smooth val="1"/>
          <c:extLst>
            <c:ext xmlns:c16="http://schemas.microsoft.com/office/drawing/2014/chart" uri="{C3380CC4-5D6E-409C-BE32-E72D297353CC}">
              <c16:uniqueId val="{00000001-DAA8-474D-BC15-0B67FA718DB0}"/>
            </c:ext>
          </c:extLst>
        </c:ser>
        <c:dLbls>
          <c:showLegendKey val="0"/>
          <c:showVal val="0"/>
          <c:showCatName val="0"/>
          <c:showSerName val="0"/>
          <c:showPercent val="0"/>
          <c:showBubbleSize val="0"/>
        </c:dLbls>
        <c:axId val="48650112"/>
        <c:axId val="48672768"/>
      </c:scatterChart>
      <c:valAx>
        <c:axId val="48650112"/>
        <c:scaling>
          <c:orientation val="minMax"/>
          <c:max val="6"/>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2"/>
      </c:valAx>
      <c:valAx>
        <c:axId val="48672768"/>
        <c:scaling>
          <c:orientation val="minMax"/>
          <c:max val="4"/>
          <c:min val="-2.5"/>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Offset score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d4e3d1ca-3529-404c-8e35-c53bb35e1bab}"/>
      </c:ext>
    </c:extLst>
  </c:chart>
  <c:spPr>
    <a:solidFill>
      <a:srgbClr val="FFFFFF"/>
    </a:solidFill>
    <a:ln w="0">
      <a:noFill/>
    </a:ln>
  </c:spPr>
  <c:txPr>
    <a:bodyPr/>
    <a:lstStyle/>
    <a:p>
      <a:pPr>
        <a:defRPr lang="zh-CN"/>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Mean interval RMSE</c:f>
              <c:strCache>
                <c:ptCount val="1"/>
                <c:pt idx="0">
                  <c:v>Mean interval RMSE</c:v>
                </c:pt>
              </c:strCache>
            </c:strRef>
          </c:tx>
          <c:spPr>
            <a:solidFill>
              <a:srgbClr val="087E8B"/>
            </a:solidFill>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Identity</c:v>
                </c:pt>
                <c:pt idx="1">
                  <c:v>NLMS</c:v>
                </c:pt>
                <c:pt idx="2">
                  <c:v>Spectral</c:v>
                </c:pt>
                <c:pt idx="3">
                  <c:v>SSA</c:v>
                </c:pt>
                <c:pt idx="4">
                  <c:v>PCA-BSS</c:v>
                </c:pt>
              </c:strCache>
            </c:strRef>
          </c:cat>
          <c:val>
            <c:numRef>
              <c:f>'Chart Data'!$B$2:$B$6</c:f>
              <c:numCache>
                <c:formatCode>0.0</c:formatCode>
                <c:ptCount val="5"/>
                <c:pt idx="0">
                  <c:v>74.3</c:v>
                </c:pt>
                <c:pt idx="1">
                  <c:v>146.9</c:v>
                </c:pt>
                <c:pt idx="2">
                  <c:v>70</c:v>
                </c:pt>
                <c:pt idx="3">
                  <c:v>70.400000000000006</c:v>
                </c:pt>
                <c:pt idx="4">
                  <c:v>71.400000000000006</c:v>
                </c:pt>
              </c:numCache>
            </c:numRef>
          </c:val>
          <c:extLst>
            <c:ext xmlns:c16="http://schemas.microsoft.com/office/drawing/2014/chart" uri="{C3380CC4-5D6E-409C-BE32-E72D297353CC}">
              <c16:uniqueId val="{00000000-E50C-4726-B469-40DEB4BCA55E}"/>
            </c:ext>
          </c:extLst>
        </c:ser>
        <c:dLbls>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425" b="0" i="0" u="none" strike="noStrike" kern="1200" baseline="0">
                <a:solidFill>
                  <a:srgbClr val="152C3F"/>
                </a:solidFill>
                <a:latin typeface="DejaVu Sans" panose="020B0603030804020204"/>
                <a:ea typeface="DejaVu Sans" panose="020B0603030804020204"/>
                <a:cs typeface="DejaVu Sans" panose="020B0603030804020204"/>
              </a:defRPr>
            </a:pPr>
            <a:endParaRPr lang="zh-CN"/>
          </a:p>
        </c:txPr>
        <c:crossAx val="48672768"/>
        <c:crosses val="autoZero"/>
        <c:auto val="1"/>
        <c:lblAlgn val="ctr"/>
        <c:lblOffset val="100"/>
        <c:noMultiLvlLbl val="0"/>
      </c:catAx>
      <c:valAx>
        <c:axId val="48672768"/>
        <c:scaling>
          <c:orientation val="minMax"/>
          <c:max val="180"/>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Participant-macro mean RMSE (ms)</a:t>
                </a:r>
              </a:p>
            </c:rich>
          </c:tx>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75"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between"/>
        <c:majorUnit val="60"/>
      </c:valAx>
      <c:spPr>
        <a:solidFill>
          <a:srgbClr val="FFFFFF"/>
        </a:solidFill>
      </c:spPr>
    </c:plotArea>
    <c:plotVisOnly val="1"/>
    <c:dispBlanksAs val="gap"/>
    <c:showDLblsOverMax val="0"/>
    <c:extLst>
      <c:ext uri="{0b15fc19-7d7d-44ad-8c2d-2c3a37ce22c3}">
        <chartProps xmlns="https://web.wps.cn/et/2018/main" chartId="{771edf65-4062-4293-b3f2-2d6806cdc2e0}"/>
      </c:ext>
    </c:extLst>
  </c:chart>
  <c:spPr>
    <a:solidFill>
      <a:srgbClr val="FFFFFF"/>
    </a:solidFill>
    <a:ln w="0">
      <a:noFill/>
    </a:ln>
  </c:spPr>
  <c:txPr>
    <a:bodyPr/>
    <a:lstStyle/>
    <a:p>
      <a:pPr>
        <a:defRPr lang="zh-CN"/>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PPG pulse</c:f>
              <c:strCache>
                <c:ptCount val="1"/>
                <c:pt idx="0">
                  <c:v>PPG pulse</c:v>
                </c:pt>
              </c:strCache>
            </c:strRef>
          </c:tx>
          <c:spPr>
            <a:ln w="30480" cap="rnd">
              <a:solidFill>
                <a:srgbClr val="152C3F"/>
              </a:solidFill>
              <a:prstDash val="solid"/>
              <a:round/>
            </a:ln>
          </c:spPr>
          <c:marker>
            <c:symbol val="none"/>
          </c:marker>
          <c:xVal>
            <c:numRef>
              <c:f>'Chart Data'!$A$2:$A$282</c:f>
              <c:numCache>
                <c:formatCode>General</c:formatCode>
                <c:ptCount val="281"/>
                <c:pt idx="0">
                  <c:v>0</c:v>
                </c:pt>
                <c:pt idx="1">
                  <c:v>4.0359999999999997E-3</c:v>
                </c:pt>
                <c:pt idx="2">
                  <c:v>8.071E-3</c:v>
                </c:pt>
                <c:pt idx="3">
                  <c:v>1.2107E-2</c:v>
                </c:pt>
                <c:pt idx="4">
                  <c:v>1.6143000000000001E-2</c:v>
                </c:pt>
                <c:pt idx="5">
                  <c:v>2.0178999999999999E-2</c:v>
                </c:pt>
                <c:pt idx="6">
                  <c:v>2.4213999999999999E-2</c:v>
                </c:pt>
                <c:pt idx="7">
                  <c:v>2.8250000000000001E-2</c:v>
                </c:pt>
                <c:pt idx="8">
                  <c:v>3.2286000000000002E-2</c:v>
                </c:pt>
                <c:pt idx="9">
                  <c:v>3.6320999999999999E-2</c:v>
                </c:pt>
                <c:pt idx="10">
                  <c:v>4.0356999999999997E-2</c:v>
                </c:pt>
                <c:pt idx="11">
                  <c:v>4.4393000000000002E-2</c:v>
                </c:pt>
                <c:pt idx="12">
                  <c:v>4.8429E-2</c:v>
                </c:pt>
                <c:pt idx="13">
                  <c:v>5.2463999999999997E-2</c:v>
                </c:pt>
                <c:pt idx="14">
                  <c:v>5.6500000000000002E-2</c:v>
                </c:pt>
                <c:pt idx="15">
                  <c:v>6.0536E-2</c:v>
                </c:pt>
                <c:pt idx="16">
                  <c:v>6.4571000000000003E-2</c:v>
                </c:pt>
                <c:pt idx="17">
                  <c:v>6.8607000000000001E-2</c:v>
                </c:pt>
                <c:pt idx="18">
                  <c:v>7.2642999999999999E-2</c:v>
                </c:pt>
                <c:pt idx="19">
                  <c:v>7.6678999999999997E-2</c:v>
                </c:pt>
                <c:pt idx="20">
                  <c:v>8.0713999999999994E-2</c:v>
                </c:pt>
                <c:pt idx="21">
                  <c:v>8.4750000000000006E-2</c:v>
                </c:pt>
                <c:pt idx="22">
                  <c:v>8.8786000000000004E-2</c:v>
                </c:pt>
                <c:pt idx="23">
                  <c:v>9.2821000000000001E-2</c:v>
                </c:pt>
                <c:pt idx="24">
                  <c:v>9.6856999999999999E-2</c:v>
                </c:pt>
                <c:pt idx="25">
                  <c:v>0.100893</c:v>
                </c:pt>
                <c:pt idx="26">
                  <c:v>0.10492899999999999</c:v>
                </c:pt>
                <c:pt idx="27">
                  <c:v>0.10896400000000001</c:v>
                </c:pt>
                <c:pt idx="28">
                  <c:v>0.113</c:v>
                </c:pt>
                <c:pt idx="29">
                  <c:v>0.117036</c:v>
                </c:pt>
                <c:pt idx="30">
                  <c:v>0.121071</c:v>
                </c:pt>
                <c:pt idx="31">
                  <c:v>0.125107</c:v>
                </c:pt>
                <c:pt idx="32">
                  <c:v>0.12914300000000001</c:v>
                </c:pt>
                <c:pt idx="33">
                  <c:v>0.13317899999999999</c:v>
                </c:pt>
                <c:pt idx="34">
                  <c:v>0.137214</c:v>
                </c:pt>
                <c:pt idx="35">
                  <c:v>0.14124999999999999</c:v>
                </c:pt>
                <c:pt idx="36">
                  <c:v>0.145286</c:v>
                </c:pt>
                <c:pt idx="37">
                  <c:v>0.14932100000000001</c:v>
                </c:pt>
                <c:pt idx="38">
                  <c:v>0.15335699999999999</c:v>
                </c:pt>
                <c:pt idx="39">
                  <c:v>0.15739300000000001</c:v>
                </c:pt>
                <c:pt idx="40">
                  <c:v>0.16142899999999999</c:v>
                </c:pt>
                <c:pt idx="41">
                  <c:v>0.165464</c:v>
                </c:pt>
                <c:pt idx="42">
                  <c:v>0.16950000000000001</c:v>
                </c:pt>
                <c:pt idx="43">
                  <c:v>0.173536</c:v>
                </c:pt>
                <c:pt idx="44">
                  <c:v>0.17757100000000001</c:v>
                </c:pt>
                <c:pt idx="45">
                  <c:v>0.18160699999999999</c:v>
                </c:pt>
                <c:pt idx="46">
                  <c:v>0.185643</c:v>
                </c:pt>
                <c:pt idx="47">
                  <c:v>0.18967899999999999</c:v>
                </c:pt>
                <c:pt idx="48">
                  <c:v>0.193714</c:v>
                </c:pt>
                <c:pt idx="49">
                  <c:v>0.19775000000000001</c:v>
                </c:pt>
                <c:pt idx="50">
                  <c:v>0.20178599999999999</c:v>
                </c:pt>
                <c:pt idx="51">
                  <c:v>0.205821</c:v>
                </c:pt>
                <c:pt idx="52">
                  <c:v>0.20985699999999999</c:v>
                </c:pt>
                <c:pt idx="53">
                  <c:v>0.213893</c:v>
                </c:pt>
                <c:pt idx="54">
                  <c:v>0.21792900000000001</c:v>
                </c:pt>
                <c:pt idx="55">
                  <c:v>0.22196399999999999</c:v>
                </c:pt>
                <c:pt idx="56">
                  <c:v>0.22600000000000001</c:v>
                </c:pt>
                <c:pt idx="57">
                  <c:v>0.23003599999999999</c:v>
                </c:pt>
                <c:pt idx="58">
                  <c:v>0.234071</c:v>
                </c:pt>
                <c:pt idx="59">
                  <c:v>0.23810700000000001</c:v>
                </c:pt>
                <c:pt idx="60">
                  <c:v>0.242143</c:v>
                </c:pt>
                <c:pt idx="61">
                  <c:v>0.24617900000000001</c:v>
                </c:pt>
                <c:pt idx="62">
                  <c:v>0.25021399999999999</c:v>
                </c:pt>
                <c:pt idx="63">
                  <c:v>0.25424999999999998</c:v>
                </c:pt>
                <c:pt idx="64">
                  <c:v>0.25828600000000002</c:v>
                </c:pt>
                <c:pt idx="65">
                  <c:v>0.26232100000000003</c:v>
                </c:pt>
                <c:pt idx="66">
                  <c:v>0.26635700000000001</c:v>
                </c:pt>
                <c:pt idx="67">
                  <c:v>0.27039299999999999</c:v>
                </c:pt>
                <c:pt idx="68">
                  <c:v>0.27442899999999998</c:v>
                </c:pt>
                <c:pt idx="69">
                  <c:v>0.27846399999999999</c:v>
                </c:pt>
                <c:pt idx="70">
                  <c:v>0.28249999999999997</c:v>
                </c:pt>
                <c:pt idx="71">
                  <c:v>0.28653600000000001</c:v>
                </c:pt>
                <c:pt idx="72">
                  <c:v>0.29057100000000002</c:v>
                </c:pt>
                <c:pt idx="73">
                  <c:v>0.29460700000000001</c:v>
                </c:pt>
                <c:pt idx="74">
                  <c:v>0.29864299999999999</c:v>
                </c:pt>
                <c:pt idx="75">
                  <c:v>0.30267899999999998</c:v>
                </c:pt>
                <c:pt idx="76">
                  <c:v>0.30671399999999999</c:v>
                </c:pt>
                <c:pt idx="77">
                  <c:v>0.31075000000000003</c:v>
                </c:pt>
                <c:pt idx="78">
                  <c:v>0.31478600000000001</c:v>
                </c:pt>
                <c:pt idx="79">
                  <c:v>0.31882100000000002</c:v>
                </c:pt>
                <c:pt idx="80">
                  <c:v>0.32285700000000001</c:v>
                </c:pt>
                <c:pt idx="81">
                  <c:v>0.32689299999999999</c:v>
                </c:pt>
                <c:pt idx="82">
                  <c:v>0.33092899999999997</c:v>
                </c:pt>
                <c:pt idx="83">
                  <c:v>0.33496399999999998</c:v>
                </c:pt>
                <c:pt idx="84">
                  <c:v>0.33900000000000002</c:v>
                </c:pt>
                <c:pt idx="85">
                  <c:v>0.34303600000000001</c:v>
                </c:pt>
                <c:pt idx="86">
                  <c:v>0.34707100000000002</c:v>
                </c:pt>
                <c:pt idx="87">
                  <c:v>0.351107</c:v>
                </c:pt>
                <c:pt idx="88">
                  <c:v>0.35514299999999999</c:v>
                </c:pt>
                <c:pt idx="89">
                  <c:v>0.35917900000000003</c:v>
                </c:pt>
                <c:pt idx="90">
                  <c:v>0.36321399999999998</c:v>
                </c:pt>
                <c:pt idx="91">
                  <c:v>0.36725000000000002</c:v>
                </c:pt>
                <c:pt idx="92">
                  <c:v>0.371286</c:v>
                </c:pt>
                <c:pt idx="93">
                  <c:v>0.37532100000000002</c:v>
                </c:pt>
                <c:pt idx="94">
                  <c:v>0.379357</c:v>
                </c:pt>
                <c:pt idx="95">
                  <c:v>0.38339299999999998</c:v>
                </c:pt>
                <c:pt idx="96">
                  <c:v>0.38742900000000002</c:v>
                </c:pt>
                <c:pt idx="97">
                  <c:v>0.39146399999999998</c:v>
                </c:pt>
                <c:pt idx="98">
                  <c:v>0.39550000000000002</c:v>
                </c:pt>
                <c:pt idx="99">
                  <c:v>0.399536</c:v>
                </c:pt>
                <c:pt idx="100">
                  <c:v>0.40357100000000001</c:v>
                </c:pt>
                <c:pt idx="101">
                  <c:v>0.407607</c:v>
                </c:pt>
                <c:pt idx="102">
                  <c:v>0.41164299999999998</c:v>
                </c:pt>
                <c:pt idx="103">
                  <c:v>0.41567900000000002</c:v>
                </c:pt>
                <c:pt idx="104">
                  <c:v>0.41971399999999998</c:v>
                </c:pt>
                <c:pt idx="105">
                  <c:v>0.42375000000000002</c:v>
                </c:pt>
                <c:pt idx="106">
                  <c:v>0.427786</c:v>
                </c:pt>
                <c:pt idx="107">
                  <c:v>0.43182100000000001</c:v>
                </c:pt>
                <c:pt idx="108">
                  <c:v>0.43585699999999999</c:v>
                </c:pt>
                <c:pt idx="109">
                  <c:v>0.43989299999999998</c:v>
                </c:pt>
                <c:pt idx="110">
                  <c:v>0.44392900000000002</c:v>
                </c:pt>
                <c:pt idx="111">
                  <c:v>0.44796399999999997</c:v>
                </c:pt>
                <c:pt idx="112">
                  <c:v>0.45200000000000001</c:v>
                </c:pt>
                <c:pt idx="113">
                  <c:v>0.456036</c:v>
                </c:pt>
                <c:pt idx="114">
                  <c:v>0.46007100000000001</c:v>
                </c:pt>
                <c:pt idx="115">
                  <c:v>0.46410699999999999</c:v>
                </c:pt>
                <c:pt idx="116">
                  <c:v>0.46814299999999998</c:v>
                </c:pt>
                <c:pt idx="117">
                  <c:v>0.47217900000000002</c:v>
                </c:pt>
                <c:pt idx="118">
                  <c:v>0.47621400000000003</c:v>
                </c:pt>
                <c:pt idx="119">
                  <c:v>0.48025000000000001</c:v>
                </c:pt>
                <c:pt idx="120">
                  <c:v>0.48428599999999999</c:v>
                </c:pt>
                <c:pt idx="121">
                  <c:v>0.48832100000000001</c:v>
                </c:pt>
                <c:pt idx="122">
                  <c:v>0.49235699999999999</c:v>
                </c:pt>
                <c:pt idx="123">
                  <c:v>0.49639299999999997</c:v>
                </c:pt>
                <c:pt idx="124">
                  <c:v>0.50042900000000001</c:v>
                </c:pt>
                <c:pt idx="125">
                  <c:v>0.50446400000000002</c:v>
                </c:pt>
                <c:pt idx="126">
                  <c:v>0.50849999999999995</c:v>
                </c:pt>
                <c:pt idx="127">
                  <c:v>0.51253599999999999</c:v>
                </c:pt>
                <c:pt idx="128">
                  <c:v>0.516571</c:v>
                </c:pt>
                <c:pt idx="129">
                  <c:v>0.52060700000000004</c:v>
                </c:pt>
                <c:pt idx="130">
                  <c:v>0.52464299999999997</c:v>
                </c:pt>
                <c:pt idx="131">
                  <c:v>0.52867900000000001</c:v>
                </c:pt>
                <c:pt idx="132">
                  <c:v>0.53271400000000002</c:v>
                </c:pt>
                <c:pt idx="133">
                  <c:v>0.53674999999999995</c:v>
                </c:pt>
                <c:pt idx="134">
                  <c:v>0.54078599999999999</c:v>
                </c:pt>
                <c:pt idx="135">
                  <c:v>0.544821</c:v>
                </c:pt>
                <c:pt idx="136">
                  <c:v>0.54885700000000004</c:v>
                </c:pt>
                <c:pt idx="137">
                  <c:v>0.55289299999999997</c:v>
                </c:pt>
                <c:pt idx="138">
                  <c:v>0.55692900000000001</c:v>
                </c:pt>
                <c:pt idx="139">
                  <c:v>0.56096400000000002</c:v>
                </c:pt>
                <c:pt idx="140">
                  <c:v>0.56499999999999995</c:v>
                </c:pt>
                <c:pt idx="141">
                  <c:v>0.56903599999999999</c:v>
                </c:pt>
                <c:pt idx="142">
                  <c:v>0.573071</c:v>
                </c:pt>
                <c:pt idx="143">
                  <c:v>0.57710700000000004</c:v>
                </c:pt>
                <c:pt idx="144">
                  <c:v>0.58114299999999997</c:v>
                </c:pt>
                <c:pt idx="145">
                  <c:v>0.585179</c:v>
                </c:pt>
                <c:pt idx="146">
                  <c:v>0.58921400000000002</c:v>
                </c:pt>
                <c:pt idx="147">
                  <c:v>0.59325000000000006</c:v>
                </c:pt>
                <c:pt idx="148">
                  <c:v>0.59728599999999998</c:v>
                </c:pt>
                <c:pt idx="149">
                  <c:v>0.60132099999999999</c:v>
                </c:pt>
                <c:pt idx="150">
                  <c:v>0.60535700000000003</c:v>
                </c:pt>
                <c:pt idx="151">
                  <c:v>0.60939299999999996</c:v>
                </c:pt>
                <c:pt idx="152">
                  <c:v>0.613429</c:v>
                </c:pt>
                <c:pt idx="153">
                  <c:v>0.61746400000000001</c:v>
                </c:pt>
                <c:pt idx="154">
                  <c:v>0.62150000000000005</c:v>
                </c:pt>
                <c:pt idx="155">
                  <c:v>0.62553599999999998</c:v>
                </c:pt>
                <c:pt idx="156">
                  <c:v>0.62957099999999999</c:v>
                </c:pt>
                <c:pt idx="157">
                  <c:v>0.63360700000000003</c:v>
                </c:pt>
                <c:pt idx="158">
                  <c:v>0.63764299999999996</c:v>
                </c:pt>
                <c:pt idx="159">
                  <c:v>0.641679</c:v>
                </c:pt>
                <c:pt idx="160">
                  <c:v>0.64571400000000001</c:v>
                </c:pt>
                <c:pt idx="161">
                  <c:v>0.64975000000000005</c:v>
                </c:pt>
                <c:pt idx="162">
                  <c:v>0.65378599999999998</c:v>
                </c:pt>
                <c:pt idx="163">
                  <c:v>0.65782099999999999</c:v>
                </c:pt>
                <c:pt idx="164">
                  <c:v>0.66185700000000003</c:v>
                </c:pt>
                <c:pt idx="165">
                  <c:v>0.66589299999999996</c:v>
                </c:pt>
                <c:pt idx="166">
                  <c:v>0.669929</c:v>
                </c:pt>
                <c:pt idx="167">
                  <c:v>0.67396400000000001</c:v>
                </c:pt>
                <c:pt idx="168">
                  <c:v>0.67800000000000005</c:v>
                </c:pt>
                <c:pt idx="169">
                  <c:v>0.68203599999999998</c:v>
                </c:pt>
                <c:pt idx="170">
                  <c:v>0.68607099999999999</c:v>
                </c:pt>
                <c:pt idx="171">
                  <c:v>0.69010700000000003</c:v>
                </c:pt>
                <c:pt idx="172">
                  <c:v>0.69414299999999995</c:v>
                </c:pt>
                <c:pt idx="173">
                  <c:v>0.69817899999999999</c:v>
                </c:pt>
                <c:pt idx="174">
                  <c:v>0.702214</c:v>
                </c:pt>
                <c:pt idx="175">
                  <c:v>0.70625000000000004</c:v>
                </c:pt>
                <c:pt idx="176">
                  <c:v>0.71028599999999997</c:v>
                </c:pt>
                <c:pt idx="177">
                  <c:v>0.71432099999999998</c:v>
                </c:pt>
                <c:pt idx="178">
                  <c:v>0.71835700000000002</c:v>
                </c:pt>
                <c:pt idx="179">
                  <c:v>0.72239299999999995</c:v>
                </c:pt>
                <c:pt idx="180">
                  <c:v>0.72642899999999999</c:v>
                </c:pt>
                <c:pt idx="181">
                  <c:v>0.730464</c:v>
                </c:pt>
                <c:pt idx="182">
                  <c:v>0.73450000000000004</c:v>
                </c:pt>
                <c:pt idx="183">
                  <c:v>0.73853599999999997</c:v>
                </c:pt>
                <c:pt idx="184">
                  <c:v>0.74257099999999998</c:v>
                </c:pt>
                <c:pt idx="185">
                  <c:v>0.74660700000000002</c:v>
                </c:pt>
                <c:pt idx="186">
                  <c:v>0.75064299999999995</c:v>
                </c:pt>
                <c:pt idx="187">
                  <c:v>0.75467899999999999</c:v>
                </c:pt>
                <c:pt idx="188">
                  <c:v>0.758714</c:v>
                </c:pt>
                <c:pt idx="189">
                  <c:v>0.76275000000000004</c:v>
                </c:pt>
                <c:pt idx="190">
                  <c:v>0.76678599999999997</c:v>
                </c:pt>
                <c:pt idx="191">
                  <c:v>0.77082099999999998</c:v>
                </c:pt>
                <c:pt idx="192">
                  <c:v>0.77485700000000002</c:v>
                </c:pt>
                <c:pt idx="193">
                  <c:v>0.77889299999999995</c:v>
                </c:pt>
                <c:pt idx="194">
                  <c:v>0.78292899999999999</c:v>
                </c:pt>
                <c:pt idx="195">
                  <c:v>0.786964</c:v>
                </c:pt>
                <c:pt idx="196">
                  <c:v>0.79100000000000004</c:v>
                </c:pt>
                <c:pt idx="197">
                  <c:v>0.79503599999999996</c:v>
                </c:pt>
                <c:pt idx="198">
                  <c:v>0.79907099999999998</c:v>
                </c:pt>
                <c:pt idx="199">
                  <c:v>0.80310700000000002</c:v>
                </c:pt>
                <c:pt idx="200">
                  <c:v>0.80714300000000005</c:v>
                </c:pt>
                <c:pt idx="201">
                  <c:v>0.81117899999999998</c:v>
                </c:pt>
                <c:pt idx="202">
                  <c:v>0.81521399999999999</c:v>
                </c:pt>
                <c:pt idx="203">
                  <c:v>0.81925000000000003</c:v>
                </c:pt>
                <c:pt idx="204">
                  <c:v>0.82328599999999996</c:v>
                </c:pt>
                <c:pt idx="205">
                  <c:v>0.82732099999999997</c:v>
                </c:pt>
                <c:pt idx="206">
                  <c:v>0.83135700000000001</c:v>
                </c:pt>
                <c:pt idx="207">
                  <c:v>0.83539300000000005</c:v>
                </c:pt>
                <c:pt idx="208">
                  <c:v>0.83942899999999998</c:v>
                </c:pt>
                <c:pt idx="209">
                  <c:v>0.84346399999999999</c:v>
                </c:pt>
                <c:pt idx="210">
                  <c:v>0.84750000000000003</c:v>
                </c:pt>
                <c:pt idx="211">
                  <c:v>0.85153599999999996</c:v>
                </c:pt>
                <c:pt idx="212">
                  <c:v>0.85557099999999997</c:v>
                </c:pt>
                <c:pt idx="213">
                  <c:v>0.85960700000000001</c:v>
                </c:pt>
                <c:pt idx="214">
                  <c:v>0.86364300000000005</c:v>
                </c:pt>
                <c:pt idx="215">
                  <c:v>0.86767899999999998</c:v>
                </c:pt>
                <c:pt idx="216">
                  <c:v>0.87171399999999999</c:v>
                </c:pt>
                <c:pt idx="217">
                  <c:v>0.87575000000000003</c:v>
                </c:pt>
                <c:pt idx="218">
                  <c:v>0.87978599999999996</c:v>
                </c:pt>
                <c:pt idx="219">
                  <c:v>0.88382099999999997</c:v>
                </c:pt>
                <c:pt idx="220">
                  <c:v>0.88785700000000001</c:v>
                </c:pt>
                <c:pt idx="221">
                  <c:v>0.89189300000000005</c:v>
                </c:pt>
                <c:pt idx="222">
                  <c:v>0.89592899999999998</c:v>
                </c:pt>
                <c:pt idx="223">
                  <c:v>0.89996399999999999</c:v>
                </c:pt>
                <c:pt idx="224">
                  <c:v>0.90400000000000003</c:v>
                </c:pt>
                <c:pt idx="225">
                  <c:v>0.90803599999999995</c:v>
                </c:pt>
                <c:pt idx="226">
                  <c:v>0.91207099999999997</c:v>
                </c:pt>
                <c:pt idx="227">
                  <c:v>0.916107</c:v>
                </c:pt>
                <c:pt idx="228">
                  <c:v>0.92014300000000004</c:v>
                </c:pt>
                <c:pt idx="229">
                  <c:v>0.92417899999999997</c:v>
                </c:pt>
                <c:pt idx="230">
                  <c:v>0.92821399999999998</c:v>
                </c:pt>
                <c:pt idx="231">
                  <c:v>0.93225000000000002</c:v>
                </c:pt>
                <c:pt idx="232">
                  <c:v>0.93628599999999995</c:v>
                </c:pt>
                <c:pt idx="233">
                  <c:v>0.94032099999999996</c:v>
                </c:pt>
                <c:pt idx="234">
                  <c:v>0.944357</c:v>
                </c:pt>
                <c:pt idx="235">
                  <c:v>0.94839300000000004</c:v>
                </c:pt>
                <c:pt idx="236">
                  <c:v>0.95242899999999997</c:v>
                </c:pt>
                <c:pt idx="237">
                  <c:v>0.95646399999999998</c:v>
                </c:pt>
                <c:pt idx="238">
                  <c:v>0.96050000000000002</c:v>
                </c:pt>
                <c:pt idx="239">
                  <c:v>0.96453599999999995</c:v>
                </c:pt>
                <c:pt idx="240">
                  <c:v>0.96857099999999996</c:v>
                </c:pt>
                <c:pt idx="241">
                  <c:v>0.972607</c:v>
                </c:pt>
                <c:pt idx="242">
                  <c:v>0.97664300000000004</c:v>
                </c:pt>
                <c:pt idx="243">
                  <c:v>0.98067899999999997</c:v>
                </c:pt>
                <c:pt idx="244">
                  <c:v>0.98471399999999998</c:v>
                </c:pt>
                <c:pt idx="245">
                  <c:v>0.98875000000000002</c:v>
                </c:pt>
                <c:pt idx="246">
                  <c:v>0.99278599999999995</c:v>
                </c:pt>
                <c:pt idx="247">
                  <c:v>0.99682099999999996</c:v>
                </c:pt>
                <c:pt idx="248">
                  <c:v>1.0008570000000001</c:v>
                </c:pt>
                <c:pt idx="249">
                  <c:v>1.004893</c:v>
                </c:pt>
                <c:pt idx="250">
                  <c:v>1.008929</c:v>
                </c:pt>
                <c:pt idx="251">
                  <c:v>1.012964</c:v>
                </c:pt>
                <c:pt idx="252">
                  <c:v>1.0169999999999999</c:v>
                </c:pt>
                <c:pt idx="253">
                  <c:v>1.0210360000000001</c:v>
                </c:pt>
                <c:pt idx="254">
                  <c:v>1.0250710000000001</c:v>
                </c:pt>
                <c:pt idx="255">
                  <c:v>1.029107</c:v>
                </c:pt>
                <c:pt idx="256">
                  <c:v>1.0331429999999999</c:v>
                </c:pt>
                <c:pt idx="257">
                  <c:v>1.0371790000000001</c:v>
                </c:pt>
                <c:pt idx="258">
                  <c:v>1.0412140000000001</c:v>
                </c:pt>
                <c:pt idx="259">
                  <c:v>1.04525</c:v>
                </c:pt>
                <c:pt idx="260">
                  <c:v>1.0492859999999999</c:v>
                </c:pt>
                <c:pt idx="261">
                  <c:v>1.053321</c:v>
                </c:pt>
                <c:pt idx="262">
                  <c:v>1.0573570000000001</c:v>
                </c:pt>
                <c:pt idx="263">
                  <c:v>1.061393</c:v>
                </c:pt>
                <c:pt idx="264">
                  <c:v>1.065429</c:v>
                </c:pt>
                <c:pt idx="265">
                  <c:v>1.069464</c:v>
                </c:pt>
                <c:pt idx="266">
                  <c:v>1.0734999999999999</c:v>
                </c:pt>
                <c:pt idx="267">
                  <c:v>1.077536</c:v>
                </c:pt>
                <c:pt idx="268">
                  <c:v>1.0815710000000001</c:v>
                </c:pt>
                <c:pt idx="269">
                  <c:v>1.085607</c:v>
                </c:pt>
                <c:pt idx="270">
                  <c:v>1.0896429999999999</c:v>
                </c:pt>
                <c:pt idx="271">
                  <c:v>1.0936790000000001</c:v>
                </c:pt>
                <c:pt idx="272">
                  <c:v>1.0977140000000001</c:v>
                </c:pt>
                <c:pt idx="273">
                  <c:v>1.10175</c:v>
                </c:pt>
                <c:pt idx="274">
                  <c:v>1.1057859999999999</c:v>
                </c:pt>
                <c:pt idx="275">
                  <c:v>1.1098209999999999</c:v>
                </c:pt>
                <c:pt idx="276">
                  <c:v>1.1138570000000001</c:v>
                </c:pt>
                <c:pt idx="277">
                  <c:v>1.117893</c:v>
                </c:pt>
                <c:pt idx="278">
                  <c:v>1.121929</c:v>
                </c:pt>
                <c:pt idx="279">
                  <c:v>1.125964</c:v>
                </c:pt>
                <c:pt idx="280">
                  <c:v>1.1299999999999999</c:v>
                </c:pt>
              </c:numCache>
            </c:numRef>
          </c:xVal>
          <c:yVal>
            <c:numRef>
              <c:f>'Chart Data'!$B$2:$B$282</c:f>
              <c:numCache>
                <c:formatCode>0.0</c:formatCode>
                <c:ptCount val="281"/>
                <c:pt idx="0">
                  <c:v>0.16</c:v>
                </c:pt>
                <c:pt idx="1">
                  <c:v>0.15696099999999999</c:v>
                </c:pt>
                <c:pt idx="2">
                  <c:v>0.15373100000000001</c:v>
                </c:pt>
                <c:pt idx="3">
                  <c:v>0.15033199999999999</c:v>
                </c:pt>
                <c:pt idx="4">
                  <c:v>0.14679</c:v>
                </c:pt>
                <c:pt idx="5">
                  <c:v>0.143126</c:v>
                </c:pt>
                <c:pt idx="6">
                  <c:v>0.13936599999999999</c:v>
                </c:pt>
                <c:pt idx="7">
                  <c:v>0.13553299999999999</c:v>
                </c:pt>
                <c:pt idx="8">
                  <c:v>0.13165099999999999</c:v>
                </c:pt>
                <c:pt idx="9">
                  <c:v>0.12774199999999999</c:v>
                </c:pt>
                <c:pt idx="10">
                  <c:v>0.123832</c:v>
                </c:pt>
                <c:pt idx="11">
                  <c:v>0.11994299999999999</c:v>
                </c:pt>
                <c:pt idx="12">
                  <c:v>0.11609999999999999</c:v>
                </c:pt>
                <c:pt idx="13">
                  <c:v>0.11232499999999999</c:v>
                </c:pt>
                <c:pt idx="14">
                  <c:v>0.108644</c:v>
                </c:pt>
                <c:pt idx="15">
                  <c:v>0.10507900000000001</c:v>
                </c:pt>
                <c:pt idx="16">
                  <c:v>0.10165399999999999</c:v>
                </c:pt>
                <c:pt idx="17">
                  <c:v>9.8392999999999994E-2</c:v>
                </c:pt>
                <c:pt idx="18">
                  <c:v>9.5320000000000002E-2</c:v>
                </c:pt>
                <c:pt idx="19">
                  <c:v>9.2457999999999999E-2</c:v>
                </c:pt>
                <c:pt idx="20">
                  <c:v>8.9830999999999994E-2</c:v>
                </c:pt>
                <c:pt idx="21">
                  <c:v>8.7462999999999999E-2</c:v>
                </c:pt>
                <c:pt idx="22">
                  <c:v>8.5376999999999995E-2</c:v>
                </c:pt>
                <c:pt idx="23">
                  <c:v>8.3597000000000005E-2</c:v>
                </c:pt>
                <c:pt idx="24">
                  <c:v>8.2147999999999999E-2</c:v>
                </c:pt>
                <c:pt idx="25">
                  <c:v>8.1050999999999998E-2</c:v>
                </c:pt>
                <c:pt idx="26">
                  <c:v>8.0332000000000001E-2</c:v>
                </c:pt>
                <c:pt idx="27">
                  <c:v>8.0014000000000002E-2</c:v>
                </c:pt>
                <c:pt idx="28">
                  <c:v>8.0826999999999996E-2</c:v>
                </c:pt>
                <c:pt idx="29">
                  <c:v>8.4414000000000003E-2</c:v>
                </c:pt>
                <c:pt idx="30">
                  <c:v>9.0596999999999997E-2</c:v>
                </c:pt>
                <c:pt idx="31">
                  <c:v>9.9113000000000007E-2</c:v>
                </c:pt>
                <c:pt idx="32">
                  <c:v>0.109697</c:v>
                </c:pt>
                <c:pt idx="33">
                  <c:v>0.122085</c:v>
                </c:pt>
                <c:pt idx="34">
                  <c:v>0.13601199999999999</c:v>
                </c:pt>
                <c:pt idx="35">
                  <c:v>0.15121399999999999</c:v>
                </c:pt>
                <c:pt idx="36">
                  <c:v>0.16742499999999999</c:v>
                </c:pt>
                <c:pt idx="37">
                  <c:v>0.18438299999999999</c:v>
                </c:pt>
                <c:pt idx="38">
                  <c:v>0.201822</c:v>
                </c:pt>
                <c:pt idx="39">
                  <c:v>0.21947700000000001</c:v>
                </c:pt>
                <c:pt idx="40">
                  <c:v>0.23708599999999999</c:v>
                </c:pt>
                <c:pt idx="41">
                  <c:v>0.254382</c:v>
                </c:pt>
                <c:pt idx="42">
                  <c:v>0.27110099999999998</c:v>
                </c:pt>
                <c:pt idx="43">
                  <c:v>0.28698000000000001</c:v>
                </c:pt>
                <c:pt idx="44">
                  <c:v>0.30175299999999999</c:v>
                </c:pt>
                <c:pt idx="45">
                  <c:v>0.31577300000000003</c:v>
                </c:pt>
                <c:pt idx="46">
                  <c:v>0.33437800000000001</c:v>
                </c:pt>
                <c:pt idx="47">
                  <c:v>0.35827900000000001</c:v>
                </c:pt>
                <c:pt idx="48">
                  <c:v>0.38675399999999999</c:v>
                </c:pt>
                <c:pt idx="49">
                  <c:v>0.41908000000000001</c:v>
                </c:pt>
                <c:pt idx="50">
                  <c:v>0.45453399999999999</c:v>
                </c:pt>
                <c:pt idx="51">
                  <c:v>0.492392</c:v>
                </c:pt>
                <c:pt idx="52">
                  <c:v>0.53193100000000004</c:v>
                </c:pt>
                <c:pt idx="53">
                  <c:v>0.57242899999999997</c:v>
                </c:pt>
                <c:pt idx="54">
                  <c:v>0.61316300000000001</c:v>
                </c:pt>
                <c:pt idx="55">
                  <c:v>0.65340799999999999</c:v>
                </c:pt>
                <c:pt idx="56">
                  <c:v>0.69244300000000003</c:v>
                </c:pt>
                <c:pt idx="57">
                  <c:v>0.72954399999999997</c:v>
                </c:pt>
                <c:pt idx="58">
                  <c:v>0.76398699999999997</c:v>
                </c:pt>
                <c:pt idx="59">
                  <c:v>0.79505099999999995</c:v>
                </c:pt>
                <c:pt idx="60">
                  <c:v>0.82201100000000005</c:v>
                </c:pt>
                <c:pt idx="61">
                  <c:v>0.84414500000000003</c:v>
                </c:pt>
                <c:pt idx="62">
                  <c:v>0.86073999999999995</c:v>
                </c:pt>
                <c:pt idx="63">
                  <c:v>0.87529800000000002</c:v>
                </c:pt>
                <c:pt idx="64">
                  <c:v>0.89092499999999997</c:v>
                </c:pt>
                <c:pt idx="65">
                  <c:v>0.90745500000000001</c:v>
                </c:pt>
                <c:pt idx="66">
                  <c:v>0.92471999999999999</c:v>
                </c:pt>
                <c:pt idx="67">
                  <c:v>0.94255199999999995</c:v>
                </c:pt>
                <c:pt idx="68">
                  <c:v>0.96078300000000005</c:v>
                </c:pt>
                <c:pt idx="69">
                  <c:v>0.97924500000000003</c:v>
                </c:pt>
                <c:pt idx="70">
                  <c:v>0.99777099999999996</c:v>
                </c:pt>
                <c:pt idx="71">
                  <c:v>1.0161929999999999</c:v>
                </c:pt>
                <c:pt idx="72">
                  <c:v>1.0343439999999999</c:v>
                </c:pt>
                <c:pt idx="73">
                  <c:v>1.0520560000000001</c:v>
                </c:pt>
                <c:pt idx="74">
                  <c:v>1.0691600000000001</c:v>
                </c:pt>
                <c:pt idx="75">
                  <c:v>1.0854900000000001</c:v>
                </c:pt>
                <c:pt idx="76">
                  <c:v>1.1008770000000001</c:v>
                </c:pt>
                <c:pt idx="77">
                  <c:v>1.115154</c:v>
                </c:pt>
                <c:pt idx="78">
                  <c:v>1.1281540000000001</c:v>
                </c:pt>
                <c:pt idx="79">
                  <c:v>1.139707</c:v>
                </c:pt>
                <c:pt idx="80">
                  <c:v>1.149648</c:v>
                </c:pt>
                <c:pt idx="81">
                  <c:v>1.1578079999999999</c:v>
                </c:pt>
                <c:pt idx="82">
                  <c:v>1.1640189999999999</c:v>
                </c:pt>
                <c:pt idx="83">
                  <c:v>1.168113</c:v>
                </c:pt>
                <c:pt idx="84">
                  <c:v>1.169924</c:v>
                </c:pt>
                <c:pt idx="85">
                  <c:v>1.169548</c:v>
                </c:pt>
                <c:pt idx="86">
                  <c:v>1.16761</c:v>
                </c:pt>
                <c:pt idx="87">
                  <c:v>1.1642600000000001</c:v>
                </c:pt>
                <c:pt idx="88">
                  <c:v>1.1596200000000001</c:v>
                </c:pt>
                <c:pt idx="89">
                  <c:v>1.1538139999999999</c:v>
                </c:pt>
                <c:pt idx="90">
                  <c:v>1.1469640000000001</c:v>
                </c:pt>
                <c:pt idx="91">
                  <c:v>1.139195</c:v>
                </c:pt>
                <c:pt idx="92">
                  <c:v>1.13063</c:v>
                </c:pt>
                <c:pt idx="93">
                  <c:v>1.121391</c:v>
                </c:pt>
                <c:pt idx="94">
                  <c:v>1.111602</c:v>
                </c:pt>
                <c:pt idx="95">
                  <c:v>1.101386</c:v>
                </c:pt>
                <c:pt idx="96">
                  <c:v>1.090867</c:v>
                </c:pt>
                <c:pt idx="97">
                  <c:v>1.0801670000000001</c:v>
                </c:pt>
                <c:pt idx="98">
                  <c:v>1.0694109999999999</c:v>
                </c:pt>
                <c:pt idx="99">
                  <c:v>1.0587200000000001</c:v>
                </c:pt>
                <c:pt idx="100">
                  <c:v>1.048219</c:v>
                </c:pt>
                <c:pt idx="101">
                  <c:v>1.03803</c:v>
                </c:pt>
                <c:pt idx="102">
                  <c:v>1.028278</c:v>
                </c:pt>
                <c:pt idx="103">
                  <c:v>1.019085</c:v>
                </c:pt>
                <c:pt idx="104">
                  <c:v>1.0105729999999999</c:v>
                </c:pt>
                <c:pt idx="105">
                  <c:v>1.001328</c:v>
                </c:pt>
                <c:pt idx="106">
                  <c:v>0.98952399999999996</c:v>
                </c:pt>
                <c:pt idx="107">
                  <c:v>0.97539399999999998</c:v>
                </c:pt>
                <c:pt idx="108">
                  <c:v>0.95917699999999995</c:v>
                </c:pt>
                <c:pt idx="109">
                  <c:v>0.94111299999999998</c:v>
                </c:pt>
                <c:pt idx="110">
                  <c:v>0.92144300000000001</c:v>
                </c:pt>
                <c:pt idx="111">
                  <c:v>0.90040600000000004</c:v>
                </c:pt>
                <c:pt idx="112">
                  <c:v>0.878243</c:v>
                </c:pt>
                <c:pt idx="113">
                  <c:v>0.85519299999999998</c:v>
                </c:pt>
                <c:pt idx="114">
                  <c:v>0.83149700000000004</c:v>
                </c:pt>
                <c:pt idx="115">
                  <c:v>0.80739399999999995</c:v>
                </c:pt>
                <c:pt idx="116">
                  <c:v>0.78312599999999999</c:v>
                </c:pt>
                <c:pt idx="117">
                  <c:v>0.75893100000000002</c:v>
                </c:pt>
                <c:pt idx="118">
                  <c:v>0.73505100000000001</c:v>
                </c:pt>
                <c:pt idx="119">
                  <c:v>0.71172400000000002</c:v>
                </c:pt>
                <c:pt idx="120">
                  <c:v>0.689191</c:v>
                </c:pt>
                <c:pt idx="121">
                  <c:v>0.66769199999999995</c:v>
                </c:pt>
                <c:pt idx="122">
                  <c:v>0.64746800000000004</c:v>
                </c:pt>
                <c:pt idx="123">
                  <c:v>0.62875700000000001</c:v>
                </c:pt>
                <c:pt idx="124">
                  <c:v>0.61180100000000004</c:v>
                </c:pt>
                <c:pt idx="125">
                  <c:v>0.59684000000000004</c:v>
                </c:pt>
                <c:pt idx="126">
                  <c:v>0.58411299999999999</c:v>
                </c:pt>
                <c:pt idx="127">
                  <c:v>0.57313899999999995</c:v>
                </c:pt>
                <c:pt idx="128">
                  <c:v>0.56144899999999998</c:v>
                </c:pt>
                <c:pt idx="129">
                  <c:v>0.54895400000000005</c:v>
                </c:pt>
                <c:pt idx="130">
                  <c:v>0.53581500000000004</c:v>
                </c:pt>
                <c:pt idx="131">
                  <c:v>0.52219400000000005</c:v>
                </c:pt>
                <c:pt idx="132">
                  <c:v>0.50825200000000004</c:v>
                </c:pt>
                <c:pt idx="133">
                  <c:v>0.49415300000000001</c:v>
                </c:pt>
                <c:pt idx="134">
                  <c:v>0.48005599999999998</c:v>
                </c:pt>
                <c:pt idx="135">
                  <c:v>0.46612500000000001</c:v>
                </c:pt>
                <c:pt idx="136">
                  <c:v>0.45252100000000001</c:v>
                </c:pt>
                <c:pt idx="137">
                  <c:v>0.43940499999999999</c:v>
                </c:pt>
                <c:pt idx="138">
                  <c:v>0.42693999999999999</c:v>
                </c:pt>
                <c:pt idx="139">
                  <c:v>0.41528599999999999</c:v>
                </c:pt>
                <c:pt idx="140">
                  <c:v>0.40460699999999999</c:v>
                </c:pt>
                <c:pt idx="141">
                  <c:v>0.395063</c:v>
                </c:pt>
                <c:pt idx="142">
                  <c:v>0.38681700000000002</c:v>
                </c:pt>
                <c:pt idx="143">
                  <c:v>0.38002999999999998</c:v>
                </c:pt>
                <c:pt idx="144">
                  <c:v>0.374863</c:v>
                </c:pt>
                <c:pt idx="145">
                  <c:v>0.37147999999999998</c:v>
                </c:pt>
                <c:pt idx="146">
                  <c:v>0.37003999999999998</c:v>
                </c:pt>
                <c:pt idx="147">
                  <c:v>0.37043599999999999</c:v>
                </c:pt>
                <c:pt idx="148">
                  <c:v>0.372139</c:v>
                </c:pt>
                <c:pt idx="149">
                  <c:v>0.37503199999999998</c:v>
                </c:pt>
                <c:pt idx="150">
                  <c:v>0.37901499999999999</c:v>
                </c:pt>
                <c:pt idx="151">
                  <c:v>0.383988</c:v>
                </c:pt>
                <c:pt idx="152">
                  <c:v>0.38984999999999997</c:v>
                </c:pt>
                <c:pt idx="153">
                  <c:v>0.39650000000000002</c:v>
                </c:pt>
                <c:pt idx="154">
                  <c:v>0.40383799999999997</c:v>
                </c:pt>
                <c:pt idx="155">
                  <c:v>0.41176200000000002</c:v>
                </c:pt>
                <c:pt idx="156">
                  <c:v>0.42017199999999999</c:v>
                </c:pt>
                <c:pt idx="157">
                  <c:v>0.42896699999999999</c:v>
                </c:pt>
                <c:pt idx="158">
                  <c:v>0.43804700000000002</c:v>
                </c:pt>
                <c:pt idx="159">
                  <c:v>0.44730999999999999</c:v>
                </c:pt>
                <c:pt idx="160">
                  <c:v>0.45665600000000001</c:v>
                </c:pt>
                <c:pt idx="161">
                  <c:v>0.46598400000000001</c:v>
                </c:pt>
                <c:pt idx="162">
                  <c:v>0.47519400000000001</c:v>
                </c:pt>
                <c:pt idx="163">
                  <c:v>0.484184</c:v>
                </c:pt>
                <c:pt idx="164">
                  <c:v>0.49285400000000001</c:v>
                </c:pt>
                <c:pt idx="165">
                  <c:v>0.50110399999999999</c:v>
                </c:pt>
                <c:pt idx="166">
                  <c:v>0.50883199999999995</c:v>
                </c:pt>
                <c:pt idx="167">
                  <c:v>0.51593699999999998</c:v>
                </c:pt>
                <c:pt idx="168">
                  <c:v>0.52232000000000001</c:v>
                </c:pt>
                <c:pt idx="169">
                  <c:v>0.52787899999999999</c:v>
                </c:pt>
                <c:pt idx="170">
                  <c:v>0.53251300000000001</c:v>
                </c:pt>
                <c:pt idx="171">
                  <c:v>0.53612199999999999</c:v>
                </c:pt>
                <c:pt idx="172">
                  <c:v>0.538605</c:v>
                </c:pt>
                <c:pt idx="173">
                  <c:v>0.53986199999999995</c:v>
                </c:pt>
                <c:pt idx="174">
                  <c:v>0.53986800000000001</c:v>
                </c:pt>
                <c:pt idx="175">
                  <c:v>0.53897600000000001</c:v>
                </c:pt>
                <c:pt idx="176">
                  <c:v>0.53729099999999996</c:v>
                </c:pt>
                <c:pt idx="177">
                  <c:v>0.53487300000000004</c:v>
                </c:pt>
                <c:pt idx="178">
                  <c:v>0.53178099999999995</c:v>
                </c:pt>
                <c:pt idx="179">
                  <c:v>0.52807499999999996</c:v>
                </c:pt>
                <c:pt idx="180">
                  <c:v>0.52381500000000003</c:v>
                </c:pt>
                <c:pt idx="181">
                  <c:v>0.51905900000000005</c:v>
                </c:pt>
                <c:pt idx="182">
                  <c:v>0.51386799999999999</c:v>
                </c:pt>
                <c:pt idx="183">
                  <c:v>0.508301</c:v>
                </c:pt>
                <c:pt idx="184">
                  <c:v>0.50241800000000003</c:v>
                </c:pt>
                <c:pt idx="185">
                  <c:v>0.496278</c:v>
                </c:pt>
                <c:pt idx="186">
                  <c:v>0.48993999999999999</c:v>
                </c:pt>
                <c:pt idx="187">
                  <c:v>0.483464</c:v>
                </c:pt>
                <c:pt idx="188">
                  <c:v>0.47691</c:v>
                </c:pt>
                <c:pt idx="189">
                  <c:v>0.47033599999999998</c:v>
                </c:pt>
                <c:pt idx="190">
                  <c:v>0.46380399999999999</c:v>
                </c:pt>
                <c:pt idx="191">
                  <c:v>0.45737100000000003</c:v>
                </c:pt>
                <c:pt idx="192">
                  <c:v>0.451098</c:v>
                </c:pt>
                <c:pt idx="193">
                  <c:v>0.445044</c:v>
                </c:pt>
                <c:pt idx="194">
                  <c:v>0.43926900000000002</c:v>
                </c:pt>
                <c:pt idx="195">
                  <c:v>0.43383100000000002</c:v>
                </c:pt>
                <c:pt idx="196">
                  <c:v>0.42876300000000001</c:v>
                </c:pt>
                <c:pt idx="197">
                  <c:v>0.42347699999999999</c:v>
                </c:pt>
                <c:pt idx="198">
                  <c:v>0.41774600000000001</c:v>
                </c:pt>
                <c:pt idx="199">
                  <c:v>0.41160200000000002</c:v>
                </c:pt>
                <c:pt idx="200">
                  <c:v>0.40507700000000002</c:v>
                </c:pt>
                <c:pt idx="201">
                  <c:v>0.398204</c:v>
                </c:pt>
                <c:pt idx="202">
                  <c:v>0.39101599999999997</c:v>
                </c:pt>
                <c:pt idx="203">
                  <c:v>0.383544</c:v>
                </c:pt>
                <c:pt idx="204">
                  <c:v>0.37582199999999999</c:v>
                </c:pt>
                <c:pt idx="205">
                  <c:v>0.36788199999999999</c:v>
                </c:pt>
                <c:pt idx="206">
                  <c:v>0.35975699999999999</c:v>
                </c:pt>
                <c:pt idx="207">
                  <c:v>0.35147800000000001</c:v>
                </c:pt>
                <c:pt idx="208">
                  <c:v>0.34307900000000002</c:v>
                </c:pt>
                <c:pt idx="209">
                  <c:v>0.33459299999999997</c:v>
                </c:pt>
                <c:pt idx="210">
                  <c:v>0.32605000000000001</c:v>
                </c:pt>
                <c:pt idx="211">
                  <c:v>0.31748500000000002</c:v>
                </c:pt>
                <c:pt idx="212">
                  <c:v>0.30892900000000001</c:v>
                </c:pt>
                <c:pt idx="213">
                  <c:v>0.30041600000000002</c:v>
                </c:pt>
                <c:pt idx="214">
                  <c:v>0.29197699999999999</c:v>
                </c:pt>
                <c:pt idx="215">
                  <c:v>0.28364499999999998</c:v>
                </c:pt>
                <c:pt idx="216">
                  <c:v>0.27545199999999997</c:v>
                </c:pt>
                <c:pt idx="217">
                  <c:v>0.267432</c:v>
                </c:pt>
                <c:pt idx="218">
                  <c:v>0.25961699999999999</c:v>
                </c:pt>
                <c:pt idx="219">
                  <c:v>0.25203799999999998</c:v>
                </c:pt>
                <c:pt idx="220">
                  <c:v>0.24473</c:v>
                </c:pt>
                <c:pt idx="221">
                  <c:v>0.23772299999999999</c:v>
                </c:pt>
                <c:pt idx="222">
                  <c:v>0.23105100000000001</c:v>
                </c:pt>
                <c:pt idx="223">
                  <c:v>0.224746</c:v>
                </c:pt>
                <c:pt idx="224">
                  <c:v>0.21884100000000001</c:v>
                </c:pt>
                <c:pt idx="225">
                  <c:v>0.213369</c:v>
                </c:pt>
                <c:pt idx="226">
                  <c:v>0.20835999999999999</c:v>
                </c:pt>
                <c:pt idx="227">
                  <c:v>0.20385</c:v>
                </c:pt>
                <c:pt idx="228">
                  <c:v>0.19986799999999999</c:v>
                </c:pt>
                <c:pt idx="229">
                  <c:v>0.196023</c:v>
                </c:pt>
                <c:pt idx="230">
                  <c:v>0.191969</c:v>
                </c:pt>
                <c:pt idx="231">
                  <c:v>0.187727</c:v>
                </c:pt>
                <c:pt idx="232">
                  <c:v>0.18332000000000001</c:v>
                </c:pt>
                <c:pt idx="233">
                  <c:v>0.17876800000000001</c:v>
                </c:pt>
                <c:pt idx="234">
                  <c:v>0.174093</c:v>
                </c:pt>
                <c:pt idx="235">
                  <c:v>0.169317</c:v>
                </c:pt>
                <c:pt idx="236">
                  <c:v>0.164462</c:v>
                </c:pt>
                <c:pt idx="237">
                  <c:v>0.159548</c:v>
                </c:pt>
                <c:pt idx="238">
                  <c:v>0.15459700000000001</c:v>
                </c:pt>
                <c:pt idx="239">
                  <c:v>0.14963099999999999</c:v>
                </c:pt>
                <c:pt idx="240">
                  <c:v>0.144672</c:v>
                </c:pt>
                <c:pt idx="241">
                  <c:v>0.139741</c:v>
                </c:pt>
                <c:pt idx="242">
                  <c:v>0.13485900000000001</c:v>
                </c:pt>
                <c:pt idx="243">
                  <c:v>0.130048</c:v>
                </c:pt>
                <c:pt idx="244">
                  <c:v>0.12533</c:v>
                </c:pt>
                <c:pt idx="245">
                  <c:v>0.120726</c:v>
                </c:pt>
                <c:pt idx="246">
                  <c:v>0.116257</c:v>
                </c:pt>
                <c:pt idx="247">
                  <c:v>0.111946</c:v>
                </c:pt>
                <c:pt idx="248">
                  <c:v>0.10781399999999999</c:v>
                </c:pt>
                <c:pt idx="249">
                  <c:v>0.103882</c:v>
                </c:pt>
                <c:pt idx="250">
                  <c:v>0.100171</c:v>
                </c:pt>
                <c:pt idx="251">
                  <c:v>9.6703999999999998E-2</c:v>
                </c:pt>
                <c:pt idx="252">
                  <c:v>9.3502000000000002E-2</c:v>
                </c:pt>
                <c:pt idx="253">
                  <c:v>9.0587000000000001E-2</c:v>
                </c:pt>
                <c:pt idx="254">
                  <c:v>8.7979000000000002E-2</c:v>
                </c:pt>
                <c:pt idx="255">
                  <c:v>8.5700999999999999E-2</c:v>
                </c:pt>
                <c:pt idx="256">
                  <c:v>8.3774000000000001E-2</c:v>
                </c:pt>
                <c:pt idx="257">
                  <c:v>8.2219E-2</c:v>
                </c:pt>
                <c:pt idx="258">
                  <c:v>8.1059000000000006E-2</c:v>
                </c:pt>
                <c:pt idx="259">
                  <c:v>8.0314999999999998E-2</c:v>
                </c:pt>
                <c:pt idx="260">
                  <c:v>8.0006999999999995E-2</c:v>
                </c:pt>
                <c:pt idx="261">
                  <c:v>8.0169000000000004E-2</c:v>
                </c:pt>
                <c:pt idx="262">
                  <c:v>8.0807000000000004E-2</c:v>
                </c:pt>
                <c:pt idx="263">
                  <c:v>8.1883999999999998E-2</c:v>
                </c:pt>
                <c:pt idx="264">
                  <c:v>8.3361000000000005E-2</c:v>
                </c:pt>
                <c:pt idx="265">
                  <c:v>8.5199999999999998E-2</c:v>
                </c:pt>
                <c:pt idx="266">
                  <c:v>8.7361999999999995E-2</c:v>
                </c:pt>
                <c:pt idx="267">
                  <c:v>8.9807999999999999E-2</c:v>
                </c:pt>
                <c:pt idx="268">
                  <c:v>9.2501E-2</c:v>
                </c:pt>
                <c:pt idx="269">
                  <c:v>9.5402000000000001E-2</c:v>
                </c:pt>
                <c:pt idx="270">
                  <c:v>9.8471000000000003E-2</c:v>
                </c:pt>
                <c:pt idx="271">
                  <c:v>0.101672</c:v>
                </c:pt>
                <c:pt idx="272">
                  <c:v>0.104964</c:v>
                </c:pt>
                <c:pt idx="273">
                  <c:v>0.108311</c:v>
                </c:pt>
                <c:pt idx="274">
                  <c:v>0.11167199999999999</c:v>
                </c:pt>
                <c:pt idx="275">
                  <c:v>0.11501</c:v>
                </c:pt>
                <c:pt idx="276">
                  <c:v>0.118286</c:v>
                </c:pt>
                <c:pt idx="277">
                  <c:v>0.121461</c:v>
                </c:pt>
                <c:pt idx="278">
                  <c:v>0.124498</c:v>
                </c:pt>
                <c:pt idx="279">
                  <c:v>0.127357</c:v>
                </c:pt>
                <c:pt idx="280">
                  <c:v>0.13</c:v>
                </c:pt>
              </c:numCache>
            </c:numRef>
          </c:yVal>
          <c:smooth val="1"/>
          <c:extLst>
            <c:ext xmlns:c16="http://schemas.microsoft.com/office/drawing/2014/chart" uri="{C3380CC4-5D6E-409C-BE32-E72D297353CC}">
              <c16:uniqueId val="{00000000-0184-46CF-BBCF-E4AF92B10CDD}"/>
            </c:ext>
          </c:extLst>
        </c:ser>
        <c:ser>
          <c:idx val="1"/>
          <c:order val="1"/>
          <c:tx>
            <c:strRef>
              <c:f>Pulse onset</c:f>
              <c:strCache>
                <c:ptCount val="1"/>
                <c:pt idx="0">
                  <c:v>Pulse onset</c:v>
                </c:pt>
              </c:strCache>
            </c:strRef>
          </c:tx>
          <c:spPr>
            <a:ln w="0" cap="rnd">
              <a:solidFill>
                <a:srgbClr val="087E8B"/>
              </a:solidFill>
              <a:prstDash val="solid"/>
              <a:round/>
            </a:ln>
          </c:spPr>
          <c:marker>
            <c:symbol val="circle"/>
            <c:size val="13"/>
            <c:spPr>
              <a:solidFill>
                <a:srgbClr val="087E8B"/>
              </a:solidFill>
            </c:spPr>
          </c:marker>
          <c:xVal>
            <c:numRef>
              <c:f>'Chart Data'!$C$2:$C$2</c:f>
              <c:numCache>
                <c:formatCode>General</c:formatCode>
                <c:ptCount val="1"/>
                <c:pt idx="0">
                  <c:v>0.11</c:v>
                </c:pt>
              </c:numCache>
            </c:numRef>
          </c:xVal>
          <c:yVal>
            <c:numRef>
              <c:f>'Chart Data'!$D$2:$D$2</c:f>
              <c:numCache>
                <c:formatCode>0.0</c:formatCode>
                <c:ptCount val="1"/>
                <c:pt idx="0">
                  <c:v>0.08</c:v>
                </c:pt>
              </c:numCache>
            </c:numRef>
          </c:yVal>
          <c:smooth val="1"/>
          <c:extLst>
            <c:ext xmlns:c16="http://schemas.microsoft.com/office/drawing/2014/chart" uri="{C3380CC4-5D6E-409C-BE32-E72D297353CC}">
              <c16:uniqueId val="{00000001-0184-46CF-BBCF-E4AF92B10CDD}"/>
            </c:ext>
          </c:extLst>
        </c:ser>
        <c:ser>
          <c:idx val="2"/>
          <c:order val="2"/>
          <c:tx>
            <c:strRef>
              <c:f>Systolic peak</c:f>
              <c:strCache>
                <c:ptCount val="1"/>
                <c:pt idx="0">
                  <c:v>Systolic peak</c:v>
                </c:pt>
              </c:strCache>
            </c:strRef>
          </c:tx>
          <c:spPr>
            <a:ln w="0" cap="rnd">
              <a:solidFill>
                <a:srgbClr val="2874AE"/>
              </a:solidFill>
              <a:prstDash val="solid"/>
              <a:round/>
            </a:ln>
          </c:spPr>
          <c:marker>
            <c:symbol val="circle"/>
            <c:size val="13"/>
            <c:spPr>
              <a:solidFill>
                <a:srgbClr val="2874AE"/>
              </a:solidFill>
            </c:spPr>
          </c:marker>
          <c:xVal>
            <c:numRef>
              <c:f>'Chart Data'!$E$2:$E$2</c:f>
              <c:numCache>
                <c:formatCode>General</c:formatCode>
                <c:ptCount val="1"/>
                <c:pt idx="0">
                  <c:v>0.34</c:v>
                </c:pt>
              </c:numCache>
            </c:numRef>
          </c:xVal>
          <c:yVal>
            <c:numRef>
              <c:f>'Chart Data'!$F$2:$F$2</c:f>
              <c:numCache>
                <c:formatCode>0.0</c:formatCode>
                <c:ptCount val="1"/>
                <c:pt idx="0">
                  <c:v>1.17</c:v>
                </c:pt>
              </c:numCache>
            </c:numRef>
          </c:yVal>
          <c:smooth val="1"/>
          <c:extLst>
            <c:ext xmlns:c16="http://schemas.microsoft.com/office/drawing/2014/chart" uri="{C3380CC4-5D6E-409C-BE32-E72D297353CC}">
              <c16:uniqueId val="{00000002-0184-46CF-BBCF-E4AF92B10CDD}"/>
            </c:ext>
          </c:extLst>
        </c:ser>
        <c:ser>
          <c:idx val="3"/>
          <c:order val="3"/>
          <c:tx>
            <c:strRef>
              <c:f>Dicrotic notch</c:f>
              <c:strCache>
                <c:ptCount val="1"/>
                <c:pt idx="0">
                  <c:v>Dicrotic notch</c:v>
                </c:pt>
              </c:strCache>
            </c:strRef>
          </c:tx>
          <c:spPr>
            <a:ln w="0" cap="rnd">
              <a:solidFill>
                <a:srgbClr val="B96D20"/>
              </a:solidFill>
              <a:prstDash val="solid"/>
              <a:round/>
            </a:ln>
          </c:spPr>
          <c:marker>
            <c:symbol val="circle"/>
            <c:size val="13"/>
            <c:spPr>
              <a:solidFill>
                <a:srgbClr val="B96D20"/>
              </a:solidFill>
            </c:spPr>
          </c:marker>
          <c:xVal>
            <c:numRef>
              <c:f>'Chart Data'!$G$2:$G$2</c:f>
              <c:numCache>
                <c:formatCode>General</c:formatCode>
                <c:ptCount val="1"/>
                <c:pt idx="0">
                  <c:v>0.59</c:v>
                </c:pt>
              </c:numCache>
            </c:numRef>
          </c:xVal>
          <c:yVal>
            <c:numRef>
              <c:f>'Chart Data'!$H$2:$H$2</c:f>
              <c:numCache>
                <c:formatCode>0.0</c:formatCode>
                <c:ptCount val="1"/>
                <c:pt idx="0">
                  <c:v>0.37</c:v>
                </c:pt>
              </c:numCache>
            </c:numRef>
          </c:yVal>
          <c:smooth val="1"/>
          <c:extLst>
            <c:ext xmlns:c16="http://schemas.microsoft.com/office/drawing/2014/chart" uri="{C3380CC4-5D6E-409C-BE32-E72D297353CC}">
              <c16:uniqueId val="{00000003-0184-46CF-BBCF-E4AF92B10CDD}"/>
            </c:ext>
          </c:extLst>
        </c:ser>
        <c:ser>
          <c:idx val="4"/>
          <c:order val="4"/>
          <c:tx>
            <c:strRef>
              <c:f>Diastolic peak</c:f>
              <c:strCache>
                <c:ptCount val="1"/>
                <c:pt idx="0">
                  <c:v>Diastolic peak</c:v>
                </c:pt>
              </c:strCache>
            </c:strRef>
          </c:tx>
          <c:spPr>
            <a:ln w="0" cap="rnd">
              <a:solidFill>
                <a:srgbClr val="B96D20"/>
              </a:solidFill>
              <a:prstDash val="solid"/>
              <a:round/>
            </a:ln>
          </c:spPr>
          <c:marker>
            <c:symbol val="circle"/>
            <c:size val="13"/>
            <c:spPr>
              <a:solidFill>
                <a:srgbClr val="B96D20"/>
              </a:solidFill>
            </c:spPr>
          </c:marker>
          <c:xVal>
            <c:numRef>
              <c:f>'Chart Data'!$I$2:$I$2</c:f>
              <c:numCache>
                <c:formatCode>General</c:formatCode>
                <c:ptCount val="1"/>
                <c:pt idx="0">
                  <c:v>0.7</c:v>
                </c:pt>
              </c:numCache>
            </c:numRef>
          </c:xVal>
          <c:yVal>
            <c:numRef>
              <c:f>'Chart Data'!$J$2:$J$2</c:f>
              <c:numCache>
                <c:formatCode>0.0</c:formatCode>
                <c:ptCount val="1"/>
                <c:pt idx="0">
                  <c:v>0.54</c:v>
                </c:pt>
              </c:numCache>
            </c:numRef>
          </c:yVal>
          <c:smooth val="1"/>
          <c:extLst>
            <c:ext xmlns:c16="http://schemas.microsoft.com/office/drawing/2014/chart" uri="{C3380CC4-5D6E-409C-BE32-E72D297353CC}">
              <c16:uniqueId val="{00000004-0184-46CF-BBCF-E4AF92B10CDD}"/>
            </c:ext>
          </c:extLst>
        </c:ser>
        <c:ser>
          <c:idx val="5"/>
          <c:order val="5"/>
          <c:tx>
            <c:strRef>
              <c:f>Pulse offset</c:f>
              <c:strCache>
                <c:ptCount val="1"/>
                <c:pt idx="0">
                  <c:v>Pulse offset</c:v>
                </c:pt>
              </c:strCache>
            </c:strRef>
          </c:tx>
          <c:spPr>
            <a:ln w="0" cap="rnd">
              <a:solidFill>
                <a:srgbClr val="087E8B"/>
              </a:solidFill>
              <a:prstDash val="solid"/>
              <a:round/>
            </a:ln>
          </c:spPr>
          <c:marker>
            <c:symbol val="circle"/>
            <c:size val="13"/>
            <c:spPr>
              <a:solidFill>
                <a:srgbClr val="087E8B"/>
              </a:solidFill>
            </c:spPr>
          </c:marker>
          <c:xVal>
            <c:numRef>
              <c:f>'Chart Data'!$K$2:$K$2</c:f>
              <c:numCache>
                <c:formatCode>General</c:formatCode>
                <c:ptCount val="1"/>
                <c:pt idx="0">
                  <c:v>1.05</c:v>
                </c:pt>
              </c:numCache>
            </c:numRef>
          </c:xVal>
          <c:yVal>
            <c:numRef>
              <c:f>'Chart Data'!$L$2:$L$2</c:f>
              <c:numCache>
                <c:formatCode>0.0</c:formatCode>
                <c:ptCount val="1"/>
                <c:pt idx="0">
                  <c:v>0.08</c:v>
                </c:pt>
              </c:numCache>
            </c:numRef>
          </c:yVal>
          <c:smooth val="1"/>
          <c:extLst>
            <c:ext xmlns:c16="http://schemas.microsoft.com/office/drawing/2014/chart" uri="{C3380CC4-5D6E-409C-BE32-E72D297353CC}">
              <c16:uniqueId val="{00000005-0184-46CF-BBCF-E4AF92B10CDD}"/>
            </c:ext>
          </c:extLst>
        </c:ser>
        <c:dLbls>
          <c:showLegendKey val="0"/>
          <c:showVal val="0"/>
          <c:showCatName val="0"/>
          <c:showSerName val="0"/>
          <c:showPercent val="0"/>
          <c:showBubbleSize val="0"/>
        </c:dLbls>
        <c:axId val="48650112"/>
        <c:axId val="48672768"/>
      </c:scatterChart>
      <c:valAx>
        <c:axId val="48650112"/>
        <c:scaling>
          <c:orientation val="minMax"/>
          <c:max val="1.1299999999999999"/>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within one pulse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0.2"/>
      </c:valAx>
      <c:valAx>
        <c:axId val="48672768"/>
        <c:scaling>
          <c:orientation val="minMax"/>
          <c:max val="1.27"/>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Relative amplitude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majorUnit val="0.25"/>
      </c:valAx>
      <c:spPr>
        <a:solidFill>
          <a:srgbClr val="FFFFFF"/>
        </a:solidFill>
      </c:spPr>
    </c:plotArea>
    <c:plotVisOnly val="1"/>
    <c:dispBlanksAs val="gap"/>
    <c:showDLblsOverMax val="0"/>
    <c:extLst>
      <c:ext uri="{0b15fc19-7d7d-44ad-8c2d-2c3a37ce22c3}">
        <chartProps xmlns="https://web.wps.cn/et/2018/main" chartId="{cceeb681-9e13-42ab-a6b7-93a72d1b771b}"/>
      </c:ext>
    </c:extLst>
  </c:chart>
  <c:spPr>
    <a:solidFill>
      <a:srgbClr val="FFFFFF"/>
    </a:solidFill>
    <a:ln w="0">
      <a:noFill/>
    </a:ln>
  </c:spPr>
  <c:txPr>
    <a:bodyPr/>
    <a:lstStyle/>
    <a:p>
      <a:pPr>
        <a:defRPr lang="zh-CN"/>
      </a:pPr>
      <a:endParaRPr lang="zh-CN"/>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Window 1</c:f>
              <c:strCache>
                <c:ptCount val="1"/>
                <c:pt idx="0">
                  <c:v>Window 1</c:v>
                </c:pt>
              </c:strCache>
            </c:strRef>
          </c:tx>
          <c:spPr>
            <a:ln w="19050" cap="rnd">
              <a:solidFill>
                <a:srgbClr val="087E8B"/>
              </a:solidFill>
              <a:prstDash val="solid"/>
              <a:round/>
            </a:ln>
          </c:spPr>
          <c:marker>
            <c:symbol val="none"/>
          </c:marker>
          <c:xVal>
            <c:numRef>
              <c:f>'Chart Data'!$A$2:$A$402</c:f>
              <c:numCache>
                <c:formatCode>General</c:formatCode>
                <c:ptCount val="401"/>
                <c:pt idx="0">
                  <c:v>0</c:v>
                </c:pt>
                <c:pt idx="1">
                  <c:v>2.5000000000000001E-2</c:v>
                </c:pt>
                <c:pt idx="2">
                  <c:v>0.05</c:v>
                </c:pt>
                <c:pt idx="3">
                  <c:v>7.4999999999999997E-2</c:v>
                </c:pt>
                <c:pt idx="4">
                  <c:v>0.1</c:v>
                </c:pt>
                <c:pt idx="5">
                  <c:v>0.125</c:v>
                </c:pt>
                <c:pt idx="6">
                  <c:v>0.15</c:v>
                </c:pt>
                <c:pt idx="7">
                  <c:v>0.17499999999999999</c:v>
                </c:pt>
                <c:pt idx="8">
                  <c:v>0.2</c:v>
                </c:pt>
                <c:pt idx="9">
                  <c:v>0.22500000000000001</c:v>
                </c:pt>
                <c:pt idx="10">
                  <c:v>0.25</c:v>
                </c:pt>
                <c:pt idx="11">
                  <c:v>0.27500000000000002</c:v>
                </c:pt>
                <c:pt idx="12">
                  <c:v>0.3</c:v>
                </c:pt>
                <c:pt idx="13">
                  <c:v>0.32500000000000001</c:v>
                </c:pt>
                <c:pt idx="14">
                  <c:v>0.35</c:v>
                </c:pt>
                <c:pt idx="15">
                  <c:v>0.375</c:v>
                </c:pt>
                <c:pt idx="16">
                  <c:v>0.4</c:v>
                </c:pt>
                <c:pt idx="17">
                  <c:v>0.42499999999999999</c:v>
                </c:pt>
                <c:pt idx="18">
                  <c:v>0.45</c:v>
                </c:pt>
                <c:pt idx="19">
                  <c:v>0.47499999999999998</c:v>
                </c:pt>
                <c:pt idx="20">
                  <c:v>0.5</c:v>
                </c:pt>
                <c:pt idx="21">
                  <c:v>0.52500000000000002</c:v>
                </c:pt>
                <c:pt idx="22">
                  <c:v>0.55000000000000004</c:v>
                </c:pt>
                <c:pt idx="23">
                  <c:v>0.57499999999999996</c:v>
                </c:pt>
                <c:pt idx="24">
                  <c:v>0.6</c:v>
                </c:pt>
                <c:pt idx="25">
                  <c:v>0.625</c:v>
                </c:pt>
                <c:pt idx="26">
                  <c:v>0.65</c:v>
                </c:pt>
                <c:pt idx="27">
                  <c:v>0.67500000000000004</c:v>
                </c:pt>
                <c:pt idx="28">
                  <c:v>0.7</c:v>
                </c:pt>
                <c:pt idx="29">
                  <c:v>0.72499999999999998</c:v>
                </c:pt>
                <c:pt idx="30">
                  <c:v>0.75</c:v>
                </c:pt>
                <c:pt idx="31">
                  <c:v>0.77500000000000002</c:v>
                </c:pt>
                <c:pt idx="32">
                  <c:v>0.8</c:v>
                </c:pt>
                <c:pt idx="33">
                  <c:v>0.82499999999999996</c:v>
                </c:pt>
                <c:pt idx="34">
                  <c:v>0.85</c:v>
                </c:pt>
                <c:pt idx="35">
                  <c:v>0.875</c:v>
                </c:pt>
                <c:pt idx="36">
                  <c:v>0.9</c:v>
                </c:pt>
                <c:pt idx="37">
                  <c:v>0.92500000000000004</c:v>
                </c:pt>
                <c:pt idx="38">
                  <c:v>0.95</c:v>
                </c:pt>
                <c:pt idx="39">
                  <c:v>0.97499999999999998</c:v>
                </c:pt>
                <c:pt idx="40">
                  <c:v>1</c:v>
                </c:pt>
                <c:pt idx="41">
                  <c:v>1.0249999999999999</c:v>
                </c:pt>
                <c:pt idx="42">
                  <c:v>1.05</c:v>
                </c:pt>
                <c:pt idx="43">
                  <c:v>1.075</c:v>
                </c:pt>
                <c:pt idx="44">
                  <c:v>1.1000000000000001</c:v>
                </c:pt>
                <c:pt idx="45">
                  <c:v>1.125</c:v>
                </c:pt>
                <c:pt idx="46">
                  <c:v>1.1499999999999999</c:v>
                </c:pt>
                <c:pt idx="47">
                  <c:v>1.175</c:v>
                </c:pt>
                <c:pt idx="48">
                  <c:v>1.2</c:v>
                </c:pt>
                <c:pt idx="49">
                  <c:v>1.2250000000000001</c:v>
                </c:pt>
                <c:pt idx="50">
                  <c:v>1.25</c:v>
                </c:pt>
                <c:pt idx="51">
                  <c:v>1.2749999999999999</c:v>
                </c:pt>
                <c:pt idx="52">
                  <c:v>1.3</c:v>
                </c:pt>
                <c:pt idx="53">
                  <c:v>1.325</c:v>
                </c:pt>
                <c:pt idx="54">
                  <c:v>1.35</c:v>
                </c:pt>
                <c:pt idx="55">
                  <c:v>1.375</c:v>
                </c:pt>
                <c:pt idx="56">
                  <c:v>1.4</c:v>
                </c:pt>
                <c:pt idx="57">
                  <c:v>1.425</c:v>
                </c:pt>
                <c:pt idx="58">
                  <c:v>1.45</c:v>
                </c:pt>
                <c:pt idx="59">
                  <c:v>1.4750000000000001</c:v>
                </c:pt>
                <c:pt idx="60">
                  <c:v>1.5</c:v>
                </c:pt>
                <c:pt idx="61">
                  <c:v>1.5249999999999999</c:v>
                </c:pt>
                <c:pt idx="62">
                  <c:v>1.55</c:v>
                </c:pt>
                <c:pt idx="63">
                  <c:v>1.575</c:v>
                </c:pt>
                <c:pt idx="64">
                  <c:v>1.6</c:v>
                </c:pt>
                <c:pt idx="65">
                  <c:v>1.625</c:v>
                </c:pt>
                <c:pt idx="66">
                  <c:v>1.65</c:v>
                </c:pt>
                <c:pt idx="67">
                  <c:v>1.675</c:v>
                </c:pt>
                <c:pt idx="68">
                  <c:v>1.7</c:v>
                </c:pt>
                <c:pt idx="69">
                  <c:v>1.7250000000000001</c:v>
                </c:pt>
                <c:pt idx="70">
                  <c:v>1.75</c:v>
                </c:pt>
                <c:pt idx="71">
                  <c:v>1.7749999999999999</c:v>
                </c:pt>
                <c:pt idx="72">
                  <c:v>1.8</c:v>
                </c:pt>
                <c:pt idx="73">
                  <c:v>1.825</c:v>
                </c:pt>
                <c:pt idx="74">
                  <c:v>1.85</c:v>
                </c:pt>
                <c:pt idx="75">
                  <c:v>1.875</c:v>
                </c:pt>
                <c:pt idx="76">
                  <c:v>1.9</c:v>
                </c:pt>
                <c:pt idx="77">
                  <c:v>1.925</c:v>
                </c:pt>
                <c:pt idx="78">
                  <c:v>1.95</c:v>
                </c:pt>
                <c:pt idx="79">
                  <c:v>1.9750000000000001</c:v>
                </c:pt>
                <c:pt idx="80">
                  <c:v>2</c:v>
                </c:pt>
                <c:pt idx="81">
                  <c:v>2.0249999999999999</c:v>
                </c:pt>
                <c:pt idx="82">
                  <c:v>2.0499999999999998</c:v>
                </c:pt>
                <c:pt idx="83">
                  <c:v>2.0750000000000002</c:v>
                </c:pt>
                <c:pt idx="84">
                  <c:v>2.1</c:v>
                </c:pt>
                <c:pt idx="85">
                  <c:v>2.125</c:v>
                </c:pt>
                <c:pt idx="86">
                  <c:v>2.15</c:v>
                </c:pt>
                <c:pt idx="87">
                  <c:v>2.1749999999999998</c:v>
                </c:pt>
                <c:pt idx="88">
                  <c:v>2.2000000000000002</c:v>
                </c:pt>
                <c:pt idx="89">
                  <c:v>2.2250000000000001</c:v>
                </c:pt>
                <c:pt idx="90">
                  <c:v>2.25</c:v>
                </c:pt>
                <c:pt idx="91">
                  <c:v>2.2749999999999999</c:v>
                </c:pt>
                <c:pt idx="92">
                  <c:v>2.2999999999999998</c:v>
                </c:pt>
                <c:pt idx="93">
                  <c:v>2.3250000000000002</c:v>
                </c:pt>
                <c:pt idx="94">
                  <c:v>2.35</c:v>
                </c:pt>
                <c:pt idx="95">
                  <c:v>2.375</c:v>
                </c:pt>
                <c:pt idx="96">
                  <c:v>2.4</c:v>
                </c:pt>
                <c:pt idx="97">
                  <c:v>2.4249999999999998</c:v>
                </c:pt>
                <c:pt idx="98">
                  <c:v>2.4500000000000002</c:v>
                </c:pt>
                <c:pt idx="99">
                  <c:v>2.4750000000000001</c:v>
                </c:pt>
                <c:pt idx="100">
                  <c:v>2.5</c:v>
                </c:pt>
                <c:pt idx="101">
                  <c:v>2.5249999999999999</c:v>
                </c:pt>
                <c:pt idx="102">
                  <c:v>2.5499999999999998</c:v>
                </c:pt>
                <c:pt idx="103">
                  <c:v>2.5750000000000002</c:v>
                </c:pt>
                <c:pt idx="104">
                  <c:v>2.6</c:v>
                </c:pt>
                <c:pt idx="105">
                  <c:v>2.625</c:v>
                </c:pt>
                <c:pt idx="106">
                  <c:v>2.65</c:v>
                </c:pt>
                <c:pt idx="107">
                  <c:v>2.6749999999999998</c:v>
                </c:pt>
                <c:pt idx="108">
                  <c:v>2.7</c:v>
                </c:pt>
                <c:pt idx="109">
                  <c:v>2.7250000000000001</c:v>
                </c:pt>
                <c:pt idx="110">
                  <c:v>2.75</c:v>
                </c:pt>
                <c:pt idx="111">
                  <c:v>2.7749999999999999</c:v>
                </c:pt>
                <c:pt idx="112">
                  <c:v>2.8</c:v>
                </c:pt>
                <c:pt idx="113">
                  <c:v>2.8250000000000002</c:v>
                </c:pt>
                <c:pt idx="114">
                  <c:v>2.85</c:v>
                </c:pt>
                <c:pt idx="115">
                  <c:v>2.875</c:v>
                </c:pt>
                <c:pt idx="116">
                  <c:v>2.9</c:v>
                </c:pt>
                <c:pt idx="117">
                  <c:v>2.9249999999999998</c:v>
                </c:pt>
                <c:pt idx="118">
                  <c:v>2.95</c:v>
                </c:pt>
                <c:pt idx="119">
                  <c:v>2.9750000000000001</c:v>
                </c:pt>
                <c:pt idx="120">
                  <c:v>3</c:v>
                </c:pt>
                <c:pt idx="121">
                  <c:v>3.0249999999999999</c:v>
                </c:pt>
                <c:pt idx="122">
                  <c:v>3.05</c:v>
                </c:pt>
                <c:pt idx="123">
                  <c:v>3.0750000000000002</c:v>
                </c:pt>
                <c:pt idx="124">
                  <c:v>3.1</c:v>
                </c:pt>
                <c:pt idx="125">
                  <c:v>3.125</c:v>
                </c:pt>
                <c:pt idx="126">
                  <c:v>3.15</c:v>
                </c:pt>
                <c:pt idx="127">
                  <c:v>3.1749999999999998</c:v>
                </c:pt>
                <c:pt idx="128">
                  <c:v>3.2</c:v>
                </c:pt>
                <c:pt idx="129">
                  <c:v>3.2250000000000001</c:v>
                </c:pt>
                <c:pt idx="130">
                  <c:v>3.25</c:v>
                </c:pt>
                <c:pt idx="131">
                  <c:v>3.2749999999999999</c:v>
                </c:pt>
                <c:pt idx="132">
                  <c:v>3.3</c:v>
                </c:pt>
                <c:pt idx="133">
                  <c:v>3.3250000000000002</c:v>
                </c:pt>
                <c:pt idx="134">
                  <c:v>3.35</c:v>
                </c:pt>
                <c:pt idx="135">
                  <c:v>3.375</c:v>
                </c:pt>
                <c:pt idx="136">
                  <c:v>3.4</c:v>
                </c:pt>
                <c:pt idx="137">
                  <c:v>3.4249999999999998</c:v>
                </c:pt>
                <c:pt idx="138">
                  <c:v>3.45</c:v>
                </c:pt>
                <c:pt idx="139">
                  <c:v>3.4750000000000001</c:v>
                </c:pt>
                <c:pt idx="140">
                  <c:v>3.5</c:v>
                </c:pt>
                <c:pt idx="141">
                  <c:v>3.5249999999999999</c:v>
                </c:pt>
                <c:pt idx="142">
                  <c:v>3.55</c:v>
                </c:pt>
                <c:pt idx="143">
                  <c:v>3.5750000000000002</c:v>
                </c:pt>
                <c:pt idx="144">
                  <c:v>3.6</c:v>
                </c:pt>
                <c:pt idx="145">
                  <c:v>3.625</c:v>
                </c:pt>
                <c:pt idx="146">
                  <c:v>3.65</c:v>
                </c:pt>
                <c:pt idx="147">
                  <c:v>3.6749999999999998</c:v>
                </c:pt>
                <c:pt idx="148">
                  <c:v>3.7</c:v>
                </c:pt>
                <c:pt idx="149">
                  <c:v>3.7250000000000001</c:v>
                </c:pt>
                <c:pt idx="150">
                  <c:v>3.75</c:v>
                </c:pt>
                <c:pt idx="151">
                  <c:v>3.7749999999999999</c:v>
                </c:pt>
                <c:pt idx="152">
                  <c:v>3.8</c:v>
                </c:pt>
                <c:pt idx="153">
                  <c:v>3.8250000000000002</c:v>
                </c:pt>
                <c:pt idx="154">
                  <c:v>3.85</c:v>
                </c:pt>
                <c:pt idx="155">
                  <c:v>3.875</c:v>
                </c:pt>
                <c:pt idx="156">
                  <c:v>3.9</c:v>
                </c:pt>
                <c:pt idx="157">
                  <c:v>3.9249999999999998</c:v>
                </c:pt>
                <c:pt idx="158">
                  <c:v>3.95</c:v>
                </c:pt>
                <c:pt idx="159">
                  <c:v>3.9750000000000001</c:v>
                </c:pt>
                <c:pt idx="160">
                  <c:v>4</c:v>
                </c:pt>
                <c:pt idx="161">
                  <c:v>4.0250000000000004</c:v>
                </c:pt>
                <c:pt idx="162">
                  <c:v>4.05</c:v>
                </c:pt>
                <c:pt idx="163">
                  <c:v>4.0750000000000002</c:v>
                </c:pt>
                <c:pt idx="164">
                  <c:v>4.0999999999999996</c:v>
                </c:pt>
                <c:pt idx="165">
                  <c:v>4.125</c:v>
                </c:pt>
                <c:pt idx="166">
                  <c:v>4.1500000000000004</c:v>
                </c:pt>
                <c:pt idx="167">
                  <c:v>4.1749999999999998</c:v>
                </c:pt>
                <c:pt idx="168">
                  <c:v>4.2</c:v>
                </c:pt>
                <c:pt idx="169">
                  <c:v>4.2249999999999996</c:v>
                </c:pt>
                <c:pt idx="170">
                  <c:v>4.25</c:v>
                </c:pt>
                <c:pt idx="171">
                  <c:v>4.2750000000000004</c:v>
                </c:pt>
                <c:pt idx="172">
                  <c:v>4.3</c:v>
                </c:pt>
                <c:pt idx="173">
                  <c:v>4.3250000000000002</c:v>
                </c:pt>
                <c:pt idx="174">
                  <c:v>4.3499999999999996</c:v>
                </c:pt>
                <c:pt idx="175">
                  <c:v>4.375</c:v>
                </c:pt>
                <c:pt idx="176">
                  <c:v>4.4000000000000004</c:v>
                </c:pt>
                <c:pt idx="177">
                  <c:v>4.4249999999999998</c:v>
                </c:pt>
                <c:pt idx="178">
                  <c:v>4.45</c:v>
                </c:pt>
                <c:pt idx="179">
                  <c:v>4.4749999999999996</c:v>
                </c:pt>
                <c:pt idx="180">
                  <c:v>4.5</c:v>
                </c:pt>
                <c:pt idx="181">
                  <c:v>4.5250000000000004</c:v>
                </c:pt>
                <c:pt idx="182">
                  <c:v>4.55</c:v>
                </c:pt>
                <c:pt idx="183">
                  <c:v>4.5750000000000002</c:v>
                </c:pt>
                <c:pt idx="184">
                  <c:v>4.5999999999999996</c:v>
                </c:pt>
                <c:pt idx="185">
                  <c:v>4.625</c:v>
                </c:pt>
                <c:pt idx="186">
                  <c:v>4.6500000000000004</c:v>
                </c:pt>
                <c:pt idx="187">
                  <c:v>4.6749999999999998</c:v>
                </c:pt>
                <c:pt idx="188">
                  <c:v>4.7</c:v>
                </c:pt>
                <c:pt idx="189">
                  <c:v>4.7249999999999996</c:v>
                </c:pt>
                <c:pt idx="190">
                  <c:v>4.75</c:v>
                </c:pt>
                <c:pt idx="191">
                  <c:v>4.7750000000000004</c:v>
                </c:pt>
                <c:pt idx="192">
                  <c:v>4.8</c:v>
                </c:pt>
                <c:pt idx="193">
                  <c:v>4.8250000000000002</c:v>
                </c:pt>
                <c:pt idx="194">
                  <c:v>4.8499999999999996</c:v>
                </c:pt>
                <c:pt idx="195">
                  <c:v>4.875</c:v>
                </c:pt>
                <c:pt idx="196">
                  <c:v>4.9000000000000004</c:v>
                </c:pt>
                <c:pt idx="197">
                  <c:v>4.9249999999999998</c:v>
                </c:pt>
                <c:pt idx="198">
                  <c:v>4.95</c:v>
                </c:pt>
                <c:pt idx="199">
                  <c:v>4.9749999999999996</c:v>
                </c:pt>
                <c:pt idx="200">
                  <c:v>5</c:v>
                </c:pt>
                <c:pt idx="201">
                  <c:v>5.0250000000000004</c:v>
                </c:pt>
                <c:pt idx="202">
                  <c:v>5.05</c:v>
                </c:pt>
                <c:pt idx="203">
                  <c:v>5.0750000000000002</c:v>
                </c:pt>
                <c:pt idx="204">
                  <c:v>5.0999999999999996</c:v>
                </c:pt>
                <c:pt idx="205">
                  <c:v>5.125</c:v>
                </c:pt>
                <c:pt idx="206">
                  <c:v>5.15</c:v>
                </c:pt>
                <c:pt idx="207">
                  <c:v>5.1749999999999998</c:v>
                </c:pt>
                <c:pt idx="208">
                  <c:v>5.2</c:v>
                </c:pt>
                <c:pt idx="209">
                  <c:v>5.2249999999999996</c:v>
                </c:pt>
                <c:pt idx="210">
                  <c:v>5.25</c:v>
                </c:pt>
                <c:pt idx="211">
                  <c:v>5.2750000000000004</c:v>
                </c:pt>
                <c:pt idx="212">
                  <c:v>5.3</c:v>
                </c:pt>
                <c:pt idx="213">
                  <c:v>5.3250000000000002</c:v>
                </c:pt>
                <c:pt idx="214">
                  <c:v>5.35</c:v>
                </c:pt>
                <c:pt idx="215">
                  <c:v>5.375</c:v>
                </c:pt>
                <c:pt idx="216">
                  <c:v>5.4</c:v>
                </c:pt>
                <c:pt idx="217">
                  <c:v>5.4249999999999998</c:v>
                </c:pt>
                <c:pt idx="218">
                  <c:v>5.45</c:v>
                </c:pt>
                <c:pt idx="219">
                  <c:v>5.4749999999999996</c:v>
                </c:pt>
                <c:pt idx="220">
                  <c:v>5.5</c:v>
                </c:pt>
                <c:pt idx="221">
                  <c:v>5.5250000000000004</c:v>
                </c:pt>
                <c:pt idx="222">
                  <c:v>5.55</c:v>
                </c:pt>
                <c:pt idx="223">
                  <c:v>5.5750000000000002</c:v>
                </c:pt>
                <c:pt idx="224">
                  <c:v>5.6</c:v>
                </c:pt>
                <c:pt idx="225">
                  <c:v>5.625</c:v>
                </c:pt>
                <c:pt idx="226">
                  <c:v>5.65</c:v>
                </c:pt>
                <c:pt idx="227">
                  <c:v>5.6749999999999998</c:v>
                </c:pt>
                <c:pt idx="228">
                  <c:v>5.7</c:v>
                </c:pt>
                <c:pt idx="229">
                  <c:v>5.7249999999999996</c:v>
                </c:pt>
                <c:pt idx="230">
                  <c:v>5.75</c:v>
                </c:pt>
                <c:pt idx="231">
                  <c:v>5.7750000000000004</c:v>
                </c:pt>
                <c:pt idx="232">
                  <c:v>5.8</c:v>
                </c:pt>
                <c:pt idx="233">
                  <c:v>5.8250000000000002</c:v>
                </c:pt>
                <c:pt idx="234">
                  <c:v>5.85</c:v>
                </c:pt>
                <c:pt idx="235">
                  <c:v>5.875</c:v>
                </c:pt>
                <c:pt idx="236">
                  <c:v>5.9</c:v>
                </c:pt>
                <c:pt idx="237">
                  <c:v>5.9249999999999998</c:v>
                </c:pt>
                <c:pt idx="238">
                  <c:v>5.95</c:v>
                </c:pt>
                <c:pt idx="239">
                  <c:v>5.9749999999999996</c:v>
                </c:pt>
                <c:pt idx="240">
                  <c:v>6</c:v>
                </c:pt>
                <c:pt idx="241">
                  <c:v>6.0250000000000004</c:v>
                </c:pt>
                <c:pt idx="242">
                  <c:v>6.05</c:v>
                </c:pt>
                <c:pt idx="243">
                  <c:v>6.0750000000000002</c:v>
                </c:pt>
                <c:pt idx="244">
                  <c:v>6.1</c:v>
                </c:pt>
                <c:pt idx="245">
                  <c:v>6.125</c:v>
                </c:pt>
                <c:pt idx="246">
                  <c:v>6.15</c:v>
                </c:pt>
                <c:pt idx="247">
                  <c:v>6.1749999999999998</c:v>
                </c:pt>
                <c:pt idx="248">
                  <c:v>6.2</c:v>
                </c:pt>
                <c:pt idx="249">
                  <c:v>6.2249999999999996</c:v>
                </c:pt>
                <c:pt idx="250">
                  <c:v>6.25</c:v>
                </c:pt>
                <c:pt idx="251">
                  <c:v>6.2750000000000004</c:v>
                </c:pt>
                <c:pt idx="252">
                  <c:v>6.3</c:v>
                </c:pt>
                <c:pt idx="253">
                  <c:v>6.3250000000000002</c:v>
                </c:pt>
                <c:pt idx="254">
                  <c:v>6.35</c:v>
                </c:pt>
                <c:pt idx="255">
                  <c:v>6.375</c:v>
                </c:pt>
                <c:pt idx="256">
                  <c:v>6.4</c:v>
                </c:pt>
                <c:pt idx="257">
                  <c:v>6.4249999999999998</c:v>
                </c:pt>
                <c:pt idx="258">
                  <c:v>6.45</c:v>
                </c:pt>
                <c:pt idx="259">
                  <c:v>6.4749999999999996</c:v>
                </c:pt>
                <c:pt idx="260">
                  <c:v>6.5</c:v>
                </c:pt>
                <c:pt idx="261">
                  <c:v>6.5250000000000004</c:v>
                </c:pt>
                <c:pt idx="262">
                  <c:v>6.55</c:v>
                </c:pt>
                <c:pt idx="263">
                  <c:v>6.5750000000000002</c:v>
                </c:pt>
                <c:pt idx="264">
                  <c:v>6.6</c:v>
                </c:pt>
                <c:pt idx="265">
                  <c:v>6.625</c:v>
                </c:pt>
                <c:pt idx="266">
                  <c:v>6.65</c:v>
                </c:pt>
                <c:pt idx="267">
                  <c:v>6.6749999999999998</c:v>
                </c:pt>
                <c:pt idx="268">
                  <c:v>6.7</c:v>
                </c:pt>
                <c:pt idx="269">
                  <c:v>6.7249999999999996</c:v>
                </c:pt>
                <c:pt idx="270">
                  <c:v>6.75</c:v>
                </c:pt>
                <c:pt idx="271">
                  <c:v>6.7750000000000004</c:v>
                </c:pt>
                <c:pt idx="272">
                  <c:v>6.8</c:v>
                </c:pt>
                <c:pt idx="273">
                  <c:v>6.8250000000000002</c:v>
                </c:pt>
                <c:pt idx="274">
                  <c:v>6.85</c:v>
                </c:pt>
                <c:pt idx="275">
                  <c:v>6.875</c:v>
                </c:pt>
                <c:pt idx="276">
                  <c:v>6.9</c:v>
                </c:pt>
                <c:pt idx="277">
                  <c:v>6.9249999999999998</c:v>
                </c:pt>
                <c:pt idx="278">
                  <c:v>6.95</c:v>
                </c:pt>
                <c:pt idx="279">
                  <c:v>6.9749999999999996</c:v>
                </c:pt>
                <c:pt idx="280">
                  <c:v>7</c:v>
                </c:pt>
                <c:pt idx="281">
                  <c:v>7.0250000000000004</c:v>
                </c:pt>
                <c:pt idx="282">
                  <c:v>7.05</c:v>
                </c:pt>
                <c:pt idx="283">
                  <c:v>7.0750000000000002</c:v>
                </c:pt>
                <c:pt idx="284">
                  <c:v>7.1</c:v>
                </c:pt>
                <c:pt idx="285">
                  <c:v>7.125</c:v>
                </c:pt>
                <c:pt idx="286">
                  <c:v>7.15</c:v>
                </c:pt>
                <c:pt idx="287">
                  <c:v>7.1749999999999998</c:v>
                </c:pt>
                <c:pt idx="288">
                  <c:v>7.2</c:v>
                </c:pt>
                <c:pt idx="289">
                  <c:v>7.2249999999999996</c:v>
                </c:pt>
                <c:pt idx="290">
                  <c:v>7.25</c:v>
                </c:pt>
                <c:pt idx="291">
                  <c:v>7.2750000000000004</c:v>
                </c:pt>
                <c:pt idx="292">
                  <c:v>7.3</c:v>
                </c:pt>
                <c:pt idx="293">
                  <c:v>7.3250000000000002</c:v>
                </c:pt>
                <c:pt idx="294">
                  <c:v>7.35</c:v>
                </c:pt>
                <c:pt idx="295">
                  <c:v>7.375</c:v>
                </c:pt>
                <c:pt idx="296">
                  <c:v>7.4</c:v>
                </c:pt>
                <c:pt idx="297">
                  <c:v>7.4249999999999998</c:v>
                </c:pt>
                <c:pt idx="298">
                  <c:v>7.45</c:v>
                </c:pt>
                <c:pt idx="299">
                  <c:v>7.4749999999999996</c:v>
                </c:pt>
                <c:pt idx="300">
                  <c:v>7.5</c:v>
                </c:pt>
                <c:pt idx="301">
                  <c:v>7.5250000000000004</c:v>
                </c:pt>
                <c:pt idx="302">
                  <c:v>7.55</c:v>
                </c:pt>
                <c:pt idx="303">
                  <c:v>7.5750000000000002</c:v>
                </c:pt>
                <c:pt idx="304">
                  <c:v>7.6</c:v>
                </c:pt>
                <c:pt idx="305">
                  <c:v>7.625</c:v>
                </c:pt>
                <c:pt idx="306">
                  <c:v>7.65</c:v>
                </c:pt>
                <c:pt idx="307">
                  <c:v>7.6749999999999998</c:v>
                </c:pt>
                <c:pt idx="308">
                  <c:v>7.7</c:v>
                </c:pt>
                <c:pt idx="309">
                  <c:v>7.7249999999999996</c:v>
                </c:pt>
                <c:pt idx="310">
                  <c:v>7.75</c:v>
                </c:pt>
                <c:pt idx="311">
                  <c:v>7.7750000000000004</c:v>
                </c:pt>
                <c:pt idx="312">
                  <c:v>7.8</c:v>
                </c:pt>
                <c:pt idx="313">
                  <c:v>7.8250000000000002</c:v>
                </c:pt>
                <c:pt idx="314">
                  <c:v>7.85</c:v>
                </c:pt>
                <c:pt idx="315">
                  <c:v>7.875</c:v>
                </c:pt>
                <c:pt idx="316">
                  <c:v>7.9</c:v>
                </c:pt>
                <c:pt idx="317">
                  <c:v>7.9249999999999998</c:v>
                </c:pt>
                <c:pt idx="318">
                  <c:v>7.95</c:v>
                </c:pt>
                <c:pt idx="319">
                  <c:v>7.9749999999999996</c:v>
                </c:pt>
                <c:pt idx="320">
                  <c:v>8</c:v>
                </c:pt>
                <c:pt idx="321">
                  <c:v>8.0250000000000004</c:v>
                </c:pt>
                <c:pt idx="322">
                  <c:v>8.0500000000000007</c:v>
                </c:pt>
                <c:pt idx="323">
                  <c:v>8.0749999999999993</c:v>
                </c:pt>
                <c:pt idx="324">
                  <c:v>8.1</c:v>
                </c:pt>
                <c:pt idx="325">
                  <c:v>8.125</c:v>
                </c:pt>
                <c:pt idx="326">
                  <c:v>8.15</c:v>
                </c:pt>
                <c:pt idx="327">
                  <c:v>8.1750000000000007</c:v>
                </c:pt>
                <c:pt idx="328">
                  <c:v>8.1999999999999993</c:v>
                </c:pt>
                <c:pt idx="329">
                  <c:v>8.2249999999999996</c:v>
                </c:pt>
                <c:pt idx="330">
                  <c:v>8.25</c:v>
                </c:pt>
                <c:pt idx="331">
                  <c:v>8.2750000000000004</c:v>
                </c:pt>
                <c:pt idx="332">
                  <c:v>8.3000000000000007</c:v>
                </c:pt>
                <c:pt idx="333">
                  <c:v>8.3249999999999993</c:v>
                </c:pt>
                <c:pt idx="334">
                  <c:v>8.35</c:v>
                </c:pt>
                <c:pt idx="335">
                  <c:v>8.375</c:v>
                </c:pt>
                <c:pt idx="336">
                  <c:v>8.4</c:v>
                </c:pt>
                <c:pt idx="337">
                  <c:v>8.4250000000000007</c:v>
                </c:pt>
                <c:pt idx="338">
                  <c:v>8.4499999999999993</c:v>
                </c:pt>
                <c:pt idx="339">
                  <c:v>8.4749999999999996</c:v>
                </c:pt>
                <c:pt idx="340">
                  <c:v>8.5</c:v>
                </c:pt>
                <c:pt idx="341">
                  <c:v>8.5250000000000004</c:v>
                </c:pt>
                <c:pt idx="342">
                  <c:v>8.5500000000000007</c:v>
                </c:pt>
                <c:pt idx="343">
                  <c:v>8.5749999999999993</c:v>
                </c:pt>
                <c:pt idx="344">
                  <c:v>8.6</c:v>
                </c:pt>
                <c:pt idx="345">
                  <c:v>8.625</c:v>
                </c:pt>
                <c:pt idx="346">
                  <c:v>8.65</c:v>
                </c:pt>
                <c:pt idx="347">
                  <c:v>8.6750000000000007</c:v>
                </c:pt>
                <c:pt idx="348">
                  <c:v>8.6999999999999993</c:v>
                </c:pt>
                <c:pt idx="349">
                  <c:v>8.7249999999999996</c:v>
                </c:pt>
                <c:pt idx="350">
                  <c:v>8.75</c:v>
                </c:pt>
                <c:pt idx="351">
                  <c:v>8.7750000000000004</c:v>
                </c:pt>
                <c:pt idx="352">
                  <c:v>8.8000000000000007</c:v>
                </c:pt>
                <c:pt idx="353">
                  <c:v>8.8249999999999993</c:v>
                </c:pt>
                <c:pt idx="354">
                  <c:v>8.85</c:v>
                </c:pt>
                <c:pt idx="355">
                  <c:v>8.875</c:v>
                </c:pt>
                <c:pt idx="356">
                  <c:v>8.9</c:v>
                </c:pt>
                <c:pt idx="357">
                  <c:v>8.9250000000000007</c:v>
                </c:pt>
                <c:pt idx="358">
                  <c:v>8.9499999999999993</c:v>
                </c:pt>
                <c:pt idx="359">
                  <c:v>8.9749999999999996</c:v>
                </c:pt>
                <c:pt idx="360">
                  <c:v>9</c:v>
                </c:pt>
                <c:pt idx="361">
                  <c:v>9.0250000000000004</c:v>
                </c:pt>
                <c:pt idx="362">
                  <c:v>9.0500000000000007</c:v>
                </c:pt>
                <c:pt idx="363">
                  <c:v>9.0749999999999993</c:v>
                </c:pt>
                <c:pt idx="364">
                  <c:v>9.1</c:v>
                </c:pt>
                <c:pt idx="365">
                  <c:v>9.125</c:v>
                </c:pt>
                <c:pt idx="366">
                  <c:v>9.15</c:v>
                </c:pt>
                <c:pt idx="367">
                  <c:v>9.1750000000000007</c:v>
                </c:pt>
                <c:pt idx="368">
                  <c:v>9.1999999999999993</c:v>
                </c:pt>
                <c:pt idx="369">
                  <c:v>9.2249999999999996</c:v>
                </c:pt>
                <c:pt idx="370">
                  <c:v>9.25</c:v>
                </c:pt>
                <c:pt idx="371">
                  <c:v>9.2750000000000004</c:v>
                </c:pt>
                <c:pt idx="372">
                  <c:v>9.3000000000000007</c:v>
                </c:pt>
                <c:pt idx="373">
                  <c:v>9.3249999999999993</c:v>
                </c:pt>
                <c:pt idx="374">
                  <c:v>9.35</c:v>
                </c:pt>
                <c:pt idx="375">
                  <c:v>9.375</c:v>
                </c:pt>
                <c:pt idx="376">
                  <c:v>9.4</c:v>
                </c:pt>
                <c:pt idx="377">
                  <c:v>9.4250000000000007</c:v>
                </c:pt>
                <c:pt idx="378">
                  <c:v>9.4499999999999993</c:v>
                </c:pt>
                <c:pt idx="379">
                  <c:v>9.4749999999999996</c:v>
                </c:pt>
                <c:pt idx="380">
                  <c:v>9.5</c:v>
                </c:pt>
                <c:pt idx="381">
                  <c:v>9.5250000000000004</c:v>
                </c:pt>
                <c:pt idx="382">
                  <c:v>9.5500000000000007</c:v>
                </c:pt>
                <c:pt idx="383">
                  <c:v>9.5749999999999993</c:v>
                </c:pt>
                <c:pt idx="384">
                  <c:v>9.6</c:v>
                </c:pt>
                <c:pt idx="385">
                  <c:v>9.625</c:v>
                </c:pt>
                <c:pt idx="386">
                  <c:v>9.65</c:v>
                </c:pt>
                <c:pt idx="387">
                  <c:v>9.6750000000000007</c:v>
                </c:pt>
                <c:pt idx="388">
                  <c:v>9.6999999999999993</c:v>
                </c:pt>
                <c:pt idx="389">
                  <c:v>9.7249999999999996</c:v>
                </c:pt>
                <c:pt idx="390">
                  <c:v>9.75</c:v>
                </c:pt>
                <c:pt idx="391">
                  <c:v>9.7750000000000004</c:v>
                </c:pt>
                <c:pt idx="392">
                  <c:v>9.8000000000000007</c:v>
                </c:pt>
                <c:pt idx="393">
                  <c:v>9.8249999999999993</c:v>
                </c:pt>
                <c:pt idx="394">
                  <c:v>9.85</c:v>
                </c:pt>
                <c:pt idx="395">
                  <c:v>9.875</c:v>
                </c:pt>
                <c:pt idx="396">
                  <c:v>9.9</c:v>
                </c:pt>
                <c:pt idx="397">
                  <c:v>9.9250000000000007</c:v>
                </c:pt>
                <c:pt idx="398">
                  <c:v>9.9499999999999993</c:v>
                </c:pt>
                <c:pt idx="399">
                  <c:v>9.9749999999999996</c:v>
                </c:pt>
                <c:pt idx="400">
                  <c:v>10</c:v>
                </c:pt>
              </c:numCache>
            </c:numRef>
          </c:xVal>
          <c:yVal>
            <c:numRef>
              <c:f>'Chart Data'!$B$2:$B$402</c:f>
              <c:numCache>
                <c:formatCode>0.0</c:formatCode>
                <c:ptCount val="401"/>
                <c:pt idx="0">
                  <c:v>1.9999999999999999E-6</c:v>
                </c:pt>
                <c:pt idx="1">
                  <c:v>6.9099999999999999E-4</c:v>
                </c:pt>
                <c:pt idx="2">
                  <c:v>1.382E-3</c:v>
                </c:pt>
                <c:pt idx="3">
                  <c:v>2.0730000000000002E-3</c:v>
                </c:pt>
                <c:pt idx="4">
                  <c:v>2.7620000000000001E-3</c:v>
                </c:pt>
                <c:pt idx="5">
                  <c:v>3.4510000000000001E-3</c:v>
                </c:pt>
                <c:pt idx="6">
                  <c:v>4.1390000000000003E-3</c:v>
                </c:pt>
                <c:pt idx="7">
                  <c:v>4.8260000000000004E-3</c:v>
                </c:pt>
                <c:pt idx="8">
                  <c:v>3.7289999999999997E-2</c:v>
                </c:pt>
                <c:pt idx="9">
                  <c:v>0.111596</c:v>
                </c:pt>
                <c:pt idx="10">
                  <c:v>0.27775300000000003</c:v>
                </c:pt>
                <c:pt idx="11">
                  <c:v>0.54696999999999996</c:v>
                </c:pt>
                <c:pt idx="12">
                  <c:v>0.84062999999999999</c:v>
                </c:pt>
                <c:pt idx="13">
                  <c:v>1.0045850000000001</c:v>
                </c:pt>
                <c:pt idx="14">
                  <c:v>0.93386000000000002</c:v>
                </c:pt>
                <c:pt idx="15">
                  <c:v>0.67971899999999996</c:v>
                </c:pt>
                <c:pt idx="16">
                  <c:v>0.39925500000000003</c:v>
                </c:pt>
                <c:pt idx="17">
                  <c:v>0.21504899999999999</c:v>
                </c:pt>
                <c:pt idx="18">
                  <c:v>0.149784</c:v>
                </c:pt>
                <c:pt idx="19">
                  <c:v>0.16311100000000001</c:v>
                </c:pt>
                <c:pt idx="20">
                  <c:v>0.205068</c:v>
                </c:pt>
                <c:pt idx="21">
                  <c:v>0.23832300000000001</c:v>
                </c:pt>
                <c:pt idx="22">
                  <c:v>0.24207100000000001</c:v>
                </c:pt>
                <c:pt idx="23">
                  <c:v>0.21320500000000001</c:v>
                </c:pt>
                <c:pt idx="24">
                  <c:v>0.16358800000000001</c:v>
                </c:pt>
                <c:pt idx="25">
                  <c:v>0.111011</c:v>
                </c:pt>
                <c:pt idx="26">
                  <c:v>6.9009000000000001E-2</c:v>
                </c:pt>
                <c:pt idx="27">
                  <c:v>4.2233E-2</c:v>
                </c:pt>
                <c:pt idx="28">
                  <c:v>2.8358999999999999E-2</c:v>
                </c:pt>
                <c:pt idx="29">
                  <c:v>2.2578000000000001E-2</c:v>
                </c:pt>
                <c:pt idx="30">
                  <c:v>2.0812000000000001E-2</c:v>
                </c:pt>
                <c:pt idx="31">
                  <c:v>2.0667000000000001E-2</c:v>
                </c:pt>
                <c:pt idx="32">
                  <c:v>2.1062000000000001E-2</c:v>
                </c:pt>
                <c:pt idx="33">
                  <c:v>2.1602E-2</c:v>
                </c:pt>
                <c:pt idx="34">
                  <c:v>2.2172000000000001E-2</c:v>
                </c:pt>
                <c:pt idx="35">
                  <c:v>2.2742999999999999E-2</c:v>
                </c:pt>
                <c:pt idx="36">
                  <c:v>2.3307999999999999E-2</c:v>
                </c:pt>
                <c:pt idx="37">
                  <c:v>2.3865999999999998E-2</c:v>
                </c:pt>
                <c:pt idx="38">
                  <c:v>2.4417000000000001E-2</c:v>
                </c:pt>
                <c:pt idx="39">
                  <c:v>2.4961000000000001E-2</c:v>
                </c:pt>
                <c:pt idx="40">
                  <c:v>2.5496999999999999E-2</c:v>
                </c:pt>
                <c:pt idx="41">
                  <c:v>2.6026000000000001E-2</c:v>
                </c:pt>
                <c:pt idx="42">
                  <c:v>5.8325000000000002E-2</c:v>
                </c:pt>
                <c:pt idx="43">
                  <c:v>0.13245999999999999</c:v>
                </c:pt>
                <c:pt idx="44">
                  <c:v>0.29843999999999998</c:v>
                </c:pt>
                <c:pt idx="45">
                  <c:v>0.56747400000000003</c:v>
                </c:pt>
                <c:pt idx="46">
                  <c:v>0.86094499999999996</c:v>
                </c:pt>
                <c:pt idx="47">
                  <c:v>1.024705</c:v>
                </c:pt>
                <c:pt idx="48">
                  <c:v>0.95377900000000004</c:v>
                </c:pt>
                <c:pt idx="49">
                  <c:v>0.69943</c:v>
                </c:pt>
                <c:pt idx="50">
                  <c:v>0.41875299999999999</c:v>
                </c:pt>
                <c:pt idx="51">
                  <c:v>0.23432800000000001</c:v>
                </c:pt>
                <c:pt idx="52">
                  <c:v>0.16883799999999999</c:v>
                </c:pt>
                <c:pt idx="53">
                  <c:v>0.18193599999999999</c:v>
                </c:pt>
                <c:pt idx="54">
                  <c:v>0.22365599999999999</c:v>
                </c:pt>
                <c:pt idx="55">
                  <c:v>0.25667000000000001</c:v>
                </c:pt>
                <c:pt idx="56">
                  <c:v>0.26017099999999999</c:v>
                </c:pt>
                <c:pt idx="57">
                  <c:v>0.23105200000000001</c:v>
                </c:pt>
                <c:pt idx="58">
                  <c:v>0.181177</c:v>
                </c:pt>
                <c:pt idx="59">
                  <c:v>0.12833700000000001</c:v>
                </c:pt>
                <c:pt idx="60">
                  <c:v>8.6067000000000005E-2</c:v>
                </c:pt>
                <c:pt idx="61">
                  <c:v>5.9018000000000001E-2</c:v>
                </c:pt>
                <c:pt idx="62">
                  <c:v>4.4866000000000003E-2</c:v>
                </c:pt>
                <c:pt idx="63">
                  <c:v>3.8801000000000002E-2</c:v>
                </c:pt>
                <c:pt idx="64">
                  <c:v>3.6747000000000002E-2</c:v>
                </c:pt>
                <c:pt idx="65">
                  <c:v>3.6310000000000002E-2</c:v>
                </c:pt>
                <c:pt idx="66">
                  <c:v>3.6407000000000002E-2</c:v>
                </c:pt>
                <c:pt idx="67">
                  <c:v>3.6644999999999997E-2</c:v>
                </c:pt>
                <c:pt idx="68">
                  <c:v>3.6908999999999997E-2</c:v>
                </c:pt>
                <c:pt idx="69">
                  <c:v>3.7168E-2</c:v>
                </c:pt>
                <c:pt idx="70">
                  <c:v>3.7418E-2</c:v>
                </c:pt>
                <c:pt idx="71">
                  <c:v>3.7656000000000002E-2</c:v>
                </c:pt>
                <c:pt idx="72">
                  <c:v>3.7884000000000001E-2</c:v>
                </c:pt>
                <c:pt idx="73">
                  <c:v>3.8100000000000002E-2</c:v>
                </c:pt>
                <c:pt idx="74">
                  <c:v>3.8304999999999999E-2</c:v>
                </c:pt>
                <c:pt idx="75">
                  <c:v>3.8497999999999998E-2</c:v>
                </c:pt>
                <c:pt idx="76">
                  <c:v>7.0458000000000007E-2</c:v>
                </c:pt>
                <c:pt idx="77">
                  <c:v>0.14425099999999999</c:v>
                </c:pt>
                <c:pt idx="78">
                  <c:v>0.30988500000000002</c:v>
                </c:pt>
                <c:pt idx="79">
                  <c:v>0.578569</c:v>
                </c:pt>
                <c:pt idx="80">
                  <c:v>0.87168699999999999</c:v>
                </c:pt>
                <c:pt idx="81">
                  <c:v>1.0350900000000001</c:v>
                </c:pt>
                <c:pt idx="82">
                  <c:v>0.96380500000000002</c:v>
                </c:pt>
                <c:pt idx="83">
                  <c:v>0.709094</c:v>
                </c:pt>
                <c:pt idx="84">
                  <c:v>0.42805199999999999</c:v>
                </c:pt>
                <c:pt idx="85">
                  <c:v>0.243259</c:v>
                </c:pt>
                <c:pt idx="86">
                  <c:v>0.177399</c:v>
                </c:pt>
                <c:pt idx="87">
                  <c:v>0.19012299999999999</c:v>
                </c:pt>
                <c:pt idx="88">
                  <c:v>0.23146800000000001</c:v>
                </c:pt>
                <c:pt idx="89">
                  <c:v>0.26410400000000001</c:v>
                </c:pt>
                <c:pt idx="90">
                  <c:v>0.26722400000000002</c:v>
                </c:pt>
                <c:pt idx="91">
                  <c:v>0.23772299999999999</c:v>
                </c:pt>
                <c:pt idx="92">
                  <c:v>0.18746499999999999</c:v>
                </c:pt>
                <c:pt idx="93">
                  <c:v>0.134238</c:v>
                </c:pt>
                <c:pt idx="94">
                  <c:v>9.1580999999999996E-2</c:v>
                </c:pt>
                <c:pt idx="95">
                  <c:v>6.4142000000000005E-2</c:v>
                </c:pt>
                <c:pt idx="96">
                  <c:v>4.9598000000000003E-2</c:v>
                </c:pt>
                <c:pt idx="97">
                  <c:v>4.3140999999999999E-2</c:v>
                </c:pt>
                <c:pt idx="98">
                  <c:v>4.0694000000000001E-2</c:v>
                </c:pt>
                <c:pt idx="99">
                  <c:v>3.9861000000000001E-2</c:v>
                </c:pt>
                <c:pt idx="100">
                  <c:v>3.9562E-2</c:v>
                </c:pt>
                <c:pt idx="101">
                  <c:v>3.9404000000000002E-2</c:v>
                </c:pt>
                <c:pt idx="102">
                  <c:v>3.9268999999999998E-2</c:v>
                </c:pt>
                <c:pt idx="103">
                  <c:v>3.9129999999999998E-2</c:v>
                </c:pt>
                <c:pt idx="104">
                  <c:v>3.8981000000000002E-2</c:v>
                </c:pt>
                <c:pt idx="105">
                  <c:v>3.882E-2</c:v>
                </c:pt>
                <c:pt idx="106">
                  <c:v>3.8648000000000002E-2</c:v>
                </c:pt>
                <c:pt idx="107">
                  <c:v>3.8463999999999998E-2</c:v>
                </c:pt>
                <c:pt idx="108">
                  <c:v>3.8268000000000003E-2</c:v>
                </c:pt>
                <c:pt idx="109">
                  <c:v>3.8061999999999999E-2</c:v>
                </c:pt>
                <c:pt idx="110">
                  <c:v>3.7843000000000002E-2</c:v>
                </c:pt>
                <c:pt idx="111">
                  <c:v>0.143014</c:v>
                </c:pt>
                <c:pt idx="112">
                  <c:v>0.308249</c:v>
                </c:pt>
                <c:pt idx="113">
                  <c:v>0.57653399999999999</c:v>
                </c:pt>
                <c:pt idx="114">
                  <c:v>0.86925300000000005</c:v>
                </c:pt>
                <c:pt idx="115">
                  <c:v>1.03226</c:v>
                </c:pt>
                <c:pt idx="116">
                  <c:v>0.96057800000000004</c:v>
                </c:pt>
                <c:pt idx="117">
                  <c:v>0.70547099999999996</c:v>
                </c:pt>
                <c:pt idx="118">
                  <c:v>0.42403400000000002</c:v>
                </c:pt>
                <c:pt idx="119">
                  <c:v>0.238848</c:v>
                </c:pt>
                <c:pt idx="120">
                  <c:v>0.172595</c:v>
                </c:pt>
                <c:pt idx="121">
                  <c:v>0.18492800000000001</c:v>
                </c:pt>
                <c:pt idx="122">
                  <c:v>0.225884</c:v>
                </c:pt>
                <c:pt idx="123">
                  <c:v>0.25813199999999997</c:v>
                </c:pt>
                <c:pt idx="124">
                  <c:v>0.26086700000000002</c:v>
                </c:pt>
                <c:pt idx="125">
                  <c:v>0.23098199999999999</c:v>
                </c:pt>
                <c:pt idx="126">
                  <c:v>0.180342</c:v>
                </c:pt>
                <c:pt idx="127">
                  <c:v>0.12673599999999999</c:v>
                </c:pt>
                <c:pt idx="128">
                  <c:v>8.3699999999999997E-2</c:v>
                </c:pt>
                <c:pt idx="129">
                  <c:v>5.5885999999999998E-2</c:v>
                </c:pt>
                <c:pt idx="130">
                  <c:v>4.0969999999999999E-2</c:v>
                </c:pt>
                <c:pt idx="131">
                  <c:v>3.4143E-2</c:v>
                </c:pt>
                <c:pt idx="132">
                  <c:v>3.1328000000000002E-2</c:v>
                </c:pt>
                <c:pt idx="133">
                  <c:v>3.0131000000000002E-2</c:v>
                </c:pt>
                <c:pt idx="134">
                  <c:v>2.947E-2</c:v>
                </c:pt>
                <c:pt idx="135">
                  <c:v>2.8953E-2</c:v>
                </c:pt>
                <c:pt idx="136">
                  <c:v>2.8462999999999999E-2</c:v>
                </c:pt>
                <c:pt idx="137">
                  <c:v>2.7972E-2</c:v>
                </c:pt>
                <c:pt idx="138">
                  <c:v>2.7473000000000001E-2</c:v>
                </c:pt>
                <c:pt idx="139">
                  <c:v>2.6967000000000001E-2</c:v>
                </c:pt>
                <c:pt idx="140">
                  <c:v>2.6452E-2</c:v>
                </c:pt>
                <c:pt idx="141">
                  <c:v>2.5930000000000002E-2</c:v>
                </c:pt>
                <c:pt idx="142">
                  <c:v>2.5399999999999999E-2</c:v>
                </c:pt>
                <c:pt idx="143">
                  <c:v>2.4861999999999999E-2</c:v>
                </c:pt>
                <c:pt idx="144">
                  <c:v>5.6094999999999999E-2</c:v>
                </c:pt>
                <c:pt idx="145">
                  <c:v>0.129165</c:v>
                </c:pt>
                <c:pt idx="146">
                  <c:v>0.29408099999999998</c:v>
                </c:pt>
                <c:pt idx="147">
                  <c:v>0.562052</c:v>
                </c:pt>
                <c:pt idx="148">
                  <c:v>0.85446100000000003</c:v>
                </c:pt>
                <c:pt idx="149">
                  <c:v>1.017161</c:v>
                </c:pt>
                <c:pt idx="150">
                  <c:v>0.94517799999999996</c:v>
                </c:pt>
                <c:pt idx="151">
                  <c:v>0.68977500000000003</c:v>
                </c:pt>
                <c:pt idx="152">
                  <c:v>0.40804600000000002</c:v>
                </c:pt>
                <c:pt idx="153">
                  <c:v>0.22257199999999999</c:v>
                </c:pt>
                <c:pt idx="154">
                  <c:v>0.15603700000000001</c:v>
                </c:pt>
                <c:pt idx="155">
                  <c:v>0.16809299999999999</c:v>
                </c:pt>
                <c:pt idx="156">
                  <c:v>0.20877699999999999</c:v>
                </c:pt>
                <c:pt idx="157">
                  <c:v>0.240758</c:v>
                </c:pt>
                <c:pt idx="158">
                  <c:v>0.24323</c:v>
                </c:pt>
                <c:pt idx="159">
                  <c:v>0.213089</c:v>
                </c:pt>
                <c:pt idx="160">
                  <c:v>0.16219700000000001</c:v>
                </c:pt>
                <c:pt idx="161">
                  <c:v>0.108345</c:v>
                </c:pt>
                <c:pt idx="162">
                  <c:v>6.5069000000000002E-2</c:v>
                </c:pt>
                <c:pt idx="163">
                  <c:v>3.7019999999999997E-2</c:v>
                </c:pt>
                <c:pt idx="164">
                  <c:v>2.1874999999999999E-2</c:v>
                </c:pt>
                <c:pt idx="165">
                  <c:v>1.4824E-2</c:v>
                </c:pt>
                <c:pt idx="166">
                  <c:v>1.1790999999999999E-2</c:v>
                </c:pt>
                <c:pt idx="167">
                  <c:v>1.0382000000000001E-2</c:v>
                </c:pt>
                <c:pt idx="168">
                  <c:v>9.5149999999999992E-3</c:v>
                </c:pt>
                <c:pt idx="169">
                  <c:v>8.7969999999999993E-3</c:v>
                </c:pt>
                <c:pt idx="170">
                  <c:v>8.1130000000000004E-3</c:v>
                </c:pt>
                <c:pt idx="171">
                  <c:v>7.4339999999999996E-3</c:v>
                </c:pt>
                <c:pt idx="172">
                  <c:v>6.7530000000000003E-3</c:v>
                </c:pt>
                <c:pt idx="173">
                  <c:v>6.071E-3</c:v>
                </c:pt>
                <c:pt idx="174">
                  <c:v>5.3870000000000003E-3</c:v>
                </c:pt>
                <c:pt idx="175">
                  <c:v>4.7010000000000003E-3</c:v>
                </c:pt>
                <c:pt idx="176">
                  <c:v>4.0140000000000002E-3</c:v>
                </c:pt>
                <c:pt idx="177">
                  <c:v>3.326E-3</c:v>
                </c:pt>
                <c:pt idx="178">
                  <c:v>3.4415000000000001E-2</c:v>
                </c:pt>
                <c:pt idx="179">
                  <c:v>0.107347</c:v>
                </c:pt>
                <c:pt idx="180">
                  <c:v>0.27213199999999999</c:v>
                </c:pt>
                <c:pt idx="181">
                  <c:v>0.53997799999999996</c:v>
                </c:pt>
                <c:pt idx="182">
                  <c:v>0.83226999999999995</c:v>
                </c:pt>
                <c:pt idx="183">
                  <c:v>0.99485900000000005</c:v>
                </c:pt>
                <c:pt idx="184">
                  <c:v>0.92277100000000001</c:v>
                </c:pt>
                <c:pt idx="185">
                  <c:v>0.667269</c:v>
                </c:pt>
                <c:pt idx="186">
                  <c:v>0.38544899999999999</c:v>
                </c:pt>
                <c:pt idx="187">
                  <c:v>0.19989100000000001</c:v>
                </c:pt>
                <c:pt idx="188">
                  <c:v>0.13327800000000001</c:v>
                </c:pt>
                <c:pt idx="189">
                  <c:v>0.145263</c:v>
                </c:pt>
                <c:pt idx="190">
                  <c:v>0.18588299999999999</c:v>
                </c:pt>
                <c:pt idx="191">
                  <c:v>0.217806</c:v>
                </c:pt>
                <c:pt idx="192">
                  <c:v>0.22022800000000001</c:v>
                </c:pt>
                <c:pt idx="193">
                  <c:v>0.19004299999999999</c:v>
                </c:pt>
                <c:pt idx="194">
                  <c:v>0.13911399999999999</c:v>
                </c:pt>
                <c:pt idx="195">
                  <c:v>8.5232000000000002E-2</c:v>
                </c:pt>
                <c:pt idx="196">
                  <c:v>4.1933999999999999E-2</c:v>
                </c:pt>
                <c:pt idx="197">
                  <c:v>1.3868999999999999E-2</c:v>
                </c:pt>
                <c:pt idx="198">
                  <c:v>-1.286E-3</c:v>
                </c:pt>
                <c:pt idx="199">
                  <c:v>-8.3389999999999992E-3</c:v>
                </c:pt>
                <c:pt idx="200">
                  <c:v>-1.1367E-2</c:v>
                </c:pt>
                <c:pt idx="201">
                  <c:v>-1.2765E-2</c:v>
                </c:pt>
                <c:pt idx="202">
                  <c:v>-1.3613E-2</c:v>
                </c:pt>
                <c:pt idx="203">
                  <c:v>-1.4305E-2</c:v>
                </c:pt>
                <c:pt idx="204">
                  <c:v>-1.4957E-2</c:v>
                </c:pt>
                <c:pt idx="205">
                  <c:v>-1.5597E-2</c:v>
                </c:pt>
                <c:pt idx="206">
                  <c:v>-1.6230999999999999E-2</c:v>
                </c:pt>
                <c:pt idx="207">
                  <c:v>-1.686E-2</c:v>
                </c:pt>
                <c:pt idx="208">
                  <c:v>-1.7485000000000001E-2</c:v>
                </c:pt>
                <c:pt idx="209">
                  <c:v>-1.8103999999999999E-2</c:v>
                </c:pt>
                <c:pt idx="210">
                  <c:v>-1.8717000000000001E-2</c:v>
                </c:pt>
                <c:pt idx="211">
                  <c:v>-1.9324999999999998E-2</c:v>
                </c:pt>
                <c:pt idx="212">
                  <c:v>-1.9927E-2</c:v>
                </c:pt>
                <c:pt idx="213">
                  <c:v>8.4876999999999994E-2</c:v>
                </c:pt>
                <c:pt idx="214">
                  <c:v>0.24976200000000001</c:v>
                </c:pt>
                <c:pt idx="215">
                  <c:v>0.51771500000000004</c:v>
                </c:pt>
                <c:pt idx="216">
                  <c:v>0.81011999999999995</c:v>
                </c:pt>
                <c:pt idx="217">
                  <c:v>0.97282999999999997</c:v>
                </c:pt>
                <c:pt idx="218">
                  <c:v>0.90086900000000003</c:v>
                </c:pt>
                <c:pt idx="219">
                  <c:v>0.64549999999999996</c:v>
                </c:pt>
                <c:pt idx="220">
                  <c:v>0.36381999999999998</c:v>
                </c:pt>
                <c:pt idx="221">
                  <c:v>0.17840900000000001</c:v>
                </c:pt>
                <c:pt idx="222">
                  <c:v>0.11194900000000001</c:v>
                </c:pt>
                <c:pt idx="223">
                  <c:v>0.12409299999999999</c:v>
                </c:pt>
                <c:pt idx="224">
                  <c:v>0.164878</c:v>
                </c:pt>
                <c:pt idx="225">
                  <c:v>0.19697300000000001</c:v>
                </c:pt>
                <c:pt idx="226">
                  <c:v>0.199574</c:v>
                </c:pt>
                <c:pt idx="227">
                  <c:v>0.169573</c:v>
                </c:pt>
                <c:pt idx="228">
                  <c:v>0.118834</c:v>
                </c:pt>
                <c:pt idx="229">
                  <c:v>6.5148999999999999E-2</c:v>
                </c:pt>
                <c:pt idx="230">
                  <c:v>2.2051999999999999E-2</c:v>
                </c:pt>
                <c:pt idx="231">
                  <c:v>-5.8040000000000001E-3</c:v>
                </c:pt>
                <c:pt idx="232">
                  <c:v>-2.0745E-2</c:v>
                </c:pt>
                <c:pt idx="233">
                  <c:v>-2.7577999999999998E-2</c:v>
                </c:pt>
                <c:pt idx="234">
                  <c:v>-3.0380000000000001E-2</c:v>
                </c:pt>
                <c:pt idx="235">
                  <c:v>-3.1545999999999998E-2</c:v>
                </c:pt>
                <c:pt idx="236">
                  <c:v>-3.2157999999999999E-2</c:v>
                </c:pt>
                <c:pt idx="237">
                  <c:v>-3.2606999999999997E-2</c:v>
                </c:pt>
                <c:pt idx="238">
                  <c:v>-3.3010999999999999E-2</c:v>
                </c:pt>
                <c:pt idx="239">
                  <c:v>-3.3397999999999997E-2</c:v>
                </c:pt>
                <c:pt idx="240">
                  <c:v>-3.3772999999999997E-2</c:v>
                </c:pt>
                <c:pt idx="241">
                  <c:v>-3.4138000000000002E-2</c:v>
                </c:pt>
                <c:pt idx="242">
                  <c:v>-3.4493000000000003E-2</c:v>
                </c:pt>
                <c:pt idx="243">
                  <c:v>-3.4838000000000001E-2</c:v>
                </c:pt>
                <c:pt idx="244">
                  <c:v>-3.5173000000000003E-2</c:v>
                </c:pt>
                <c:pt idx="245">
                  <c:v>-3.5497000000000001E-2</c:v>
                </c:pt>
                <c:pt idx="246">
                  <c:v>-4.032E-3</c:v>
                </c:pt>
                <c:pt idx="247">
                  <c:v>6.9288000000000002E-2</c:v>
                </c:pt>
                <c:pt idx="248">
                  <c:v>0.23447100000000001</c:v>
                </c:pt>
                <c:pt idx="249">
                  <c:v>0.50272799999999995</c:v>
                </c:pt>
                <c:pt idx="250">
                  <c:v>0.79544000000000004</c:v>
                </c:pt>
                <c:pt idx="251">
                  <c:v>0.95846100000000001</c:v>
                </c:pt>
                <c:pt idx="252">
                  <c:v>0.88681600000000005</c:v>
                </c:pt>
                <c:pt idx="253">
                  <c:v>0.631768</c:v>
                </c:pt>
                <c:pt idx="254">
                  <c:v>0.350412</c:v>
                </c:pt>
                <c:pt idx="255">
                  <c:v>0.165329</c:v>
                </c:pt>
                <c:pt idx="256">
                  <c:v>9.9201999999999999E-2</c:v>
                </c:pt>
                <c:pt idx="257">
                  <c:v>0.111682</c:v>
                </c:pt>
                <c:pt idx="258">
                  <c:v>0.152807</c:v>
                </c:pt>
                <c:pt idx="259">
                  <c:v>0.18524499999999999</c:v>
                </c:pt>
                <c:pt idx="260">
                  <c:v>0.188193</c:v>
                </c:pt>
                <c:pt idx="261">
                  <c:v>0.15854199999999999</c:v>
                </c:pt>
                <c:pt idx="262">
                  <c:v>0.108157</c:v>
                </c:pt>
                <c:pt idx="263">
                  <c:v>5.4828000000000002E-2</c:v>
                </c:pt>
                <c:pt idx="264">
                  <c:v>1.2092E-2</c:v>
                </c:pt>
                <c:pt idx="265">
                  <c:v>-1.5402000000000001E-2</c:v>
                </c:pt>
                <c:pt idx="266">
                  <c:v>-2.9977E-2</c:v>
                </c:pt>
                <c:pt idx="267">
                  <c:v>-3.6442000000000002E-2</c:v>
                </c:pt>
                <c:pt idx="268">
                  <c:v>-3.8872999999999998E-2</c:v>
                </c:pt>
                <c:pt idx="269">
                  <c:v>-3.9664999999999999E-2</c:v>
                </c:pt>
                <c:pt idx="270">
                  <c:v>-3.9900999999999999E-2</c:v>
                </c:pt>
                <c:pt idx="271">
                  <c:v>-3.9972000000000001E-2</c:v>
                </c:pt>
                <c:pt idx="272">
                  <c:v>-3.9995000000000003E-2</c:v>
                </c:pt>
                <c:pt idx="273">
                  <c:v>-3.9999E-2</c:v>
                </c:pt>
                <c:pt idx="274">
                  <c:v>-3.9989999999999998E-2</c:v>
                </c:pt>
                <c:pt idx="275">
                  <c:v>-3.9968999999999998E-2</c:v>
                </c:pt>
                <c:pt idx="276">
                  <c:v>-3.9935999999999999E-2</c:v>
                </c:pt>
                <c:pt idx="277">
                  <c:v>-3.9891000000000003E-2</c:v>
                </c:pt>
                <c:pt idx="278">
                  <c:v>-3.9834000000000001E-2</c:v>
                </c:pt>
                <c:pt idx="279">
                  <c:v>-3.9765000000000002E-2</c:v>
                </c:pt>
                <c:pt idx="280">
                  <c:v>-7.9059999999999998E-3</c:v>
                </c:pt>
                <c:pt idx="281">
                  <c:v>6.5808000000000005E-2</c:v>
                </c:pt>
                <c:pt idx="282">
                  <c:v>0.23138800000000001</c:v>
                </c:pt>
                <c:pt idx="283">
                  <c:v>0.50004099999999996</c:v>
                </c:pt>
                <c:pt idx="284">
                  <c:v>0.79315199999999997</c:v>
                </c:pt>
                <c:pt idx="285">
                  <c:v>0.95657099999999995</c:v>
                </c:pt>
                <c:pt idx="286">
                  <c:v>0.88532599999999995</c:v>
                </c:pt>
                <c:pt idx="287">
                  <c:v>0.63067700000000004</c:v>
                </c:pt>
                <c:pt idx="288">
                  <c:v>0.349721</c:v>
                </c:pt>
                <c:pt idx="289">
                  <c:v>0.16503799999999999</c:v>
                </c:pt>
                <c:pt idx="290">
                  <c:v>9.9310999999999997E-2</c:v>
                </c:pt>
                <c:pt idx="291">
                  <c:v>0.112191</c:v>
                </c:pt>
                <c:pt idx="292">
                  <c:v>0.15371599999999999</c:v>
                </c:pt>
                <c:pt idx="293">
                  <c:v>0.186554</c:v>
                </c:pt>
                <c:pt idx="294">
                  <c:v>0.18990099999999999</c:v>
                </c:pt>
                <c:pt idx="295">
                  <c:v>0.16064899999999999</c:v>
                </c:pt>
                <c:pt idx="296">
                  <c:v>0.110663</c:v>
                </c:pt>
                <c:pt idx="297">
                  <c:v>5.7730999999999998E-2</c:v>
                </c:pt>
                <c:pt idx="298">
                  <c:v>1.5391E-2</c:v>
                </c:pt>
                <c:pt idx="299">
                  <c:v>-1.1707E-2</c:v>
                </c:pt>
                <c:pt idx="300">
                  <c:v>-2.5887E-2</c:v>
                </c:pt>
                <c:pt idx="301">
                  <c:v>-3.1958E-2</c:v>
                </c:pt>
                <c:pt idx="302">
                  <c:v>-3.3998E-2</c:v>
                </c:pt>
                <c:pt idx="303">
                  <c:v>-3.44E-2</c:v>
                </c:pt>
                <c:pt idx="304">
                  <c:v>-3.4245999999999999E-2</c:v>
                </c:pt>
                <c:pt idx="305">
                  <c:v>-3.3930000000000002E-2</c:v>
                </c:pt>
                <c:pt idx="306">
                  <c:v>-3.3568000000000001E-2</c:v>
                </c:pt>
                <c:pt idx="307">
                  <c:v>-3.3189000000000003E-2</c:v>
                </c:pt>
                <c:pt idx="308">
                  <c:v>-3.2798000000000001E-2</c:v>
                </c:pt>
                <c:pt idx="309">
                  <c:v>-3.2398000000000003E-2</c:v>
                </c:pt>
                <c:pt idx="310">
                  <c:v>-3.1987000000000002E-2</c:v>
                </c:pt>
                <c:pt idx="311">
                  <c:v>-3.1567999999999999E-2</c:v>
                </c:pt>
                <c:pt idx="312">
                  <c:v>-3.1137999999999999E-2</c:v>
                </c:pt>
                <c:pt idx="313">
                  <c:v>-3.0700000000000002E-2</c:v>
                </c:pt>
                <c:pt idx="314">
                  <c:v>-3.0252000000000001E-2</c:v>
                </c:pt>
                <c:pt idx="315">
                  <c:v>7.5605000000000006E-2</c:v>
                </c:pt>
                <c:pt idx="316">
                  <c:v>0.24154500000000001</c:v>
                </c:pt>
                <c:pt idx="317">
                  <c:v>0.51055700000000004</c:v>
                </c:pt>
                <c:pt idx="318">
                  <c:v>0.80402200000000001</c:v>
                </c:pt>
                <c:pt idx="319">
                  <c:v>0.96779400000000004</c:v>
                </c:pt>
                <c:pt idx="320">
                  <c:v>0.89689600000000003</c:v>
                </c:pt>
                <c:pt idx="321">
                  <c:v>0.64259299999999997</c:v>
                </c:pt>
                <c:pt idx="322">
                  <c:v>0.36197800000000002</c:v>
                </c:pt>
                <c:pt idx="323">
                  <c:v>0.17763300000000001</c:v>
                </c:pt>
                <c:pt idx="324">
                  <c:v>0.11224000000000001</c:v>
                </c:pt>
                <c:pt idx="325">
                  <c:v>0.12545000000000001</c:v>
                </c:pt>
                <c:pt idx="326">
                  <c:v>0.16730100000000001</c:v>
                </c:pt>
                <c:pt idx="327">
                  <c:v>0.200462</c:v>
                </c:pt>
                <c:pt idx="328">
                  <c:v>0.204126</c:v>
                </c:pt>
                <c:pt idx="329">
                  <c:v>0.17518800000000001</c:v>
                </c:pt>
                <c:pt idx="330">
                  <c:v>0.12551100000000001</c:v>
                </c:pt>
                <c:pt idx="331">
                  <c:v>7.2884000000000004E-2</c:v>
                </c:pt>
                <c:pt idx="332">
                  <c:v>3.0845000000000001E-2</c:v>
                </c:pt>
                <c:pt idx="333">
                  <c:v>4.0429999999999997E-3</c:v>
                </c:pt>
                <c:pt idx="334">
                  <c:v>-9.8469999999999999E-3</c:v>
                </c:pt>
                <c:pt idx="335">
                  <c:v>-1.5630999999999999E-2</c:v>
                </c:pt>
                <c:pt idx="336">
                  <c:v>-1.7389999999999999E-2</c:v>
                </c:pt>
                <c:pt idx="337">
                  <c:v>-1.7514999999999999E-2</c:v>
                </c:pt>
                <c:pt idx="338">
                  <c:v>-1.7090000000000001E-2</c:v>
                </c:pt>
                <c:pt idx="339">
                  <c:v>-1.6507999999999998E-2</c:v>
                </c:pt>
                <c:pt idx="340">
                  <c:v>-1.5883999999999999E-2</c:v>
                </c:pt>
                <c:pt idx="341">
                  <c:v>-1.5249E-2</c:v>
                </c:pt>
                <c:pt idx="342">
                  <c:v>-1.4607999999999999E-2</c:v>
                </c:pt>
                <c:pt idx="343">
                  <c:v>-1.3963E-2</c:v>
                </c:pt>
                <c:pt idx="344">
                  <c:v>-1.3313E-2</c:v>
                </c:pt>
                <c:pt idx="345">
                  <c:v>-1.2659E-2</c:v>
                </c:pt>
                <c:pt idx="346">
                  <c:v>-1.2002000000000001E-2</c:v>
                </c:pt>
                <c:pt idx="347">
                  <c:v>-1.1341E-2</c:v>
                </c:pt>
                <c:pt idx="348">
                  <c:v>2.1101999999999999E-2</c:v>
                </c:pt>
                <c:pt idx="349">
                  <c:v>9.5392000000000005E-2</c:v>
                </c:pt>
                <c:pt idx="350">
                  <c:v>0.26153799999999999</c:v>
                </c:pt>
                <c:pt idx="351">
                  <c:v>0.53074900000000003</c:v>
                </c:pt>
                <c:pt idx="352">
                  <c:v>0.824407</c:v>
                </c:pt>
                <c:pt idx="353">
                  <c:v>0.98836500000000005</c:v>
                </c:pt>
                <c:pt idx="354">
                  <c:v>0.91764900000000005</c:v>
                </c:pt>
                <c:pt idx="355">
                  <c:v>0.66352</c:v>
                </c:pt>
                <c:pt idx="356">
                  <c:v>0.38307400000000003</c:v>
                </c:pt>
                <c:pt idx="357">
                  <c:v>0.19889100000000001</c:v>
                </c:pt>
                <c:pt idx="358">
                  <c:v>0.13365299999999999</c:v>
                </c:pt>
                <c:pt idx="359">
                  <c:v>0.147013</c:v>
                </c:pt>
                <c:pt idx="360">
                  <c:v>0.18900700000000001</c:v>
                </c:pt>
                <c:pt idx="361">
                  <c:v>0.222304</c:v>
                </c:pt>
                <c:pt idx="362">
                  <c:v>0.22609799999999999</c:v>
                </c:pt>
                <c:pt idx="363">
                  <c:v>0.19728399999999999</c:v>
                </c:pt>
                <c:pt idx="364">
                  <c:v>0.14772299999999999</c:v>
                </c:pt>
                <c:pt idx="365">
                  <c:v>9.5207E-2</c:v>
                </c:pt>
                <c:pt idx="366">
                  <c:v>5.3270999999999999E-2</c:v>
                </c:pt>
                <c:pt idx="367">
                  <c:v>2.6564999999999998E-2</c:v>
                </c:pt>
                <c:pt idx="368">
                  <c:v>1.2766E-2</c:v>
                </c:pt>
                <c:pt idx="369">
                  <c:v>7.0650000000000001E-3</c:v>
                </c:pt>
                <c:pt idx="370">
                  <c:v>5.3829999999999998E-3</c:v>
                </c:pt>
                <c:pt idx="371">
                  <c:v>5.3270000000000001E-3</c:v>
                </c:pt>
                <c:pt idx="372">
                  <c:v>5.8149999999999999E-3</c:v>
                </c:pt>
                <c:pt idx="373">
                  <c:v>6.4539999999999997E-3</c:v>
                </c:pt>
                <c:pt idx="374">
                  <c:v>7.1260000000000004E-3</c:v>
                </c:pt>
                <c:pt idx="375">
                  <c:v>7.8040000000000002E-3</c:v>
                </c:pt>
                <c:pt idx="376">
                  <c:v>8.4799999999999997E-3</c:v>
                </c:pt>
                <c:pt idx="377">
                  <c:v>9.1540000000000007E-3</c:v>
                </c:pt>
                <c:pt idx="378">
                  <c:v>9.8259999999999997E-3</c:v>
                </c:pt>
                <c:pt idx="379">
                  <c:v>1.0494E-2</c:v>
                </c:pt>
                <c:pt idx="380">
                  <c:v>1.116E-2</c:v>
                </c:pt>
                <c:pt idx="381">
                  <c:v>1.1821999999999999E-2</c:v>
                </c:pt>
                <c:pt idx="382">
                  <c:v>4.4257999999999999E-2</c:v>
                </c:pt>
                <c:pt idx="383">
                  <c:v>0.118535</c:v>
                </c:pt>
                <c:pt idx="384">
                  <c:v>0.284661</c:v>
                </c:pt>
                <c:pt idx="385">
                  <c:v>0.55384500000000003</c:v>
                </c:pt>
                <c:pt idx="386">
                  <c:v>0.84746999999999995</c:v>
                </c:pt>
                <c:pt idx="387">
                  <c:v>1.011388</c:v>
                </c:pt>
                <c:pt idx="388">
                  <c:v>0.94062400000000002</c:v>
                </c:pt>
                <c:pt idx="389">
                  <c:v>0.68644099999999997</c:v>
                </c:pt>
                <c:pt idx="390">
                  <c:v>0.40593400000000002</c:v>
                </c:pt>
                <c:pt idx="391">
                  <c:v>0.22168299999999999</c:v>
                </c:pt>
                <c:pt idx="392">
                  <c:v>0.15637100000000001</c:v>
                </c:pt>
                <c:pt idx="393">
                  <c:v>0.16964899999999999</c:v>
                </c:pt>
                <c:pt idx="394">
                  <c:v>0.21155499999999999</c:v>
                </c:pt>
                <c:pt idx="395">
                  <c:v>0.244757</c:v>
                </c:pt>
                <c:pt idx="396">
                  <c:v>0.24845</c:v>
                </c:pt>
                <c:pt idx="397">
                  <c:v>0.219526</c:v>
                </c:pt>
                <c:pt idx="398">
                  <c:v>0.169851</c:v>
                </c:pt>
                <c:pt idx="399">
                  <c:v>0.117213</c:v>
                </c:pt>
                <c:pt idx="400">
                  <c:v>7.5148999999999994E-2</c:v>
                </c:pt>
              </c:numCache>
            </c:numRef>
          </c:yVal>
          <c:smooth val="1"/>
          <c:extLst>
            <c:ext xmlns:c16="http://schemas.microsoft.com/office/drawing/2014/chart" uri="{C3380CC4-5D6E-409C-BE32-E72D297353CC}">
              <c16:uniqueId val="{00000000-7846-49B9-93CA-F16368506483}"/>
            </c:ext>
          </c:extLst>
        </c:ser>
        <c:ser>
          <c:idx val="1"/>
          <c:order val="1"/>
          <c:tx>
            <c:strRef>
              <c:f>Window 2</c:f>
              <c:strCache>
                <c:ptCount val="1"/>
                <c:pt idx="0">
                  <c:v>Window 2</c:v>
                </c:pt>
              </c:strCache>
            </c:strRef>
          </c:tx>
          <c:spPr>
            <a:ln w="19050" cap="rnd">
              <a:solidFill>
                <a:srgbClr val="7056A8"/>
              </a:solidFill>
              <a:prstDash val="solid"/>
              <a:round/>
            </a:ln>
          </c:spPr>
          <c:marker>
            <c:symbol val="none"/>
          </c:marker>
          <c:xVal>
            <c:numRef>
              <c:f>'Chart Data'!$C$2:$C$402</c:f>
              <c:numCache>
                <c:formatCode>General</c:formatCode>
                <c:ptCount val="401"/>
                <c:pt idx="0">
                  <c:v>10</c:v>
                </c:pt>
                <c:pt idx="1">
                  <c:v>10.025</c:v>
                </c:pt>
                <c:pt idx="2">
                  <c:v>10.050000000000001</c:v>
                </c:pt>
                <c:pt idx="3">
                  <c:v>10.074999999999999</c:v>
                </c:pt>
                <c:pt idx="4">
                  <c:v>10.1</c:v>
                </c:pt>
                <c:pt idx="5">
                  <c:v>10.125</c:v>
                </c:pt>
                <c:pt idx="6">
                  <c:v>10.15</c:v>
                </c:pt>
                <c:pt idx="7">
                  <c:v>10.175000000000001</c:v>
                </c:pt>
                <c:pt idx="8">
                  <c:v>10.199999999999999</c:v>
                </c:pt>
                <c:pt idx="9">
                  <c:v>10.225</c:v>
                </c:pt>
                <c:pt idx="10">
                  <c:v>10.25</c:v>
                </c:pt>
                <c:pt idx="11">
                  <c:v>10.275</c:v>
                </c:pt>
                <c:pt idx="12">
                  <c:v>10.3</c:v>
                </c:pt>
                <c:pt idx="13">
                  <c:v>10.324999999999999</c:v>
                </c:pt>
                <c:pt idx="14">
                  <c:v>10.35</c:v>
                </c:pt>
                <c:pt idx="15">
                  <c:v>10.375</c:v>
                </c:pt>
                <c:pt idx="16">
                  <c:v>10.4</c:v>
                </c:pt>
                <c:pt idx="17">
                  <c:v>10.425000000000001</c:v>
                </c:pt>
                <c:pt idx="18">
                  <c:v>10.45</c:v>
                </c:pt>
                <c:pt idx="19">
                  <c:v>10.475</c:v>
                </c:pt>
                <c:pt idx="20">
                  <c:v>10.5</c:v>
                </c:pt>
                <c:pt idx="21">
                  <c:v>10.525</c:v>
                </c:pt>
                <c:pt idx="22">
                  <c:v>10.55</c:v>
                </c:pt>
                <c:pt idx="23">
                  <c:v>10.574999999999999</c:v>
                </c:pt>
                <c:pt idx="24">
                  <c:v>10.6</c:v>
                </c:pt>
                <c:pt idx="25">
                  <c:v>10.625</c:v>
                </c:pt>
                <c:pt idx="26">
                  <c:v>10.65</c:v>
                </c:pt>
                <c:pt idx="27">
                  <c:v>10.675000000000001</c:v>
                </c:pt>
                <c:pt idx="28">
                  <c:v>10.7</c:v>
                </c:pt>
                <c:pt idx="29">
                  <c:v>10.725</c:v>
                </c:pt>
                <c:pt idx="30">
                  <c:v>10.75</c:v>
                </c:pt>
                <c:pt idx="31">
                  <c:v>10.775</c:v>
                </c:pt>
                <c:pt idx="32">
                  <c:v>10.8</c:v>
                </c:pt>
                <c:pt idx="33">
                  <c:v>10.824999999999999</c:v>
                </c:pt>
                <c:pt idx="34">
                  <c:v>10.85</c:v>
                </c:pt>
                <c:pt idx="35">
                  <c:v>10.875</c:v>
                </c:pt>
                <c:pt idx="36">
                  <c:v>10.9</c:v>
                </c:pt>
                <c:pt idx="37">
                  <c:v>10.925000000000001</c:v>
                </c:pt>
                <c:pt idx="38">
                  <c:v>10.95</c:v>
                </c:pt>
                <c:pt idx="39">
                  <c:v>10.975</c:v>
                </c:pt>
                <c:pt idx="40">
                  <c:v>11</c:v>
                </c:pt>
                <c:pt idx="41">
                  <c:v>11.025</c:v>
                </c:pt>
                <c:pt idx="42">
                  <c:v>11.05</c:v>
                </c:pt>
                <c:pt idx="43">
                  <c:v>11.074999999999999</c:v>
                </c:pt>
                <c:pt idx="44">
                  <c:v>11.1</c:v>
                </c:pt>
                <c:pt idx="45">
                  <c:v>11.125</c:v>
                </c:pt>
                <c:pt idx="46">
                  <c:v>11.15</c:v>
                </c:pt>
                <c:pt idx="47">
                  <c:v>11.175000000000001</c:v>
                </c:pt>
                <c:pt idx="48">
                  <c:v>11.2</c:v>
                </c:pt>
                <c:pt idx="49">
                  <c:v>11.225</c:v>
                </c:pt>
                <c:pt idx="50">
                  <c:v>11.25</c:v>
                </c:pt>
                <c:pt idx="51">
                  <c:v>11.275</c:v>
                </c:pt>
                <c:pt idx="52">
                  <c:v>11.3</c:v>
                </c:pt>
                <c:pt idx="53">
                  <c:v>11.324999999999999</c:v>
                </c:pt>
                <c:pt idx="54">
                  <c:v>11.35</c:v>
                </c:pt>
                <c:pt idx="55">
                  <c:v>11.375</c:v>
                </c:pt>
                <c:pt idx="56">
                  <c:v>11.4</c:v>
                </c:pt>
                <c:pt idx="57">
                  <c:v>11.425000000000001</c:v>
                </c:pt>
                <c:pt idx="58">
                  <c:v>11.45</c:v>
                </c:pt>
                <c:pt idx="59">
                  <c:v>11.475</c:v>
                </c:pt>
                <c:pt idx="60">
                  <c:v>11.5</c:v>
                </c:pt>
                <c:pt idx="61">
                  <c:v>11.525</c:v>
                </c:pt>
                <c:pt idx="62">
                  <c:v>11.55</c:v>
                </c:pt>
                <c:pt idx="63">
                  <c:v>11.574999999999999</c:v>
                </c:pt>
                <c:pt idx="64">
                  <c:v>11.6</c:v>
                </c:pt>
                <c:pt idx="65">
                  <c:v>11.625</c:v>
                </c:pt>
                <c:pt idx="66">
                  <c:v>11.65</c:v>
                </c:pt>
                <c:pt idx="67">
                  <c:v>11.675000000000001</c:v>
                </c:pt>
                <c:pt idx="68">
                  <c:v>11.7</c:v>
                </c:pt>
                <c:pt idx="69">
                  <c:v>11.725</c:v>
                </c:pt>
                <c:pt idx="70">
                  <c:v>11.75</c:v>
                </c:pt>
                <c:pt idx="71">
                  <c:v>11.775</c:v>
                </c:pt>
                <c:pt idx="72">
                  <c:v>11.8</c:v>
                </c:pt>
                <c:pt idx="73">
                  <c:v>11.824999999999999</c:v>
                </c:pt>
                <c:pt idx="74">
                  <c:v>11.85</c:v>
                </c:pt>
                <c:pt idx="75">
                  <c:v>11.875</c:v>
                </c:pt>
                <c:pt idx="76">
                  <c:v>11.9</c:v>
                </c:pt>
                <c:pt idx="77">
                  <c:v>11.925000000000001</c:v>
                </c:pt>
                <c:pt idx="78">
                  <c:v>11.95</c:v>
                </c:pt>
                <c:pt idx="79">
                  <c:v>11.975</c:v>
                </c:pt>
                <c:pt idx="80">
                  <c:v>12</c:v>
                </c:pt>
                <c:pt idx="81">
                  <c:v>12.025</c:v>
                </c:pt>
                <c:pt idx="82">
                  <c:v>12.05</c:v>
                </c:pt>
                <c:pt idx="83">
                  <c:v>12.074999999999999</c:v>
                </c:pt>
                <c:pt idx="84">
                  <c:v>12.1</c:v>
                </c:pt>
                <c:pt idx="85">
                  <c:v>12.125</c:v>
                </c:pt>
                <c:pt idx="86">
                  <c:v>12.15</c:v>
                </c:pt>
                <c:pt idx="87">
                  <c:v>12.175000000000001</c:v>
                </c:pt>
                <c:pt idx="88">
                  <c:v>12.2</c:v>
                </c:pt>
                <c:pt idx="89">
                  <c:v>12.225</c:v>
                </c:pt>
                <c:pt idx="90">
                  <c:v>12.25</c:v>
                </c:pt>
                <c:pt idx="91">
                  <c:v>12.275</c:v>
                </c:pt>
                <c:pt idx="92">
                  <c:v>12.3</c:v>
                </c:pt>
                <c:pt idx="93">
                  <c:v>12.324999999999999</c:v>
                </c:pt>
                <c:pt idx="94">
                  <c:v>12.35</c:v>
                </c:pt>
                <c:pt idx="95">
                  <c:v>12.375</c:v>
                </c:pt>
                <c:pt idx="96">
                  <c:v>12.4</c:v>
                </c:pt>
                <c:pt idx="97">
                  <c:v>12.425000000000001</c:v>
                </c:pt>
                <c:pt idx="98">
                  <c:v>12.45</c:v>
                </c:pt>
                <c:pt idx="99">
                  <c:v>12.475</c:v>
                </c:pt>
                <c:pt idx="100">
                  <c:v>12.5</c:v>
                </c:pt>
                <c:pt idx="101">
                  <c:v>12.525</c:v>
                </c:pt>
                <c:pt idx="102">
                  <c:v>12.55</c:v>
                </c:pt>
                <c:pt idx="103">
                  <c:v>12.574999999999999</c:v>
                </c:pt>
                <c:pt idx="104">
                  <c:v>12.6</c:v>
                </c:pt>
                <c:pt idx="105">
                  <c:v>12.625</c:v>
                </c:pt>
                <c:pt idx="106">
                  <c:v>12.65</c:v>
                </c:pt>
                <c:pt idx="107">
                  <c:v>12.675000000000001</c:v>
                </c:pt>
                <c:pt idx="108">
                  <c:v>12.7</c:v>
                </c:pt>
                <c:pt idx="109">
                  <c:v>12.725</c:v>
                </c:pt>
                <c:pt idx="110">
                  <c:v>12.75</c:v>
                </c:pt>
                <c:pt idx="111">
                  <c:v>12.775</c:v>
                </c:pt>
                <c:pt idx="112">
                  <c:v>12.8</c:v>
                </c:pt>
                <c:pt idx="113">
                  <c:v>12.824999999999999</c:v>
                </c:pt>
                <c:pt idx="114">
                  <c:v>12.85</c:v>
                </c:pt>
                <c:pt idx="115">
                  <c:v>12.875</c:v>
                </c:pt>
                <c:pt idx="116">
                  <c:v>12.9</c:v>
                </c:pt>
                <c:pt idx="117">
                  <c:v>12.925000000000001</c:v>
                </c:pt>
                <c:pt idx="118">
                  <c:v>12.95</c:v>
                </c:pt>
                <c:pt idx="119">
                  <c:v>12.975</c:v>
                </c:pt>
                <c:pt idx="120">
                  <c:v>13</c:v>
                </c:pt>
                <c:pt idx="121">
                  <c:v>13.025</c:v>
                </c:pt>
                <c:pt idx="122">
                  <c:v>13.05</c:v>
                </c:pt>
                <c:pt idx="123">
                  <c:v>13.074999999999999</c:v>
                </c:pt>
                <c:pt idx="124">
                  <c:v>13.1</c:v>
                </c:pt>
                <c:pt idx="125">
                  <c:v>13.125</c:v>
                </c:pt>
                <c:pt idx="126">
                  <c:v>13.15</c:v>
                </c:pt>
                <c:pt idx="127">
                  <c:v>13.175000000000001</c:v>
                </c:pt>
                <c:pt idx="128">
                  <c:v>13.2</c:v>
                </c:pt>
                <c:pt idx="129">
                  <c:v>13.225</c:v>
                </c:pt>
                <c:pt idx="130">
                  <c:v>13.25</c:v>
                </c:pt>
                <c:pt idx="131">
                  <c:v>13.275</c:v>
                </c:pt>
                <c:pt idx="132">
                  <c:v>13.3</c:v>
                </c:pt>
                <c:pt idx="133">
                  <c:v>13.324999999999999</c:v>
                </c:pt>
                <c:pt idx="134">
                  <c:v>13.35</c:v>
                </c:pt>
                <c:pt idx="135">
                  <c:v>13.375</c:v>
                </c:pt>
                <c:pt idx="136">
                  <c:v>13.4</c:v>
                </c:pt>
                <c:pt idx="137">
                  <c:v>13.425000000000001</c:v>
                </c:pt>
                <c:pt idx="138">
                  <c:v>13.45</c:v>
                </c:pt>
                <c:pt idx="139">
                  <c:v>13.475</c:v>
                </c:pt>
                <c:pt idx="140">
                  <c:v>13.5</c:v>
                </c:pt>
                <c:pt idx="141">
                  <c:v>13.525</c:v>
                </c:pt>
                <c:pt idx="142">
                  <c:v>13.55</c:v>
                </c:pt>
                <c:pt idx="143">
                  <c:v>13.574999999999999</c:v>
                </c:pt>
                <c:pt idx="144">
                  <c:v>13.6</c:v>
                </c:pt>
                <c:pt idx="145">
                  <c:v>13.625</c:v>
                </c:pt>
                <c:pt idx="146">
                  <c:v>13.65</c:v>
                </c:pt>
                <c:pt idx="147">
                  <c:v>13.675000000000001</c:v>
                </c:pt>
                <c:pt idx="148">
                  <c:v>13.7</c:v>
                </c:pt>
                <c:pt idx="149">
                  <c:v>13.725</c:v>
                </c:pt>
                <c:pt idx="150">
                  <c:v>13.75</c:v>
                </c:pt>
                <c:pt idx="151">
                  <c:v>13.775</c:v>
                </c:pt>
                <c:pt idx="152">
                  <c:v>13.8</c:v>
                </c:pt>
                <c:pt idx="153">
                  <c:v>13.824999999999999</c:v>
                </c:pt>
                <c:pt idx="154">
                  <c:v>13.85</c:v>
                </c:pt>
                <c:pt idx="155">
                  <c:v>13.875</c:v>
                </c:pt>
                <c:pt idx="156">
                  <c:v>13.9</c:v>
                </c:pt>
                <c:pt idx="157">
                  <c:v>13.925000000000001</c:v>
                </c:pt>
                <c:pt idx="158">
                  <c:v>13.95</c:v>
                </c:pt>
                <c:pt idx="159">
                  <c:v>13.975</c:v>
                </c:pt>
                <c:pt idx="160">
                  <c:v>14</c:v>
                </c:pt>
                <c:pt idx="161">
                  <c:v>14.025</c:v>
                </c:pt>
                <c:pt idx="162">
                  <c:v>14.05</c:v>
                </c:pt>
                <c:pt idx="163">
                  <c:v>14.074999999999999</c:v>
                </c:pt>
                <c:pt idx="164">
                  <c:v>14.1</c:v>
                </c:pt>
                <c:pt idx="165">
                  <c:v>14.125</c:v>
                </c:pt>
                <c:pt idx="166">
                  <c:v>14.15</c:v>
                </c:pt>
                <c:pt idx="167">
                  <c:v>14.175000000000001</c:v>
                </c:pt>
                <c:pt idx="168">
                  <c:v>14.2</c:v>
                </c:pt>
                <c:pt idx="169">
                  <c:v>14.225</c:v>
                </c:pt>
                <c:pt idx="170">
                  <c:v>14.25</c:v>
                </c:pt>
                <c:pt idx="171">
                  <c:v>14.275</c:v>
                </c:pt>
                <c:pt idx="172">
                  <c:v>14.3</c:v>
                </c:pt>
                <c:pt idx="173">
                  <c:v>14.324999999999999</c:v>
                </c:pt>
                <c:pt idx="174">
                  <c:v>14.35</c:v>
                </c:pt>
                <c:pt idx="175">
                  <c:v>14.375</c:v>
                </c:pt>
                <c:pt idx="176">
                  <c:v>14.4</c:v>
                </c:pt>
                <c:pt idx="177">
                  <c:v>14.425000000000001</c:v>
                </c:pt>
                <c:pt idx="178">
                  <c:v>14.45</c:v>
                </c:pt>
                <c:pt idx="179">
                  <c:v>14.475</c:v>
                </c:pt>
                <c:pt idx="180">
                  <c:v>14.5</c:v>
                </c:pt>
                <c:pt idx="181">
                  <c:v>14.525</c:v>
                </c:pt>
                <c:pt idx="182">
                  <c:v>14.55</c:v>
                </c:pt>
                <c:pt idx="183">
                  <c:v>14.574999999999999</c:v>
                </c:pt>
                <c:pt idx="184">
                  <c:v>14.6</c:v>
                </c:pt>
                <c:pt idx="185">
                  <c:v>14.625</c:v>
                </c:pt>
                <c:pt idx="186">
                  <c:v>14.65</c:v>
                </c:pt>
                <c:pt idx="187">
                  <c:v>14.675000000000001</c:v>
                </c:pt>
                <c:pt idx="188">
                  <c:v>14.7</c:v>
                </c:pt>
                <c:pt idx="189">
                  <c:v>14.725</c:v>
                </c:pt>
                <c:pt idx="190">
                  <c:v>14.75</c:v>
                </c:pt>
                <c:pt idx="191">
                  <c:v>14.775</c:v>
                </c:pt>
                <c:pt idx="192">
                  <c:v>14.8</c:v>
                </c:pt>
                <c:pt idx="193">
                  <c:v>14.824999999999999</c:v>
                </c:pt>
                <c:pt idx="194">
                  <c:v>14.85</c:v>
                </c:pt>
                <c:pt idx="195">
                  <c:v>14.875</c:v>
                </c:pt>
                <c:pt idx="196">
                  <c:v>14.9</c:v>
                </c:pt>
                <c:pt idx="197">
                  <c:v>14.925000000000001</c:v>
                </c:pt>
                <c:pt idx="198">
                  <c:v>14.95</c:v>
                </c:pt>
                <c:pt idx="199">
                  <c:v>14.975</c:v>
                </c:pt>
                <c:pt idx="200">
                  <c:v>15</c:v>
                </c:pt>
                <c:pt idx="201">
                  <c:v>15.025</c:v>
                </c:pt>
                <c:pt idx="202">
                  <c:v>15.05</c:v>
                </c:pt>
                <c:pt idx="203">
                  <c:v>15.074999999999999</c:v>
                </c:pt>
                <c:pt idx="204">
                  <c:v>15.1</c:v>
                </c:pt>
                <c:pt idx="205">
                  <c:v>15.125</c:v>
                </c:pt>
                <c:pt idx="206">
                  <c:v>15.15</c:v>
                </c:pt>
                <c:pt idx="207">
                  <c:v>15.175000000000001</c:v>
                </c:pt>
                <c:pt idx="208">
                  <c:v>15.2</c:v>
                </c:pt>
                <c:pt idx="209">
                  <c:v>15.225</c:v>
                </c:pt>
                <c:pt idx="210">
                  <c:v>15.25</c:v>
                </c:pt>
                <c:pt idx="211">
                  <c:v>15.275</c:v>
                </c:pt>
                <c:pt idx="212">
                  <c:v>15.3</c:v>
                </c:pt>
                <c:pt idx="213">
                  <c:v>15.324999999999999</c:v>
                </c:pt>
                <c:pt idx="214">
                  <c:v>15.35</c:v>
                </c:pt>
                <c:pt idx="215">
                  <c:v>15.375</c:v>
                </c:pt>
                <c:pt idx="216">
                  <c:v>15.4</c:v>
                </c:pt>
                <c:pt idx="217">
                  <c:v>15.425000000000001</c:v>
                </c:pt>
                <c:pt idx="218">
                  <c:v>15.45</c:v>
                </c:pt>
                <c:pt idx="219">
                  <c:v>15.475</c:v>
                </c:pt>
                <c:pt idx="220">
                  <c:v>15.5</c:v>
                </c:pt>
                <c:pt idx="221">
                  <c:v>15.525</c:v>
                </c:pt>
                <c:pt idx="222">
                  <c:v>15.55</c:v>
                </c:pt>
                <c:pt idx="223">
                  <c:v>15.574999999999999</c:v>
                </c:pt>
                <c:pt idx="224">
                  <c:v>15.6</c:v>
                </c:pt>
                <c:pt idx="225">
                  <c:v>15.625</c:v>
                </c:pt>
                <c:pt idx="226">
                  <c:v>15.65</c:v>
                </c:pt>
                <c:pt idx="227">
                  <c:v>15.675000000000001</c:v>
                </c:pt>
                <c:pt idx="228">
                  <c:v>15.7</c:v>
                </c:pt>
                <c:pt idx="229">
                  <c:v>15.725</c:v>
                </c:pt>
                <c:pt idx="230">
                  <c:v>15.75</c:v>
                </c:pt>
                <c:pt idx="231">
                  <c:v>15.775</c:v>
                </c:pt>
                <c:pt idx="232">
                  <c:v>15.8</c:v>
                </c:pt>
                <c:pt idx="233">
                  <c:v>15.824999999999999</c:v>
                </c:pt>
                <c:pt idx="234">
                  <c:v>15.85</c:v>
                </c:pt>
                <c:pt idx="235">
                  <c:v>15.875</c:v>
                </c:pt>
                <c:pt idx="236">
                  <c:v>15.9</c:v>
                </c:pt>
                <c:pt idx="237">
                  <c:v>15.925000000000001</c:v>
                </c:pt>
                <c:pt idx="238">
                  <c:v>15.95</c:v>
                </c:pt>
                <c:pt idx="239">
                  <c:v>15.975</c:v>
                </c:pt>
                <c:pt idx="240">
                  <c:v>16</c:v>
                </c:pt>
                <c:pt idx="241">
                  <c:v>16.024999999999999</c:v>
                </c:pt>
                <c:pt idx="242">
                  <c:v>16.05</c:v>
                </c:pt>
                <c:pt idx="243">
                  <c:v>16.074999999999999</c:v>
                </c:pt>
                <c:pt idx="244">
                  <c:v>16.100000000000001</c:v>
                </c:pt>
                <c:pt idx="245">
                  <c:v>16.125</c:v>
                </c:pt>
                <c:pt idx="246">
                  <c:v>16.149999999999999</c:v>
                </c:pt>
                <c:pt idx="247">
                  <c:v>16.175000000000001</c:v>
                </c:pt>
                <c:pt idx="248">
                  <c:v>16.2</c:v>
                </c:pt>
                <c:pt idx="249">
                  <c:v>16.225000000000001</c:v>
                </c:pt>
                <c:pt idx="250">
                  <c:v>16.25</c:v>
                </c:pt>
                <c:pt idx="251">
                  <c:v>16.274999999999999</c:v>
                </c:pt>
                <c:pt idx="252">
                  <c:v>16.3</c:v>
                </c:pt>
                <c:pt idx="253">
                  <c:v>16.324999999999999</c:v>
                </c:pt>
                <c:pt idx="254">
                  <c:v>16.350000000000001</c:v>
                </c:pt>
                <c:pt idx="255">
                  <c:v>16.375</c:v>
                </c:pt>
                <c:pt idx="256">
                  <c:v>16.399999999999999</c:v>
                </c:pt>
                <c:pt idx="257">
                  <c:v>16.425000000000001</c:v>
                </c:pt>
                <c:pt idx="258">
                  <c:v>16.45</c:v>
                </c:pt>
                <c:pt idx="259">
                  <c:v>16.475000000000001</c:v>
                </c:pt>
                <c:pt idx="260">
                  <c:v>16.5</c:v>
                </c:pt>
                <c:pt idx="261">
                  <c:v>16.524999999999999</c:v>
                </c:pt>
                <c:pt idx="262">
                  <c:v>16.55</c:v>
                </c:pt>
                <c:pt idx="263">
                  <c:v>16.574999999999999</c:v>
                </c:pt>
                <c:pt idx="264">
                  <c:v>16.600000000000001</c:v>
                </c:pt>
                <c:pt idx="265">
                  <c:v>16.625</c:v>
                </c:pt>
                <c:pt idx="266">
                  <c:v>16.649999999999999</c:v>
                </c:pt>
                <c:pt idx="267">
                  <c:v>16.675000000000001</c:v>
                </c:pt>
                <c:pt idx="268">
                  <c:v>16.7</c:v>
                </c:pt>
                <c:pt idx="269">
                  <c:v>16.725000000000001</c:v>
                </c:pt>
                <c:pt idx="270">
                  <c:v>16.75</c:v>
                </c:pt>
                <c:pt idx="271">
                  <c:v>16.774999999999999</c:v>
                </c:pt>
                <c:pt idx="272">
                  <c:v>16.8</c:v>
                </c:pt>
                <c:pt idx="273">
                  <c:v>16.824999999999999</c:v>
                </c:pt>
                <c:pt idx="274">
                  <c:v>16.850000000000001</c:v>
                </c:pt>
                <c:pt idx="275">
                  <c:v>16.875</c:v>
                </c:pt>
                <c:pt idx="276">
                  <c:v>16.899999999999999</c:v>
                </c:pt>
                <c:pt idx="277">
                  <c:v>16.925000000000001</c:v>
                </c:pt>
                <c:pt idx="278">
                  <c:v>16.95</c:v>
                </c:pt>
                <c:pt idx="279">
                  <c:v>16.975000000000001</c:v>
                </c:pt>
                <c:pt idx="280">
                  <c:v>17</c:v>
                </c:pt>
                <c:pt idx="281">
                  <c:v>17.024999999999999</c:v>
                </c:pt>
                <c:pt idx="282">
                  <c:v>17.05</c:v>
                </c:pt>
                <c:pt idx="283">
                  <c:v>17.074999999999999</c:v>
                </c:pt>
                <c:pt idx="284">
                  <c:v>17.100000000000001</c:v>
                </c:pt>
                <c:pt idx="285">
                  <c:v>17.125</c:v>
                </c:pt>
                <c:pt idx="286">
                  <c:v>17.149999999999999</c:v>
                </c:pt>
                <c:pt idx="287">
                  <c:v>17.175000000000001</c:v>
                </c:pt>
                <c:pt idx="288">
                  <c:v>17.2</c:v>
                </c:pt>
                <c:pt idx="289">
                  <c:v>17.225000000000001</c:v>
                </c:pt>
                <c:pt idx="290">
                  <c:v>17.25</c:v>
                </c:pt>
                <c:pt idx="291">
                  <c:v>17.274999999999999</c:v>
                </c:pt>
                <c:pt idx="292">
                  <c:v>17.3</c:v>
                </c:pt>
                <c:pt idx="293">
                  <c:v>17.324999999999999</c:v>
                </c:pt>
                <c:pt idx="294">
                  <c:v>17.350000000000001</c:v>
                </c:pt>
                <c:pt idx="295">
                  <c:v>17.375</c:v>
                </c:pt>
                <c:pt idx="296">
                  <c:v>17.399999999999999</c:v>
                </c:pt>
                <c:pt idx="297">
                  <c:v>17.425000000000001</c:v>
                </c:pt>
                <c:pt idx="298">
                  <c:v>17.45</c:v>
                </c:pt>
                <c:pt idx="299">
                  <c:v>17.475000000000001</c:v>
                </c:pt>
                <c:pt idx="300">
                  <c:v>17.5</c:v>
                </c:pt>
                <c:pt idx="301">
                  <c:v>17.524999999999999</c:v>
                </c:pt>
                <c:pt idx="302">
                  <c:v>17.55</c:v>
                </c:pt>
                <c:pt idx="303">
                  <c:v>17.574999999999999</c:v>
                </c:pt>
                <c:pt idx="304">
                  <c:v>17.600000000000001</c:v>
                </c:pt>
                <c:pt idx="305">
                  <c:v>17.625</c:v>
                </c:pt>
                <c:pt idx="306">
                  <c:v>17.649999999999999</c:v>
                </c:pt>
                <c:pt idx="307">
                  <c:v>17.675000000000001</c:v>
                </c:pt>
                <c:pt idx="308">
                  <c:v>17.7</c:v>
                </c:pt>
                <c:pt idx="309">
                  <c:v>17.725000000000001</c:v>
                </c:pt>
                <c:pt idx="310">
                  <c:v>17.75</c:v>
                </c:pt>
                <c:pt idx="311">
                  <c:v>17.774999999999999</c:v>
                </c:pt>
                <c:pt idx="312">
                  <c:v>17.8</c:v>
                </c:pt>
                <c:pt idx="313">
                  <c:v>17.824999999999999</c:v>
                </c:pt>
                <c:pt idx="314">
                  <c:v>17.850000000000001</c:v>
                </c:pt>
                <c:pt idx="315">
                  <c:v>17.875</c:v>
                </c:pt>
                <c:pt idx="316">
                  <c:v>17.899999999999999</c:v>
                </c:pt>
                <c:pt idx="317">
                  <c:v>17.925000000000001</c:v>
                </c:pt>
                <c:pt idx="318">
                  <c:v>17.95</c:v>
                </c:pt>
                <c:pt idx="319">
                  <c:v>17.975000000000001</c:v>
                </c:pt>
                <c:pt idx="320">
                  <c:v>18</c:v>
                </c:pt>
                <c:pt idx="321">
                  <c:v>18.024999999999999</c:v>
                </c:pt>
                <c:pt idx="322">
                  <c:v>18.05</c:v>
                </c:pt>
                <c:pt idx="323">
                  <c:v>18.074999999999999</c:v>
                </c:pt>
                <c:pt idx="324">
                  <c:v>18.100000000000001</c:v>
                </c:pt>
                <c:pt idx="325">
                  <c:v>18.125</c:v>
                </c:pt>
                <c:pt idx="326">
                  <c:v>18.149999999999999</c:v>
                </c:pt>
                <c:pt idx="327">
                  <c:v>18.175000000000001</c:v>
                </c:pt>
                <c:pt idx="328">
                  <c:v>18.2</c:v>
                </c:pt>
                <c:pt idx="329">
                  <c:v>18.225000000000001</c:v>
                </c:pt>
                <c:pt idx="330">
                  <c:v>18.25</c:v>
                </c:pt>
                <c:pt idx="331">
                  <c:v>18.274999999999999</c:v>
                </c:pt>
                <c:pt idx="332">
                  <c:v>18.3</c:v>
                </c:pt>
                <c:pt idx="333">
                  <c:v>18.324999999999999</c:v>
                </c:pt>
                <c:pt idx="334">
                  <c:v>18.350000000000001</c:v>
                </c:pt>
                <c:pt idx="335">
                  <c:v>18.375</c:v>
                </c:pt>
                <c:pt idx="336">
                  <c:v>18.399999999999999</c:v>
                </c:pt>
                <c:pt idx="337">
                  <c:v>18.425000000000001</c:v>
                </c:pt>
                <c:pt idx="338">
                  <c:v>18.45</c:v>
                </c:pt>
                <c:pt idx="339">
                  <c:v>18.475000000000001</c:v>
                </c:pt>
                <c:pt idx="340">
                  <c:v>18.5</c:v>
                </c:pt>
                <c:pt idx="341">
                  <c:v>18.524999999999999</c:v>
                </c:pt>
                <c:pt idx="342">
                  <c:v>18.55</c:v>
                </c:pt>
                <c:pt idx="343">
                  <c:v>18.574999999999999</c:v>
                </c:pt>
                <c:pt idx="344">
                  <c:v>18.600000000000001</c:v>
                </c:pt>
                <c:pt idx="345">
                  <c:v>18.625</c:v>
                </c:pt>
                <c:pt idx="346">
                  <c:v>18.649999999999999</c:v>
                </c:pt>
                <c:pt idx="347">
                  <c:v>18.675000000000001</c:v>
                </c:pt>
                <c:pt idx="348">
                  <c:v>18.7</c:v>
                </c:pt>
                <c:pt idx="349">
                  <c:v>18.725000000000001</c:v>
                </c:pt>
                <c:pt idx="350">
                  <c:v>18.75</c:v>
                </c:pt>
                <c:pt idx="351">
                  <c:v>18.774999999999999</c:v>
                </c:pt>
                <c:pt idx="352">
                  <c:v>18.8</c:v>
                </c:pt>
                <c:pt idx="353">
                  <c:v>18.824999999999999</c:v>
                </c:pt>
                <c:pt idx="354">
                  <c:v>18.850000000000001</c:v>
                </c:pt>
                <c:pt idx="355">
                  <c:v>18.875</c:v>
                </c:pt>
                <c:pt idx="356">
                  <c:v>18.899999999999999</c:v>
                </c:pt>
                <c:pt idx="357">
                  <c:v>18.925000000000001</c:v>
                </c:pt>
                <c:pt idx="358">
                  <c:v>18.95</c:v>
                </c:pt>
                <c:pt idx="359">
                  <c:v>18.975000000000001</c:v>
                </c:pt>
                <c:pt idx="360">
                  <c:v>19</c:v>
                </c:pt>
                <c:pt idx="361">
                  <c:v>19.024999999999999</c:v>
                </c:pt>
                <c:pt idx="362">
                  <c:v>19.05</c:v>
                </c:pt>
                <c:pt idx="363">
                  <c:v>19.074999999999999</c:v>
                </c:pt>
                <c:pt idx="364">
                  <c:v>19.100000000000001</c:v>
                </c:pt>
                <c:pt idx="365">
                  <c:v>19.125</c:v>
                </c:pt>
                <c:pt idx="366">
                  <c:v>19.149999999999999</c:v>
                </c:pt>
                <c:pt idx="367">
                  <c:v>19.175000000000001</c:v>
                </c:pt>
                <c:pt idx="368">
                  <c:v>19.2</c:v>
                </c:pt>
                <c:pt idx="369">
                  <c:v>19.225000000000001</c:v>
                </c:pt>
                <c:pt idx="370">
                  <c:v>19.25</c:v>
                </c:pt>
                <c:pt idx="371">
                  <c:v>19.274999999999999</c:v>
                </c:pt>
                <c:pt idx="372">
                  <c:v>19.3</c:v>
                </c:pt>
                <c:pt idx="373">
                  <c:v>19.324999999999999</c:v>
                </c:pt>
                <c:pt idx="374">
                  <c:v>19.350000000000001</c:v>
                </c:pt>
                <c:pt idx="375">
                  <c:v>19.375</c:v>
                </c:pt>
                <c:pt idx="376">
                  <c:v>19.399999999999999</c:v>
                </c:pt>
                <c:pt idx="377">
                  <c:v>19.425000000000001</c:v>
                </c:pt>
                <c:pt idx="378">
                  <c:v>19.45</c:v>
                </c:pt>
                <c:pt idx="379">
                  <c:v>19.475000000000001</c:v>
                </c:pt>
                <c:pt idx="380">
                  <c:v>19.5</c:v>
                </c:pt>
                <c:pt idx="381">
                  <c:v>19.524999999999999</c:v>
                </c:pt>
                <c:pt idx="382">
                  <c:v>19.55</c:v>
                </c:pt>
                <c:pt idx="383">
                  <c:v>19.574999999999999</c:v>
                </c:pt>
                <c:pt idx="384">
                  <c:v>19.600000000000001</c:v>
                </c:pt>
                <c:pt idx="385">
                  <c:v>19.625</c:v>
                </c:pt>
                <c:pt idx="386">
                  <c:v>19.649999999999999</c:v>
                </c:pt>
                <c:pt idx="387">
                  <c:v>19.675000000000001</c:v>
                </c:pt>
                <c:pt idx="388">
                  <c:v>19.7</c:v>
                </c:pt>
                <c:pt idx="389">
                  <c:v>19.725000000000001</c:v>
                </c:pt>
                <c:pt idx="390">
                  <c:v>19.75</c:v>
                </c:pt>
                <c:pt idx="391">
                  <c:v>19.774999999999999</c:v>
                </c:pt>
                <c:pt idx="392">
                  <c:v>19.8</c:v>
                </c:pt>
                <c:pt idx="393">
                  <c:v>19.824999999999999</c:v>
                </c:pt>
                <c:pt idx="394">
                  <c:v>19.850000000000001</c:v>
                </c:pt>
                <c:pt idx="395">
                  <c:v>19.875</c:v>
                </c:pt>
                <c:pt idx="396">
                  <c:v>19.899999999999999</c:v>
                </c:pt>
                <c:pt idx="397">
                  <c:v>19.925000000000001</c:v>
                </c:pt>
                <c:pt idx="398">
                  <c:v>19.95</c:v>
                </c:pt>
                <c:pt idx="399">
                  <c:v>19.975000000000001</c:v>
                </c:pt>
                <c:pt idx="400">
                  <c:v>20</c:v>
                </c:pt>
              </c:numCache>
            </c:numRef>
          </c:xVal>
          <c:yVal>
            <c:numRef>
              <c:f>'Chart Data'!$D$2:$D$402</c:f>
              <c:numCache>
                <c:formatCode>0.0</c:formatCode>
                <c:ptCount val="401"/>
                <c:pt idx="0">
                  <c:v>7.5148999999999994E-2</c:v>
                </c:pt>
                <c:pt idx="1">
                  <c:v>0.11003599999999999</c:v>
                </c:pt>
                <c:pt idx="2">
                  <c:v>0.14688499999999999</c:v>
                </c:pt>
                <c:pt idx="3">
                  <c:v>0.17188800000000001</c:v>
                </c:pt>
                <c:pt idx="4">
                  <c:v>0.17550099999999999</c:v>
                </c:pt>
                <c:pt idx="5">
                  <c:v>0.154364</c:v>
                </c:pt>
                <c:pt idx="6">
                  <c:v>0.11110100000000001</c:v>
                </c:pt>
                <c:pt idx="7">
                  <c:v>5.3044000000000001E-2</c:v>
                </c:pt>
                <c:pt idx="8">
                  <c:v>-9.5560000000000003E-3</c:v>
                </c:pt>
                <c:pt idx="9">
                  <c:v>-6.5545999999999993E-2</c:v>
                </c:pt>
                <c:pt idx="10">
                  <c:v>-0.10492600000000001</c:v>
                </c:pt>
                <c:pt idx="11">
                  <c:v>-0.120632</c:v>
                </c:pt>
                <c:pt idx="12">
                  <c:v>-0.10979700000000001</c:v>
                </c:pt>
                <c:pt idx="13">
                  <c:v>-7.4258000000000005E-2</c:v>
                </c:pt>
                <c:pt idx="14">
                  <c:v>-2.0232E-2</c:v>
                </c:pt>
                <c:pt idx="15">
                  <c:v>4.2789000000000001E-2</c:v>
                </c:pt>
                <c:pt idx="16">
                  <c:v>0.135493</c:v>
                </c:pt>
                <c:pt idx="17">
                  <c:v>0.25722699999999998</c:v>
                </c:pt>
                <c:pt idx="18">
                  <c:v>0.44955000000000001</c:v>
                </c:pt>
                <c:pt idx="19">
                  <c:v>0.71898600000000001</c:v>
                </c:pt>
                <c:pt idx="20">
                  <c:v>0.98683100000000001</c:v>
                </c:pt>
                <c:pt idx="21">
                  <c:v>1.103461</c:v>
                </c:pt>
                <c:pt idx="22">
                  <c:v>0.97223499999999996</c:v>
                </c:pt>
                <c:pt idx="23">
                  <c:v>0.65508299999999997</c:v>
                </c:pt>
                <c:pt idx="24">
                  <c:v>0.32021100000000002</c:v>
                </c:pt>
                <c:pt idx="25">
                  <c:v>9.9784999999999999E-2</c:v>
                </c:pt>
                <c:pt idx="26">
                  <c:v>2.2849000000000001E-2</c:v>
                </c:pt>
                <c:pt idx="27">
                  <c:v>5.1063999999999998E-2</c:v>
                </c:pt>
                <c:pt idx="28">
                  <c:v>0.131771</c:v>
                </c:pt>
                <c:pt idx="29">
                  <c:v>0.22071099999999999</c:v>
                </c:pt>
                <c:pt idx="30">
                  <c:v>0.28715099999999999</c:v>
                </c:pt>
                <c:pt idx="31">
                  <c:v>0.31681199999999998</c:v>
                </c:pt>
                <c:pt idx="32">
                  <c:v>0.31112400000000001</c:v>
                </c:pt>
                <c:pt idx="33">
                  <c:v>0.280028</c:v>
                </c:pt>
                <c:pt idx="34">
                  <c:v>0.23318800000000001</c:v>
                </c:pt>
                <c:pt idx="35">
                  <c:v>0.17604300000000001</c:v>
                </c:pt>
                <c:pt idx="36">
                  <c:v>0.111584</c:v>
                </c:pt>
                <c:pt idx="37">
                  <c:v>4.3895000000000003E-2</c:v>
                </c:pt>
                <c:pt idx="38">
                  <c:v>-2.0202000000000001E-2</c:v>
                </c:pt>
                <c:pt idx="39">
                  <c:v>-7.2126999999999997E-2</c:v>
                </c:pt>
                <c:pt idx="40">
                  <c:v>-0.10386099999999999</c:v>
                </c:pt>
                <c:pt idx="41">
                  <c:v>-0.110175</c:v>
                </c:pt>
                <c:pt idx="42">
                  <c:v>-9.0046000000000001E-2</c:v>
                </c:pt>
                <c:pt idx="43">
                  <c:v>-4.7044000000000002E-2</c:v>
                </c:pt>
                <c:pt idx="44">
                  <c:v>1.1231E-2</c:v>
                </c:pt>
                <c:pt idx="45">
                  <c:v>7.4473999999999999E-2</c:v>
                </c:pt>
                <c:pt idx="46">
                  <c:v>0.13150100000000001</c:v>
                </c:pt>
                <c:pt idx="47">
                  <c:v>0.17222499999999999</c:v>
                </c:pt>
                <c:pt idx="48">
                  <c:v>0.18944800000000001</c:v>
                </c:pt>
                <c:pt idx="49">
                  <c:v>0.18013299999999999</c:v>
                </c:pt>
                <c:pt idx="50">
                  <c:v>0.17772099999999999</c:v>
                </c:pt>
                <c:pt idx="51">
                  <c:v>0.198347</c:v>
                </c:pt>
                <c:pt idx="52">
                  <c:v>0.30141800000000002</c:v>
                </c:pt>
                <c:pt idx="53">
                  <c:v>0.50920900000000002</c:v>
                </c:pt>
                <c:pt idx="54">
                  <c:v>0.75387000000000004</c:v>
                </c:pt>
                <c:pt idx="55">
                  <c:v>0.88981900000000003</c:v>
                </c:pt>
                <c:pt idx="56">
                  <c:v>0.81692299999999995</c:v>
                </c:pt>
                <c:pt idx="57">
                  <c:v>0.58670900000000004</c:v>
                </c:pt>
                <c:pt idx="58">
                  <c:v>0.35190900000000003</c:v>
                </c:pt>
                <c:pt idx="59">
                  <c:v>0.22688900000000001</c:v>
                </c:pt>
                <c:pt idx="60">
                  <c:v>0.223718</c:v>
                </c:pt>
                <c:pt idx="61">
                  <c:v>0.29091800000000001</c:v>
                </c:pt>
                <c:pt idx="62">
                  <c:v>0.36885000000000001</c:v>
                </c:pt>
                <c:pt idx="63">
                  <c:v>0.41368100000000002</c:v>
                </c:pt>
                <c:pt idx="64">
                  <c:v>0.40242099999999997</c:v>
                </c:pt>
                <c:pt idx="65">
                  <c:v>0.33449000000000001</c:v>
                </c:pt>
                <c:pt idx="66">
                  <c:v>0.22853999999999999</c:v>
                </c:pt>
                <c:pt idx="67">
                  <c:v>0.112207</c:v>
                </c:pt>
                <c:pt idx="68">
                  <c:v>1.0187999999999999E-2</c:v>
                </c:pt>
                <c:pt idx="69">
                  <c:v>-6.2370000000000002E-2</c:v>
                </c:pt>
                <c:pt idx="70">
                  <c:v>-9.9818000000000004E-2</c:v>
                </c:pt>
                <c:pt idx="71">
                  <c:v>-0.102927</c:v>
                </c:pt>
                <c:pt idx="72">
                  <c:v>-7.6388999999999999E-2</c:v>
                </c:pt>
                <c:pt idx="73">
                  <c:v>-2.7755999999999999E-2</c:v>
                </c:pt>
                <c:pt idx="74">
                  <c:v>3.3104000000000001E-2</c:v>
                </c:pt>
                <c:pt idx="75">
                  <c:v>9.4939999999999997E-2</c:v>
                </c:pt>
                <c:pt idx="76">
                  <c:v>0.14663000000000001</c:v>
                </c:pt>
                <c:pt idx="77">
                  <c:v>0.17893999999999999</c:v>
                </c:pt>
                <c:pt idx="78">
                  <c:v>0.18609400000000001</c:v>
                </c:pt>
                <c:pt idx="79">
                  <c:v>0.16677700000000001</c:v>
                </c:pt>
                <c:pt idx="80">
                  <c:v>0.124361</c:v>
                </c:pt>
                <c:pt idx="81">
                  <c:v>6.6311999999999996E-2</c:v>
                </c:pt>
                <c:pt idx="82">
                  <c:v>2.862E-3</c:v>
                </c:pt>
                <c:pt idx="83">
                  <c:v>-5.4801000000000002E-2</c:v>
                </c:pt>
                <c:pt idx="84">
                  <c:v>-6.4737000000000003E-2</c:v>
                </c:pt>
                <c:pt idx="85">
                  <c:v>-9.5490000000000002E-3</c:v>
                </c:pt>
                <c:pt idx="86">
                  <c:v>0.16397999999999999</c:v>
                </c:pt>
                <c:pt idx="87">
                  <c:v>0.46556799999999998</c:v>
                </c:pt>
                <c:pt idx="88">
                  <c:v>0.81067800000000001</c:v>
                </c:pt>
                <c:pt idx="89">
                  <c:v>1.03586</c:v>
                </c:pt>
                <c:pt idx="90">
                  <c:v>1.0251030000000001</c:v>
                </c:pt>
                <c:pt idx="91">
                  <c:v>0.818855</c:v>
                </c:pt>
                <c:pt idx="92">
                  <c:v>0.56553600000000004</c:v>
                </c:pt>
                <c:pt idx="93">
                  <c:v>0.38272400000000001</c:v>
                </c:pt>
                <c:pt idx="94">
                  <c:v>0.29266399999999998</c:v>
                </c:pt>
                <c:pt idx="95">
                  <c:v>0.25920799999999999</c:v>
                </c:pt>
                <c:pt idx="96">
                  <c:v>0.24048900000000001</c:v>
                </c:pt>
                <c:pt idx="97">
                  <c:v>0.209731</c:v>
                </c:pt>
                <c:pt idx="98">
                  <c:v>0.157277</c:v>
                </c:pt>
                <c:pt idx="99">
                  <c:v>8.9782000000000001E-2</c:v>
                </c:pt>
                <c:pt idx="100">
                  <c:v>2.5756000000000001E-2</c:v>
                </c:pt>
                <c:pt idx="101">
                  <c:v>-1.4655E-2</c:v>
                </c:pt>
                <c:pt idx="102">
                  <c:v>-2.0268999999999999E-2</c:v>
                </c:pt>
                <c:pt idx="103">
                  <c:v>6.9170000000000004E-3</c:v>
                </c:pt>
                <c:pt idx="104">
                  <c:v>5.4816999999999998E-2</c:v>
                </c:pt>
                <c:pt idx="105">
                  <c:v>0.107476</c:v>
                </c:pt>
                <c:pt idx="106">
                  <c:v>0.15026100000000001</c:v>
                </c:pt>
                <c:pt idx="107">
                  <c:v>0.172683</c:v>
                </c:pt>
                <c:pt idx="108">
                  <c:v>0.169459</c:v>
                </c:pt>
                <c:pt idx="109">
                  <c:v>0.14063700000000001</c:v>
                </c:pt>
                <c:pt idx="110">
                  <c:v>9.11E-2</c:v>
                </c:pt>
                <c:pt idx="111">
                  <c:v>2.9498E-2</c:v>
                </c:pt>
                <c:pt idx="112">
                  <c:v>-3.3362999999999997E-2</c:v>
                </c:pt>
                <c:pt idx="113">
                  <c:v>-8.6444999999999994E-2</c:v>
                </c:pt>
                <c:pt idx="114">
                  <c:v>-0.120447</c:v>
                </c:pt>
                <c:pt idx="115">
                  <c:v>-0.12944700000000001</c:v>
                </c:pt>
                <c:pt idx="116">
                  <c:v>-0.111956</c:v>
                </c:pt>
                <c:pt idx="117">
                  <c:v>-7.1179000000000006E-2</c:v>
                </c:pt>
                <c:pt idx="118">
                  <c:v>1.7328E-2</c:v>
                </c:pt>
                <c:pt idx="119">
                  <c:v>0.153472</c:v>
                </c:pt>
                <c:pt idx="120">
                  <c:v>0.37607400000000002</c:v>
                </c:pt>
                <c:pt idx="121">
                  <c:v>0.68611100000000003</c:v>
                </c:pt>
                <c:pt idx="122">
                  <c:v>0.99750000000000005</c:v>
                </c:pt>
                <c:pt idx="123">
                  <c:v>1.1527210000000001</c:v>
                </c:pt>
                <c:pt idx="124">
                  <c:v>1.0481149999999999</c:v>
                </c:pt>
                <c:pt idx="125">
                  <c:v>0.74071399999999998</c:v>
                </c:pt>
                <c:pt idx="126">
                  <c:v>0.39681899999999998</c:v>
                </c:pt>
                <c:pt idx="127">
                  <c:v>0.15001600000000001</c:v>
                </c:pt>
                <c:pt idx="128">
                  <c:v>3.3847000000000002E-2</c:v>
                </c:pt>
                <c:pt idx="129">
                  <c:v>1.6750999999999999E-2</c:v>
                </c:pt>
                <c:pt idx="130">
                  <c:v>5.3920000000000003E-2</c:v>
                </c:pt>
                <c:pt idx="131">
                  <c:v>0.108641</c:v>
                </c:pt>
                <c:pt idx="132">
                  <c:v>0.15607099999999999</c:v>
                </c:pt>
                <c:pt idx="133">
                  <c:v>0.18512999999999999</c:v>
                </c:pt>
                <c:pt idx="134">
                  <c:v>0.197186</c:v>
                </c:pt>
                <c:pt idx="135">
                  <c:v>0.19886799999999999</c:v>
                </c:pt>
                <c:pt idx="136">
                  <c:v>0.19386700000000001</c:v>
                </c:pt>
                <c:pt idx="137">
                  <c:v>0.18004600000000001</c:v>
                </c:pt>
                <c:pt idx="138">
                  <c:v>0.152554</c:v>
                </c:pt>
                <c:pt idx="139">
                  <c:v>0.108766</c:v>
                </c:pt>
                <c:pt idx="140">
                  <c:v>5.1110999999999997E-2</c:v>
                </c:pt>
                <c:pt idx="141">
                  <c:v>-1.3133000000000001E-2</c:v>
                </c:pt>
                <c:pt idx="142">
                  <c:v>-7.3914999999999995E-2</c:v>
                </c:pt>
                <c:pt idx="143">
                  <c:v>-0.121016</c:v>
                </c:pt>
                <c:pt idx="144">
                  <c:v>-0.14633599999999999</c:v>
                </c:pt>
                <c:pt idx="145">
                  <c:v>-0.145541</c:v>
                </c:pt>
                <c:pt idx="146">
                  <c:v>-0.11890000000000001</c:v>
                </c:pt>
                <c:pt idx="147">
                  <c:v>-7.1257000000000001E-2</c:v>
                </c:pt>
                <c:pt idx="148">
                  <c:v>-1.1176999999999999E-2</c:v>
                </c:pt>
                <c:pt idx="149">
                  <c:v>5.0571999999999999E-2</c:v>
                </c:pt>
                <c:pt idx="150">
                  <c:v>0.10292800000000001</c:v>
                </c:pt>
                <c:pt idx="151">
                  <c:v>0.13649</c:v>
                </c:pt>
                <c:pt idx="152">
                  <c:v>0.17696799999999999</c:v>
                </c:pt>
                <c:pt idx="153">
                  <c:v>0.232765</c:v>
                </c:pt>
                <c:pt idx="154">
                  <c:v>0.35692699999999999</c:v>
                </c:pt>
                <c:pt idx="155">
                  <c:v>0.56786199999999998</c:v>
                </c:pt>
                <c:pt idx="156">
                  <c:v>0.79703999999999997</c:v>
                </c:pt>
                <c:pt idx="157">
                  <c:v>0.90149800000000002</c:v>
                </c:pt>
                <c:pt idx="158">
                  <c:v>0.78656400000000004</c:v>
                </c:pt>
                <c:pt idx="159">
                  <c:v>0.51109599999999999</c:v>
                </c:pt>
                <c:pt idx="160">
                  <c:v>0.23573</c:v>
                </c:pt>
                <c:pt idx="161">
                  <c:v>8.1906999999999994E-2</c:v>
                </c:pt>
                <c:pt idx="162">
                  <c:v>6.6689999999999999E-2</c:v>
                </c:pt>
                <c:pt idx="163">
                  <c:v>0.140629</c:v>
                </c:pt>
                <c:pt idx="164">
                  <c:v>0.242786</c:v>
                </c:pt>
                <c:pt idx="165">
                  <c:v>0.32493300000000003</c:v>
                </c:pt>
                <c:pt idx="166">
                  <c:v>0.35737000000000002</c:v>
                </c:pt>
                <c:pt idx="167">
                  <c:v>0.331677</c:v>
                </c:pt>
                <c:pt idx="168">
                  <c:v>0.25892999999999999</c:v>
                </c:pt>
                <c:pt idx="169">
                  <c:v>0.16078999999999999</c:v>
                </c:pt>
                <c:pt idx="170">
                  <c:v>5.8642E-2</c:v>
                </c:pt>
                <c:pt idx="171">
                  <c:v>-3.2426999999999997E-2</c:v>
                </c:pt>
                <c:pt idx="172">
                  <c:v>-0.103571</c:v>
                </c:pt>
                <c:pt idx="173">
                  <c:v>-0.149669</c:v>
                </c:pt>
                <c:pt idx="174">
                  <c:v>-0.16787099999999999</c:v>
                </c:pt>
                <c:pt idx="175">
                  <c:v>-0.15787499999999999</c:v>
                </c:pt>
                <c:pt idx="176">
                  <c:v>-0.12277200000000001</c:v>
                </c:pt>
                <c:pt idx="177">
                  <c:v>-6.9316000000000003E-2</c:v>
                </c:pt>
                <c:pt idx="178">
                  <c:v>-7.2090000000000001E-3</c:v>
                </c:pt>
                <c:pt idx="179">
                  <c:v>5.2410999999999999E-2</c:v>
                </c:pt>
                <c:pt idx="180">
                  <c:v>9.8868999999999999E-2</c:v>
                </c:pt>
                <c:pt idx="181">
                  <c:v>0.123832</c:v>
                </c:pt>
                <c:pt idx="182">
                  <c:v>0.122775</c:v>
                </c:pt>
                <c:pt idx="183">
                  <c:v>9.5784999999999995E-2</c:v>
                </c:pt>
                <c:pt idx="184">
                  <c:v>4.7549000000000001E-2</c:v>
                </c:pt>
                <c:pt idx="185">
                  <c:v>-1.3485E-2</c:v>
                </c:pt>
                <c:pt idx="186">
                  <c:v>-4.4818999999999998E-2</c:v>
                </c:pt>
                <c:pt idx="187">
                  <c:v>-2.5297E-2</c:v>
                </c:pt>
                <c:pt idx="188">
                  <c:v>0.10458199999999999</c:v>
                </c:pt>
                <c:pt idx="189">
                  <c:v>0.36224299999999998</c:v>
                </c:pt>
                <c:pt idx="190">
                  <c:v>0.67090799999999995</c:v>
                </c:pt>
                <c:pt idx="191">
                  <c:v>0.87356</c:v>
                </c:pt>
                <c:pt idx="192">
                  <c:v>0.85816199999999998</c:v>
                </c:pt>
                <c:pt idx="193">
                  <c:v>0.66596900000000003</c:v>
                </c:pt>
                <c:pt idx="194">
                  <c:v>0.44289499999999998</c:v>
                </c:pt>
                <c:pt idx="195">
                  <c:v>0.30115199999999998</c:v>
                </c:pt>
                <c:pt idx="196">
                  <c:v>0.25569999999999998</c:v>
                </c:pt>
                <c:pt idx="197">
                  <c:v>0.262484</c:v>
                </c:pt>
                <c:pt idx="198">
                  <c:v>0.27250600000000003</c:v>
                </c:pt>
                <c:pt idx="199">
                  <c:v>0.25390299999999999</c:v>
                </c:pt>
                <c:pt idx="200">
                  <c:v>0.19486899999999999</c:v>
                </c:pt>
                <c:pt idx="201">
                  <c:v>0.10323400000000001</c:v>
                </c:pt>
                <c:pt idx="202">
                  <c:v>1.8010000000000001E-3</c:v>
                </c:pt>
                <c:pt idx="203">
                  <c:v>-8.2640000000000005E-2</c:v>
                </c:pt>
                <c:pt idx="204">
                  <c:v>-0.13108700000000001</c:v>
                </c:pt>
                <c:pt idx="205">
                  <c:v>-0.13792299999999999</c:v>
                </c:pt>
                <c:pt idx="206">
                  <c:v>-0.109179</c:v>
                </c:pt>
                <c:pt idx="207">
                  <c:v>-5.7388000000000002E-2</c:v>
                </c:pt>
                <c:pt idx="208">
                  <c:v>3.0049999999999999E-3</c:v>
                </c:pt>
                <c:pt idx="209">
                  <c:v>5.8425999999999999E-2</c:v>
                </c:pt>
                <c:pt idx="210">
                  <c:v>9.7783999999999996E-2</c:v>
                </c:pt>
                <c:pt idx="211">
                  <c:v>0.113624</c:v>
                </c:pt>
                <c:pt idx="212">
                  <c:v>0.10296</c:v>
                </c:pt>
                <c:pt idx="213">
                  <c:v>6.7602999999999996E-2</c:v>
                </c:pt>
                <c:pt idx="214">
                  <c:v>1.376E-2</c:v>
                </c:pt>
                <c:pt idx="215">
                  <c:v>-4.9074E-2</c:v>
                </c:pt>
                <c:pt idx="216">
                  <c:v>-0.10981200000000001</c:v>
                </c:pt>
                <c:pt idx="217">
                  <c:v>-0.15773499999999999</c:v>
                </c:pt>
                <c:pt idx="218">
                  <c:v>-0.184391</c:v>
                </c:pt>
                <c:pt idx="219">
                  <c:v>-0.18509700000000001</c:v>
                </c:pt>
                <c:pt idx="220">
                  <c:v>-0.12798599999999999</c:v>
                </c:pt>
                <c:pt idx="221">
                  <c:v>-7.5170000000000002E-3</c:v>
                </c:pt>
                <c:pt idx="222">
                  <c:v>0.21798500000000001</c:v>
                </c:pt>
                <c:pt idx="223">
                  <c:v>0.54906200000000005</c:v>
                </c:pt>
                <c:pt idx="224">
                  <c:v>0.89598699999999998</c:v>
                </c:pt>
                <c:pt idx="225">
                  <c:v>1.0950260000000001</c:v>
                </c:pt>
                <c:pt idx="226">
                  <c:v>1.0348440000000001</c:v>
                </c:pt>
                <c:pt idx="227">
                  <c:v>0.76469399999999998</c:v>
                </c:pt>
                <c:pt idx="228">
                  <c:v>0.44436700000000001</c:v>
                </c:pt>
                <c:pt idx="229">
                  <c:v>0.203372</c:v>
                </c:pt>
                <c:pt idx="230">
                  <c:v>7.4318999999999996E-2</c:v>
                </c:pt>
                <c:pt idx="231">
                  <c:v>2.8032000000000001E-2</c:v>
                </c:pt>
                <c:pt idx="232">
                  <c:v>2.4983000000000002E-2</c:v>
                </c:pt>
                <c:pt idx="233">
                  <c:v>3.5688999999999999E-2</c:v>
                </c:pt>
                <c:pt idx="234">
                  <c:v>4.3219E-2</c:v>
                </c:pt>
                <c:pt idx="235">
                  <c:v>4.3673999999999998E-2</c:v>
                </c:pt>
                <c:pt idx="236">
                  <c:v>4.3605999999999999E-2</c:v>
                </c:pt>
                <c:pt idx="237">
                  <c:v>5.1910999999999999E-2</c:v>
                </c:pt>
                <c:pt idx="238">
                  <c:v>7.1225999999999998E-2</c:v>
                </c:pt>
                <c:pt idx="239">
                  <c:v>9.5227999999999993E-2</c:v>
                </c:pt>
                <c:pt idx="240">
                  <c:v>0.11249099999999999</c:v>
                </c:pt>
                <c:pt idx="241">
                  <c:v>0.112585</c:v>
                </c:pt>
                <c:pt idx="242">
                  <c:v>9.0295E-2</c:v>
                </c:pt>
                <c:pt idx="243">
                  <c:v>4.6765000000000001E-2</c:v>
                </c:pt>
                <c:pt idx="244">
                  <c:v>-1.1490999999999999E-2</c:v>
                </c:pt>
                <c:pt idx="245">
                  <c:v>-7.4562000000000003E-2</c:v>
                </c:pt>
                <c:pt idx="246">
                  <c:v>-0.131381</c:v>
                </c:pt>
                <c:pt idx="247">
                  <c:v>-0.17189099999999999</c:v>
                </c:pt>
                <c:pt idx="248">
                  <c:v>-0.18889800000000001</c:v>
                </c:pt>
                <c:pt idx="249">
                  <c:v>-0.179367</c:v>
                </c:pt>
                <c:pt idx="250">
                  <c:v>-0.14496100000000001</c:v>
                </c:pt>
                <c:pt idx="251">
                  <c:v>-9.1748999999999997E-2</c:v>
                </c:pt>
                <c:pt idx="252">
                  <c:v>-2.913E-2</c:v>
                </c:pt>
                <c:pt idx="253">
                  <c:v>3.1830999999999998E-2</c:v>
                </c:pt>
                <c:pt idx="254">
                  <c:v>0.11214399999999999</c:v>
                </c:pt>
                <c:pt idx="255">
                  <c:v>0.213312</c:v>
                </c:pt>
                <c:pt idx="256">
                  <c:v>0.38049899999999998</c:v>
                </c:pt>
                <c:pt idx="257">
                  <c:v>0.62465199999999999</c:v>
                </c:pt>
                <c:pt idx="258">
                  <c:v>0.87151400000000001</c:v>
                </c:pt>
                <c:pt idx="259">
                  <c:v>0.97515600000000002</c:v>
                </c:pt>
                <c:pt idx="260">
                  <c:v>0.84121599999999996</c:v>
                </c:pt>
                <c:pt idx="261">
                  <c:v>0.53208500000000003</c:v>
                </c:pt>
                <c:pt idx="262">
                  <c:v>0.214534</c:v>
                </c:pt>
                <c:pt idx="263">
                  <c:v>1.7648E-2</c:v>
                </c:pt>
                <c:pt idx="264">
                  <c:v>-3.3707000000000001E-2</c:v>
                </c:pt>
                <c:pt idx="265">
                  <c:v>1.7593999999999999E-2</c:v>
                </c:pt>
                <c:pt idx="266">
                  <c:v>0.114801</c:v>
                </c:pt>
                <c:pt idx="267">
                  <c:v>0.21073500000000001</c:v>
                </c:pt>
                <c:pt idx="268">
                  <c:v>0.27343200000000001</c:v>
                </c:pt>
                <c:pt idx="269">
                  <c:v>0.28928799999999999</c:v>
                </c:pt>
                <c:pt idx="270">
                  <c:v>0.26219300000000001</c:v>
                </c:pt>
                <c:pt idx="271">
                  <c:v>0.2059</c:v>
                </c:pt>
                <c:pt idx="272">
                  <c:v>0.13456099999999999</c:v>
                </c:pt>
                <c:pt idx="273">
                  <c:v>5.7983E-2</c:v>
                </c:pt>
                <c:pt idx="274">
                  <c:v>-1.7371000000000001E-2</c:v>
                </c:pt>
                <c:pt idx="275">
                  <c:v>-8.5452E-2</c:v>
                </c:pt>
                <c:pt idx="276">
                  <c:v>-0.13933200000000001</c:v>
                </c:pt>
                <c:pt idx="277">
                  <c:v>-0.17219899999999999</c:v>
                </c:pt>
                <c:pt idx="278">
                  <c:v>-0.179367</c:v>
                </c:pt>
                <c:pt idx="279">
                  <c:v>-0.159912</c:v>
                </c:pt>
                <c:pt idx="280">
                  <c:v>-0.117325</c:v>
                </c:pt>
                <c:pt idx="281">
                  <c:v>-5.9098999999999999E-2</c:v>
                </c:pt>
                <c:pt idx="282">
                  <c:v>4.5259999999999996E-3</c:v>
                </c:pt>
                <c:pt idx="283">
                  <c:v>6.2362000000000001E-2</c:v>
                </c:pt>
                <c:pt idx="284">
                  <c:v>0.10424799999999999</c:v>
                </c:pt>
                <c:pt idx="285">
                  <c:v>0.12285</c:v>
                </c:pt>
                <c:pt idx="286">
                  <c:v>0.114964</c:v>
                </c:pt>
                <c:pt idx="287">
                  <c:v>8.2076999999999997E-2</c:v>
                </c:pt>
                <c:pt idx="288">
                  <c:v>6.1889E-2</c:v>
                </c:pt>
                <c:pt idx="289">
                  <c:v>7.3768E-2</c:v>
                </c:pt>
                <c:pt idx="290">
                  <c:v>0.17876</c:v>
                </c:pt>
                <c:pt idx="291">
                  <c:v>0.39888800000000002</c:v>
                </c:pt>
                <c:pt idx="292">
                  <c:v>0.66420999999999997</c:v>
                </c:pt>
                <c:pt idx="293">
                  <c:v>0.82558200000000004</c:v>
                </c:pt>
                <c:pt idx="294">
                  <c:v>0.77846599999999999</c:v>
                </c:pt>
                <c:pt idx="295">
                  <c:v>0.56992500000000001</c:v>
                </c:pt>
                <c:pt idx="296">
                  <c:v>0.34895900000000002</c:v>
                </c:pt>
                <c:pt idx="297">
                  <c:v>0.22759199999999999</c:v>
                </c:pt>
                <c:pt idx="298">
                  <c:v>0.217359</c:v>
                </c:pt>
                <c:pt idx="299">
                  <c:v>0.268152</c:v>
                </c:pt>
                <c:pt idx="300">
                  <c:v>0.32335900000000001</c:v>
                </c:pt>
                <c:pt idx="301">
                  <c:v>0.34329500000000002</c:v>
                </c:pt>
                <c:pt idx="302">
                  <c:v>0.30950899999999998</c:v>
                </c:pt>
                <c:pt idx="303">
                  <c:v>0.22554099999999999</c:v>
                </c:pt>
                <c:pt idx="304">
                  <c:v>0.11301700000000001</c:v>
                </c:pt>
                <c:pt idx="305">
                  <c:v>8.7299999999999997E-4</c:v>
                </c:pt>
                <c:pt idx="306">
                  <c:v>-8.6798E-2</c:v>
                </c:pt>
                <c:pt idx="307">
                  <c:v>-0.13725100000000001</c:v>
                </c:pt>
                <c:pt idx="308">
                  <c:v>-0.14860999999999999</c:v>
                </c:pt>
                <c:pt idx="309">
                  <c:v>-0.12612200000000001</c:v>
                </c:pt>
                <c:pt idx="310">
                  <c:v>-7.8867000000000007E-2</c:v>
                </c:pt>
                <c:pt idx="311">
                  <c:v>-1.7913999999999999E-2</c:v>
                </c:pt>
                <c:pt idx="312">
                  <c:v>4.4839999999999998E-2</c:v>
                </c:pt>
                <c:pt idx="313">
                  <c:v>9.7963999999999996E-2</c:v>
                </c:pt>
                <c:pt idx="314">
                  <c:v>0.13203999999999999</c:v>
                </c:pt>
                <c:pt idx="315">
                  <c:v>0.14111899999999999</c:v>
                </c:pt>
                <c:pt idx="316">
                  <c:v>0.12370399999999999</c:v>
                </c:pt>
                <c:pt idx="317">
                  <c:v>8.3000000000000004E-2</c:v>
                </c:pt>
                <c:pt idx="318">
                  <c:v>2.6339999999999999E-2</c:v>
                </c:pt>
                <c:pt idx="319">
                  <c:v>-3.6116000000000002E-2</c:v>
                </c:pt>
                <c:pt idx="320">
                  <c:v>-9.3181E-2</c:v>
                </c:pt>
                <c:pt idx="321">
                  <c:v>-0.13462199999999999</c:v>
                </c:pt>
                <c:pt idx="322">
                  <c:v>-0.121195</c:v>
                </c:pt>
                <c:pt idx="323">
                  <c:v>-3.9462999999999998E-2</c:v>
                </c:pt>
                <c:pt idx="324">
                  <c:v>0.15926899999999999</c:v>
                </c:pt>
                <c:pt idx="325">
                  <c:v>0.48043999999999998</c:v>
                </c:pt>
                <c:pt idx="326">
                  <c:v>0.83622700000000005</c:v>
                </c:pt>
                <c:pt idx="327">
                  <c:v>1.0614779999999999</c:v>
                </c:pt>
                <c:pt idx="328">
                  <c:v>1.0403579999999999</c:v>
                </c:pt>
                <c:pt idx="329">
                  <c:v>0.81534399999999996</c:v>
                </c:pt>
                <c:pt idx="330">
                  <c:v>0.53837400000000002</c:v>
                </c:pt>
                <c:pt idx="331">
                  <c:v>0.33141300000000001</c:v>
                </c:pt>
                <c:pt idx="332">
                  <c:v>0.22117999999999999</c:v>
                </c:pt>
                <c:pt idx="333">
                  <c:v>0.17530100000000001</c:v>
                </c:pt>
                <c:pt idx="334">
                  <c:v>0.154309</c:v>
                </c:pt>
                <c:pt idx="335">
                  <c:v>0.13203300000000001</c:v>
                </c:pt>
                <c:pt idx="336">
                  <c:v>9.7514000000000003E-2</c:v>
                </c:pt>
                <c:pt idx="337">
                  <c:v>5.4433000000000002E-2</c:v>
                </c:pt>
                <c:pt idx="338">
                  <c:v>1.7180000000000001E-2</c:v>
                </c:pt>
                <c:pt idx="339">
                  <c:v>1.3630000000000001E-3</c:v>
                </c:pt>
                <c:pt idx="340">
                  <c:v>1.4010999999999999E-2</c:v>
                </c:pt>
                <c:pt idx="341">
                  <c:v>5.0101E-2</c:v>
                </c:pt>
                <c:pt idx="342">
                  <c:v>9.6179000000000001E-2</c:v>
                </c:pt>
                <c:pt idx="343">
                  <c:v>0.136822</c:v>
                </c:pt>
                <c:pt idx="344">
                  <c:v>0.15973799999999999</c:v>
                </c:pt>
                <c:pt idx="345">
                  <c:v>0.158169</c:v>
                </c:pt>
                <c:pt idx="346">
                  <c:v>0.131297</c:v>
                </c:pt>
                <c:pt idx="347">
                  <c:v>8.3571999999999994E-2</c:v>
                </c:pt>
                <c:pt idx="348">
                  <c:v>2.3442000000000001E-2</c:v>
                </c:pt>
                <c:pt idx="349">
                  <c:v>-3.8353999999999999E-2</c:v>
                </c:pt>
                <c:pt idx="350">
                  <c:v>-9.0759000000000006E-2</c:v>
                </c:pt>
                <c:pt idx="351">
                  <c:v>-0.124373</c:v>
                </c:pt>
                <c:pt idx="352">
                  <c:v>-0.133129</c:v>
                </c:pt>
                <c:pt idx="353">
                  <c:v>-0.11536299999999999</c:v>
                </c:pt>
                <c:pt idx="354">
                  <c:v>-7.4112999999999998E-2</c:v>
                </c:pt>
                <c:pt idx="355">
                  <c:v>-1.6577999999999999E-2</c:v>
                </c:pt>
                <c:pt idx="356">
                  <c:v>4.7156999999999998E-2</c:v>
                </c:pt>
                <c:pt idx="357">
                  <c:v>0.21130599999999999</c:v>
                </c:pt>
                <c:pt idx="358">
                  <c:v>0.42024</c:v>
                </c:pt>
                <c:pt idx="359">
                  <c:v>0.70935400000000004</c:v>
                </c:pt>
                <c:pt idx="360">
                  <c:v>0.99648700000000001</c:v>
                </c:pt>
                <c:pt idx="361">
                  <c:v>1.128633</c:v>
                </c:pt>
                <c:pt idx="362">
                  <c:v>1.0064379999999999</c:v>
                </c:pt>
                <c:pt idx="363">
                  <c:v>0.69026500000000002</c:v>
                </c:pt>
                <c:pt idx="364">
                  <c:v>0.34818399999999999</c:v>
                </c:pt>
                <c:pt idx="365">
                  <c:v>0.113674</c:v>
                </c:pt>
                <c:pt idx="366">
                  <c:v>1.8311999999999998E-2</c:v>
                </c:pt>
                <c:pt idx="367">
                  <c:v>2.7061999999999999E-2</c:v>
                </c:pt>
                <c:pt idx="368">
                  <c:v>9.0751999999999999E-2</c:v>
                </c:pt>
                <c:pt idx="369">
                  <c:v>0.16817699999999999</c:v>
                </c:pt>
                <c:pt idx="370">
                  <c:v>0.230685</c:v>
                </c:pt>
                <c:pt idx="371">
                  <c:v>0.26473200000000002</c:v>
                </c:pt>
                <c:pt idx="372">
                  <c:v>0.27101199999999998</c:v>
                </c:pt>
                <c:pt idx="373">
                  <c:v>0.257386</c:v>
                </c:pt>
                <c:pt idx="374">
                  <c:v>0.230463</c:v>
                </c:pt>
                <c:pt idx="375">
                  <c:v>0.19219700000000001</c:v>
                </c:pt>
                <c:pt idx="376">
                  <c:v>0.14227300000000001</c:v>
                </c:pt>
                <c:pt idx="377">
                  <c:v>8.2243999999999998E-2</c:v>
                </c:pt>
                <c:pt idx="378">
                  <c:v>1.7618000000000002E-2</c:v>
                </c:pt>
                <c:pt idx="379">
                  <c:v>-4.2888999999999997E-2</c:v>
                </c:pt>
                <c:pt idx="380">
                  <c:v>-8.9691999999999994E-2</c:v>
                </c:pt>
                <c:pt idx="381">
                  <c:v>-0.11484800000000001</c:v>
                </c:pt>
                <c:pt idx="382">
                  <c:v>-0.113952</c:v>
                </c:pt>
                <c:pt idx="383">
                  <c:v>-8.7118000000000001E-2</c:v>
                </c:pt>
                <c:pt idx="384">
                  <c:v>-3.9038999999999997E-2</c:v>
                </c:pt>
                <c:pt idx="385">
                  <c:v>2.1835E-2</c:v>
                </c:pt>
                <c:pt idx="386">
                  <c:v>8.4783999999999998E-2</c:v>
                </c:pt>
                <c:pt idx="387">
                  <c:v>0.13872000000000001</c:v>
                </c:pt>
                <c:pt idx="388">
                  <c:v>0.174149</c:v>
                </c:pt>
                <c:pt idx="389">
                  <c:v>0.18485499999999999</c:v>
                </c:pt>
                <c:pt idx="390">
                  <c:v>0.20077999999999999</c:v>
                </c:pt>
                <c:pt idx="391">
                  <c:v>0.23485500000000001</c:v>
                </c:pt>
                <c:pt idx="392">
                  <c:v>0.34415499999999999</c:v>
                </c:pt>
                <c:pt idx="393">
                  <c:v>0.54989699999999997</c:v>
                </c:pt>
                <c:pt idx="394">
                  <c:v>0.78464199999999995</c:v>
                </c:pt>
                <c:pt idx="395">
                  <c:v>0.904613</c:v>
                </c:pt>
                <c:pt idx="396">
                  <c:v>0.81255900000000003</c:v>
                </c:pt>
                <c:pt idx="397">
                  <c:v>0.56344899999999998</c:v>
                </c:pt>
                <c:pt idx="398">
                  <c:v>0.31341200000000002</c:v>
                </c:pt>
                <c:pt idx="399">
                  <c:v>0.179563</c:v>
                </c:pt>
                <c:pt idx="400">
                  <c:v>0.17558499999999999</c:v>
                </c:pt>
              </c:numCache>
            </c:numRef>
          </c:yVal>
          <c:smooth val="1"/>
          <c:extLst>
            <c:ext xmlns:c16="http://schemas.microsoft.com/office/drawing/2014/chart" uri="{C3380CC4-5D6E-409C-BE32-E72D297353CC}">
              <c16:uniqueId val="{00000001-7846-49B9-93CA-F16368506483}"/>
            </c:ext>
          </c:extLst>
        </c:ser>
        <c:ser>
          <c:idx val="2"/>
          <c:order val="2"/>
          <c:tx>
            <c:strRef>
              <c:f>Window 3</c:f>
              <c:strCache>
                <c:ptCount val="1"/>
                <c:pt idx="0">
                  <c:v>Window 3</c:v>
                </c:pt>
              </c:strCache>
            </c:strRef>
          </c:tx>
          <c:spPr>
            <a:ln w="19050" cap="rnd">
              <a:solidFill>
                <a:srgbClr val="087E8B"/>
              </a:solidFill>
              <a:prstDash val="solid"/>
              <a:round/>
            </a:ln>
          </c:spPr>
          <c:marker>
            <c:symbol val="none"/>
          </c:marker>
          <c:xVal>
            <c:numRef>
              <c:f>'Chart Data'!$E$2:$E$402</c:f>
              <c:numCache>
                <c:formatCode>General</c:formatCode>
                <c:ptCount val="401"/>
                <c:pt idx="0">
                  <c:v>20</c:v>
                </c:pt>
                <c:pt idx="1">
                  <c:v>20.024999999999999</c:v>
                </c:pt>
                <c:pt idx="2">
                  <c:v>20.05</c:v>
                </c:pt>
                <c:pt idx="3">
                  <c:v>20.074999999999999</c:v>
                </c:pt>
                <c:pt idx="4">
                  <c:v>20.100000000000001</c:v>
                </c:pt>
                <c:pt idx="5">
                  <c:v>20.125</c:v>
                </c:pt>
                <c:pt idx="6">
                  <c:v>20.149999999999999</c:v>
                </c:pt>
                <c:pt idx="7">
                  <c:v>20.175000000000001</c:v>
                </c:pt>
                <c:pt idx="8">
                  <c:v>20.2</c:v>
                </c:pt>
                <c:pt idx="9">
                  <c:v>20.225000000000001</c:v>
                </c:pt>
                <c:pt idx="10">
                  <c:v>20.25</c:v>
                </c:pt>
                <c:pt idx="11">
                  <c:v>20.274999999999999</c:v>
                </c:pt>
                <c:pt idx="12">
                  <c:v>20.3</c:v>
                </c:pt>
                <c:pt idx="13">
                  <c:v>20.324999999999999</c:v>
                </c:pt>
                <c:pt idx="14">
                  <c:v>20.350000000000001</c:v>
                </c:pt>
                <c:pt idx="15">
                  <c:v>20.375</c:v>
                </c:pt>
                <c:pt idx="16">
                  <c:v>20.399999999999999</c:v>
                </c:pt>
                <c:pt idx="17">
                  <c:v>20.425000000000001</c:v>
                </c:pt>
                <c:pt idx="18">
                  <c:v>20.45</c:v>
                </c:pt>
                <c:pt idx="19">
                  <c:v>20.475000000000001</c:v>
                </c:pt>
                <c:pt idx="20">
                  <c:v>20.5</c:v>
                </c:pt>
                <c:pt idx="21">
                  <c:v>20.524999999999999</c:v>
                </c:pt>
                <c:pt idx="22">
                  <c:v>20.55</c:v>
                </c:pt>
                <c:pt idx="23">
                  <c:v>20.574999999999999</c:v>
                </c:pt>
                <c:pt idx="24">
                  <c:v>20.6</c:v>
                </c:pt>
                <c:pt idx="25">
                  <c:v>20.625</c:v>
                </c:pt>
                <c:pt idx="26">
                  <c:v>20.65</c:v>
                </c:pt>
                <c:pt idx="27">
                  <c:v>20.675000000000001</c:v>
                </c:pt>
                <c:pt idx="28">
                  <c:v>20.7</c:v>
                </c:pt>
                <c:pt idx="29">
                  <c:v>20.725000000000001</c:v>
                </c:pt>
                <c:pt idx="30">
                  <c:v>20.75</c:v>
                </c:pt>
                <c:pt idx="31">
                  <c:v>20.774999999999999</c:v>
                </c:pt>
                <c:pt idx="32">
                  <c:v>20.8</c:v>
                </c:pt>
                <c:pt idx="33">
                  <c:v>20.824999999999999</c:v>
                </c:pt>
                <c:pt idx="34">
                  <c:v>20.85</c:v>
                </c:pt>
                <c:pt idx="35">
                  <c:v>20.875</c:v>
                </c:pt>
                <c:pt idx="36">
                  <c:v>20.9</c:v>
                </c:pt>
                <c:pt idx="37">
                  <c:v>20.925000000000001</c:v>
                </c:pt>
                <c:pt idx="38">
                  <c:v>20.95</c:v>
                </c:pt>
                <c:pt idx="39">
                  <c:v>20.975000000000001</c:v>
                </c:pt>
                <c:pt idx="40">
                  <c:v>21</c:v>
                </c:pt>
                <c:pt idx="41">
                  <c:v>21.024999999999999</c:v>
                </c:pt>
                <c:pt idx="42">
                  <c:v>21.05</c:v>
                </c:pt>
                <c:pt idx="43">
                  <c:v>21.074999999999999</c:v>
                </c:pt>
                <c:pt idx="44">
                  <c:v>21.1</c:v>
                </c:pt>
                <c:pt idx="45">
                  <c:v>21.125</c:v>
                </c:pt>
                <c:pt idx="46">
                  <c:v>21.15</c:v>
                </c:pt>
                <c:pt idx="47">
                  <c:v>21.175000000000001</c:v>
                </c:pt>
                <c:pt idx="48">
                  <c:v>21.2</c:v>
                </c:pt>
                <c:pt idx="49">
                  <c:v>21.225000000000001</c:v>
                </c:pt>
                <c:pt idx="50">
                  <c:v>21.25</c:v>
                </c:pt>
                <c:pt idx="51">
                  <c:v>21.274999999999999</c:v>
                </c:pt>
                <c:pt idx="52">
                  <c:v>21.3</c:v>
                </c:pt>
                <c:pt idx="53">
                  <c:v>21.324999999999999</c:v>
                </c:pt>
                <c:pt idx="54">
                  <c:v>21.35</c:v>
                </c:pt>
                <c:pt idx="55">
                  <c:v>21.375</c:v>
                </c:pt>
                <c:pt idx="56">
                  <c:v>21.4</c:v>
                </c:pt>
                <c:pt idx="57">
                  <c:v>21.425000000000001</c:v>
                </c:pt>
                <c:pt idx="58">
                  <c:v>21.45</c:v>
                </c:pt>
                <c:pt idx="59">
                  <c:v>21.475000000000001</c:v>
                </c:pt>
                <c:pt idx="60">
                  <c:v>21.5</c:v>
                </c:pt>
                <c:pt idx="61">
                  <c:v>21.524999999999999</c:v>
                </c:pt>
                <c:pt idx="62">
                  <c:v>21.55</c:v>
                </c:pt>
                <c:pt idx="63">
                  <c:v>21.574999999999999</c:v>
                </c:pt>
                <c:pt idx="64">
                  <c:v>21.6</c:v>
                </c:pt>
                <c:pt idx="65">
                  <c:v>21.625</c:v>
                </c:pt>
                <c:pt idx="66">
                  <c:v>21.65</c:v>
                </c:pt>
                <c:pt idx="67">
                  <c:v>21.675000000000001</c:v>
                </c:pt>
                <c:pt idx="68">
                  <c:v>21.7</c:v>
                </c:pt>
                <c:pt idx="69">
                  <c:v>21.725000000000001</c:v>
                </c:pt>
                <c:pt idx="70">
                  <c:v>21.75</c:v>
                </c:pt>
                <c:pt idx="71">
                  <c:v>21.774999999999999</c:v>
                </c:pt>
                <c:pt idx="72">
                  <c:v>21.8</c:v>
                </c:pt>
                <c:pt idx="73">
                  <c:v>21.824999999999999</c:v>
                </c:pt>
                <c:pt idx="74">
                  <c:v>21.85</c:v>
                </c:pt>
                <c:pt idx="75">
                  <c:v>21.875</c:v>
                </c:pt>
                <c:pt idx="76">
                  <c:v>21.9</c:v>
                </c:pt>
                <c:pt idx="77">
                  <c:v>21.925000000000001</c:v>
                </c:pt>
                <c:pt idx="78">
                  <c:v>21.95</c:v>
                </c:pt>
                <c:pt idx="79">
                  <c:v>21.975000000000001</c:v>
                </c:pt>
                <c:pt idx="80">
                  <c:v>22</c:v>
                </c:pt>
                <c:pt idx="81">
                  <c:v>22.024999999999999</c:v>
                </c:pt>
                <c:pt idx="82">
                  <c:v>22.05</c:v>
                </c:pt>
                <c:pt idx="83">
                  <c:v>22.074999999999999</c:v>
                </c:pt>
                <c:pt idx="84">
                  <c:v>22.1</c:v>
                </c:pt>
                <c:pt idx="85">
                  <c:v>22.125</c:v>
                </c:pt>
                <c:pt idx="86">
                  <c:v>22.15</c:v>
                </c:pt>
                <c:pt idx="87">
                  <c:v>22.175000000000001</c:v>
                </c:pt>
                <c:pt idx="88">
                  <c:v>22.2</c:v>
                </c:pt>
                <c:pt idx="89">
                  <c:v>22.225000000000001</c:v>
                </c:pt>
                <c:pt idx="90">
                  <c:v>22.25</c:v>
                </c:pt>
                <c:pt idx="91">
                  <c:v>22.274999999999999</c:v>
                </c:pt>
                <c:pt idx="92">
                  <c:v>22.3</c:v>
                </c:pt>
                <c:pt idx="93">
                  <c:v>22.324999999999999</c:v>
                </c:pt>
                <c:pt idx="94">
                  <c:v>22.35</c:v>
                </c:pt>
                <c:pt idx="95">
                  <c:v>22.375</c:v>
                </c:pt>
                <c:pt idx="96">
                  <c:v>22.4</c:v>
                </c:pt>
                <c:pt idx="97">
                  <c:v>22.425000000000001</c:v>
                </c:pt>
                <c:pt idx="98">
                  <c:v>22.45</c:v>
                </c:pt>
                <c:pt idx="99">
                  <c:v>22.475000000000001</c:v>
                </c:pt>
                <c:pt idx="100">
                  <c:v>22.5</c:v>
                </c:pt>
                <c:pt idx="101">
                  <c:v>22.524999999999999</c:v>
                </c:pt>
                <c:pt idx="102">
                  <c:v>22.55</c:v>
                </c:pt>
                <c:pt idx="103">
                  <c:v>22.574999999999999</c:v>
                </c:pt>
                <c:pt idx="104">
                  <c:v>22.6</c:v>
                </c:pt>
                <c:pt idx="105">
                  <c:v>22.625</c:v>
                </c:pt>
                <c:pt idx="106">
                  <c:v>22.65</c:v>
                </c:pt>
                <c:pt idx="107">
                  <c:v>22.675000000000001</c:v>
                </c:pt>
                <c:pt idx="108">
                  <c:v>22.7</c:v>
                </c:pt>
                <c:pt idx="109">
                  <c:v>22.725000000000001</c:v>
                </c:pt>
                <c:pt idx="110">
                  <c:v>22.75</c:v>
                </c:pt>
                <c:pt idx="111">
                  <c:v>22.774999999999999</c:v>
                </c:pt>
                <c:pt idx="112">
                  <c:v>22.8</c:v>
                </c:pt>
                <c:pt idx="113">
                  <c:v>22.824999999999999</c:v>
                </c:pt>
                <c:pt idx="114">
                  <c:v>22.85</c:v>
                </c:pt>
                <c:pt idx="115">
                  <c:v>22.875</c:v>
                </c:pt>
                <c:pt idx="116">
                  <c:v>22.9</c:v>
                </c:pt>
                <c:pt idx="117">
                  <c:v>22.925000000000001</c:v>
                </c:pt>
                <c:pt idx="118">
                  <c:v>22.95</c:v>
                </c:pt>
                <c:pt idx="119">
                  <c:v>22.975000000000001</c:v>
                </c:pt>
                <c:pt idx="120">
                  <c:v>23</c:v>
                </c:pt>
                <c:pt idx="121">
                  <c:v>23.024999999999999</c:v>
                </c:pt>
                <c:pt idx="122">
                  <c:v>23.05</c:v>
                </c:pt>
                <c:pt idx="123">
                  <c:v>23.074999999999999</c:v>
                </c:pt>
                <c:pt idx="124">
                  <c:v>23.1</c:v>
                </c:pt>
                <c:pt idx="125">
                  <c:v>23.125</c:v>
                </c:pt>
                <c:pt idx="126">
                  <c:v>23.15</c:v>
                </c:pt>
                <c:pt idx="127">
                  <c:v>23.175000000000001</c:v>
                </c:pt>
                <c:pt idx="128">
                  <c:v>23.2</c:v>
                </c:pt>
                <c:pt idx="129">
                  <c:v>23.225000000000001</c:v>
                </c:pt>
                <c:pt idx="130">
                  <c:v>23.25</c:v>
                </c:pt>
                <c:pt idx="131">
                  <c:v>23.274999999999999</c:v>
                </c:pt>
                <c:pt idx="132">
                  <c:v>23.3</c:v>
                </c:pt>
                <c:pt idx="133">
                  <c:v>23.324999999999999</c:v>
                </c:pt>
                <c:pt idx="134">
                  <c:v>23.35</c:v>
                </c:pt>
                <c:pt idx="135">
                  <c:v>23.375</c:v>
                </c:pt>
                <c:pt idx="136">
                  <c:v>23.4</c:v>
                </c:pt>
                <c:pt idx="137">
                  <c:v>23.425000000000001</c:v>
                </c:pt>
                <c:pt idx="138">
                  <c:v>23.45</c:v>
                </c:pt>
                <c:pt idx="139">
                  <c:v>23.475000000000001</c:v>
                </c:pt>
                <c:pt idx="140">
                  <c:v>23.5</c:v>
                </c:pt>
                <c:pt idx="141">
                  <c:v>23.524999999999999</c:v>
                </c:pt>
                <c:pt idx="142">
                  <c:v>23.55</c:v>
                </c:pt>
                <c:pt idx="143">
                  <c:v>23.574999999999999</c:v>
                </c:pt>
                <c:pt idx="144">
                  <c:v>23.6</c:v>
                </c:pt>
                <c:pt idx="145">
                  <c:v>23.625</c:v>
                </c:pt>
                <c:pt idx="146">
                  <c:v>23.65</c:v>
                </c:pt>
                <c:pt idx="147">
                  <c:v>23.675000000000001</c:v>
                </c:pt>
                <c:pt idx="148">
                  <c:v>23.7</c:v>
                </c:pt>
                <c:pt idx="149">
                  <c:v>23.725000000000001</c:v>
                </c:pt>
                <c:pt idx="150">
                  <c:v>23.75</c:v>
                </c:pt>
                <c:pt idx="151">
                  <c:v>23.774999999999999</c:v>
                </c:pt>
                <c:pt idx="152">
                  <c:v>23.8</c:v>
                </c:pt>
                <c:pt idx="153">
                  <c:v>23.824999999999999</c:v>
                </c:pt>
                <c:pt idx="154">
                  <c:v>23.85</c:v>
                </c:pt>
                <c:pt idx="155">
                  <c:v>23.875</c:v>
                </c:pt>
                <c:pt idx="156">
                  <c:v>23.9</c:v>
                </c:pt>
                <c:pt idx="157">
                  <c:v>23.925000000000001</c:v>
                </c:pt>
                <c:pt idx="158">
                  <c:v>23.95</c:v>
                </c:pt>
                <c:pt idx="159">
                  <c:v>23.975000000000001</c:v>
                </c:pt>
                <c:pt idx="160">
                  <c:v>24</c:v>
                </c:pt>
                <c:pt idx="161">
                  <c:v>24.024999999999999</c:v>
                </c:pt>
                <c:pt idx="162">
                  <c:v>24.05</c:v>
                </c:pt>
                <c:pt idx="163">
                  <c:v>24.074999999999999</c:v>
                </c:pt>
                <c:pt idx="164">
                  <c:v>24.1</c:v>
                </c:pt>
                <c:pt idx="165">
                  <c:v>24.125</c:v>
                </c:pt>
                <c:pt idx="166">
                  <c:v>24.15</c:v>
                </c:pt>
                <c:pt idx="167">
                  <c:v>24.175000000000001</c:v>
                </c:pt>
                <c:pt idx="168">
                  <c:v>24.2</c:v>
                </c:pt>
                <c:pt idx="169">
                  <c:v>24.225000000000001</c:v>
                </c:pt>
                <c:pt idx="170">
                  <c:v>24.25</c:v>
                </c:pt>
                <c:pt idx="171">
                  <c:v>24.274999999999999</c:v>
                </c:pt>
                <c:pt idx="172">
                  <c:v>24.3</c:v>
                </c:pt>
                <c:pt idx="173">
                  <c:v>24.324999999999999</c:v>
                </c:pt>
                <c:pt idx="174">
                  <c:v>24.35</c:v>
                </c:pt>
                <c:pt idx="175">
                  <c:v>24.375</c:v>
                </c:pt>
                <c:pt idx="176">
                  <c:v>24.4</c:v>
                </c:pt>
                <c:pt idx="177">
                  <c:v>24.425000000000001</c:v>
                </c:pt>
                <c:pt idx="178">
                  <c:v>24.45</c:v>
                </c:pt>
                <c:pt idx="179">
                  <c:v>24.475000000000001</c:v>
                </c:pt>
                <c:pt idx="180">
                  <c:v>24.5</c:v>
                </c:pt>
                <c:pt idx="181">
                  <c:v>24.524999999999999</c:v>
                </c:pt>
                <c:pt idx="182">
                  <c:v>24.55</c:v>
                </c:pt>
                <c:pt idx="183">
                  <c:v>24.574999999999999</c:v>
                </c:pt>
                <c:pt idx="184">
                  <c:v>24.6</c:v>
                </c:pt>
                <c:pt idx="185">
                  <c:v>24.625</c:v>
                </c:pt>
                <c:pt idx="186">
                  <c:v>24.65</c:v>
                </c:pt>
                <c:pt idx="187">
                  <c:v>24.675000000000001</c:v>
                </c:pt>
                <c:pt idx="188">
                  <c:v>24.7</c:v>
                </c:pt>
                <c:pt idx="189">
                  <c:v>24.725000000000001</c:v>
                </c:pt>
                <c:pt idx="190">
                  <c:v>24.75</c:v>
                </c:pt>
                <c:pt idx="191">
                  <c:v>24.774999999999999</c:v>
                </c:pt>
                <c:pt idx="192">
                  <c:v>24.8</c:v>
                </c:pt>
                <c:pt idx="193">
                  <c:v>24.824999999999999</c:v>
                </c:pt>
                <c:pt idx="194">
                  <c:v>24.85</c:v>
                </c:pt>
                <c:pt idx="195">
                  <c:v>24.875</c:v>
                </c:pt>
                <c:pt idx="196">
                  <c:v>24.9</c:v>
                </c:pt>
                <c:pt idx="197">
                  <c:v>24.925000000000001</c:v>
                </c:pt>
                <c:pt idx="198">
                  <c:v>24.95</c:v>
                </c:pt>
                <c:pt idx="199">
                  <c:v>24.975000000000001</c:v>
                </c:pt>
                <c:pt idx="200">
                  <c:v>25</c:v>
                </c:pt>
                <c:pt idx="201">
                  <c:v>25.024999999999999</c:v>
                </c:pt>
                <c:pt idx="202">
                  <c:v>25.05</c:v>
                </c:pt>
                <c:pt idx="203">
                  <c:v>25.074999999999999</c:v>
                </c:pt>
                <c:pt idx="204">
                  <c:v>25.1</c:v>
                </c:pt>
                <c:pt idx="205">
                  <c:v>25.125</c:v>
                </c:pt>
                <c:pt idx="206">
                  <c:v>25.15</c:v>
                </c:pt>
                <c:pt idx="207">
                  <c:v>25.175000000000001</c:v>
                </c:pt>
                <c:pt idx="208">
                  <c:v>25.2</c:v>
                </c:pt>
                <c:pt idx="209">
                  <c:v>25.225000000000001</c:v>
                </c:pt>
                <c:pt idx="210">
                  <c:v>25.25</c:v>
                </c:pt>
                <c:pt idx="211">
                  <c:v>25.274999999999999</c:v>
                </c:pt>
                <c:pt idx="212">
                  <c:v>25.3</c:v>
                </c:pt>
                <c:pt idx="213">
                  <c:v>25.324999999999999</c:v>
                </c:pt>
                <c:pt idx="214">
                  <c:v>25.35</c:v>
                </c:pt>
                <c:pt idx="215">
                  <c:v>25.375</c:v>
                </c:pt>
                <c:pt idx="216">
                  <c:v>25.4</c:v>
                </c:pt>
                <c:pt idx="217">
                  <c:v>25.425000000000001</c:v>
                </c:pt>
                <c:pt idx="218">
                  <c:v>25.45</c:v>
                </c:pt>
                <c:pt idx="219">
                  <c:v>25.475000000000001</c:v>
                </c:pt>
                <c:pt idx="220">
                  <c:v>25.5</c:v>
                </c:pt>
                <c:pt idx="221">
                  <c:v>25.524999999999999</c:v>
                </c:pt>
                <c:pt idx="222">
                  <c:v>25.55</c:v>
                </c:pt>
                <c:pt idx="223">
                  <c:v>25.574999999999999</c:v>
                </c:pt>
                <c:pt idx="224">
                  <c:v>25.6</c:v>
                </c:pt>
                <c:pt idx="225">
                  <c:v>25.625</c:v>
                </c:pt>
                <c:pt idx="226">
                  <c:v>25.65</c:v>
                </c:pt>
                <c:pt idx="227">
                  <c:v>25.675000000000001</c:v>
                </c:pt>
                <c:pt idx="228">
                  <c:v>25.7</c:v>
                </c:pt>
                <c:pt idx="229">
                  <c:v>25.725000000000001</c:v>
                </c:pt>
                <c:pt idx="230">
                  <c:v>25.75</c:v>
                </c:pt>
                <c:pt idx="231">
                  <c:v>25.774999999999999</c:v>
                </c:pt>
                <c:pt idx="232">
                  <c:v>25.8</c:v>
                </c:pt>
                <c:pt idx="233">
                  <c:v>25.824999999999999</c:v>
                </c:pt>
                <c:pt idx="234">
                  <c:v>25.85</c:v>
                </c:pt>
                <c:pt idx="235">
                  <c:v>25.875</c:v>
                </c:pt>
                <c:pt idx="236">
                  <c:v>25.9</c:v>
                </c:pt>
                <c:pt idx="237">
                  <c:v>25.925000000000001</c:v>
                </c:pt>
                <c:pt idx="238">
                  <c:v>25.95</c:v>
                </c:pt>
                <c:pt idx="239">
                  <c:v>25.975000000000001</c:v>
                </c:pt>
                <c:pt idx="240">
                  <c:v>26</c:v>
                </c:pt>
                <c:pt idx="241">
                  <c:v>26.024999999999999</c:v>
                </c:pt>
                <c:pt idx="242">
                  <c:v>26.05</c:v>
                </c:pt>
                <c:pt idx="243">
                  <c:v>26.074999999999999</c:v>
                </c:pt>
                <c:pt idx="244">
                  <c:v>26.1</c:v>
                </c:pt>
                <c:pt idx="245">
                  <c:v>26.125</c:v>
                </c:pt>
                <c:pt idx="246">
                  <c:v>26.15</c:v>
                </c:pt>
                <c:pt idx="247">
                  <c:v>26.175000000000001</c:v>
                </c:pt>
                <c:pt idx="248">
                  <c:v>26.2</c:v>
                </c:pt>
                <c:pt idx="249">
                  <c:v>26.225000000000001</c:v>
                </c:pt>
                <c:pt idx="250">
                  <c:v>26.25</c:v>
                </c:pt>
                <c:pt idx="251">
                  <c:v>26.274999999999999</c:v>
                </c:pt>
                <c:pt idx="252">
                  <c:v>26.3</c:v>
                </c:pt>
                <c:pt idx="253">
                  <c:v>26.324999999999999</c:v>
                </c:pt>
                <c:pt idx="254">
                  <c:v>26.35</c:v>
                </c:pt>
                <c:pt idx="255">
                  <c:v>26.375</c:v>
                </c:pt>
                <c:pt idx="256">
                  <c:v>26.4</c:v>
                </c:pt>
                <c:pt idx="257">
                  <c:v>26.425000000000001</c:v>
                </c:pt>
                <c:pt idx="258">
                  <c:v>26.45</c:v>
                </c:pt>
                <c:pt idx="259">
                  <c:v>26.475000000000001</c:v>
                </c:pt>
                <c:pt idx="260">
                  <c:v>26.5</c:v>
                </c:pt>
                <c:pt idx="261">
                  <c:v>26.524999999999999</c:v>
                </c:pt>
                <c:pt idx="262">
                  <c:v>26.55</c:v>
                </c:pt>
                <c:pt idx="263">
                  <c:v>26.574999999999999</c:v>
                </c:pt>
                <c:pt idx="264">
                  <c:v>26.6</c:v>
                </c:pt>
                <c:pt idx="265">
                  <c:v>26.625</c:v>
                </c:pt>
                <c:pt idx="266">
                  <c:v>26.65</c:v>
                </c:pt>
                <c:pt idx="267">
                  <c:v>26.675000000000001</c:v>
                </c:pt>
                <c:pt idx="268">
                  <c:v>26.7</c:v>
                </c:pt>
                <c:pt idx="269">
                  <c:v>26.725000000000001</c:v>
                </c:pt>
                <c:pt idx="270">
                  <c:v>26.75</c:v>
                </c:pt>
                <c:pt idx="271">
                  <c:v>26.774999999999999</c:v>
                </c:pt>
                <c:pt idx="272">
                  <c:v>26.8</c:v>
                </c:pt>
                <c:pt idx="273">
                  <c:v>26.824999999999999</c:v>
                </c:pt>
                <c:pt idx="274">
                  <c:v>26.85</c:v>
                </c:pt>
                <c:pt idx="275">
                  <c:v>26.875</c:v>
                </c:pt>
                <c:pt idx="276">
                  <c:v>26.9</c:v>
                </c:pt>
                <c:pt idx="277">
                  <c:v>26.925000000000001</c:v>
                </c:pt>
                <c:pt idx="278">
                  <c:v>26.95</c:v>
                </c:pt>
                <c:pt idx="279">
                  <c:v>26.975000000000001</c:v>
                </c:pt>
                <c:pt idx="280">
                  <c:v>27</c:v>
                </c:pt>
                <c:pt idx="281">
                  <c:v>27.024999999999999</c:v>
                </c:pt>
                <c:pt idx="282">
                  <c:v>27.05</c:v>
                </c:pt>
                <c:pt idx="283">
                  <c:v>27.074999999999999</c:v>
                </c:pt>
                <c:pt idx="284">
                  <c:v>27.1</c:v>
                </c:pt>
                <c:pt idx="285">
                  <c:v>27.125</c:v>
                </c:pt>
                <c:pt idx="286">
                  <c:v>27.15</c:v>
                </c:pt>
                <c:pt idx="287">
                  <c:v>27.175000000000001</c:v>
                </c:pt>
                <c:pt idx="288">
                  <c:v>27.2</c:v>
                </c:pt>
                <c:pt idx="289">
                  <c:v>27.225000000000001</c:v>
                </c:pt>
                <c:pt idx="290">
                  <c:v>27.25</c:v>
                </c:pt>
                <c:pt idx="291">
                  <c:v>27.274999999999999</c:v>
                </c:pt>
                <c:pt idx="292">
                  <c:v>27.3</c:v>
                </c:pt>
                <c:pt idx="293">
                  <c:v>27.324999999999999</c:v>
                </c:pt>
                <c:pt idx="294">
                  <c:v>27.35</c:v>
                </c:pt>
                <c:pt idx="295">
                  <c:v>27.375</c:v>
                </c:pt>
                <c:pt idx="296">
                  <c:v>27.4</c:v>
                </c:pt>
                <c:pt idx="297">
                  <c:v>27.425000000000001</c:v>
                </c:pt>
                <c:pt idx="298">
                  <c:v>27.45</c:v>
                </c:pt>
                <c:pt idx="299">
                  <c:v>27.475000000000001</c:v>
                </c:pt>
                <c:pt idx="300">
                  <c:v>27.5</c:v>
                </c:pt>
                <c:pt idx="301">
                  <c:v>27.524999999999999</c:v>
                </c:pt>
                <c:pt idx="302">
                  <c:v>27.55</c:v>
                </c:pt>
                <c:pt idx="303">
                  <c:v>27.574999999999999</c:v>
                </c:pt>
                <c:pt idx="304">
                  <c:v>27.6</c:v>
                </c:pt>
                <c:pt idx="305">
                  <c:v>27.625</c:v>
                </c:pt>
                <c:pt idx="306">
                  <c:v>27.65</c:v>
                </c:pt>
                <c:pt idx="307">
                  <c:v>27.675000000000001</c:v>
                </c:pt>
                <c:pt idx="308">
                  <c:v>27.7</c:v>
                </c:pt>
                <c:pt idx="309">
                  <c:v>27.725000000000001</c:v>
                </c:pt>
                <c:pt idx="310">
                  <c:v>27.75</c:v>
                </c:pt>
                <c:pt idx="311">
                  <c:v>27.774999999999999</c:v>
                </c:pt>
                <c:pt idx="312">
                  <c:v>27.8</c:v>
                </c:pt>
                <c:pt idx="313">
                  <c:v>27.824999999999999</c:v>
                </c:pt>
                <c:pt idx="314">
                  <c:v>27.85</c:v>
                </c:pt>
                <c:pt idx="315">
                  <c:v>27.875</c:v>
                </c:pt>
                <c:pt idx="316">
                  <c:v>27.9</c:v>
                </c:pt>
                <c:pt idx="317">
                  <c:v>27.925000000000001</c:v>
                </c:pt>
                <c:pt idx="318">
                  <c:v>27.95</c:v>
                </c:pt>
                <c:pt idx="319">
                  <c:v>27.975000000000001</c:v>
                </c:pt>
                <c:pt idx="320">
                  <c:v>28</c:v>
                </c:pt>
                <c:pt idx="321">
                  <c:v>28.024999999999999</c:v>
                </c:pt>
                <c:pt idx="322">
                  <c:v>28.05</c:v>
                </c:pt>
                <c:pt idx="323">
                  <c:v>28.074999999999999</c:v>
                </c:pt>
                <c:pt idx="324">
                  <c:v>28.1</c:v>
                </c:pt>
                <c:pt idx="325">
                  <c:v>28.125</c:v>
                </c:pt>
                <c:pt idx="326">
                  <c:v>28.15</c:v>
                </c:pt>
                <c:pt idx="327">
                  <c:v>28.175000000000001</c:v>
                </c:pt>
                <c:pt idx="328">
                  <c:v>28.2</c:v>
                </c:pt>
                <c:pt idx="329">
                  <c:v>28.225000000000001</c:v>
                </c:pt>
                <c:pt idx="330">
                  <c:v>28.25</c:v>
                </c:pt>
                <c:pt idx="331">
                  <c:v>28.274999999999999</c:v>
                </c:pt>
                <c:pt idx="332">
                  <c:v>28.3</c:v>
                </c:pt>
                <c:pt idx="333">
                  <c:v>28.324999999999999</c:v>
                </c:pt>
                <c:pt idx="334">
                  <c:v>28.35</c:v>
                </c:pt>
                <c:pt idx="335">
                  <c:v>28.375</c:v>
                </c:pt>
                <c:pt idx="336">
                  <c:v>28.4</c:v>
                </c:pt>
                <c:pt idx="337">
                  <c:v>28.425000000000001</c:v>
                </c:pt>
                <c:pt idx="338">
                  <c:v>28.45</c:v>
                </c:pt>
                <c:pt idx="339">
                  <c:v>28.475000000000001</c:v>
                </c:pt>
                <c:pt idx="340">
                  <c:v>28.5</c:v>
                </c:pt>
                <c:pt idx="341">
                  <c:v>28.524999999999999</c:v>
                </c:pt>
                <c:pt idx="342">
                  <c:v>28.55</c:v>
                </c:pt>
                <c:pt idx="343">
                  <c:v>28.574999999999999</c:v>
                </c:pt>
                <c:pt idx="344">
                  <c:v>28.6</c:v>
                </c:pt>
                <c:pt idx="345">
                  <c:v>28.625</c:v>
                </c:pt>
                <c:pt idx="346">
                  <c:v>28.65</c:v>
                </c:pt>
                <c:pt idx="347">
                  <c:v>28.675000000000001</c:v>
                </c:pt>
                <c:pt idx="348">
                  <c:v>28.7</c:v>
                </c:pt>
                <c:pt idx="349">
                  <c:v>28.725000000000001</c:v>
                </c:pt>
                <c:pt idx="350">
                  <c:v>28.75</c:v>
                </c:pt>
                <c:pt idx="351">
                  <c:v>28.774999999999999</c:v>
                </c:pt>
                <c:pt idx="352">
                  <c:v>28.8</c:v>
                </c:pt>
                <c:pt idx="353">
                  <c:v>28.824999999999999</c:v>
                </c:pt>
                <c:pt idx="354">
                  <c:v>28.85</c:v>
                </c:pt>
                <c:pt idx="355">
                  <c:v>28.875</c:v>
                </c:pt>
                <c:pt idx="356">
                  <c:v>28.9</c:v>
                </c:pt>
                <c:pt idx="357">
                  <c:v>28.925000000000001</c:v>
                </c:pt>
                <c:pt idx="358">
                  <c:v>28.95</c:v>
                </c:pt>
                <c:pt idx="359">
                  <c:v>28.975000000000001</c:v>
                </c:pt>
                <c:pt idx="360">
                  <c:v>29</c:v>
                </c:pt>
                <c:pt idx="361">
                  <c:v>29.024999999999999</c:v>
                </c:pt>
                <c:pt idx="362">
                  <c:v>29.05</c:v>
                </c:pt>
                <c:pt idx="363">
                  <c:v>29.074999999999999</c:v>
                </c:pt>
                <c:pt idx="364">
                  <c:v>29.1</c:v>
                </c:pt>
                <c:pt idx="365">
                  <c:v>29.125</c:v>
                </c:pt>
                <c:pt idx="366">
                  <c:v>29.15</c:v>
                </c:pt>
                <c:pt idx="367">
                  <c:v>29.175000000000001</c:v>
                </c:pt>
                <c:pt idx="368">
                  <c:v>29.2</c:v>
                </c:pt>
                <c:pt idx="369">
                  <c:v>29.225000000000001</c:v>
                </c:pt>
                <c:pt idx="370">
                  <c:v>29.25</c:v>
                </c:pt>
                <c:pt idx="371">
                  <c:v>29.274999999999999</c:v>
                </c:pt>
                <c:pt idx="372">
                  <c:v>29.3</c:v>
                </c:pt>
                <c:pt idx="373">
                  <c:v>29.324999999999999</c:v>
                </c:pt>
                <c:pt idx="374">
                  <c:v>29.35</c:v>
                </c:pt>
                <c:pt idx="375">
                  <c:v>29.375</c:v>
                </c:pt>
                <c:pt idx="376">
                  <c:v>29.4</c:v>
                </c:pt>
                <c:pt idx="377">
                  <c:v>29.425000000000001</c:v>
                </c:pt>
                <c:pt idx="378">
                  <c:v>29.45</c:v>
                </c:pt>
                <c:pt idx="379">
                  <c:v>29.475000000000001</c:v>
                </c:pt>
                <c:pt idx="380">
                  <c:v>29.5</c:v>
                </c:pt>
                <c:pt idx="381">
                  <c:v>29.524999999999999</c:v>
                </c:pt>
                <c:pt idx="382">
                  <c:v>29.55</c:v>
                </c:pt>
                <c:pt idx="383">
                  <c:v>29.574999999999999</c:v>
                </c:pt>
                <c:pt idx="384">
                  <c:v>29.6</c:v>
                </c:pt>
                <c:pt idx="385">
                  <c:v>29.625</c:v>
                </c:pt>
                <c:pt idx="386">
                  <c:v>29.65</c:v>
                </c:pt>
                <c:pt idx="387">
                  <c:v>29.675000000000001</c:v>
                </c:pt>
                <c:pt idx="388">
                  <c:v>29.7</c:v>
                </c:pt>
                <c:pt idx="389">
                  <c:v>29.725000000000001</c:v>
                </c:pt>
                <c:pt idx="390">
                  <c:v>29.75</c:v>
                </c:pt>
                <c:pt idx="391">
                  <c:v>29.774999999999999</c:v>
                </c:pt>
                <c:pt idx="392">
                  <c:v>29.8</c:v>
                </c:pt>
                <c:pt idx="393">
                  <c:v>29.824999999999999</c:v>
                </c:pt>
                <c:pt idx="394">
                  <c:v>29.85</c:v>
                </c:pt>
                <c:pt idx="395">
                  <c:v>29.875</c:v>
                </c:pt>
                <c:pt idx="396">
                  <c:v>29.9</c:v>
                </c:pt>
                <c:pt idx="397">
                  <c:v>29.925000000000001</c:v>
                </c:pt>
                <c:pt idx="398">
                  <c:v>29.95</c:v>
                </c:pt>
                <c:pt idx="399">
                  <c:v>29.975000000000001</c:v>
                </c:pt>
                <c:pt idx="400">
                  <c:v>30</c:v>
                </c:pt>
              </c:numCache>
            </c:numRef>
          </c:xVal>
          <c:yVal>
            <c:numRef>
              <c:f>'Chart Data'!$F$2:$F$402</c:f>
              <c:numCache>
                <c:formatCode>0.0</c:formatCode>
                <c:ptCount val="401"/>
                <c:pt idx="0">
                  <c:v>0.17558499999999999</c:v>
                </c:pt>
                <c:pt idx="1">
                  <c:v>0.18846399999999999</c:v>
                </c:pt>
                <c:pt idx="2">
                  <c:v>0.229965</c:v>
                </c:pt>
                <c:pt idx="3">
                  <c:v>0.26275700000000002</c:v>
                </c:pt>
                <c:pt idx="4">
                  <c:v>0.26603399999999999</c:v>
                </c:pt>
                <c:pt idx="5">
                  <c:v>0.23669000000000001</c:v>
                </c:pt>
                <c:pt idx="6">
                  <c:v>0.186589</c:v>
                </c:pt>
                <c:pt idx="7">
                  <c:v>0.13352</c:v>
                </c:pt>
                <c:pt idx="8">
                  <c:v>9.1020000000000004E-2</c:v>
                </c:pt>
                <c:pt idx="9">
                  <c:v>6.3739000000000004E-2</c:v>
                </c:pt>
                <c:pt idx="10">
                  <c:v>4.9354000000000002E-2</c:v>
                </c:pt>
                <c:pt idx="11">
                  <c:v>4.3055000000000003E-2</c:v>
                </c:pt>
                <c:pt idx="12">
                  <c:v>4.0765999999999997E-2</c:v>
                </c:pt>
                <c:pt idx="13">
                  <c:v>4.0091000000000002E-2</c:v>
                </c:pt>
                <c:pt idx="14">
                  <c:v>3.9949999999999999E-2</c:v>
                </c:pt>
                <c:pt idx="15">
                  <c:v>3.9949999999999999E-2</c:v>
                </c:pt>
                <c:pt idx="16">
                  <c:v>3.9973000000000002E-2</c:v>
                </c:pt>
                <c:pt idx="17">
                  <c:v>3.9992E-2</c:v>
                </c:pt>
                <c:pt idx="18">
                  <c:v>0.04</c:v>
                </c:pt>
                <c:pt idx="19">
                  <c:v>3.9995999999999997E-2</c:v>
                </c:pt>
                <c:pt idx="20">
                  <c:v>3.9980000000000002E-2</c:v>
                </c:pt>
                <c:pt idx="21">
                  <c:v>3.9953000000000002E-2</c:v>
                </c:pt>
                <c:pt idx="22">
                  <c:v>3.9912999999999997E-2</c:v>
                </c:pt>
                <c:pt idx="23">
                  <c:v>3.9861000000000001E-2</c:v>
                </c:pt>
                <c:pt idx="24">
                  <c:v>7.1576000000000001E-2</c:v>
                </c:pt>
                <c:pt idx="25">
                  <c:v>0.145123</c:v>
                </c:pt>
                <c:pt idx="26">
                  <c:v>0.31051099999999998</c:v>
                </c:pt>
                <c:pt idx="27">
                  <c:v>0.57894999999999996</c:v>
                </c:pt>
                <c:pt idx="28">
                  <c:v>0.87182099999999996</c:v>
                </c:pt>
                <c:pt idx="29">
                  <c:v>1.0349790000000001</c:v>
                </c:pt>
                <c:pt idx="30">
                  <c:v>0.96344700000000005</c:v>
                </c:pt>
                <c:pt idx="31">
                  <c:v>0.70848999999999995</c:v>
                </c:pt>
                <c:pt idx="32">
                  <c:v>0.42720200000000003</c:v>
                </c:pt>
                <c:pt idx="33">
                  <c:v>0.24216399999999999</c:v>
                </c:pt>
                <c:pt idx="34">
                  <c:v>0.17605799999999999</c:v>
                </c:pt>
                <c:pt idx="35">
                  <c:v>0.18853700000000001</c:v>
                </c:pt>
                <c:pt idx="36">
                  <c:v>0.22963800000000001</c:v>
                </c:pt>
                <c:pt idx="37">
                  <c:v>0.26202900000000001</c:v>
                </c:pt>
                <c:pt idx="38">
                  <c:v>0.264907</c:v>
                </c:pt>
                <c:pt idx="39">
                  <c:v>0.23516300000000001</c:v>
                </c:pt>
                <c:pt idx="40">
                  <c:v>0.18466299999999999</c:v>
                </c:pt>
                <c:pt idx="41">
                  <c:v>0.13119600000000001</c:v>
                </c:pt>
                <c:pt idx="42">
                  <c:v>8.8298000000000001E-2</c:v>
                </c:pt>
                <c:pt idx="43">
                  <c:v>6.062E-2</c:v>
                </c:pt>
                <c:pt idx="44">
                  <c:v>4.5837999999999997E-2</c:v>
                </c:pt>
                <c:pt idx="45">
                  <c:v>3.9144999999999999E-2</c:v>
                </c:pt>
                <c:pt idx="46">
                  <c:v>3.6461E-2</c:v>
                </c:pt>
                <c:pt idx="47">
                  <c:v>3.5394000000000002E-2</c:v>
                </c:pt>
                <c:pt idx="48">
                  <c:v>3.4861999999999997E-2</c:v>
                </c:pt>
                <c:pt idx="49">
                  <c:v>3.4472000000000003E-2</c:v>
                </c:pt>
                <c:pt idx="50">
                  <c:v>3.4106999999999998E-2</c:v>
                </c:pt>
                <c:pt idx="51">
                  <c:v>3.3739999999999999E-2</c:v>
                </c:pt>
                <c:pt idx="52">
                  <c:v>3.3362999999999997E-2</c:v>
                </c:pt>
                <c:pt idx="53">
                  <c:v>3.2976999999999999E-2</c:v>
                </c:pt>
                <c:pt idx="54">
                  <c:v>3.2580999999999999E-2</c:v>
                </c:pt>
                <c:pt idx="55">
                  <c:v>3.2175000000000002E-2</c:v>
                </c:pt>
                <c:pt idx="56">
                  <c:v>3.1759999999999997E-2</c:v>
                </c:pt>
                <c:pt idx="57">
                  <c:v>3.1335000000000002E-2</c:v>
                </c:pt>
                <c:pt idx="58">
                  <c:v>6.2678999999999999E-2</c:v>
                </c:pt>
                <c:pt idx="59">
                  <c:v>0.13585700000000001</c:v>
                </c:pt>
                <c:pt idx="60">
                  <c:v>0.30087999999999998</c:v>
                </c:pt>
                <c:pt idx="61">
                  <c:v>0.56895600000000002</c:v>
                </c:pt>
                <c:pt idx="62">
                  <c:v>0.86146800000000001</c:v>
                </c:pt>
                <c:pt idx="63">
                  <c:v>1.0242690000000001</c:v>
                </c:pt>
                <c:pt idx="64">
                  <c:v>0.95238400000000001</c:v>
                </c:pt>
                <c:pt idx="65">
                  <c:v>0.69707699999999995</c:v>
                </c:pt>
                <c:pt idx="66">
                  <c:v>0.41544199999999998</c:v>
                </c:pt>
                <c:pt idx="67">
                  <c:v>0.23006099999999999</c:v>
                </c:pt>
                <c:pt idx="68">
                  <c:v>0.16361600000000001</c:v>
                </c:pt>
                <c:pt idx="69">
                  <c:v>0.17576</c:v>
                </c:pt>
                <c:pt idx="70">
                  <c:v>0.216528</c:v>
                </c:pt>
                <c:pt idx="71">
                  <c:v>0.24859200000000001</c:v>
                </c:pt>
                <c:pt idx="72">
                  <c:v>0.25114500000000001</c:v>
                </c:pt>
                <c:pt idx="73">
                  <c:v>0.221082</c:v>
                </c:pt>
                <c:pt idx="74">
                  <c:v>0.170266</c:v>
                </c:pt>
                <c:pt idx="75">
                  <c:v>0.11648699999999999</c:v>
                </c:pt>
                <c:pt idx="76">
                  <c:v>7.3283000000000001E-2</c:v>
                </c:pt>
                <c:pt idx="77">
                  <c:v>4.5302000000000002E-2</c:v>
                </c:pt>
                <c:pt idx="78">
                  <c:v>3.0223E-2</c:v>
                </c:pt>
                <c:pt idx="79">
                  <c:v>2.3236E-2</c:v>
                </c:pt>
                <c:pt idx="80">
                  <c:v>2.0264000000000001E-2</c:v>
                </c:pt>
                <c:pt idx="81">
                  <c:v>1.8912999999999999E-2</c:v>
                </c:pt>
                <c:pt idx="82">
                  <c:v>1.8102E-2</c:v>
                </c:pt>
                <c:pt idx="83">
                  <c:v>1.7437999999999999E-2</c:v>
                </c:pt>
                <c:pt idx="84">
                  <c:v>1.6805E-2</c:v>
                </c:pt>
                <c:pt idx="85">
                  <c:v>1.6174000000000001E-2</c:v>
                </c:pt>
                <c:pt idx="86">
                  <c:v>1.5539000000000001E-2</c:v>
                </c:pt>
                <c:pt idx="87">
                  <c:v>1.49E-2</c:v>
                </c:pt>
                <c:pt idx="88">
                  <c:v>1.4256E-2</c:v>
                </c:pt>
                <c:pt idx="89">
                  <c:v>1.3609E-2</c:v>
                </c:pt>
                <c:pt idx="90">
                  <c:v>1.2957E-2</c:v>
                </c:pt>
                <c:pt idx="91">
                  <c:v>1.2300999999999999E-2</c:v>
                </c:pt>
                <c:pt idx="92">
                  <c:v>4.342E-2</c:v>
                </c:pt>
                <c:pt idx="93">
                  <c:v>0.116379</c:v>
                </c:pt>
                <c:pt idx="94">
                  <c:v>0.28118799999999999</c:v>
                </c:pt>
                <c:pt idx="95">
                  <c:v>0.54905599999999999</c:v>
                </c:pt>
                <c:pt idx="96">
                  <c:v>0.84136599999999995</c:v>
                </c:pt>
                <c:pt idx="97">
                  <c:v>1.0039709999999999</c:v>
                </c:pt>
                <c:pt idx="98">
                  <c:v>0.93189699999999998</c:v>
                </c:pt>
                <c:pt idx="99">
                  <c:v>0.67640599999999995</c:v>
                </c:pt>
                <c:pt idx="100">
                  <c:v>0.394594</c:v>
                </c:pt>
                <c:pt idx="101">
                  <c:v>0.209041</c:v>
                </c:pt>
                <c:pt idx="102">
                  <c:v>0.142431</c:v>
                </c:pt>
                <c:pt idx="103">
                  <c:v>0.154416</c:v>
                </c:pt>
                <c:pt idx="104">
                  <c:v>0.19503300000000001</c:v>
                </c:pt>
                <c:pt idx="105">
                  <c:v>0.22695000000000001</c:v>
                </c:pt>
                <c:pt idx="106">
                  <c:v>0.22936500000000001</c:v>
                </c:pt>
                <c:pt idx="107">
                  <c:v>0.19916800000000001</c:v>
                </c:pt>
                <c:pt idx="108">
                  <c:v>0.148226</c:v>
                </c:pt>
                <c:pt idx="109">
                  <c:v>9.4326999999999994E-2</c:v>
                </c:pt>
                <c:pt idx="110">
                  <c:v>5.1008999999999999E-2</c:v>
                </c:pt>
                <c:pt idx="111">
                  <c:v>2.2922999999999999E-2</c:v>
                </c:pt>
                <c:pt idx="112">
                  <c:v>7.7429999999999999E-3</c:v>
                </c:pt>
                <c:pt idx="113">
                  <c:v>6.6299999999999996E-4</c:v>
                </c:pt>
                <c:pt idx="114">
                  <c:v>-2.395E-3</c:v>
                </c:pt>
                <c:pt idx="115">
                  <c:v>-3.8249999999999998E-3</c:v>
                </c:pt>
                <c:pt idx="116">
                  <c:v>-4.7089999999999996E-3</c:v>
                </c:pt>
                <c:pt idx="117">
                  <c:v>-5.4390000000000003E-3</c:v>
                </c:pt>
                <c:pt idx="118">
                  <c:v>-6.1320000000000003E-3</c:v>
                </c:pt>
                <c:pt idx="119">
                  <c:v>-6.8149999999999999E-3</c:v>
                </c:pt>
                <c:pt idx="120">
                  <c:v>-7.4949999999999999E-3</c:v>
                </c:pt>
                <c:pt idx="121">
                  <c:v>-8.1729999999999997E-3</c:v>
                </c:pt>
                <c:pt idx="122">
                  <c:v>-8.848E-3</c:v>
                </c:pt>
                <c:pt idx="123">
                  <c:v>-9.5209999999999999E-3</c:v>
                </c:pt>
                <c:pt idx="124">
                  <c:v>-1.0191E-2</c:v>
                </c:pt>
                <c:pt idx="125">
                  <c:v>-1.0858E-2</c:v>
                </c:pt>
                <c:pt idx="126">
                  <c:v>-1.1521E-2</c:v>
                </c:pt>
                <c:pt idx="127">
                  <c:v>9.3218999999999996E-2</c:v>
                </c:pt>
                <c:pt idx="128">
                  <c:v>0.25803799999999999</c:v>
                </c:pt>
                <c:pt idx="129">
                  <c:v>0.52592300000000003</c:v>
                </c:pt>
                <c:pt idx="130">
                  <c:v>0.81825599999999998</c:v>
                </c:pt>
                <c:pt idx="131">
                  <c:v>0.98089199999999999</c:v>
                </c:pt>
                <c:pt idx="132">
                  <c:v>0.90885499999999997</c:v>
                </c:pt>
                <c:pt idx="133">
                  <c:v>0.65340799999999999</c:v>
                </c:pt>
                <c:pt idx="134">
                  <c:v>0.37164700000000001</c:v>
                </c:pt>
                <c:pt idx="135">
                  <c:v>0.18615300000000001</c:v>
                </c:pt>
                <c:pt idx="136">
                  <c:v>0.119607</c:v>
                </c:pt>
                <c:pt idx="137">
                  <c:v>0.131664</c:v>
                </c:pt>
                <c:pt idx="138">
                  <c:v>0.17235900000000001</c:v>
                </c:pt>
                <c:pt idx="139">
                  <c:v>0.20436199999999999</c:v>
                </c:pt>
                <c:pt idx="140">
                  <c:v>0.206868</c:v>
                </c:pt>
                <c:pt idx="141">
                  <c:v>0.17677000000000001</c:v>
                </c:pt>
                <c:pt idx="142">
                  <c:v>0.12593299999999999</c:v>
                </c:pt>
                <c:pt idx="143">
                  <c:v>7.2146000000000002E-2</c:v>
                </c:pt>
                <c:pt idx="144">
                  <c:v>2.8947000000000001E-2</c:v>
                </c:pt>
                <c:pt idx="145">
                  <c:v>9.8499999999999998E-4</c:v>
                </c:pt>
                <c:pt idx="146">
                  <c:v>-1.4062E-2</c:v>
                </c:pt>
                <c:pt idx="147">
                  <c:v>-2.1003999999999998E-2</c:v>
                </c:pt>
                <c:pt idx="148">
                  <c:v>-2.3917999999999998E-2</c:v>
                </c:pt>
                <c:pt idx="149">
                  <c:v>-2.5197000000000001E-2</c:v>
                </c:pt>
                <c:pt idx="150">
                  <c:v>-2.5923000000000002E-2</c:v>
                </c:pt>
                <c:pt idx="151">
                  <c:v>-2.6488999999999999E-2</c:v>
                </c:pt>
                <c:pt idx="152">
                  <c:v>-2.7012000000000001E-2</c:v>
                </c:pt>
                <c:pt idx="153">
                  <c:v>-2.7518999999999998E-2</c:v>
                </c:pt>
                <c:pt idx="154">
                  <c:v>-2.8015999999999999E-2</c:v>
                </c:pt>
                <c:pt idx="155">
                  <c:v>-2.8506E-2</c:v>
                </c:pt>
                <c:pt idx="156">
                  <c:v>-2.8986000000000001E-2</c:v>
                </c:pt>
                <c:pt idx="157">
                  <c:v>-2.9458000000000002E-2</c:v>
                </c:pt>
                <c:pt idx="158">
                  <c:v>-2.9921E-2</c:v>
                </c:pt>
                <c:pt idx="159">
                  <c:v>-3.0374999999999999E-2</c:v>
                </c:pt>
                <c:pt idx="160">
                  <c:v>9.5799999999999998E-4</c:v>
                </c:pt>
                <c:pt idx="161">
                  <c:v>7.4144000000000002E-2</c:v>
                </c:pt>
                <c:pt idx="162">
                  <c:v>0.23919199999999999</c:v>
                </c:pt>
                <c:pt idx="163">
                  <c:v>0.50731300000000001</c:v>
                </c:pt>
                <c:pt idx="164">
                  <c:v>0.79988700000000001</c:v>
                </c:pt>
                <c:pt idx="165">
                  <c:v>0.96277000000000001</c:v>
                </c:pt>
                <c:pt idx="166">
                  <c:v>0.89098500000000003</c:v>
                </c:pt>
                <c:pt idx="167">
                  <c:v>0.635795</c:v>
                </c:pt>
                <c:pt idx="168">
                  <c:v>0.35429699999999997</c:v>
                </c:pt>
                <c:pt idx="169">
                  <c:v>0.16907</c:v>
                </c:pt>
                <c:pt idx="170">
                  <c:v>0.102798</c:v>
                </c:pt>
                <c:pt idx="171">
                  <c:v>0.115132</c:v>
                </c:pt>
                <c:pt idx="172">
                  <c:v>0.156109</c:v>
                </c:pt>
                <c:pt idx="173">
                  <c:v>0.18840000000000001</c:v>
                </c:pt>
                <c:pt idx="174">
                  <c:v>0.19119800000000001</c:v>
                </c:pt>
                <c:pt idx="175">
                  <c:v>0.16139800000000001</c:v>
                </c:pt>
                <c:pt idx="176">
                  <c:v>0.110862</c:v>
                </c:pt>
                <c:pt idx="177">
                  <c:v>5.7382000000000002E-2</c:v>
                </c:pt>
                <c:pt idx="178">
                  <c:v>1.4493000000000001E-2</c:v>
                </c:pt>
                <c:pt idx="179">
                  <c:v>-1.3154000000000001E-2</c:v>
                </c:pt>
                <c:pt idx="180">
                  <c:v>-2.7882000000000001E-2</c:v>
                </c:pt>
                <c:pt idx="181">
                  <c:v>-3.4500999999999997E-2</c:v>
                </c:pt>
                <c:pt idx="182">
                  <c:v>-3.7087000000000002E-2</c:v>
                </c:pt>
                <c:pt idx="183">
                  <c:v>-3.8034999999999999E-2</c:v>
                </c:pt>
                <c:pt idx="184">
                  <c:v>-3.8427000000000003E-2</c:v>
                </c:pt>
                <c:pt idx="185">
                  <c:v>-3.8654000000000001E-2</c:v>
                </c:pt>
                <c:pt idx="186">
                  <c:v>-3.8834E-2</c:v>
                </c:pt>
                <c:pt idx="187">
                  <c:v>-3.8995000000000002E-2</c:v>
                </c:pt>
                <c:pt idx="188">
                  <c:v>-3.9142999999999997E-2</c:v>
                </c:pt>
                <c:pt idx="189">
                  <c:v>-3.9280000000000002E-2</c:v>
                </c:pt>
                <c:pt idx="190">
                  <c:v>-3.9404000000000002E-2</c:v>
                </c:pt>
                <c:pt idx="191">
                  <c:v>-3.9516999999999997E-2</c:v>
                </c:pt>
                <c:pt idx="192">
                  <c:v>-3.9618E-2</c:v>
                </c:pt>
                <c:pt idx="193">
                  <c:v>-3.9708E-2</c:v>
                </c:pt>
                <c:pt idx="194">
                  <c:v>-8.0070000000000002E-3</c:v>
                </c:pt>
                <c:pt idx="195">
                  <c:v>6.5549999999999997E-2</c:v>
                </c:pt>
                <c:pt idx="196">
                  <c:v>0.23097100000000001</c:v>
                </c:pt>
                <c:pt idx="197">
                  <c:v>0.49946699999999999</c:v>
                </c:pt>
                <c:pt idx="198">
                  <c:v>0.79241899999999998</c:v>
                </c:pt>
                <c:pt idx="199">
                  <c:v>0.955681</c:v>
                </c:pt>
                <c:pt idx="200">
                  <c:v>0.88427800000000001</c:v>
                </c:pt>
                <c:pt idx="201">
                  <c:v>0.62947299999999995</c:v>
                </c:pt>
                <c:pt idx="202">
                  <c:v>0.34836</c:v>
                </c:pt>
                <c:pt idx="203">
                  <c:v>0.163521</c:v>
                </c:pt>
                <c:pt idx="204">
                  <c:v>9.7638000000000003E-2</c:v>
                </c:pt>
                <c:pt idx="205">
                  <c:v>0.110363</c:v>
                </c:pt>
                <c:pt idx="206">
                  <c:v>0.15173300000000001</c:v>
                </c:pt>
                <c:pt idx="207">
                  <c:v>0.184418</c:v>
                </c:pt>
                <c:pt idx="208">
                  <c:v>0.187611</c:v>
                </c:pt>
                <c:pt idx="209">
                  <c:v>0.15820600000000001</c:v>
                </c:pt>
                <c:pt idx="210">
                  <c:v>0.108067</c:v>
                </c:pt>
                <c:pt idx="211">
                  <c:v>5.4984999999999999E-2</c:v>
                </c:pt>
                <c:pt idx="212">
                  <c:v>1.2494E-2</c:v>
                </c:pt>
                <c:pt idx="213">
                  <c:v>-1.4753E-2</c:v>
                </c:pt>
                <c:pt idx="214">
                  <c:v>-2.9082E-2</c:v>
                </c:pt>
                <c:pt idx="215">
                  <c:v>-3.5300999999999999E-2</c:v>
                </c:pt>
                <c:pt idx="216">
                  <c:v>-3.7486999999999999E-2</c:v>
                </c:pt>
                <c:pt idx="217">
                  <c:v>-3.8034999999999999E-2</c:v>
                </c:pt>
                <c:pt idx="218">
                  <c:v>-3.8025999999999997E-2</c:v>
                </c:pt>
                <c:pt idx="219">
                  <c:v>-3.7853999999999999E-2</c:v>
                </c:pt>
                <c:pt idx="220">
                  <c:v>-3.7634000000000001E-2</c:v>
                </c:pt>
                <c:pt idx="221">
                  <c:v>-3.7394999999999998E-2</c:v>
                </c:pt>
                <c:pt idx="222">
                  <c:v>-3.7144999999999997E-2</c:v>
                </c:pt>
                <c:pt idx="223">
                  <c:v>-3.6882999999999999E-2</c:v>
                </c:pt>
                <c:pt idx="224">
                  <c:v>-3.6609999999999997E-2</c:v>
                </c:pt>
                <c:pt idx="225">
                  <c:v>-3.6325999999999997E-2</c:v>
                </c:pt>
                <c:pt idx="226">
                  <c:v>-3.6031000000000001E-2</c:v>
                </c:pt>
                <c:pt idx="227">
                  <c:v>-3.5725E-2</c:v>
                </c:pt>
                <c:pt idx="228">
                  <c:v>-3.6310000000000001E-3</c:v>
                </c:pt>
                <c:pt idx="229">
                  <c:v>7.0318000000000006E-2</c:v>
                </c:pt>
                <c:pt idx="230">
                  <c:v>0.23613000000000001</c:v>
                </c:pt>
                <c:pt idx="231">
                  <c:v>0.50501499999999999</c:v>
                </c:pt>
                <c:pt idx="232">
                  <c:v>0.79835500000000004</c:v>
                </c:pt>
                <c:pt idx="233">
                  <c:v>0.96200399999999997</c:v>
                </c:pt>
                <c:pt idx="234">
                  <c:v>0.89098500000000003</c:v>
                </c:pt>
                <c:pt idx="235">
                  <c:v>0.63656100000000004</c:v>
                </c:pt>
                <c:pt idx="236">
                  <c:v>0.35582900000000001</c:v>
                </c:pt>
                <c:pt idx="237">
                  <c:v>0.17136699999999999</c:v>
                </c:pt>
                <c:pt idx="238">
                  <c:v>0.10586</c:v>
                </c:pt>
                <c:pt idx="239">
                  <c:v>0.11895799999999999</c:v>
                </c:pt>
                <c:pt idx="240">
                  <c:v>0.16069800000000001</c:v>
                </c:pt>
                <c:pt idx="241">
                  <c:v>0.19375000000000001</c:v>
                </c:pt>
                <c:pt idx="242">
                  <c:v>0.19730800000000001</c:v>
                </c:pt>
                <c:pt idx="243">
                  <c:v>0.168265</c:v>
                </c:pt>
                <c:pt idx="244">
                  <c:v>0.11848599999999999</c:v>
                </c:pt>
                <c:pt idx="245">
                  <c:v>6.5758999999999998E-2</c:v>
                </c:pt>
                <c:pt idx="246">
                  <c:v>2.3621E-2</c:v>
                </c:pt>
                <c:pt idx="247">
                  <c:v>-3.277E-3</c:v>
                </c:pt>
                <c:pt idx="248">
                  <c:v>-1.7260000000000001E-2</c:v>
                </c:pt>
                <c:pt idx="249">
                  <c:v>-2.3137000000000001E-2</c:v>
                </c:pt>
                <c:pt idx="250">
                  <c:v>-2.4983999999999999E-2</c:v>
                </c:pt>
                <c:pt idx="251">
                  <c:v>-2.5197000000000001E-2</c:v>
                </c:pt>
                <c:pt idx="252">
                  <c:v>-2.4857000000000001E-2</c:v>
                </c:pt>
                <c:pt idx="253">
                  <c:v>-2.4357E-2</c:v>
                </c:pt>
                <c:pt idx="254">
                  <c:v>-2.3813999999999998E-2</c:v>
                </c:pt>
                <c:pt idx="255">
                  <c:v>-2.3255999999999999E-2</c:v>
                </c:pt>
                <c:pt idx="256">
                  <c:v>-2.2690999999999999E-2</c:v>
                </c:pt>
                <c:pt idx="257">
                  <c:v>-2.2117999999999999E-2</c:v>
                </c:pt>
                <c:pt idx="258">
                  <c:v>-2.1538999999999999E-2</c:v>
                </c:pt>
                <c:pt idx="259">
                  <c:v>-2.0952999999999999E-2</c:v>
                </c:pt>
                <c:pt idx="260">
                  <c:v>-2.0362000000000002E-2</c:v>
                </c:pt>
                <c:pt idx="261">
                  <c:v>-1.9764E-2</c:v>
                </c:pt>
                <c:pt idx="262">
                  <c:v>1.2618000000000001E-2</c:v>
                </c:pt>
                <c:pt idx="263">
                  <c:v>8.6849999999999997E-2</c:v>
                </c:pt>
                <c:pt idx="264">
                  <c:v>0.25294</c:v>
                </c:pt>
                <c:pt idx="265">
                  <c:v>0.52209799999999995</c:v>
                </c:pt>
                <c:pt idx="266">
                  <c:v>0.81570600000000004</c:v>
                </c:pt>
                <c:pt idx="267">
                  <c:v>0.97961699999999996</c:v>
                </c:pt>
                <c:pt idx="268">
                  <c:v>0.90885499999999997</c:v>
                </c:pt>
                <c:pt idx="269">
                  <c:v>0.65468400000000004</c:v>
                </c:pt>
                <c:pt idx="270">
                  <c:v>0.374197</c:v>
                </c:pt>
                <c:pt idx="271">
                  <c:v>0.18997700000000001</c:v>
                </c:pt>
                <c:pt idx="272">
                  <c:v>0.124705</c:v>
                </c:pt>
                <c:pt idx="273">
                  <c:v>0.13803299999999999</c:v>
                </c:pt>
                <c:pt idx="274">
                  <c:v>0.17999699999999999</c:v>
                </c:pt>
                <c:pt idx="275">
                  <c:v>0.21326800000000001</c:v>
                </c:pt>
                <c:pt idx="276">
                  <c:v>0.21703800000000001</c:v>
                </c:pt>
                <c:pt idx="277">
                  <c:v>0.18820200000000001</c:v>
                </c:pt>
                <c:pt idx="278">
                  <c:v>0.138624</c:v>
                </c:pt>
                <c:pt idx="279">
                  <c:v>8.6091000000000001E-2</c:v>
                </c:pt>
                <c:pt idx="280">
                  <c:v>4.4142000000000001E-2</c:v>
                </c:pt>
                <c:pt idx="281">
                  <c:v>1.7427000000000002E-2</c:v>
                </c:pt>
                <c:pt idx="282">
                  <c:v>3.62E-3</c:v>
                </c:pt>
                <c:pt idx="283">
                  <c:v>-2.0869999999999999E-3</c:v>
                </c:pt>
                <c:pt idx="284">
                  <c:v>-3.7699999999999999E-3</c:v>
                </c:pt>
                <c:pt idx="285">
                  <c:v>-3.8249999999999998E-3</c:v>
                </c:pt>
                <c:pt idx="286">
                  <c:v>-3.3340000000000002E-3</c:v>
                </c:pt>
                <c:pt idx="287">
                  <c:v>-2.6900000000000001E-3</c:v>
                </c:pt>
                <c:pt idx="288">
                  <c:v>-2.0079999999999998E-3</c:v>
                </c:pt>
                <c:pt idx="289">
                  <c:v>-1.3190000000000001E-3</c:v>
                </c:pt>
                <c:pt idx="290">
                  <c:v>-6.2799999999999998E-4</c:v>
                </c:pt>
                <c:pt idx="291">
                  <c:v>6.3E-5</c:v>
                </c:pt>
                <c:pt idx="292">
                  <c:v>7.54E-4</c:v>
                </c:pt>
                <c:pt idx="293">
                  <c:v>1.4450000000000001E-3</c:v>
                </c:pt>
                <c:pt idx="294">
                  <c:v>2.1350000000000002E-3</c:v>
                </c:pt>
                <c:pt idx="295">
                  <c:v>2.8249999999999998E-3</c:v>
                </c:pt>
                <c:pt idx="296">
                  <c:v>3.5291999999999997E-2</c:v>
                </c:pt>
                <c:pt idx="297">
                  <c:v>0.109602</c:v>
                </c:pt>
                <c:pt idx="298">
                  <c:v>0.27576400000000001</c:v>
                </c:pt>
                <c:pt idx="299">
                  <c:v>0.544987</c:v>
                </c:pt>
                <c:pt idx="300">
                  <c:v>0.83865299999999998</c:v>
                </c:pt>
                <c:pt idx="301">
                  <c:v>1.0026139999999999</c:v>
                </c:pt>
                <c:pt idx="302">
                  <c:v>0.93189699999999998</c:v>
                </c:pt>
                <c:pt idx="303">
                  <c:v>0.677763</c:v>
                </c:pt>
                <c:pt idx="304">
                  <c:v>0.39730700000000002</c:v>
                </c:pt>
                <c:pt idx="305">
                  <c:v>0.21311099999999999</c:v>
                </c:pt>
                <c:pt idx="306">
                  <c:v>0.14785499999999999</c:v>
                </c:pt>
                <c:pt idx="307">
                  <c:v>0.161193</c:v>
                </c:pt>
                <c:pt idx="308">
                  <c:v>0.20316000000000001</c:v>
                </c:pt>
                <c:pt idx="309">
                  <c:v>0.236426</c:v>
                </c:pt>
                <c:pt idx="310">
                  <c:v>0.24018600000000001</c:v>
                </c:pt>
                <c:pt idx="311">
                  <c:v>0.21133199999999999</c:v>
                </c:pt>
                <c:pt idx="312">
                  <c:v>0.16172800000000001</c:v>
                </c:pt>
                <c:pt idx="313">
                  <c:v>0.109165</c:v>
                </c:pt>
                <c:pt idx="314">
                  <c:v>6.7177000000000001E-2</c:v>
                </c:pt>
                <c:pt idx="315">
                  <c:v>4.0416000000000001E-2</c:v>
                </c:pt>
                <c:pt idx="316">
                  <c:v>2.6557000000000001E-2</c:v>
                </c:pt>
                <c:pt idx="317">
                  <c:v>2.0791E-2</c:v>
                </c:pt>
                <c:pt idx="318">
                  <c:v>1.9040999999999999E-2</c:v>
                </c:pt>
                <c:pt idx="319">
                  <c:v>1.8912999999999999E-2</c:v>
                </c:pt>
                <c:pt idx="320">
                  <c:v>1.9324999999999998E-2</c:v>
                </c:pt>
                <c:pt idx="321">
                  <c:v>1.9883000000000001E-2</c:v>
                </c:pt>
                <c:pt idx="322">
                  <c:v>2.0471E-2</c:v>
                </c:pt>
                <c:pt idx="323">
                  <c:v>2.1061E-2</c:v>
                </c:pt>
                <c:pt idx="324">
                  <c:v>2.1645000000000001E-2</c:v>
                </c:pt>
                <c:pt idx="325">
                  <c:v>2.2223E-2</c:v>
                </c:pt>
                <c:pt idx="326">
                  <c:v>2.2793999999999998E-2</c:v>
                </c:pt>
                <c:pt idx="327">
                  <c:v>2.3359000000000001E-2</c:v>
                </c:pt>
                <c:pt idx="328">
                  <c:v>2.3916E-2</c:v>
                </c:pt>
                <c:pt idx="329">
                  <c:v>2.4466999999999999E-2</c:v>
                </c:pt>
                <c:pt idx="330">
                  <c:v>5.6787999999999998E-2</c:v>
                </c:pt>
                <c:pt idx="331">
                  <c:v>0.13094600000000001</c:v>
                </c:pt>
                <c:pt idx="332">
                  <c:v>0.29694900000000002</c:v>
                </c:pt>
                <c:pt idx="333">
                  <c:v>0.56600700000000004</c:v>
                </c:pt>
                <c:pt idx="334">
                  <c:v>0.85950099999999996</c:v>
                </c:pt>
                <c:pt idx="335">
                  <c:v>1.023285</c:v>
                </c:pt>
                <c:pt idx="336">
                  <c:v>0.95238400000000001</c:v>
                </c:pt>
                <c:pt idx="337">
                  <c:v>0.69806100000000004</c:v>
                </c:pt>
                <c:pt idx="338">
                  <c:v>0.41740899999999997</c:v>
                </c:pt>
                <c:pt idx="339">
                  <c:v>0.23300999999999999</c:v>
                </c:pt>
                <c:pt idx="340">
                  <c:v>0.167547</c:v>
                </c:pt>
                <c:pt idx="341">
                  <c:v>0.180671</c:v>
                </c:pt>
                <c:pt idx="342">
                  <c:v>0.22241900000000001</c:v>
                </c:pt>
                <c:pt idx="343">
                  <c:v>0.25546000000000002</c:v>
                </c:pt>
                <c:pt idx="344">
                  <c:v>0.25898900000000002</c:v>
                </c:pt>
                <c:pt idx="345">
                  <c:v>0.22989799999999999</c:v>
                </c:pt>
                <c:pt idx="346">
                  <c:v>0.18005299999999999</c:v>
                </c:pt>
                <c:pt idx="347">
                  <c:v>0.12724099999999999</c:v>
                </c:pt>
                <c:pt idx="348">
                  <c:v>8.5000999999999993E-2</c:v>
                </c:pt>
                <c:pt idx="349">
                  <c:v>5.7980999999999998E-2</c:v>
                </c:pt>
                <c:pt idx="350">
                  <c:v>4.3859000000000002E-2</c:v>
                </c:pt>
                <c:pt idx="351">
                  <c:v>3.7824000000000003E-2</c:v>
                </c:pt>
                <c:pt idx="352">
                  <c:v>3.5800999999999999E-2</c:v>
                </c:pt>
                <c:pt idx="353">
                  <c:v>3.5394000000000002E-2</c:v>
                </c:pt>
                <c:pt idx="354">
                  <c:v>3.5521999999999998E-2</c:v>
                </c:pt>
                <c:pt idx="355">
                  <c:v>3.5791999999999997E-2</c:v>
                </c:pt>
                <c:pt idx="356">
                  <c:v>3.6087000000000001E-2</c:v>
                </c:pt>
                <c:pt idx="357">
                  <c:v>3.6378000000000001E-2</c:v>
                </c:pt>
                <c:pt idx="358">
                  <c:v>3.6659999999999998E-2</c:v>
                </c:pt>
                <c:pt idx="359">
                  <c:v>3.6930999999999999E-2</c:v>
                </c:pt>
                <c:pt idx="360">
                  <c:v>3.7191000000000002E-2</c:v>
                </c:pt>
                <c:pt idx="361">
                  <c:v>3.7440000000000001E-2</c:v>
                </c:pt>
                <c:pt idx="362">
                  <c:v>3.7678000000000003E-2</c:v>
                </c:pt>
                <c:pt idx="363">
                  <c:v>3.7904E-2</c:v>
                </c:pt>
                <c:pt idx="364">
                  <c:v>6.9897000000000001E-2</c:v>
                </c:pt>
                <c:pt idx="365">
                  <c:v>0.14372299999999999</c:v>
                </c:pt>
                <c:pt idx="366">
                  <c:v>0.30939100000000003</c:v>
                </c:pt>
                <c:pt idx="367">
                  <c:v>0.57810899999999998</c:v>
                </c:pt>
                <c:pt idx="368">
                  <c:v>0.87126000000000003</c:v>
                </c:pt>
                <c:pt idx="369">
                  <c:v>1.0346979999999999</c:v>
                </c:pt>
                <c:pt idx="370">
                  <c:v>0.96344700000000005</c:v>
                </c:pt>
                <c:pt idx="371">
                  <c:v>0.70877000000000001</c:v>
                </c:pt>
                <c:pt idx="372">
                  <c:v>0.42776199999999998</c:v>
                </c:pt>
                <c:pt idx="373">
                  <c:v>0.243004</c:v>
                </c:pt>
                <c:pt idx="374">
                  <c:v>0.177178</c:v>
                </c:pt>
                <c:pt idx="375">
                  <c:v>0.18993699999999999</c:v>
                </c:pt>
                <c:pt idx="376">
                  <c:v>0.23131699999999999</c:v>
                </c:pt>
                <c:pt idx="377">
                  <c:v>0.26398700000000003</c:v>
                </c:pt>
                <c:pt idx="378">
                  <c:v>0.26714199999999999</c:v>
                </c:pt>
                <c:pt idx="379">
                  <c:v>0.237676</c:v>
                </c:pt>
                <c:pt idx="380">
                  <c:v>0.18745200000000001</c:v>
                </c:pt>
                <c:pt idx="381">
                  <c:v>0.13425999999999999</c:v>
                </c:pt>
                <c:pt idx="382">
                  <c:v>9.1637999999999997E-2</c:v>
                </c:pt>
                <c:pt idx="383">
                  <c:v>6.4232999999999998E-2</c:v>
                </c:pt>
                <c:pt idx="384">
                  <c:v>4.9724999999999998E-2</c:v>
                </c:pt>
                <c:pt idx="385">
                  <c:v>4.3302E-2</c:v>
                </c:pt>
                <c:pt idx="386">
                  <c:v>4.0889000000000002E-2</c:v>
                </c:pt>
                <c:pt idx="387">
                  <c:v>4.0091000000000002E-2</c:v>
                </c:pt>
                <c:pt idx="388">
                  <c:v>3.9827000000000001E-2</c:v>
                </c:pt>
                <c:pt idx="389">
                  <c:v>3.9703000000000002E-2</c:v>
                </c:pt>
                <c:pt idx="390">
                  <c:v>3.9602999999999999E-2</c:v>
                </c:pt>
                <c:pt idx="391">
                  <c:v>3.9497999999999998E-2</c:v>
                </c:pt>
                <c:pt idx="392">
                  <c:v>3.9383000000000001E-2</c:v>
                </c:pt>
                <c:pt idx="393">
                  <c:v>3.9255999999999999E-2</c:v>
                </c:pt>
                <c:pt idx="394">
                  <c:v>3.9116999999999999E-2</c:v>
                </c:pt>
                <c:pt idx="395">
                  <c:v>3.8967000000000002E-2</c:v>
                </c:pt>
                <c:pt idx="396">
                  <c:v>3.8804999999999999E-2</c:v>
                </c:pt>
                <c:pt idx="397">
                  <c:v>3.8632E-2</c:v>
                </c:pt>
                <c:pt idx="398">
                  <c:v>7.0224999999999996E-2</c:v>
                </c:pt>
                <c:pt idx="399">
                  <c:v>0.14365</c:v>
                </c:pt>
                <c:pt idx="400">
                  <c:v>0.30891800000000003</c:v>
                </c:pt>
              </c:numCache>
            </c:numRef>
          </c:yVal>
          <c:smooth val="1"/>
          <c:extLst>
            <c:ext xmlns:c16="http://schemas.microsoft.com/office/drawing/2014/chart" uri="{C3380CC4-5D6E-409C-BE32-E72D297353CC}">
              <c16:uniqueId val="{00000002-7846-49B9-93CA-F16368506483}"/>
            </c:ext>
          </c:extLst>
        </c:ser>
        <c:ser>
          <c:idx val="3"/>
          <c:order val="3"/>
          <c:tx>
            <c:strRef>
              <c:f>Window boundary</c:f>
              <c:strCache>
                <c:ptCount val="1"/>
                <c:pt idx="0">
                  <c:v>Window boundary</c:v>
                </c:pt>
              </c:strCache>
            </c:strRef>
          </c:tx>
          <c:spPr>
            <a:ln w="17145" cap="rnd">
              <a:solidFill>
                <a:srgbClr val="CAD5DE"/>
              </a:solidFill>
              <a:prstDash val="solid"/>
              <a:round/>
            </a:ln>
          </c:spPr>
          <c:marker>
            <c:symbol val="none"/>
          </c:marker>
          <c:xVal>
            <c:numRef>
              <c:f>'Chart Data'!$G$2:$G$3</c:f>
              <c:numCache>
                <c:formatCode>General</c:formatCode>
                <c:ptCount val="2"/>
                <c:pt idx="0">
                  <c:v>10</c:v>
                </c:pt>
                <c:pt idx="1">
                  <c:v>10</c:v>
                </c:pt>
              </c:numCache>
            </c:numRef>
          </c:xVal>
          <c:yVal>
            <c:numRef>
              <c:f>'Chart Data'!$H$2:$H$3</c:f>
              <c:numCache>
                <c:formatCode>0.0</c:formatCode>
                <c:ptCount val="2"/>
                <c:pt idx="0">
                  <c:v>-0.15</c:v>
                </c:pt>
                <c:pt idx="1">
                  <c:v>1.24</c:v>
                </c:pt>
              </c:numCache>
            </c:numRef>
          </c:yVal>
          <c:smooth val="1"/>
          <c:extLst>
            <c:ext xmlns:c16="http://schemas.microsoft.com/office/drawing/2014/chart" uri="{C3380CC4-5D6E-409C-BE32-E72D297353CC}">
              <c16:uniqueId val="{00000003-7846-49B9-93CA-F16368506483}"/>
            </c:ext>
          </c:extLst>
        </c:ser>
        <c:ser>
          <c:idx val="4"/>
          <c:order val="4"/>
          <c:tx>
            <c:strRef>
              <c:f>Window boundary</c:f>
              <c:strCache>
                <c:ptCount val="1"/>
                <c:pt idx="0">
                  <c:v>Window boundary</c:v>
                </c:pt>
              </c:strCache>
            </c:strRef>
          </c:tx>
          <c:spPr>
            <a:ln w="17145" cap="rnd">
              <a:solidFill>
                <a:srgbClr val="CAD5DE"/>
              </a:solidFill>
              <a:prstDash val="solid"/>
              <a:round/>
            </a:ln>
          </c:spPr>
          <c:marker>
            <c:symbol val="none"/>
          </c:marker>
          <c:xVal>
            <c:numRef>
              <c:f>'Chart Data'!$I$2:$I$3</c:f>
              <c:numCache>
                <c:formatCode>General</c:formatCode>
                <c:ptCount val="2"/>
                <c:pt idx="0">
                  <c:v>20</c:v>
                </c:pt>
                <c:pt idx="1">
                  <c:v>20</c:v>
                </c:pt>
              </c:numCache>
            </c:numRef>
          </c:xVal>
          <c:yVal>
            <c:numRef>
              <c:f>'Chart Data'!$J$2:$J$3</c:f>
              <c:numCache>
                <c:formatCode>0.0</c:formatCode>
                <c:ptCount val="2"/>
                <c:pt idx="0">
                  <c:v>-0.15</c:v>
                </c:pt>
                <c:pt idx="1">
                  <c:v>1.24</c:v>
                </c:pt>
              </c:numCache>
            </c:numRef>
          </c:yVal>
          <c:smooth val="1"/>
          <c:extLst>
            <c:ext xmlns:c16="http://schemas.microsoft.com/office/drawing/2014/chart" uri="{C3380CC4-5D6E-409C-BE32-E72D297353CC}">
              <c16:uniqueId val="{00000004-7846-49B9-93CA-F16368506483}"/>
            </c:ext>
          </c:extLst>
        </c:ser>
        <c:dLbls>
          <c:showLegendKey val="0"/>
          <c:showVal val="0"/>
          <c:showCatName val="0"/>
          <c:showSerName val="0"/>
          <c:showPercent val="0"/>
          <c:showBubbleSize val="0"/>
        </c:dLbls>
        <c:axId val="48650112"/>
        <c:axId val="48672768"/>
      </c:scatterChart>
      <c:valAx>
        <c:axId val="48650112"/>
        <c:scaling>
          <c:orientation val="minMax"/>
          <c:max val="30"/>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10"/>
      </c:valAx>
      <c:valAx>
        <c:axId val="48672768"/>
        <c:scaling>
          <c:orientation val="minMax"/>
          <c:max val="1.35"/>
          <c:min val="-0.2"/>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Amplitude (a.u.)</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majorUnit val="0.5"/>
      </c:valAx>
      <c:spPr>
        <a:noFill/>
      </c:spPr>
    </c:plotArea>
    <c:plotVisOnly val="1"/>
    <c:dispBlanksAs val="gap"/>
    <c:showDLblsOverMax val="0"/>
    <c:extLst>
      <c:ext uri="{0b15fc19-7d7d-44ad-8c2d-2c3a37ce22c3}">
        <chartProps xmlns="https://web.wps.cn/et/2018/main" chartId="{10053f76-d93b-40a9-9923-580493463c82}"/>
      </c:ext>
    </c:extLst>
  </c:chart>
  <c:spPr>
    <a:noFill/>
    <a:ln w="0">
      <a:noFill/>
    </a:ln>
  </c:spPr>
  <c:txPr>
    <a:bodyPr/>
    <a:lstStyle/>
    <a:p>
      <a:pPr>
        <a:defRPr lang="zh-CN"/>
      </a:pPr>
      <a:endParaRPr lang="zh-CN"/>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Interval RMSE</c:f>
              <c:strCache>
                <c:ptCount val="1"/>
                <c:pt idx="0">
                  <c:v>Interval RMSE</c:v>
                </c:pt>
              </c:strCache>
            </c:strRef>
          </c:tx>
          <c:spPr>
            <a:solidFill>
              <a:srgbClr val="087E8B"/>
            </a:solidFill>
          </c:spPr>
          <c:invertIfNegative val="0"/>
          <c:dLbls>
            <c:dLbl>
              <c:idx val="0"/>
              <c:tx>
                <c:rich>
                  <a:bodyPr/>
                  <a:lstStyle/>
                  <a:p>
                    <a:r>
                      <a:rPr lang="en-US" altLang="zh-CN" sz="1800" b="1"/>
                      <a:t>35.2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798-4D77-8EE3-4D88FD246828}"/>
                </c:ext>
              </c:extLst>
            </c:dLbl>
            <c:dLbl>
              <c:idx val="1"/>
              <c:tx>
                <c:rich>
                  <a:bodyPr/>
                  <a:lstStyle/>
                  <a:p>
                    <a:r>
                      <a:rPr lang="en-US" altLang="zh-CN" sz="1800" b="1"/>
                      <a:t>19.2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798-4D77-8EE3-4D88FD246828}"/>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Aboy++ inspired</c:v>
                </c:pt>
                <c:pt idx="1">
                  <c:v>MSPTDfast port</c:v>
                </c:pt>
              </c:strCache>
            </c:strRef>
          </c:cat>
          <c:val>
            <c:numRef>
              <c:f>'Chart Data'!$B$2:$B$3</c:f>
              <c:numCache>
                <c:formatCode>0.0</c:formatCode>
                <c:ptCount val="2"/>
                <c:pt idx="0">
                  <c:v>35.200000000000003</c:v>
                </c:pt>
                <c:pt idx="1">
                  <c:v>19.2</c:v>
                </c:pt>
              </c:numCache>
            </c:numRef>
          </c:val>
          <c:extLst>
            <c:ext xmlns:c16="http://schemas.microsoft.com/office/drawing/2014/chart" uri="{C3380CC4-5D6E-409C-BE32-E72D297353CC}">
              <c16:uniqueId val="{00000002-7798-4D77-8EE3-4D88FD246828}"/>
            </c:ext>
          </c:extLst>
        </c:ser>
        <c:dLbls>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425" b="0" i="0" u="none" strike="noStrike" kern="1200" baseline="0">
                <a:solidFill>
                  <a:srgbClr val="152C3F"/>
                </a:solidFill>
                <a:latin typeface="DejaVu Sans" panose="020B0603030804020204"/>
                <a:ea typeface="DejaVu Sans" panose="020B0603030804020204"/>
                <a:cs typeface="DejaVu Sans" panose="020B0603030804020204"/>
              </a:defRPr>
            </a:pPr>
            <a:endParaRPr lang="zh-CN"/>
          </a:p>
        </c:txPr>
        <c:crossAx val="48672768"/>
        <c:crosses val="autoZero"/>
        <c:auto val="1"/>
        <c:lblAlgn val="ctr"/>
        <c:lblOffset val="100"/>
        <c:noMultiLvlLbl val="0"/>
      </c:catAx>
      <c:valAx>
        <c:axId val="48672768"/>
        <c:scaling>
          <c:orientation val="minMax"/>
          <c:max val="45"/>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Median interval RMSE (ms)</a:t>
                </a:r>
              </a:p>
            </c:rich>
          </c:tx>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75"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between"/>
        <c:majorUnit val="15"/>
      </c:valAx>
      <c:spPr>
        <a:solidFill>
          <a:srgbClr val="FFFFFF"/>
        </a:solidFill>
      </c:spPr>
    </c:plotArea>
    <c:plotVisOnly val="1"/>
    <c:dispBlanksAs val="gap"/>
    <c:showDLblsOverMax val="0"/>
    <c:extLst>
      <c:ext uri="{0b15fc19-7d7d-44ad-8c2d-2c3a37ce22c3}">
        <chartProps xmlns="https://web.wps.cn/et/2018/main" chartId="{0d83d205-8faa-4ea1-a7f2-40d9b1d15361}"/>
      </c:ext>
    </c:extLst>
  </c:chart>
  <c:spPr>
    <a:solidFill>
      <a:srgbClr val="FFFFFF"/>
    </a:solidFill>
    <a:ln w="0">
      <a:noFill/>
    </a:ln>
  </c:spPr>
  <c:txPr>
    <a:bodyPr/>
    <a:lstStyle/>
    <a:p>
      <a:pPr>
        <a:defRPr lang="zh-CN"/>
      </a:pPr>
      <a:endParaRPr lang="zh-CN"/>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Execution time</c:f>
              <c:strCache>
                <c:ptCount val="1"/>
                <c:pt idx="0">
                  <c:v>Execution time</c:v>
                </c:pt>
              </c:strCache>
            </c:strRef>
          </c:tx>
          <c:spPr>
            <a:solidFill>
              <a:srgbClr val="7056A8"/>
            </a:solidFill>
          </c:spPr>
          <c:invertIfNegative val="0"/>
          <c:cat>
            <c:strRef>
              <c:f>'Chart Data'!$A$2:$A$3</c:f>
              <c:strCache>
                <c:ptCount val="2"/>
                <c:pt idx="0">
                  <c:v>Aboy++ inspired</c:v>
                </c:pt>
                <c:pt idx="1">
                  <c:v>MSPTDfast port</c:v>
                </c:pt>
              </c:strCache>
            </c:strRef>
          </c:cat>
          <c:val>
            <c:numRef>
              <c:f>'Chart Data'!$B$2:$B$3</c:f>
              <c:numCache>
                <c:formatCode>0.000</c:formatCode>
                <c:ptCount val="2"/>
                <c:pt idx="0">
                  <c:v>3.1E-2</c:v>
                </c:pt>
                <c:pt idx="1">
                  <c:v>6.0000000000000001E-3</c:v>
                </c:pt>
              </c:numCache>
            </c:numRef>
          </c:val>
          <c:extLst>
            <c:ext xmlns:c16="http://schemas.microsoft.com/office/drawing/2014/chart" uri="{C3380CC4-5D6E-409C-BE32-E72D297353CC}">
              <c16:uniqueId val="{00000000-FAE2-4A8B-88AE-AEA7724E7666}"/>
            </c:ext>
          </c:extLst>
        </c:ser>
        <c:dLbls>
          <c:showLegendKey val="0"/>
          <c:showVal val="0"/>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425" b="0" i="0" u="none" strike="noStrike" kern="1200" baseline="0">
                <a:solidFill>
                  <a:srgbClr val="152C3F"/>
                </a:solidFill>
                <a:latin typeface="DejaVu Sans" panose="020B0603030804020204"/>
                <a:ea typeface="DejaVu Sans" panose="020B0603030804020204"/>
                <a:cs typeface="DejaVu Sans" panose="020B0603030804020204"/>
              </a:defRPr>
            </a:pPr>
            <a:endParaRPr lang="zh-CN"/>
          </a:p>
        </c:txPr>
        <c:crossAx val="48672768"/>
        <c:crosses val="autoZero"/>
        <c:auto val="1"/>
        <c:lblAlgn val="ctr"/>
        <c:lblOffset val="100"/>
        <c:noMultiLvlLbl val="0"/>
      </c:catAx>
      <c:valAx>
        <c:axId val="48672768"/>
        <c:scaling>
          <c:orientation val="minMax"/>
          <c:max val="0.04"/>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Median runtime (% of signal duration)</a:t>
                </a:r>
              </a:p>
            </c:rich>
          </c:tx>
          <c:overlay val="0"/>
        </c:title>
        <c:numFmt formatCode="0.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75"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between"/>
        <c:majorUnit val="0.01"/>
      </c:valAx>
      <c:spPr>
        <a:solidFill>
          <a:srgbClr val="FFFFFF"/>
        </a:solidFill>
      </c:spPr>
    </c:plotArea>
    <c:plotVisOnly val="1"/>
    <c:dispBlanksAs val="gap"/>
    <c:showDLblsOverMax val="0"/>
    <c:extLst>
      <c:ext uri="{0b15fc19-7d7d-44ad-8c2d-2c3a37ce22c3}">
        <chartProps xmlns="https://web.wps.cn/et/2018/main" chartId="{3e91ba7d-1538-4ba0-a11f-26662681e355}"/>
      </c:ext>
    </c:extLst>
  </c:chart>
  <c:spPr>
    <a:solidFill>
      <a:srgbClr val="FFFFFF"/>
    </a:solidFill>
    <a:ln w="0">
      <a:noFill/>
    </a:ln>
  </c:spPr>
  <c:txPr>
    <a:bodyPr/>
    <a:lstStyle/>
    <a:p>
      <a:pPr>
        <a:defRPr lang="zh-CN"/>
      </a:pPr>
      <a:endParaRPr lang="zh-CN"/>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PPI sequence</c:f>
              <c:strCache>
                <c:ptCount val="1"/>
                <c:pt idx="0">
                  <c:v>PPI sequence</c:v>
                </c:pt>
              </c:strCache>
            </c:strRef>
          </c:tx>
          <c:spPr>
            <a:ln w="23813" cap="rnd">
              <a:solidFill>
                <a:srgbClr val="087E8B"/>
              </a:solidFill>
              <a:prstDash val="solid"/>
              <a:round/>
            </a:ln>
          </c:spPr>
          <c:marker>
            <c:symbol val="circle"/>
            <c:size val="7"/>
            <c:spPr>
              <a:solidFill>
                <a:srgbClr val="087E8B"/>
              </a:solidFill>
            </c:spPr>
          </c:marker>
          <c:xVal>
            <c:numRef>
              <c:f>'Chart Data'!$A$2:$A$7</c:f>
              <c:numCache>
                <c:formatCode>General</c:formatCode>
                <c:ptCount val="6"/>
                <c:pt idx="0">
                  <c:v>1.1499999999999999</c:v>
                </c:pt>
                <c:pt idx="1">
                  <c:v>2.0499999999999998</c:v>
                </c:pt>
                <c:pt idx="2">
                  <c:v>2.8</c:v>
                </c:pt>
                <c:pt idx="3">
                  <c:v>3.65</c:v>
                </c:pt>
                <c:pt idx="4">
                  <c:v>4.45</c:v>
                </c:pt>
                <c:pt idx="5">
                  <c:v>5.4</c:v>
                </c:pt>
              </c:numCache>
            </c:numRef>
          </c:xVal>
          <c:yVal>
            <c:numRef>
              <c:f>'Chart Data'!$B$2:$B$7</c:f>
              <c:numCache>
                <c:formatCode>0</c:formatCode>
                <c:ptCount val="6"/>
                <c:pt idx="0">
                  <c:v>800</c:v>
                </c:pt>
                <c:pt idx="1">
                  <c:v>900</c:v>
                </c:pt>
                <c:pt idx="2">
                  <c:v>750</c:v>
                </c:pt>
                <c:pt idx="3">
                  <c:v>850</c:v>
                </c:pt>
                <c:pt idx="4">
                  <c:v>800</c:v>
                </c:pt>
                <c:pt idx="5">
                  <c:v>950</c:v>
                </c:pt>
              </c:numCache>
            </c:numRef>
          </c:yVal>
          <c:smooth val="1"/>
          <c:extLst>
            <c:ext xmlns:c16="http://schemas.microsoft.com/office/drawing/2014/chart" uri="{C3380CC4-5D6E-409C-BE32-E72D297353CC}">
              <c16:uniqueId val="{00000000-A324-4976-A290-EA67B4F764DB}"/>
            </c:ext>
          </c:extLst>
        </c:ser>
        <c:dLbls>
          <c:showLegendKey val="0"/>
          <c:showVal val="0"/>
          <c:showCatName val="0"/>
          <c:showSerName val="0"/>
          <c:showPercent val="0"/>
          <c:showBubbleSize val="0"/>
        </c:dLbls>
        <c:axId val="48650112"/>
        <c:axId val="48672768"/>
      </c:scatterChart>
      <c:valAx>
        <c:axId val="48650112"/>
        <c:scaling>
          <c:orientation val="minMax"/>
          <c:max val="6"/>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of second peak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1"/>
      </c:valAx>
      <c:valAx>
        <c:axId val="48672768"/>
        <c:scaling>
          <c:orientation val="minMax"/>
          <c:max val="1000"/>
          <c:min val="70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PPI (ms)</a:t>
                </a:r>
              </a:p>
            </c:rich>
          </c:tx>
          <c:overlay val="0"/>
        </c:title>
        <c:numFmt formatCode="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majorUnit val="100"/>
      </c:valAx>
      <c:spPr>
        <a:solidFill>
          <a:srgbClr val="FFFFFF"/>
        </a:solidFill>
      </c:spPr>
    </c:plotArea>
    <c:plotVisOnly val="1"/>
    <c:dispBlanksAs val="gap"/>
    <c:showDLblsOverMax val="0"/>
    <c:extLst>
      <c:ext uri="{0b15fc19-7d7d-44ad-8c2d-2c3a37ce22c3}">
        <chartProps xmlns="https://web.wps.cn/et/2018/main" chartId="{11a05852-0c62-4ca7-a445-3c9640f08897}"/>
      </c:ext>
    </c:extLst>
  </c:chart>
  <c:spPr>
    <a:solidFill>
      <a:srgbClr val="FFFFFF"/>
    </a:solidFill>
    <a:ln w="0">
      <a:noFill/>
    </a:ln>
  </c:spPr>
  <c:txPr>
    <a:bodyPr/>
    <a:lstStyle/>
    <a:p>
      <a:pPr>
        <a:defRPr lang="zh-CN"/>
      </a:pPr>
      <a:endParaRPr lang="zh-CN"/>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Conceptual beat</c:f>
              <c:strCache>
                <c:ptCount val="1"/>
                <c:pt idx="0">
                  <c:v>Conceptual beat</c:v>
                </c:pt>
              </c:strCache>
            </c:strRef>
          </c:tx>
          <c:spPr>
            <a:ln w="23813" cap="rnd">
              <a:solidFill>
                <a:srgbClr val="087E8B"/>
              </a:solidFill>
              <a:prstDash val="solid"/>
              <a:round/>
            </a:ln>
          </c:spPr>
          <c:marker>
            <c:symbol val="none"/>
          </c:marker>
          <c:xVal>
            <c:numRef>
              <c:f>'Chart Data'!$A$2:$A$102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Data'!$B$2:$B$102</c:f>
              <c:numCache>
                <c:formatCode>0.0</c:formatCode>
                <c:ptCount val="101"/>
                <c:pt idx="0">
                  <c:v>0</c:v>
                </c:pt>
                <c:pt idx="1">
                  <c:v>1.3768000000000001E-2</c:v>
                </c:pt>
                <c:pt idx="2">
                  <c:v>5.0569999999999997E-2</c:v>
                </c:pt>
                <c:pt idx="3">
                  <c:v>0.104086</c:v>
                </c:pt>
                <c:pt idx="4">
                  <c:v>0.16911200000000001</c:v>
                </c:pt>
                <c:pt idx="5">
                  <c:v>0.241397</c:v>
                </c:pt>
                <c:pt idx="6">
                  <c:v>0.31750400000000001</c:v>
                </c:pt>
                <c:pt idx="7">
                  <c:v>0.39468199999999998</c:v>
                </c:pt>
                <c:pt idx="8">
                  <c:v>0.47076600000000002</c:v>
                </c:pt>
                <c:pt idx="9">
                  <c:v>0.54408000000000001</c:v>
                </c:pt>
                <c:pt idx="10">
                  <c:v>0.61335799999999996</c:v>
                </c:pt>
                <c:pt idx="11">
                  <c:v>0.677678</c:v>
                </c:pt>
                <c:pt idx="12">
                  <c:v>0.73640099999999997</c:v>
                </c:pt>
                <c:pt idx="13">
                  <c:v>0.78912199999999999</c:v>
                </c:pt>
                <c:pt idx="14">
                  <c:v>0.83562499999999995</c:v>
                </c:pt>
                <c:pt idx="15">
                  <c:v>0.87584799999999996</c:v>
                </c:pt>
                <c:pt idx="16">
                  <c:v>0.90985199999999999</c:v>
                </c:pt>
                <c:pt idx="17">
                  <c:v>0.93779299999999999</c:v>
                </c:pt>
                <c:pt idx="18">
                  <c:v>0.95989999999999998</c:v>
                </c:pt>
                <c:pt idx="19">
                  <c:v>0.97645999999999999</c:v>
                </c:pt>
                <c:pt idx="20">
                  <c:v>0.98779600000000001</c:v>
                </c:pt>
                <c:pt idx="21">
                  <c:v>0.994259</c:v>
                </c:pt>
                <c:pt idx="22">
                  <c:v>0.99621499999999996</c:v>
                </c:pt>
                <c:pt idx="23">
                  <c:v>0.99404000000000003</c:v>
                </c:pt>
                <c:pt idx="24">
                  <c:v>0.98810600000000004</c:v>
                </c:pt>
                <c:pt idx="25">
                  <c:v>0.97878299999999996</c:v>
                </c:pt>
                <c:pt idx="26">
                  <c:v>0.96643100000000004</c:v>
                </c:pt>
                <c:pt idx="27">
                  <c:v>0.95139399999999996</c:v>
                </c:pt>
                <c:pt idx="28">
                  <c:v>0.93400399999999995</c:v>
                </c:pt>
                <c:pt idx="29">
                  <c:v>0.914574</c:v>
                </c:pt>
                <c:pt idx="30">
                  <c:v>0.89339800000000003</c:v>
                </c:pt>
                <c:pt idx="31">
                  <c:v>0.87075199999999997</c:v>
                </c:pt>
                <c:pt idx="32">
                  <c:v>0.84689099999999995</c:v>
                </c:pt>
                <c:pt idx="33">
                  <c:v>0.822052</c:v>
                </c:pt>
                <c:pt idx="34">
                  <c:v>0.79645100000000002</c:v>
                </c:pt>
                <c:pt idx="35">
                  <c:v>0.77028600000000003</c:v>
                </c:pt>
                <c:pt idx="36">
                  <c:v>0.74373800000000001</c:v>
                </c:pt>
                <c:pt idx="37">
                  <c:v>0.71696800000000005</c:v>
                </c:pt>
                <c:pt idx="38">
                  <c:v>0.69012300000000004</c:v>
                </c:pt>
                <c:pt idx="39">
                  <c:v>0.66333200000000003</c:v>
                </c:pt>
                <c:pt idx="40">
                  <c:v>0.63671100000000003</c:v>
                </c:pt>
                <c:pt idx="41">
                  <c:v>0.61036199999999996</c:v>
                </c:pt>
                <c:pt idx="42">
                  <c:v>0.58437300000000003</c:v>
                </c:pt>
                <c:pt idx="43">
                  <c:v>0.55882100000000001</c:v>
                </c:pt>
                <c:pt idx="44">
                  <c:v>0.53377200000000002</c:v>
                </c:pt>
                <c:pt idx="45">
                  <c:v>0.50928099999999998</c:v>
                </c:pt>
                <c:pt idx="46">
                  <c:v>0.48539500000000002</c:v>
                </c:pt>
                <c:pt idx="47">
                  <c:v>0.46215200000000001</c:v>
                </c:pt>
                <c:pt idx="48">
                  <c:v>0.43958199999999997</c:v>
                </c:pt>
                <c:pt idx="49">
                  <c:v>0.417709</c:v>
                </c:pt>
                <c:pt idx="50">
                  <c:v>0.39655000000000001</c:v>
                </c:pt>
                <c:pt idx="51">
                  <c:v>0.37611600000000001</c:v>
                </c:pt>
                <c:pt idx="52">
                  <c:v>0.35641499999999998</c:v>
                </c:pt>
                <c:pt idx="53">
                  <c:v>0.33744800000000003</c:v>
                </c:pt>
                <c:pt idx="54">
                  <c:v>0.319214</c:v>
                </c:pt>
                <c:pt idx="55">
                  <c:v>0.301707</c:v>
                </c:pt>
                <c:pt idx="56">
                  <c:v>0.28492099999999998</c:v>
                </c:pt>
                <c:pt idx="57">
                  <c:v>0.26884400000000003</c:v>
                </c:pt>
                <c:pt idx="58">
                  <c:v>0.25346299999999999</c:v>
                </c:pt>
                <c:pt idx="59">
                  <c:v>0.238764</c:v>
                </c:pt>
                <c:pt idx="60">
                  <c:v>0.22473199999999999</c:v>
                </c:pt>
                <c:pt idx="61">
                  <c:v>0.21134800000000001</c:v>
                </c:pt>
                <c:pt idx="62">
                  <c:v>0.19859399999999999</c:v>
                </c:pt>
                <c:pt idx="63">
                  <c:v>0.18645</c:v>
                </c:pt>
                <c:pt idx="64">
                  <c:v>0.174898</c:v>
                </c:pt>
                <c:pt idx="65">
                  <c:v>0.16391700000000001</c:v>
                </c:pt>
                <c:pt idx="66">
                  <c:v>0.15348700000000001</c:v>
                </c:pt>
                <c:pt idx="67">
                  <c:v>0.14358599999999999</c:v>
                </c:pt>
                <c:pt idx="68">
                  <c:v>0.13419400000000001</c:v>
                </c:pt>
                <c:pt idx="69">
                  <c:v>0.12529100000000001</c:v>
                </c:pt>
                <c:pt idx="70">
                  <c:v>0.116856</c:v>
                </c:pt>
                <c:pt idx="71">
                  <c:v>0.10886999999999999</c:v>
                </c:pt>
                <c:pt idx="72">
                  <c:v>0.101312</c:v>
                </c:pt>
                <c:pt idx="73">
                  <c:v>9.4162999999999997E-2</c:v>
                </c:pt>
                <c:pt idx="74">
                  <c:v>8.7404999999999997E-2</c:v>
                </c:pt>
                <c:pt idx="75">
                  <c:v>8.1019999999999995E-2</c:v>
                </c:pt>
                <c:pt idx="76">
                  <c:v>7.4987999999999999E-2</c:v>
                </c:pt>
                <c:pt idx="77">
                  <c:v>6.9292999999999993E-2</c:v>
                </c:pt>
                <c:pt idx="78">
                  <c:v>6.3919000000000004E-2</c:v>
                </c:pt>
                <c:pt idx="79">
                  <c:v>5.8848999999999999E-2</c:v>
                </c:pt>
                <c:pt idx="80">
                  <c:v>5.4066999999999997E-2</c:v>
                </c:pt>
                <c:pt idx="81">
                  <c:v>4.9557999999999998E-2</c:v>
                </c:pt>
                <c:pt idx="82">
                  <c:v>4.5309000000000002E-2</c:v>
                </c:pt>
                <c:pt idx="83">
                  <c:v>4.1305000000000001E-2</c:v>
                </c:pt>
                <c:pt idx="84">
                  <c:v>3.7532999999999997E-2</c:v>
                </c:pt>
                <c:pt idx="85">
                  <c:v>3.3980999999999997E-2</c:v>
                </c:pt>
                <c:pt idx="86">
                  <c:v>3.0636E-2</c:v>
                </c:pt>
                <c:pt idx="87">
                  <c:v>2.7486E-2</c:v>
                </c:pt>
                <c:pt idx="88">
                  <c:v>2.4521000000000001E-2</c:v>
                </c:pt>
                <c:pt idx="89">
                  <c:v>2.1729999999999999E-2</c:v>
                </c:pt>
                <c:pt idx="90">
                  <c:v>1.9103999999999999E-2</c:v>
                </c:pt>
                <c:pt idx="91">
                  <c:v>1.6632000000000001E-2</c:v>
                </c:pt>
                <c:pt idx="92">
                  <c:v>1.4305999999999999E-2</c:v>
                </c:pt>
                <c:pt idx="93">
                  <c:v>1.2116999999999999E-2</c:v>
                </c:pt>
                <c:pt idx="94">
                  <c:v>1.0056000000000001E-2</c:v>
                </c:pt>
                <c:pt idx="95">
                  <c:v>8.1169999999999992E-3</c:v>
                </c:pt>
                <c:pt idx="96">
                  <c:v>6.2919999999999998E-3</c:v>
                </c:pt>
                <c:pt idx="97">
                  <c:v>4.5750000000000001E-3</c:v>
                </c:pt>
                <c:pt idx="98">
                  <c:v>2.957E-3</c:v>
                </c:pt>
                <c:pt idx="99">
                  <c:v>1.4339999999999999E-3</c:v>
                </c:pt>
                <c:pt idx="100">
                  <c:v>0</c:v>
                </c:pt>
              </c:numCache>
            </c:numRef>
          </c:yVal>
          <c:smooth val="1"/>
          <c:extLst>
            <c:ext xmlns:c16="http://schemas.microsoft.com/office/drawing/2014/chart" uri="{C3380CC4-5D6E-409C-BE32-E72D297353CC}">
              <c16:uniqueId val="{00000000-E890-4F04-BCA6-FAE042E9120F}"/>
            </c:ext>
          </c:extLst>
        </c:ser>
        <c:ser>
          <c:idx val="1"/>
          <c:order val="1"/>
          <c:tx>
            <c:strRef>
              <c:f>Amplitude</c:f>
              <c:strCache>
                <c:ptCount val="1"/>
                <c:pt idx="0">
                  <c:v>Amplitude</c:v>
                </c:pt>
              </c:strCache>
            </c:strRef>
          </c:tx>
          <c:spPr>
            <a:ln w="16193" cap="rnd">
              <a:solidFill>
                <a:srgbClr val="B96D20"/>
              </a:solidFill>
              <a:prstDash val="solid"/>
              <a:round/>
            </a:ln>
          </c:spPr>
          <c:marker>
            <c:symbol val="none"/>
          </c:marker>
          <c:xVal>
            <c:numRef>
              <c:f>'Chart Data'!$C$2:$C$3</c:f>
              <c:numCache>
                <c:formatCode>General</c:formatCode>
                <c:ptCount val="2"/>
                <c:pt idx="0">
                  <c:v>0.22</c:v>
                </c:pt>
                <c:pt idx="1">
                  <c:v>0.22</c:v>
                </c:pt>
              </c:numCache>
            </c:numRef>
          </c:xVal>
          <c:yVal>
            <c:numRef>
              <c:f>'Chart Data'!$D$2:$D$3</c:f>
              <c:numCache>
                <c:formatCode>0.0</c:formatCode>
                <c:ptCount val="2"/>
                <c:pt idx="0">
                  <c:v>0</c:v>
                </c:pt>
                <c:pt idx="1">
                  <c:v>0.99621499999999996</c:v>
                </c:pt>
              </c:numCache>
            </c:numRef>
          </c:yVal>
          <c:smooth val="1"/>
          <c:extLst>
            <c:ext xmlns:c16="http://schemas.microsoft.com/office/drawing/2014/chart" uri="{C3380CC4-5D6E-409C-BE32-E72D297353CC}">
              <c16:uniqueId val="{00000001-E890-4F04-BCA6-FAE042E9120F}"/>
            </c:ext>
          </c:extLst>
        </c:ser>
        <c:ser>
          <c:idx val="2"/>
          <c:order val="2"/>
          <c:tx>
            <c:strRef>
              <c:f>Half-height width</c:f>
              <c:strCache>
                <c:ptCount val="1"/>
                <c:pt idx="0">
                  <c:v>Half-height width</c:v>
                </c:pt>
              </c:strCache>
            </c:strRef>
          </c:tx>
          <c:spPr>
            <a:ln w="28575" cap="rnd">
              <a:solidFill>
                <a:srgbClr val="7056A8"/>
              </a:solidFill>
              <a:prstDash val="solid"/>
              <a:round/>
            </a:ln>
          </c:spPr>
          <c:marker>
            <c:symbol val="none"/>
          </c:marker>
          <c:xVal>
            <c:numRef>
              <c:f>'Chart Data'!$E$2:$E$3</c:f>
              <c:numCache>
                <c:formatCode>General</c:formatCode>
                <c:ptCount val="2"/>
                <c:pt idx="0">
                  <c:v>0.09</c:v>
                </c:pt>
                <c:pt idx="1">
                  <c:v>0.46</c:v>
                </c:pt>
              </c:numCache>
            </c:numRef>
          </c:xVal>
          <c:yVal>
            <c:numRef>
              <c:f>'Chart Data'!$F$2:$F$3</c:f>
              <c:numCache>
                <c:formatCode>0.0</c:formatCode>
                <c:ptCount val="2"/>
                <c:pt idx="0">
                  <c:v>0.498108</c:v>
                </c:pt>
                <c:pt idx="1">
                  <c:v>0.498108</c:v>
                </c:pt>
              </c:numCache>
            </c:numRef>
          </c:yVal>
          <c:smooth val="1"/>
          <c:extLst>
            <c:ext xmlns:c16="http://schemas.microsoft.com/office/drawing/2014/chart" uri="{C3380CC4-5D6E-409C-BE32-E72D297353CC}">
              <c16:uniqueId val="{00000002-E890-4F04-BCA6-FAE042E9120F}"/>
            </c:ext>
          </c:extLst>
        </c:ser>
        <c:ser>
          <c:idx val="3"/>
          <c:order val="3"/>
          <c:tx>
            <c:strRef>
              <c:f>Valley and peak</c:f>
              <c:strCache>
                <c:ptCount val="1"/>
                <c:pt idx="0">
                  <c:v>Valley and peak</c:v>
                </c:pt>
              </c:strCache>
            </c:strRef>
          </c:tx>
          <c:spPr>
            <a:ln w="0" cap="rnd">
              <a:solidFill>
                <a:srgbClr val="B96D20"/>
              </a:solidFill>
              <a:prstDash val="solid"/>
              <a:round/>
            </a:ln>
          </c:spPr>
          <c:marker>
            <c:symbol val="circle"/>
            <c:size val="7"/>
            <c:spPr>
              <a:solidFill>
                <a:srgbClr val="B96D20"/>
              </a:solidFill>
            </c:spPr>
          </c:marker>
          <c:xVal>
            <c:numRef>
              <c:f>'Chart Data'!$G$2:$G$4</c:f>
              <c:numCache>
                <c:formatCode>General</c:formatCode>
                <c:ptCount val="3"/>
                <c:pt idx="0">
                  <c:v>0</c:v>
                </c:pt>
                <c:pt idx="1">
                  <c:v>0.22</c:v>
                </c:pt>
                <c:pt idx="2">
                  <c:v>1</c:v>
                </c:pt>
              </c:numCache>
            </c:numRef>
          </c:xVal>
          <c:yVal>
            <c:numRef>
              <c:f>'Chart Data'!$H$2:$H$4</c:f>
              <c:numCache>
                <c:formatCode>0.0</c:formatCode>
                <c:ptCount val="3"/>
                <c:pt idx="0">
                  <c:v>0</c:v>
                </c:pt>
                <c:pt idx="1">
                  <c:v>0.99621499999999996</c:v>
                </c:pt>
                <c:pt idx="2">
                  <c:v>0</c:v>
                </c:pt>
              </c:numCache>
            </c:numRef>
          </c:yVal>
          <c:smooth val="1"/>
          <c:extLst>
            <c:ext xmlns:c16="http://schemas.microsoft.com/office/drawing/2014/chart" uri="{C3380CC4-5D6E-409C-BE32-E72D297353CC}">
              <c16:uniqueId val="{00000003-E890-4F04-BCA6-FAE042E9120F}"/>
            </c:ext>
          </c:extLst>
        </c:ser>
        <c:dLbls>
          <c:showLegendKey val="0"/>
          <c:showVal val="0"/>
          <c:showCatName val="0"/>
          <c:showSerName val="0"/>
          <c:showPercent val="0"/>
          <c:showBubbleSize val="0"/>
        </c:dLbls>
        <c:axId val="48650112"/>
        <c:axId val="48672768"/>
      </c:scatterChart>
      <c:valAx>
        <c:axId val="48650112"/>
        <c:scaling>
          <c:orientation val="minMax"/>
          <c:max val="1"/>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0.25"/>
      </c:valAx>
      <c:valAx>
        <c:axId val="48672768"/>
        <c:scaling>
          <c:orientation val="minMax"/>
          <c:max val="1.2"/>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Baseline-corrected amplitude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0275b9f5-0db1-4a94-8736-82e78ca8feeb}"/>
      </c:ext>
    </c:extLst>
  </c:chart>
  <c:spPr>
    <a:solidFill>
      <a:srgbClr val="FFFFFF"/>
    </a:solidFill>
    <a:ln w="0">
      <a:noFill/>
    </a:ln>
  </c:spPr>
  <c:txPr>
    <a:bodyPr/>
    <a:lstStyle/>
    <a:p>
      <a:pPr>
        <a:defRPr lang="zh-CN"/>
      </a:pPr>
      <a:endParaRPr lang="zh-CN"/>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PPG schematic</c:f>
              <c:strCache>
                <c:ptCount val="1"/>
                <c:pt idx="0">
                  <c:v>PPG schematic</c:v>
                </c:pt>
              </c:strCache>
            </c:strRef>
          </c:tx>
          <c:spPr>
            <a:ln w="23813" cap="rnd">
              <a:solidFill>
                <a:srgbClr val="087E8B"/>
              </a:solidFill>
              <a:prstDash val="solid"/>
              <a:round/>
            </a:ln>
          </c:spPr>
          <c:marker>
            <c:symbol val="none"/>
          </c:marker>
          <c:xVal>
            <c:numRef>
              <c:f>'Chart Data'!$A$2:$A$322</c:f>
              <c:numCache>
                <c:formatCode>General</c:formatCode>
                <c:ptCount val="321"/>
                <c:pt idx="0">
                  <c:v>0</c:v>
                </c:pt>
                <c:pt idx="1">
                  <c:v>3.125E-2</c:v>
                </c:pt>
                <c:pt idx="2">
                  <c:v>6.25E-2</c:v>
                </c:pt>
                <c:pt idx="3">
                  <c:v>9.375E-2</c:v>
                </c:pt>
                <c:pt idx="4">
                  <c:v>0.125</c:v>
                </c:pt>
                <c:pt idx="5">
                  <c:v>0.15625</c:v>
                </c:pt>
                <c:pt idx="6">
                  <c:v>0.1875</c:v>
                </c:pt>
                <c:pt idx="7">
                  <c:v>0.21875</c:v>
                </c:pt>
                <c:pt idx="8">
                  <c:v>0.25</c:v>
                </c:pt>
                <c:pt idx="9">
                  <c:v>0.28125</c:v>
                </c:pt>
                <c:pt idx="10">
                  <c:v>0.3125</c:v>
                </c:pt>
                <c:pt idx="11">
                  <c:v>0.34375</c:v>
                </c:pt>
                <c:pt idx="12">
                  <c:v>0.375</c:v>
                </c:pt>
                <c:pt idx="13">
                  <c:v>0.40625</c:v>
                </c:pt>
                <c:pt idx="14">
                  <c:v>0.4375</c:v>
                </c:pt>
                <c:pt idx="15">
                  <c:v>0.46875</c:v>
                </c:pt>
                <c:pt idx="16">
                  <c:v>0.5</c:v>
                </c:pt>
                <c:pt idx="17">
                  <c:v>0.53125</c:v>
                </c:pt>
                <c:pt idx="18">
                  <c:v>0.5625</c:v>
                </c:pt>
                <c:pt idx="19">
                  <c:v>0.59375</c:v>
                </c:pt>
                <c:pt idx="20">
                  <c:v>0.625</c:v>
                </c:pt>
                <c:pt idx="21">
                  <c:v>0.65625</c:v>
                </c:pt>
                <c:pt idx="22">
                  <c:v>0.6875</c:v>
                </c:pt>
                <c:pt idx="23">
                  <c:v>0.71875</c:v>
                </c:pt>
                <c:pt idx="24">
                  <c:v>0.75</c:v>
                </c:pt>
                <c:pt idx="25">
                  <c:v>0.78125</c:v>
                </c:pt>
                <c:pt idx="26">
                  <c:v>0.8125</c:v>
                </c:pt>
                <c:pt idx="27">
                  <c:v>0.84375</c:v>
                </c:pt>
                <c:pt idx="28">
                  <c:v>0.875</c:v>
                </c:pt>
                <c:pt idx="29">
                  <c:v>0.90625</c:v>
                </c:pt>
                <c:pt idx="30">
                  <c:v>0.9375</c:v>
                </c:pt>
                <c:pt idx="31">
                  <c:v>0.96875</c:v>
                </c:pt>
                <c:pt idx="32">
                  <c:v>1</c:v>
                </c:pt>
                <c:pt idx="33">
                  <c:v>1.03125</c:v>
                </c:pt>
                <c:pt idx="34">
                  <c:v>1.0625</c:v>
                </c:pt>
                <c:pt idx="35">
                  <c:v>1.09375</c:v>
                </c:pt>
                <c:pt idx="36">
                  <c:v>1.125</c:v>
                </c:pt>
                <c:pt idx="37">
                  <c:v>1.15625</c:v>
                </c:pt>
                <c:pt idx="38">
                  <c:v>1.1875</c:v>
                </c:pt>
                <c:pt idx="39">
                  <c:v>1.21875</c:v>
                </c:pt>
                <c:pt idx="40">
                  <c:v>1.25</c:v>
                </c:pt>
                <c:pt idx="41">
                  <c:v>1.28125</c:v>
                </c:pt>
                <c:pt idx="42">
                  <c:v>1.3125</c:v>
                </c:pt>
                <c:pt idx="43">
                  <c:v>1.34375</c:v>
                </c:pt>
                <c:pt idx="44">
                  <c:v>1.375</c:v>
                </c:pt>
                <c:pt idx="45">
                  <c:v>1.40625</c:v>
                </c:pt>
                <c:pt idx="46">
                  <c:v>1.4375</c:v>
                </c:pt>
                <c:pt idx="47">
                  <c:v>1.46875</c:v>
                </c:pt>
                <c:pt idx="48">
                  <c:v>1.5</c:v>
                </c:pt>
                <c:pt idx="49">
                  <c:v>1.53125</c:v>
                </c:pt>
                <c:pt idx="50">
                  <c:v>1.5625</c:v>
                </c:pt>
                <c:pt idx="51">
                  <c:v>1.59375</c:v>
                </c:pt>
                <c:pt idx="52">
                  <c:v>1.625</c:v>
                </c:pt>
                <c:pt idx="53">
                  <c:v>1.65625</c:v>
                </c:pt>
                <c:pt idx="54">
                  <c:v>1.6875</c:v>
                </c:pt>
                <c:pt idx="55">
                  <c:v>1.71875</c:v>
                </c:pt>
                <c:pt idx="56">
                  <c:v>1.75</c:v>
                </c:pt>
                <c:pt idx="57">
                  <c:v>1.78125</c:v>
                </c:pt>
                <c:pt idx="58">
                  <c:v>1.8125</c:v>
                </c:pt>
                <c:pt idx="59">
                  <c:v>1.84375</c:v>
                </c:pt>
                <c:pt idx="60">
                  <c:v>1.875</c:v>
                </c:pt>
                <c:pt idx="61">
                  <c:v>1.90625</c:v>
                </c:pt>
                <c:pt idx="62">
                  <c:v>1.9375</c:v>
                </c:pt>
                <c:pt idx="63">
                  <c:v>1.96875</c:v>
                </c:pt>
                <c:pt idx="64">
                  <c:v>2</c:v>
                </c:pt>
                <c:pt idx="65">
                  <c:v>2.03125</c:v>
                </c:pt>
                <c:pt idx="66">
                  <c:v>2.0625</c:v>
                </c:pt>
                <c:pt idx="67">
                  <c:v>2.09375</c:v>
                </c:pt>
                <c:pt idx="68">
                  <c:v>2.125</c:v>
                </c:pt>
                <c:pt idx="69">
                  <c:v>2.15625</c:v>
                </c:pt>
                <c:pt idx="70">
                  <c:v>2.1875</c:v>
                </c:pt>
                <c:pt idx="71">
                  <c:v>2.21875</c:v>
                </c:pt>
                <c:pt idx="72">
                  <c:v>2.25</c:v>
                </c:pt>
                <c:pt idx="73">
                  <c:v>2.28125</c:v>
                </c:pt>
                <c:pt idx="74">
                  <c:v>2.3125</c:v>
                </c:pt>
                <c:pt idx="75">
                  <c:v>2.34375</c:v>
                </c:pt>
                <c:pt idx="76">
                  <c:v>2.375</c:v>
                </c:pt>
                <c:pt idx="77">
                  <c:v>2.40625</c:v>
                </c:pt>
                <c:pt idx="78">
                  <c:v>2.4375</c:v>
                </c:pt>
                <c:pt idx="79">
                  <c:v>2.46875</c:v>
                </c:pt>
                <c:pt idx="80">
                  <c:v>2.5</c:v>
                </c:pt>
                <c:pt idx="81">
                  <c:v>2.53125</c:v>
                </c:pt>
                <c:pt idx="82">
                  <c:v>2.5625</c:v>
                </c:pt>
                <c:pt idx="83">
                  <c:v>2.59375</c:v>
                </c:pt>
                <c:pt idx="84">
                  <c:v>2.625</c:v>
                </c:pt>
                <c:pt idx="85">
                  <c:v>2.65625</c:v>
                </c:pt>
                <c:pt idx="86">
                  <c:v>2.6875</c:v>
                </c:pt>
                <c:pt idx="87">
                  <c:v>2.71875</c:v>
                </c:pt>
                <c:pt idx="88">
                  <c:v>2.75</c:v>
                </c:pt>
                <c:pt idx="89">
                  <c:v>2.78125</c:v>
                </c:pt>
                <c:pt idx="90">
                  <c:v>2.8125</c:v>
                </c:pt>
                <c:pt idx="91">
                  <c:v>2.84375</c:v>
                </c:pt>
                <c:pt idx="92">
                  <c:v>2.875</c:v>
                </c:pt>
                <c:pt idx="93">
                  <c:v>2.90625</c:v>
                </c:pt>
                <c:pt idx="94">
                  <c:v>2.9375</c:v>
                </c:pt>
                <c:pt idx="95">
                  <c:v>2.96875</c:v>
                </c:pt>
                <c:pt idx="96">
                  <c:v>3</c:v>
                </c:pt>
                <c:pt idx="97">
                  <c:v>3.03125</c:v>
                </c:pt>
                <c:pt idx="98">
                  <c:v>3.0625</c:v>
                </c:pt>
                <c:pt idx="99">
                  <c:v>3.09375</c:v>
                </c:pt>
                <c:pt idx="100">
                  <c:v>3.125</c:v>
                </c:pt>
                <c:pt idx="101">
                  <c:v>3.15625</c:v>
                </c:pt>
                <c:pt idx="102">
                  <c:v>3.1875</c:v>
                </c:pt>
                <c:pt idx="103">
                  <c:v>3.21875</c:v>
                </c:pt>
                <c:pt idx="104">
                  <c:v>3.25</c:v>
                </c:pt>
                <c:pt idx="105">
                  <c:v>3.28125</c:v>
                </c:pt>
                <c:pt idx="106">
                  <c:v>3.3125</c:v>
                </c:pt>
                <c:pt idx="107">
                  <c:v>3.34375</c:v>
                </c:pt>
                <c:pt idx="108">
                  <c:v>3.375</c:v>
                </c:pt>
                <c:pt idx="109">
                  <c:v>3.40625</c:v>
                </c:pt>
                <c:pt idx="110">
                  <c:v>3.4375</c:v>
                </c:pt>
                <c:pt idx="111">
                  <c:v>3.46875</c:v>
                </c:pt>
                <c:pt idx="112">
                  <c:v>3.5</c:v>
                </c:pt>
                <c:pt idx="113">
                  <c:v>3.53125</c:v>
                </c:pt>
                <c:pt idx="114">
                  <c:v>3.5625</c:v>
                </c:pt>
                <c:pt idx="115">
                  <c:v>3.59375</c:v>
                </c:pt>
                <c:pt idx="116">
                  <c:v>3.625</c:v>
                </c:pt>
                <c:pt idx="117">
                  <c:v>3.65625</c:v>
                </c:pt>
                <c:pt idx="118">
                  <c:v>3.6875</c:v>
                </c:pt>
                <c:pt idx="119">
                  <c:v>3.71875</c:v>
                </c:pt>
                <c:pt idx="120">
                  <c:v>3.75</c:v>
                </c:pt>
                <c:pt idx="121">
                  <c:v>3.78125</c:v>
                </c:pt>
                <c:pt idx="122">
                  <c:v>3.8125</c:v>
                </c:pt>
                <c:pt idx="123">
                  <c:v>3.84375</c:v>
                </c:pt>
                <c:pt idx="124">
                  <c:v>3.875</c:v>
                </c:pt>
                <c:pt idx="125">
                  <c:v>3.90625</c:v>
                </c:pt>
                <c:pt idx="126">
                  <c:v>3.9375</c:v>
                </c:pt>
                <c:pt idx="127">
                  <c:v>3.96875</c:v>
                </c:pt>
                <c:pt idx="128">
                  <c:v>4</c:v>
                </c:pt>
                <c:pt idx="129">
                  <c:v>4.03125</c:v>
                </c:pt>
                <c:pt idx="130">
                  <c:v>4.0625</c:v>
                </c:pt>
                <c:pt idx="131">
                  <c:v>4.09375</c:v>
                </c:pt>
                <c:pt idx="132">
                  <c:v>4.125</c:v>
                </c:pt>
                <c:pt idx="133">
                  <c:v>4.15625</c:v>
                </c:pt>
                <c:pt idx="134">
                  <c:v>4.1875</c:v>
                </c:pt>
                <c:pt idx="135">
                  <c:v>4.21875</c:v>
                </c:pt>
                <c:pt idx="136">
                  <c:v>4.25</c:v>
                </c:pt>
                <c:pt idx="137">
                  <c:v>4.28125</c:v>
                </c:pt>
                <c:pt idx="138">
                  <c:v>4.3125</c:v>
                </c:pt>
                <c:pt idx="139">
                  <c:v>4.34375</c:v>
                </c:pt>
                <c:pt idx="140">
                  <c:v>4.375</c:v>
                </c:pt>
                <c:pt idx="141">
                  <c:v>4.40625</c:v>
                </c:pt>
                <c:pt idx="142">
                  <c:v>4.4375</c:v>
                </c:pt>
                <c:pt idx="143">
                  <c:v>4.46875</c:v>
                </c:pt>
                <c:pt idx="144">
                  <c:v>4.5</c:v>
                </c:pt>
                <c:pt idx="145">
                  <c:v>4.53125</c:v>
                </c:pt>
                <c:pt idx="146">
                  <c:v>4.5625</c:v>
                </c:pt>
                <c:pt idx="147">
                  <c:v>4.59375</c:v>
                </c:pt>
                <c:pt idx="148">
                  <c:v>4.625</c:v>
                </c:pt>
                <c:pt idx="149">
                  <c:v>4.65625</c:v>
                </c:pt>
                <c:pt idx="150">
                  <c:v>4.6875</c:v>
                </c:pt>
                <c:pt idx="151">
                  <c:v>4.71875</c:v>
                </c:pt>
                <c:pt idx="152">
                  <c:v>4.75</c:v>
                </c:pt>
                <c:pt idx="153">
                  <c:v>4.78125</c:v>
                </c:pt>
                <c:pt idx="154">
                  <c:v>4.8125</c:v>
                </c:pt>
                <c:pt idx="155">
                  <c:v>4.84375</c:v>
                </c:pt>
                <c:pt idx="156">
                  <c:v>4.875</c:v>
                </c:pt>
                <c:pt idx="157">
                  <c:v>4.90625</c:v>
                </c:pt>
                <c:pt idx="158">
                  <c:v>4.9375</c:v>
                </c:pt>
                <c:pt idx="159">
                  <c:v>4.96875</c:v>
                </c:pt>
                <c:pt idx="160">
                  <c:v>5</c:v>
                </c:pt>
                <c:pt idx="161">
                  <c:v>5.03125</c:v>
                </c:pt>
                <c:pt idx="162">
                  <c:v>5.0625</c:v>
                </c:pt>
                <c:pt idx="163">
                  <c:v>5.09375</c:v>
                </c:pt>
                <c:pt idx="164">
                  <c:v>5.125</c:v>
                </c:pt>
                <c:pt idx="165">
                  <c:v>5.15625</c:v>
                </c:pt>
                <c:pt idx="166">
                  <c:v>5.1875</c:v>
                </c:pt>
                <c:pt idx="167">
                  <c:v>5.21875</c:v>
                </c:pt>
                <c:pt idx="168">
                  <c:v>5.25</c:v>
                </c:pt>
                <c:pt idx="169">
                  <c:v>5.28125</c:v>
                </c:pt>
                <c:pt idx="170">
                  <c:v>5.3125</c:v>
                </c:pt>
                <c:pt idx="171">
                  <c:v>5.34375</c:v>
                </c:pt>
                <c:pt idx="172">
                  <c:v>5.375</c:v>
                </c:pt>
                <c:pt idx="173">
                  <c:v>5.40625</c:v>
                </c:pt>
                <c:pt idx="174">
                  <c:v>5.4375</c:v>
                </c:pt>
                <c:pt idx="175">
                  <c:v>5.46875</c:v>
                </c:pt>
                <c:pt idx="176">
                  <c:v>5.5</c:v>
                </c:pt>
                <c:pt idx="177">
                  <c:v>5.53125</c:v>
                </c:pt>
                <c:pt idx="178">
                  <c:v>5.5625</c:v>
                </c:pt>
                <c:pt idx="179">
                  <c:v>5.59375</c:v>
                </c:pt>
                <c:pt idx="180">
                  <c:v>5.625</c:v>
                </c:pt>
                <c:pt idx="181">
                  <c:v>5.65625</c:v>
                </c:pt>
                <c:pt idx="182">
                  <c:v>5.6875</c:v>
                </c:pt>
                <c:pt idx="183">
                  <c:v>5.71875</c:v>
                </c:pt>
                <c:pt idx="184">
                  <c:v>5.75</c:v>
                </c:pt>
                <c:pt idx="185">
                  <c:v>5.78125</c:v>
                </c:pt>
                <c:pt idx="186">
                  <c:v>5.8125</c:v>
                </c:pt>
                <c:pt idx="187">
                  <c:v>5.84375</c:v>
                </c:pt>
                <c:pt idx="188">
                  <c:v>5.875</c:v>
                </c:pt>
                <c:pt idx="189">
                  <c:v>5.90625</c:v>
                </c:pt>
                <c:pt idx="190">
                  <c:v>5.9375</c:v>
                </c:pt>
                <c:pt idx="191">
                  <c:v>5.96875</c:v>
                </c:pt>
                <c:pt idx="192">
                  <c:v>6</c:v>
                </c:pt>
                <c:pt idx="193">
                  <c:v>6.03125</c:v>
                </c:pt>
                <c:pt idx="194">
                  <c:v>6.0625</c:v>
                </c:pt>
                <c:pt idx="195">
                  <c:v>6.09375</c:v>
                </c:pt>
                <c:pt idx="196">
                  <c:v>6.125</c:v>
                </c:pt>
                <c:pt idx="197">
                  <c:v>6.15625</c:v>
                </c:pt>
                <c:pt idx="198">
                  <c:v>6.1875</c:v>
                </c:pt>
                <c:pt idx="199">
                  <c:v>6.21875</c:v>
                </c:pt>
                <c:pt idx="200">
                  <c:v>6.25</c:v>
                </c:pt>
                <c:pt idx="201">
                  <c:v>6.28125</c:v>
                </c:pt>
                <c:pt idx="202">
                  <c:v>6.3125</c:v>
                </c:pt>
                <c:pt idx="203">
                  <c:v>6.34375</c:v>
                </c:pt>
                <c:pt idx="204">
                  <c:v>6.375</c:v>
                </c:pt>
                <c:pt idx="205">
                  <c:v>6.40625</c:v>
                </c:pt>
                <c:pt idx="206">
                  <c:v>6.4375</c:v>
                </c:pt>
                <c:pt idx="207">
                  <c:v>6.46875</c:v>
                </c:pt>
                <c:pt idx="208">
                  <c:v>6.5</c:v>
                </c:pt>
                <c:pt idx="209">
                  <c:v>6.53125</c:v>
                </c:pt>
                <c:pt idx="210">
                  <c:v>6.5625</c:v>
                </c:pt>
                <c:pt idx="211">
                  <c:v>6.59375</c:v>
                </c:pt>
                <c:pt idx="212">
                  <c:v>6.625</c:v>
                </c:pt>
                <c:pt idx="213">
                  <c:v>6.65625</c:v>
                </c:pt>
                <c:pt idx="214">
                  <c:v>6.6875</c:v>
                </c:pt>
                <c:pt idx="215">
                  <c:v>6.71875</c:v>
                </c:pt>
                <c:pt idx="216">
                  <c:v>6.75</c:v>
                </c:pt>
                <c:pt idx="217">
                  <c:v>6.78125</c:v>
                </c:pt>
                <c:pt idx="218">
                  <c:v>6.8125</c:v>
                </c:pt>
                <c:pt idx="219">
                  <c:v>6.84375</c:v>
                </c:pt>
                <c:pt idx="220">
                  <c:v>6.875</c:v>
                </c:pt>
                <c:pt idx="221">
                  <c:v>6.90625</c:v>
                </c:pt>
                <c:pt idx="222">
                  <c:v>6.9375</c:v>
                </c:pt>
                <c:pt idx="223">
                  <c:v>6.96875</c:v>
                </c:pt>
                <c:pt idx="224">
                  <c:v>7</c:v>
                </c:pt>
                <c:pt idx="225">
                  <c:v>7.03125</c:v>
                </c:pt>
                <c:pt idx="226">
                  <c:v>7.0625</c:v>
                </c:pt>
                <c:pt idx="227">
                  <c:v>7.09375</c:v>
                </c:pt>
                <c:pt idx="228">
                  <c:v>7.125</c:v>
                </c:pt>
                <c:pt idx="229">
                  <c:v>7.15625</c:v>
                </c:pt>
                <c:pt idx="230">
                  <c:v>7.1875</c:v>
                </c:pt>
                <c:pt idx="231">
                  <c:v>7.21875</c:v>
                </c:pt>
                <c:pt idx="232">
                  <c:v>7.25</c:v>
                </c:pt>
                <c:pt idx="233">
                  <c:v>7.28125</c:v>
                </c:pt>
                <c:pt idx="234">
                  <c:v>7.3125</c:v>
                </c:pt>
                <c:pt idx="235">
                  <c:v>7.34375</c:v>
                </c:pt>
                <c:pt idx="236">
                  <c:v>7.375</c:v>
                </c:pt>
                <c:pt idx="237">
                  <c:v>7.40625</c:v>
                </c:pt>
                <c:pt idx="238">
                  <c:v>7.4375</c:v>
                </c:pt>
                <c:pt idx="239">
                  <c:v>7.46875</c:v>
                </c:pt>
                <c:pt idx="240">
                  <c:v>7.5</c:v>
                </c:pt>
                <c:pt idx="241">
                  <c:v>7.53125</c:v>
                </c:pt>
                <c:pt idx="242">
                  <c:v>7.5625</c:v>
                </c:pt>
                <c:pt idx="243">
                  <c:v>7.59375</c:v>
                </c:pt>
                <c:pt idx="244">
                  <c:v>7.625</c:v>
                </c:pt>
                <c:pt idx="245">
                  <c:v>7.65625</c:v>
                </c:pt>
                <c:pt idx="246">
                  <c:v>7.6875</c:v>
                </c:pt>
                <c:pt idx="247">
                  <c:v>7.71875</c:v>
                </c:pt>
                <c:pt idx="248">
                  <c:v>7.75</c:v>
                </c:pt>
                <c:pt idx="249">
                  <c:v>7.78125</c:v>
                </c:pt>
                <c:pt idx="250">
                  <c:v>7.8125</c:v>
                </c:pt>
                <c:pt idx="251">
                  <c:v>7.84375</c:v>
                </c:pt>
                <c:pt idx="252">
                  <c:v>7.875</c:v>
                </c:pt>
                <c:pt idx="253">
                  <c:v>7.90625</c:v>
                </c:pt>
                <c:pt idx="254">
                  <c:v>7.9375</c:v>
                </c:pt>
                <c:pt idx="255">
                  <c:v>7.96875</c:v>
                </c:pt>
                <c:pt idx="256">
                  <c:v>8</c:v>
                </c:pt>
                <c:pt idx="257">
                  <c:v>8.03125</c:v>
                </c:pt>
                <c:pt idx="258">
                  <c:v>8.0625</c:v>
                </c:pt>
                <c:pt idx="259">
                  <c:v>8.09375</c:v>
                </c:pt>
                <c:pt idx="260">
                  <c:v>8.125</c:v>
                </c:pt>
                <c:pt idx="261">
                  <c:v>8.15625</c:v>
                </c:pt>
                <c:pt idx="262">
                  <c:v>8.1875</c:v>
                </c:pt>
                <c:pt idx="263">
                  <c:v>8.21875</c:v>
                </c:pt>
                <c:pt idx="264">
                  <c:v>8.25</c:v>
                </c:pt>
                <c:pt idx="265">
                  <c:v>8.28125</c:v>
                </c:pt>
                <c:pt idx="266">
                  <c:v>8.3125</c:v>
                </c:pt>
                <c:pt idx="267">
                  <c:v>8.34375</c:v>
                </c:pt>
                <c:pt idx="268">
                  <c:v>8.375</c:v>
                </c:pt>
                <c:pt idx="269">
                  <c:v>8.40625</c:v>
                </c:pt>
                <c:pt idx="270">
                  <c:v>8.4375</c:v>
                </c:pt>
                <c:pt idx="271">
                  <c:v>8.46875</c:v>
                </c:pt>
                <c:pt idx="272">
                  <c:v>8.5</c:v>
                </c:pt>
                <c:pt idx="273">
                  <c:v>8.53125</c:v>
                </c:pt>
                <c:pt idx="274">
                  <c:v>8.5625</c:v>
                </c:pt>
                <c:pt idx="275">
                  <c:v>8.59375</c:v>
                </c:pt>
                <c:pt idx="276">
                  <c:v>8.625</c:v>
                </c:pt>
                <c:pt idx="277">
                  <c:v>8.65625</c:v>
                </c:pt>
                <c:pt idx="278">
                  <c:v>8.6875</c:v>
                </c:pt>
                <c:pt idx="279">
                  <c:v>8.71875</c:v>
                </c:pt>
                <c:pt idx="280">
                  <c:v>8.75</c:v>
                </c:pt>
                <c:pt idx="281">
                  <c:v>8.78125</c:v>
                </c:pt>
                <c:pt idx="282">
                  <c:v>8.8125</c:v>
                </c:pt>
                <c:pt idx="283">
                  <c:v>8.84375</c:v>
                </c:pt>
                <c:pt idx="284">
                  <c:v>8.875</c:v>
                </c:pt>
                <c:pt idx="285">
                  <c:v>8.90625</c:v>
                </c:pt>
                <c:pt idx="286">
                  <c:v>8.9375</c:v>
                </c:pt>
                <c:pt idx="287">
                  <c:v>8.96875</c:v>
                </c:pt>
                <c:pt idx="288">
                  <c:v>9</c:v>
                </c:pt>
                <c:pt idx="289">
                  <c:v>9.03125</c:v>
                </c:pt>
                <c:pt idx="290">
                  <c:v>9.0625</c:v>
                </c:pt>
                <c:pt idx="291">
                  <c:v>9.09375</c:v>
                </c:pt>
                <c:pt idx="292">
                  <c:v>9.125</c:v>
                </c:pt>
                <c:pt idx="293">
                  <c:v>9.15625</c:v>
                </c:pt>
                <c:pt idx="294">
                  <c:v>9.1875</c:v>
                </c:pt>
                <c:pt idx="295">
                  <c:v>9.21875</c:v>
                </c:pt>
                <c:pt idx="296">
                  <c:v>9.25</c:v>
                </c:pt>
                <c:pt idx="297">
                  <c:v>9.28125</c:v>
                </c:pt>
                <c:pt idx="298">
                  <c:v>9.3125</c:v>
                </c:pt>
                <c:pt idx="299">
                  <c:v>9.34375</c:v>
                </c:pt>
                <c:pt idx="300">
                  <c:v>9.375</c:v>
                </c:pt>
                <c:pt idx="301">
                  <c:v>9.40625</c:v>
                </c:pt>
                <c:pt idx="302">
                  <c:v>9.4375</c:v>
                </c:pt>
                <c:pt idx="303">
                  <c:v>9.46875</c:v>
                </c:pt>
                <c:pt idx="304">
                  <c:v>9.5</c:v>
                </c:pt>
                <c:pt idx="305">
                  <c:v>9.53125</c:v>
                </c:pt>
                <c:pt idx="306">
                  <c:v>9.5625</c:v>
                </c:pt>
                <c:pt idx="307">
                  <c:v>9.59375</c:v>
                </c:pt>
                <c:pt idx="308">
                  <c:v>9.625</c:v>
                </c:pt>
                <c:pt idx="309">
                  <c:v>9.65625</c:v>
                </c:pt>
                <c:pt idx="310">
                  <c:v>9.6875</c:v>
                </c:pt>
                <c:pt idx="311">
                  <c:v>9.71875</c:v>
                </c:pt>
                <c:pt idx="312">
                  <c:v>9.75</c:v>
                </c:pt>
                <c:pt idx="313">
                  <c:v>9.78125</c:v>
                </c:pt>
                <c:pt idx="314">
                  <c:v>9.8125</c:v>
                </c:pt>
                <c:pt idx="315">
                  <c:v>9.84375</c:v>
                </c:pt>
                <c:pt idx="316">
                  <c:v>9.875</c:v>
                </c:pt>
                <c:pt idx="317">
                  <c:v>9.90625</c:v>
                </c:pt>
                <c:pt idx="318">
                  <c:v>9.9375</c:v>
                </c:pt>
                <c:pt idx="319">
                  <c:v>9.96875</c:v>
                </c:pt>
                <c:pt idx="320">
                  <c:v>10</c:v>
                </c:pt>
              </c:numCache>
            </c:numRef>
          </c:xVal>
          <c:yVal>
            <c:numRef>
              <c:f>'Chart Data'!$B$2:$B$322</c:f>
              <c:numCache>
                <c:formatCode>0.0</c:formatCode>
                <c:ptCount val="321"/>
                <c:pt idx="0">
                  <c:v>1.882E-3</c:v>
                </c:pt>
                <c:pt idx="1">
                  <c:v>4.2570000000000004E-3</c:v>
                </c:pt>
                <c:pt idx="2">
                  <c:v>9.11E-3</c:v>
                </c:pt>
                <c:pt idx="3">
                  <c:v>1.8446000000000001E-2</c:v>
                </c:pt>
                <c:pt idx="4">
                  <c:v>3.5332000000000002E-2</c:v>
                </c:pt>
                <c:pt idx="5">
                  <c:v>6.4022999999999997E-2</c:v>
                </c:pt>
                <c:pt idx="6">
                  <c:v>0.109748</c:v>
                </c:pt>
                <c:pt idx="7">
                  <c:v>0.177977</c:v>
                </c:pt>
                <c:pt idx="8">
                  <c:v>0.27304600000000001</c:v>
                </c:pt>
                <c:pt idx="9">
                  <c:v>0.39630199999999999</c:v>
                </c:pt>
                <c:pt idx="10">
                  <c:v>0.54418999999999995</c:v>
                </c:pt>
                <c:pt idx="11">
                  <c:v>0.70702600000000004</c:v>
                </c:pt>
                <c:pt idx="12">
                  <c:v>0.86920699999999995</c:v>
                </c:pt>
                <c:pt idx="13">
                  <c:v>1.011301</c:v>
                </c:pt>
                <c:pt idx="14">
                  <c:v>1.1138269999999999</c:v>
                </c:pt>
                <c:pt idx="15">
                  <c:v>1.161762</c:v>
                </c:pt>
                <c:pt idx="16">
                  <c:v>1.1483890000000001</c:v>
                </c:pt>
                <c:pt idx="17">
                  <c:v>1.077132</c:v>
                </c:pt>
                <c:pt idx="18">
                  <c:v>0.96071799999999996</c:v>
                </c:pt>
                <c:pt idx="19">
                  <c:v>0.81795499999999999</c:v>
                </c:pt>
                <c:pt idx="20">
                  <c:v>0.66927000000000003</c:v>
                </c:pt>
                <c:pt idx="21">
                  <c:v>0.53243399999999996</c:v>
                </c:pt>
                <c:pt idx="22">
                  <c:v>0.41968800000000001</c:v>
                </c:pt>
                <c:pt idx="23">
                  <c:v>0.33676899999999999</c:v>
                </c:pt>
                <c:pt idx="24">
                  <c:v>0.28361399999999998</c:v>
                </c:pt>
                <c:pt idx="25">
                  <c:v>0.256102</c:v>
                </c:pt>
                <c:pt idx="26">
                  <c:v>0.248029</c:v>
                </c:pt>
                <c:pt idx="27">
                  <c:v>0.25276399999999999</c:v>
                </c:pt>
                <c:pt idx="28">
                  <c:v>0.26432600000000001</c:v>
                </c:pt>
                <c:pt idx="29">
                  <c:v>0.27788600000000002</c:v>
                </c:pt>
                <c:pt idx="30">
                  <c:v>0.289877</c:v>
                </c:pt>
                <c:pt idx="31">
                  <c:v>0.29788199999999998</c:v>
                </c:pt>
                <c:pt idx="32">
                  <c:v>0.30045300000000003</c:v>
                </c:pt>
                <c:pt idx="33">
                  <c:v>0.29693599999999998</c:v>
                </c:pt>
                <c:pt idx="34">
                  <c:v>0.28732000000000002</c:v>
                </c:pt>
                <c:pt idx="35">
                  <c:v>0.27211000000000002</c:v>
                </c:pt>
                <c:pt idx="36">
                  <c:v>0.25219399999999997</c:v>
                </c:pt>
                <c:pt idx="37">
                  <c:v>0.22872600000000001</c:v>
                </c:pt>
                <c:pt idx="38">
                  <c:v>0.202991</c:v>
                </c:pt>
                <c:pt idx="39">
                  <c:v>0.176285</c:v>
                </c:pt>
                <c:pt idx="40">
                  <c:v>0.14980599999999999</c:v>
                </c:pt>
                <c:pt idx="41">
                  <c:v>0.124571</c:v>
                </c:pt>
                <c:pt idx="42">
                  <c:v>0.10136299999999999</c:v>
                </c:pt>
                <c:pt idx="43">
                  <c:v>8.0709000000000003E-2</c:v>
                </c:pt>
                <c:pt idx="44">
                  <c:v>6.2882999999999994E-2</c:v>
                </c:pt>
                <c:pt idx="45">
                  <c:v>4.7943E-2</c:v>
                </c:pt>
                <c:pt idx="46">
                  <c:v>3.5768000000000001E-2</c:v>
                </c:pt>
                <c:pt idx="47">
                  <c:v>2.6112E-2</c:v>
                </c:pt>
                <c:pt idx="48">
                  <c:v>1.8652999999999999E-2</c:v>
                </c:pt>
                <c:pt idx="49">
                  <c:v>1.3039E-2</c:v>
                </c:pt>
                <c:pt idx="50">
                  <c:v>8.9189999999999998E-3</c:v>
                </c:pt>
                <c:pt idx="51">
                  <c:v>5.9699999999999996E-3</c:v>
                </c:pt>
                <c:pt idx="52">
                  <c:v>3.9100000000000003E-3</c:v>
                </c:pt>
                <c:pt idx="53">
                  <c:v>2.506E-3</c:v>
                </c:pt>
                <c:pt idx="54">
                  <c:v>1.572E-3</c:v>
                </c:pt>
                <c:pt idx="55">
                  <c:v>9.6400000000000001E-4</c:v>
                </c:pt>
                <c:pt idx="56">
                  <c:v>5.7899999999999998E-4</c:v>
                </c:pt>
                <c:pt idx="57">
                  <c:v>3.4000000000000002E-4</c:v>
                </c:pt>
                <c:pt idx="58">
                  <c:v>1.9599999999999999E-4</c:v>
                </c:pt>
                <c:pt idx="59">
                  <c:v>1.1E-4</c:v>
                </c:pt>
                <c:pt idx="60">
                  <c:v>6.0999999999999999E-5</c:v>
                </c:pt>
                <c:pt idx="61">
                  <c:v>3.3000000000000003E-5</c:v>
                </c:pt>
                <c:pt idx="62">
                  <c:v>1.7E-5</c:v>
                </c:pt>
                <c:pt idx="63">
                  <c:v>9.0000000000000002E-6</c:v>
                </c:pt>
                <c:pt idx="64">
                  <c:v>3.9999999999999998E-6</c:v>
                </c:pt>
                <c:pt idx="65">
                  <c:v>1.9999999999999999E-6</c:v>
                </c:pt>
                <c:pt idx="66">
                  <c:v>9.9999999999999995E-7</c:v>
                </c:pt>
                <c:pt idx="67">
                  <c:v>9.9999999999999995E-7</c:v>
                </c:pt>
                <c:pt idx="68">
                  <c:v>0</c:v>
                </c:pt>
                <c:pt idx="69">
                  <c:v>2.225E-3</c:v>
                </c:pt>
                <c:pt idx="70">
                  <c:v>4.9779999999999998E-3</c:v>
                </c:pt>
                <c:pt idx="71">
                  <c:v>1.0536999999999999E-2</c:v>
                </c:pt>
                <c:pt idx="72">
                  <c:v>2.1100000000000001E-2</c:v>
                </c:pt>
                <c:pt idx="73">
                  <c:v>3.9969999999999999E-2</c:v>
                </c:pt>
                <c:pt idx="74">
                  <c:v>7.1626999999999996E-2</c:v>
                </c:pt>
                <c:pt idx="75">
                  <c:v>0.12142799999999999</c:v>
                </c:pt>
                <c:pt idx="76">
                  <c:v>0.194744</c:v>
                </c:pt>
                <c:pt idx="77">
                  <c:v>0.29547499999999999</c:v>
                </c:pt>
                <c:pt idx="78">
                  <c:v>0.42412699999999998</c:v>
                </c:pt>
                <c:pt idx="79">
                  <c:v>0.57598300000000002</c:v>
                </c:pt>
                <c:pt idx="80">
                  <c:v>0.74010100000000001</c:v>
                </c:pt>
                <c:pt idx="81">
                  <c:v>0.89988299999999999</c:v>
                </c:pt>
                <c:pt idx="82">
                  <c:v>1.0355449999999999</c:v>
                </c:pt>
                <c:pt idx="83">
                  <c:v>1.128134</c:v>
                </c:pt>
                <c:pt idx="84">
                  <c:v>1.164031</c:v>
                </c:pt>
                <c:pt idx="85">
                  <c:v>1.1384810000000001</c:v>
                </c:pt>
                <c:pt idx="86">
                  <c:v>1.056921</c:v>
                </c:pt>
                <c:pt idx="87">
                  <c:v>0.93361300000000003</c:v>
                </c:pt>
                <c:pt idx="88">
                  <c:v>0.78806100000000001</c:v>
                </c:pt>
                <c:pt idx="89">
                  <c:v>0.64047100000000001</c:v>
                </c:pt>
                <c:pt idx="90">
                  <c:v>0.50768000000000002</c:v>
                </c:pt>
                <c:pt idx="91">
                  <c:v>0.400646</c:v>
                </c:pt>
                <c:pt idx="92">
                  <c:v>0.32384200000000002</c:v>
                </c:pt>
                <c:pt idx="93">
                  <c:v>0.27623999999999999</c:v>
                </c:pt>
                <c:pt idx="94">
                  <c:v>0.25314700000000001</c:v>
                </c:pt>
                <c:pt idx="95">
                  <c:v>0.24815699999999999</c:v>
                </c:pt>
                <c:pt idx="96">
                  <c:v>0.25470300000000001</c:v>
                </c:pt>
                <c:pt idx="97">
                  <c:v>0.26701000000000003</c:v>
                </c:pt>
                <c:pt idx="98">
                  <c:v>0.280503</c:v>
                </c:pt>
                <c:pt idx="99">
                  <c:v>0.291856</c:v>
                </c:pt>
                <c:pt idx="100">
                  <c:v>0.29886200000000002</c:v>
                </c:pt>
                <c:pt idx="101">
                  <c:v>0.30024499999999998</c:v>
                </c:pt>
                <c:pt idx="102">
                  <c:v>0.295491</c:v>
                </c:pt>
                <c:pt idx="103">
                  <c:v>0.28470200000000001</c:v>
                </c:pt>
                <c:pt idx="104">
                  <c:v>0.26846900000000001</c:v>
                </c:pt>
                <c:pt idx="105">
                  <c:v>0.24774499999999999</c:v>
                </c:pt>
                <c:pt idx="106">
                  <c:v>0.223718</c:v>
                </c:pt>
                <c:pt idx="107">
                  <c:v>0.197687</c:v>
                </c:pt>
                <c:pt idx="108">
                  <c:v>0.170935</c:v>
                </c:pt>
                <c:pt idx="109">
                  <c:v>0.14463000000000001</c:v>
                </c:pt>
                <c:pt idx="110">
                  <c:v>0.11974700000000001</c:v>
                </c:pt>
                <c:pt idx="111">
                  <c:v>9.7016000000000005E-2</c:v>
                </c:pt>
                <c:pt idx="112">
                  <c:v>7.6912999999999995E-2</c:v>
                </c:pt>
                <c:pt idx="113">
                  <c:v>5.9665999999999997E-2</c:v>
                </c:pt>
                <c:pt idx="114">
                  <c:v>4.5293E-2</c:v>
                </c:pt>
                <c:pt idx="115">
                  <c:v>3.3644E-2</c:v>
                </c:pt>
                <c:pt idx="116">
                  <c:v>2.4455000000000001E-2</c:v>
                </c:pt>
                <c:pt idx="117">
                  <c:v>1.7394E-2</c:v>
                </c:pt>
                <c:pt idx="118">
                  <c:v>1.2106E-2</c:v>
                </c:pt>
                <c:pt idx="119">
                  <c:v>8.2450000000000006E-3</c:v>
                </c:pt>
                <c:pt idx="120">
                  <c:v>5.4949999999999999E-3</c:v>
                </c:pt>
                <c:pt idx="121">
                  <c:v>3.5829999999999998E-3</c:v>
                </c:pt>
                <c:pt idx="122">
                  <c:v>2.287E-3</c:v>
                </c:pt>
                <c:pt idx="123">
                  <c:v>1.428E-3</c:v>
                </c:pt>
                <c:pt idx="124">
                  <c:v>8.7200000000000005E-4</c:v>
                </c:pt>
                <c:pt idx="125">
                  <c:v>5.22E-4</c:v>
                </c:pt>
                <c:pt idx="126">
                  <c:v>3.0499999999999999E-4</c:v>
                </c:pt>
                <c:pt idx="127">
                  <c:v>1.75E-4</c:v>
                </c:pt>
                <c:pt idx="128">
                  <c:v>9.7999999999999997E-5</c:v>
                </c:pt>
                <c:pt idx="129">
                  <c:v>5.3999999999999998E-5</c:v>
                </c:pt>
                <c:pt idx="130">
                  <c:v>2.9E-5</c:v>
                </c:pt>
                <c:pt idx="131">
                  <c:v>1.5E-5</c:v>
                </c:pt>
                <c:pt idx="132">
                  <c:v>7.9999999999999996E-6</c:v>
                </c:pt>
                <c:pt idx="133">
                  <c:v>3.9999999999999998E-6</c:v>
                </c:pt>
                <c:pt idx="134">
                  <c:v>1.9999999999999999E-6</c:v>
                </c:pt>
                <c:pt idx="135">
                  <c:v>9.9999999999999995E-7</c:v>
                </c:pt>
                <c:pt idx="136">
                  <c:v>0</c:v>
                </c:pt>
                <c:pt idx="137">
                  <c:v>0</c:v>
                </c:pt>
                <c:pt idx="138">
                  <c:v>2.6259999999999999E-3</c:v>
                </c:pt>
                <c:pt idx="139">
                  <c:v>5.8100000000000001E-3</c:v>
                </c:pt>
                <c:pt idx="140">
                  <c:v>1.2161E-2</c:v>
                </c:pt>
                <c:pt idx="141">
                  <c:v>2.4081999999999999E-2</c:v>
                </c:pt>
                <c:pt idx="142">
                  <c:v>4.5116000000000003E-2</c:v>
                </c:pt>
                <c:pt idx="143">
                  <c:v>7.9955999999999999E-2</c:v>
                </c:pt>
                <c:pt idx="144">
                  <c:v>0.13405300000000001</c:v>
                </c:pt>
                <c:pt idx="145">
                  <c:v>0.21262</c:v>
                </c:pt>
                <c:pt idx="146">
                  <c:v>0.31903700000000002</c:v>
                </c:pt>
                <c:pt idx="147">
                  <c:v>0.45290000000000002</c:v>
                </c:pt>
                <c:pt idx="148">
                  <c:v>0.60828499999999996</c:v>
                </c:pt>
                <c:pt idx="149">
                  <c:v>0.77301399999999998</c:v>
                </c:pt>
                <c:pt idx="150">
                  <c:v>0.929593</c:v>
                </c:pt>
                <c:pt idx="151">
                  <c:v>1.058049</c:v>
                </c:pt>
                <c:pt idx="152">
                  <c:v>1.140145</c:v>
                </c:pt>
                <c:pt idx="153">
                  <c:v>1.1638090000000001</c:v>
                </c:pt>
                <c:pt idx="154">
                  <c:v>1.1263030000000001</c:v>
                </c:pt>
                <c:pt idx="155">
                  <c:v>1.035023</c:v>
                </c:pt>
                <c:pt idx="156">
                  <c:v>0.90561700000000001</c:v>
                </c:pt>
                <c:pt idx="157">
                  <c:v>0.75809800000000005</c:v>
                </c:pt>
                <c:pt idx="158">
                  <c:v>0.61228400000000005</c:v>
                </c:pt>
                <c:pt idx="159">
                  <c:v>0.48397899999999999</c:v>
                </c:pt>
                <c:pt idx="160">
                  <c:v>0.38283099999999998</c:v>
                </c:pt>
                <c:pt idx="161">
                  <c:v>0.31209599999999998</c:v>
                </c:pt>
                <c:pt idx="162">
                  <c:v>0.26985300000000001</c:v>
                </c:pt>
                <c:pt idx="163">
                  <c:v>0.25091599999999997</c:v>
                </c:pt>
                <c:pt idx="164">
                  <c:v>0.24874299999999999</c:v>
                </c:pt>
                <c:pt idx="165">
                  <c:v>0.25686900000000001</c:v>
                </c:pt>
                <c:pt idx="166">
                  <c:v>0.26973799999999998</c:v>
                </c:pt>
                <c:pt idx="167">
                  <c:v>0.28303</c:v>
                </c:pt>
                <c:pt idx="168">
                  <c:v>0.29365799999999997</c:v>
                </c:pt>
                <c:pt idx="169">
                  <c:v>0.29961500000000002</c:v>
                </c:pt>
                <c:pt idx="170">
                  <c:v>0.29979</c:v>
                </c:pt>
                <c:pt idx="171">
                  <c:v>0.29380299999999998</c:v>
                </c:pt>
                <c:pt idx="172">
                  <c:v>0.28186499999999998</c:v>
                </c:pt>
                <c:pt idx="173">
                  <c:v>0.26464799999999999</c:v>
                </c:pt>
                <c:pt idx="174">
                  <c:v>0.24316299999999999</c:v>
                </c:pt>
                <c:pt idx="175">
                  <c:v>0.21862999999999999</c:v>
                </c:pt>
                <c:pt idx="176">
                  <c:v>0.192354</c:v>
                </c:pt>
                <c:pt idx="177">
                  <c:v>0.165604</c:v>
                </c:pt>
                <c:pt idx="178">
                  <c:v>0.139513</c:v>
                </c:pt>
                <c:pt idx="179">
                  <c:v>0.11501</c:v>
                </c:pt>
                <c:pt idx="180">
                  <c:v>9.2773999999999995E-2</c:v>
                </c:pt>
                <c:pt idx="181">
                  <c:v>7.3232000000000005E-2</c:v>
                </c:pt>
                <c:pt idx="182">
                  <c:v>5.6564000000000003E-2</c:v>
                </c:pt>
                <c:pt idx="183">
                  <c:v>4.2752999999999999E-2</c:v>
                </c:pt>
                <c:pt idx="184">
                  <c:v>3.1620000000000002E-2</c:v>
                </c:pt>
                <c:pt idx="185">
                  <c:v>2.2884000000000002E-2</c:v>
                </c:pt>
                <c:pt idx="186">
                  <c:v>1.6206000000000002E-2</c:v>
                </c:pt>
                <c:pt idx="187">
                  <c:v>1.123E-2</c:v>
                </c:pt>
                <c:pt idx="188">
                  <c:v>7.6150000000000002E-3</c:v>
                </c:pt>
                <c:pt idx="189">
                  <c:v>5.0530000000000002E-3</c:v>
                </c:pt>
                <c:pt idx="190">
                  <c:v>3.2810000000000001E-3</c:v>
                </c:pt>
                <c:pt idx="191">
                  <c:v>2.085E-3</c:v>
                </c:pt>
                <c:pt idx="192">
                  <c:v>1.2960000000000001E-3</c:v>
                </c:pt>
                <c:pt idx="193">
                  <c:v>7.8799999999999996E-4</c:v>
                </c:pt>
                <c:pt idx="194">
                  <c:v>4.6900000000000002E-4</c:v>
                </c:pt>
                <c:pt idx="195">
                  <c:v>2.7300000000000002E-4</c:v>
                </c:pt>
                <c:pt idx="196">
                  <c:v>1.56E-4</c:v>
                </c:pt>
                <c:pt idx="197">
                  <c:v>8.7000000000000001E-5</c:v>
                </c:pt>
                <c:pt idx="198">
                  <c:v>4.6999999999999997E-5</c:v>
                </c:pt>
                <c:pt idx="199">
                  <c:v>2.5000000000000001E-5</c:v>
                </c:pt>
                <c:pt idx="200">
                  <c:v>1.2999999999999999E-5</c:v>
                </c:pt>
                <c:pt idx="201">
                  <c:v>6.9999999999999999E-6</c:v>
                </c:pt>
                <c:pt idx="202">
                  <c:v>3.0000000000000001E-6</c:v>
                </c:pt>
                <c:pt idx="203">
                  <c:v>1.9999999999999999E-6</c:v>
                </c:pt>
                <c:pt idx="204">
                  <c:v>9.9999999999999995E-7</c:v>
                </c:pt>
                <c:pt idx="205">
                  <c:v>0</c:v>
                </c:pt>
                <c:pt idx="206">
                  <c:v>0</c:v>
                </c:pt>
                <c:pt idx="207">
                  <c:v>3.091E-3</c:v>
                </c:pt>
                <c:pt idx="208">
                  <c:v>6.7650000000000002E-3</c:v>
                </c:pt>
                <c:pt idx="209">
                  <c:v>1.4004000000000001E-2</c:v>
                </c:pt>
                <c:pt idx="210">
                  <c:v>2.7425000000000001E-2</c:v>
                </c:pt>
                <c:pt idx="211">
                  <c:v>5.0811000000000002E-2</c:v>
                </c:pt>
                <c:pt idx="212">
                  <c:v>8.9055999999999996E-2</c:v>
                </c:pt>
                <c:pt idx="213">
                  <c:v>0.14766199999999999</c:v>
                </c:pt>
                <c:pt idx="214">
                  <c:v>0.23162099999999999</c:v>
                </c:pt>
                <c:pt idx="215">
                  <c:v>0.34371499999999999</c:v>
                </c:pt>
                <c:pt idx="216">
                  <c:v>0.48255500000000001</c:v>
                </c:pt>
                <c:pt idx="217">
                  <c:v>0.64097899999999997</c:v>
                </c:pt>
                <c:pt idx="218">
                  <c:v>0.80560900000000002</c:v>
                </c:pt>
                <c:pt idx="219">
                  <c:v>0.95817200000000002</c:v>
                </c:pt>
                <c:pt idx="220">
                  <c:v>1.078678</c:v>
                </c:pt>
                <c:pt idx="221">
                  <c:v>1.149788</c:v>
                </c:pt>
                <c:pt idx="222">
                  <c:v>1.161106</c:v>
                </c:pt>
                <c:pt idx="223">
                  <c:v>1.111947</c:v>
                </c:pt>
                <c:pt idx="224">
                  <c:v>1.011585</c:v>
                </c:pt>
                <c:pt idx="225">
                  <c:v>0.87689700000000004</c:v>
                </c:pt>
                <c:pt idx="226">
                  <c:v>0.72821599999999997</c:v>
                </c:pt>
                <c:pt idx="227">
                  <c:v>0.58481799999999995</c:v>
                </c:pt>
                <c:pt idx="228">
                  <c:v>0.46138499999999999</c:v>
                </c:pt>
                <c:pt idx="229">
                  <c:v>0.36624899999999999</c:v>
                </c:pt>
                <c:pt idx="230">
                  <c:v>0.30149999999999999</c:v>
                </c:pt>
                <c:pt idx="231">
                  <c:v>0.264401</c:v>
                </c:pt>
                <c:pt idx="232">
                  <c:v>0.24935499999999999</c:v>
                </c:pt>
                <c:pt idx="233">
                  <c:v>0.24973899999999999</c:v>
                </c:pt>
                <c:pt idx="234">
                  <c:v>0.25922000000000001</c:v>
                </c:pt>
                <c:pt idx="235">
                  <c:v>0.272478</c:v>
                </c:pt>
                <c:pt idx="236">
                  <c:v>0.28544799999999998</c:v>
                </c:pt>
                <c:pt idx="237">
                  <c:v>0.29527100000000001</c:v>
                </c:pt>
                <c:pt idx="238">
                  <c:v>0.30013400000000001</c:v>
                </c:pt>
                <c:pt idx="239">
                  <c:v>0.29908600000000002</c:v>
                </c:pt>
                <c:pt idx="240">
                  <c:v>0.29187600000000002</c:v>
                </c:pt>
                <c:pt idx="241">
                  <c:v>0.27881600000000001</c:v>
                </c:pt>
                <c:pt idx="242">
                  <c:v>0.26065500000000003</c:v>
                </c:pt>
                <c:pt idx="243">
                  <c:v>0.238459</c:v>
                </c:pt>
                <c:pt idx="244">
                  <c:v>0.213473</c:v>
                </c:pt>
                <c:pt idx="245">
                  <c:v>0.187004</c:v>
                </c:pt>
                <c:pt idx="246">
                  <c:v>0.1603</c:v>
                </c:pt>
                <c:pt idx="247">
                  <c:v>0.13446</c:v>
                </c:pt>
                <c:pt idx="248">
                  <c:v>0.110364</c:v>
                </c:pt>
                <c:pt idx="249">
                  <c:v>8.8640999999999998E-2</c:v>
                </c:pt>
                <c:pt idx="250">
                  <c:v>6.9666000000000006E-2</c:v>
                </c:pt>
                <c:pt idx="251">
                  <c:v>5.3577E-2</c:v>
                </c:pt>
                <c:pt idx="252">
                  <c:v>4.0320000000000002E-2</c:v>
                </c:pt>
                <c:pt idx="253">
                  <c:v>2.9690999999999999E-2</c:v>
                </c:pt>
                <c:pt idx="254">
                  <c:v>2.1395000000000001E-2</c:v>
                </c:pt>
                <c:pt idx="255">
                  <c:v>1.5086E-2</c:v>
                </c:pt>
                <c:pt idx="256">
                  <c:v>1.0409E-2</c:v>
                </c:pt>
                <c:pt idx="257">
                  <c:v>7.0280000000000004E-3</c:v>
                </c:pt>
                <c:pt idx="258">
                  <c:v>4.6430000000000004E-3</c:v>
                </c:pt>
                <c:pt idx="259">
                  <c:v>3.0019999999999999E-3</c:v>
                </c:pt>
                <c:pt idx="260">
                  <c:v>1.8990000000000001E-3</c:v>
                </c:pt>
                <c:pt idx="261">
                  <c:v>1.175E-3</c:v>
                </c:pt>
                <c:pt idx="262">
                  <c:v>7.1199999999999996E-4</c:v>
                </c:pt>
                <c:pt idx="263">
                  <c:v>4.2200000000000001E-4</c:v>
                </c:pt>
                <c:pt idx="264">
                  <c:v>2.4499999999999999E-4</c:v>
                </c:pt>
                <c:pt idx="265">
                  <c:v>1.3899999999999999E-4</c:v>
                </c:pt>
                <c:pt idx="266">
                  <c:v>7.7000000000000001E-5</c:v>
                </c:pt>
                <c:pt idx="267">
                  <c:v>4.1999999999999998E-5</c:v>
                </c:pt>
                <c:pt idx="268">
                  <c:v>2.1999999999999999E-5</c:v>
                </c:pt>
                <c:pt idx="269">
                  <c:v>1.2E-5</c:v>
                </c:pt>
                <c:pt idx="270">
                  <c:v>6.0000000000000002E-6</c:v>
                </c:pt>
                <c:pt idx="271">
                  <c:v>3.0000000000000001E-6</c:v>
                </c:pt>
                <c:pt idx="272">
                  <c:v>9.9999999999999995E-7</c:v>
                </c:pt>
                <c:pt idx="273">
                  <c:v>9.9999999999999995E-7</c:v>
                </c:pt>
                <c:pt idx="274">
                  <c:v>0</c:v>
                </c:pt>
                <c:pt idx="275">
                  <c:v>0</c:v>
                </c:pt>
                <c:pt idx="276">
                  <c:v>3.6319999999999998E-3</c:v>
                </c:pt>
                <c:pt idx="277">
                  <c:v>7.8589999999999997E-3</c:v>
                </c:pt>
                <c:pt idx="278">
                  <c:v>1.609E-2</c:v>
                </c:pt>
                <c:pt idx="279">
                  <c:v>3.1163E-2</c:v>
                </c:pt>
                <c:pt idx="280">
                  <c:v>5.7098999999999997E-2</c:v>
                </c:pt>
                <c:pt idx="281">
                  <c:v>9.8972000000000004E-2</c:v>
                </c:pt>
                <c:pt idx="282">
                  <c:v>0.16229199999999999</c:v>
                </c:pt>
                <c:pt idx="283">
                  <c:v>0.25176100000000001</c:v>
                </c:pt>
                <c:pt idx="284">
                  <c:v>0.36948300000000001</c:v>
                </c:pt>
                <c:pt idx="285">
                  <c:v>0.513015</c:v>
                </c:pt>
                <c:pt idx="286">
                  <c:v>0.67393800000000004</c:v>
                </c:pt>
                <c:pt idx="287">
                  <c:v>0.837727</c:v>
                </c:pt>
                <c:pt idx="288">
                  <c:v>0.98546</c:v>
                </c:pt>
                <c:pt idx="289">
                  <c:v>1.097308</c:v>
                </c:pt>
                <c:pt idx="290">
                  <c:v>1.157006</c:v>
                </c:pt>
                <c:pt idx="291">
                  <c:v>1.155951</c:v>
                </c:pt>
                <c:pt idx="292">
                  <c:v>1.0955170000000001</c:v>
                </c:pt>
                <c:pt idx="293">
                  <c:v>0.98676299999999995</c:v>
                </c:pt>
                <c:pt idx="294">
                  <c:v>0.84762099999999996</c:v>
                </c:pt>
                <c:pt idx="295">
                  <c:v>0.69856099999999999</c:v>
                </c:pt>
                <c:pt idx="296">
                  <c:v>0.558172</c:v>
                </c:pt>
                <c:pt idx="297">
                  <c:v>0.43994299999999997</c:v>
                </c:pt>
                <c:pt idx="298">
                  <c:v>0.35089799999999999</c:v>
                </c:pt>
                <c:pt idx="299">
                  <c:v>0.29201899999999997</c:v>
                </c:pt>
                <c:pt idx="300">
                  <c:v>0.25983499999999998</c:v>
                </c:pt>
                <c:pt idx="301">
                  <c:v>0.24841099999999999</c:v>
                </c:pt>
                <c:pt idx="302">
                  <c:v>0.25109500000000001</c:v>
                </c:pt>
                <c:pt idx="303">
                  <c:v>0.26171800000000001</c:v>
                </c:pt>
                <c:pt idx="304">
                  <c:v>0.27520299999999998</c:v>
                </c:pt>
                <c:pt idx="305">
                  <c:v>0.28773599999999999</c:v>
                </c:pt>
                <c:pt idx="306">
                  <c:v>0.296682</c:v>
                </c:pt>
                <c:pt idx="307">
                  <c:v>0.30041499999999999</c:v>
                </c:pt>
                <c:pt idx="308">
                  <c:v>0.29813499999999998</c:v>
                </c:pt>
                <c:pt idx="309">
                  <c:v>0.289713</c:v>
                </c:pt>
                <c:pt idx="310">
                  <c:v>0.275561</c:v>
                </c:pt>
                <c:pt idx="311">
                  <c:v>0.25650099999999998</c:v>
                </c:pt>
                <c:pt idx="312">
                  <c:v>0.23364299999999999</c:v>
                </c:pt>
                <c:pt idx="313">
                  <c:v>0.208256</c:v>
                </c:pt>
                <c:pt idx="314">
                  <c:v>0.181644</c:v>
                </c:pt>
                <c:pt idx="315">
                  <c:v>0.155031</c:v>
                </c:pt>
                <c:pt idx="316">
                  <c:v>0.12947700000000001</c:v>
                </c:pt>
                <c:pt idx="317">
                  <c:v>0.10581400000000001</c:v>
                </c:pt>
                <c:pt idx="318">
                  <c:v>8.4619E-2</c:v>
                </c:pt>
                <c:pt idx="319">
                  <c:v>6.6216999999999998E-2</c:v>
                </c:pt>
                <c:pt idx="320">
                  <c:v>5.0703999999999999E-2</c:v>
                </c:pt>
              </c:numCache>
            </c:numRef>
          </c:yVal>
          <c:smooth val="1"/>
          <c:extLst>
            <c:ext xmlns:c16="http://schemas.microsoft.com/office/drawing/2014/chart" uri="{C3380CC4-5D6E-409C-BE32-E72D297353CC}">
              <c16:uniqueId val="{00000000-FCC6-40B8-94C0-52D7FD7AF678}"/>
            </c:ext>
          </c:extLst>
        </c:ser>
        <c:dLbls>
          <c:showLegendKey val="0"/>
          <c:showVal val="0"/>
          <c:showCatName val="0"/>
          <c:showSerName val="0"/>
          <c:showPercent val="0"/>
          <c:showBubbleSize val="0"/>
        </c:dLbls>
        <c:axId val="48650112"/>
        <c:axId val="48672768"/>
      </c:scatterChart>
      <c:valAx>
        <c:axId val="48650112"/>
        <c:scaling>
          <c:orientation val="minMax"/>
          <c:max val="10"/>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2.5"/>
      </c:valAx>
      <c:valAx>
        <c:axId val="48672768"/>
        <c:scaling>
          <c:orientation val="minMax"/>
          <c:max val="1.6"/>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PPG (a.u.)</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3f708a7f-a59f-4301-93c7-d0a7c21b1a7a}"/>
      </c:ext>
    </c:extLst>
  </c:chart>
  <c:spPr>
    <a:solidFill>
      <a:srgbClr val="FFFFFF"/>
    </a:solidFill>
    <a:ln w="0">
      <a:noFill/>
    </a:ln>
  </c:spPr>
  <c:txPr>
    <a:bodyPr/>
    <a:lstStyle/>
    <a:p>
      <a:pPr>
        <a:defRPr lang="zh-CN"/>
      </a:pPr>
      <a:endParaRPr lang="zh-CN"/>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Native optical signal</c:f>
              <c:strCache>
                <c:ptCount val="1"/>
                <c:pt idx="0">
                  <c:v>Native optical signal</c:v>
                </c:pt>
              </c:strCache>
            </c:strRef>
          </c:tx>
          <c:spPr>
            <a:ln w="23813" cap="rnd">
              <a:solidFill>
                <a:srgbClr val="087E8B"/>
              </a:solidFill>
              <a:prstDash val="solid"/>
              <a:round/>
            </a:ln>
          </c:spPr>
          <c:marker>
            <c:symbol val="none"/>
          </c:marker>
          <c:xVal>
            <c:numRef>
              <c:f>'Chart Data'!$A$2:$A$102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Data'!$B$2:$B$102</c:f>
              <c:numCache>
                <c:formatCode>0.0</c:formatCode>
                <c:ptCount val="101"/>
                <c:pt idx="0">
                  <c:v>2</c:v>
                </c:pt>
                <c:pt idx="1">
                  <c:v>2.0122140000000002</c:v>
                </c:pt>
                <c:pt idx="2">
                  <c:v>2.042856</c:v>
                </c:pt>
                <c:pt idx="3">
                  <c:v>2.0868690000000001</c:v>
                </c:pt>
                <c:pt idx="4">
                  <c:v>2.1400899999999998</c:v>
                </c:pt>
                <c:pt idx="5">
                  <c:v>2.1991179999999999</c:v>
                </c:pt>
                <c:pt idx="6">
                  <c:v>2.2612030000000001</c:v>
                </c:pt>
                <c:pt idx="7">
                  <c:v>2.3241459999999998</c:v>
                </c:pt>
                <c:pt idx="8">
                  <c:v>2.3862130000000001</c:v>
                </c:pt>
                <c:pt idx="9">
                  <c:v>2.4460639999999998</c:v>
                </c:pt>
                <c:pt idx="10">
                  <c:v>2.5026860000000002</c:v>
                </c:pt>
                <c:pt idx="11">
                  <c:v>2.555342</c:v>
                </c:pt>
                <c:pt idx="12">
                  <c:v>2.6035210000000002</c:v>
                </c:pt>
                <c:pt idx="13">
                  <c:v>2.6468980000000002</c:v>
                </c:pt>
                <c:pt idx="14">
                  <c:v>2.6852999999999998</c:v>
                </c:pt>
                <c:pt idx="15">
                  <c:v>2.7186780000000002</c:v>
                </c:pt>
                <c:pt idx="16">
                  <c:v>2.7470810000000001</c:v>
                </c:pt>
                <c:pt idx="17">
                  <c:v>2.7706339999999998</c:v>
                </c:pt>
                <c:pt idx="18">
                  <c:v>2.78952</c:v>
                </c:pt>
                <c:pt idx="19">
                  <c:v>2.8039679999999998</c:v>
                </c:pt>
                <c:pt idx="20">
                  <c:v>2.8142369999999999</c:v>
                </c:pt>
                <c:pt idx="21">
                  <c:v>2.8206069999999999</c:v>
                </c:pt>
                <c:pt idx="22">
                  <c:v>2.823372</c:v>
                </c:pt>
                <c:pt idx="23">
                  <c:v>2.822832</c:v>
                </c:pt>
                <c:pt idx="24">
                  <c:v>2.8192849999999998</c:v>
                </c:pt>
                <c:pt idx="25">
                  <c:v>2.8130269999999999</c:v>
                </c:pt>
                <c:pt idx="26">
                  <c:v>2.8043450000000001</c:v>
                </c:pt>
                <c:pt idx="27">
                  <c:v>2.7935150000000002</c:v>
                </c:pt>
                <c:pt idx="28">
                  <c:v>2.7808030000000001</c:v>
                </c:pt>
                <c:pt idx="29">
                  <c:v>2.7664589999999998</c:v>
                </c:pt>
                <c:pt idx="30">
                  <c:v>2.750718</c:v>
                </c:pt>
                <c:pt idx="31">
                  <c:v>2.7338010000000001</c:v>
                </c:pt>
                <c:pt idx="32">
                  <c:v>2.715913</c:v>
                </c:pt>
                <c:pt idx="33">
                  <c:v>2.697241</c:v>
                </c:pt>
                <c:pt idx="34">
                  <c:v>2.6779609999999998</c:v>
                </c:pt>
                <c:pt idx="35">
                  <c:v>2.658229</c:v>
                </c:pt>
                <c:pt idx="36">
                  <c:v>2.6381899999999998</c:v>
                </c:pt>
                <c:pt idx="37">
                  <c:v>2.6179739999999998</c:v>
                </c:pt>
                <c:pt idx="38">
                  <c:v>2.5976979999999998</c:v>
                </c:pt>
                <c:pt idx="39">
                  <c:v>2.5774650000000001</c:v>
                </c:pt>
                <c:pt idx="40">
                  <c:v>2.557369</c:v>
                </c:pt>
                <c:pt idx="41">
                  <c:v>2.5374889999999999</c:v>
                </c:pt>
                <c:pt idx="42">
                  <c:v>2.5178980000000002</c:v>
                </c:pt>
                <c:pt idx="43">
                  <c:v>2.4986570000000001</c:v>
                </c:pt>
                <c:pt idx="44">
                  <c:v>2.4798170000000002</c:v>
                </c:pt>
                <c:pt idx="45">
                  <c:v>2.4614250000000002</c:v>
                </c:pt>
                <c:pt idx="46">
                  <c:v>2.4435159999999998</c:v>
                </c:pt>
                <c:pt idx="47">
                  <c:v>2.4261219999999999</c:v>
                </c:pt>
                <c:pt idx="48">
                  <c:v>2.4092660000000001</c:v>
                </c:pt>
                <c:pt idx="49">
                  <c:v>2.3929670000000001</c:v>
                </c:pt>
                <c:pt idx="50">
                  <c:v>2.37724</c:v>
                </c:pt>
                <c:pt idx="51">
                  <c:v>2.3620930000000002</c:v>
                </c:pt>
                <c:pt idx="52">
                  <c:v>2.3475320000000002</c:v>
                </c:pt>
                <c:pt idx="53">
                  <c:v>2.333558</c:v>
                </c:pt>
                <c:pt idx="54">
                  <c:v>2.3201710000000002</c:v>
                </c:pt>
                <c:pt idx="55">
                  <c:v>2.307366</c:v>
                </c:pt>
                <c:pt idx="56">
                  <c:v>2.295137</c:v>
                </c:pt>
                <c:pt idx="57">
                  <c:v>2.2834750000000001</c:v>
                </c:pt>
                <c:pt idx="58">
                  <c:v>2.27237</c:v>
                </c:pt>
                <c:pt idx="59">
                  <c:v>2.2618119999999999</c:v>
                </c:pt>
                <c:pt idx="60">
                  <c:v>2.2517849999999999</c:v>
                </c:pt>
                <c:pt idx="61">
                  <c:v>2.2422780000000002</c:v>
                </c:pt>
                <c:pt idx="62">
                  <c:v>2.2332749999999999</c:v>
                </c:pt>
                <c:pt idx="63">
                  <c:v>2.2247599999999998</c:v>
                </c:pt>
                <c:pt idx="64">
                  <c:v>2.2167189999999999</c:v>
                </c:pt>
                <c:pt idx="65">
                  <c:v>2.2091340000000002</c:v>
                </c:pt>
                <c:pt idx="66">
                  <c:v>2.2019890000000002</c:v>
                </c:pt>
                <c:pt idx="67">
                  <c:v>2.1952690000000001</c:v>
                </c:pt>
                <c:pt idx="68">
                  <c:v>2.188955</c:v>
                </c:pt>
                <c:pt idx="69">
                  <c:v>2.183033</c:v>
                </c:pt>
                <c:pt idx="70">
                  <c:v>2.1774849999999999</c:v>
                </c:pt>
                <c:pt idx="71">
                  <c:v>2.1722959999999998</c:v>
                </c:pt>
                <c:pt idx="72">
                  <c:v>2.1674500000000001</c:v>
                </c:pt>
                <c:pt idx="73">
                  <c:v>2.1629309999999999</c:v>
                </c:pt>
                <c:pt idx="74">
                  <c:v>2.1587239999999999</c:v>
                </c:pt>
                <c:pt idx="75">
                  <c:v>2.1548159999999998</c:v>
                </c:pt>
                <c:pt idx="76">
                  <c:v>2.1511900000000002</c:v>
                </c:pt>
                <c:pt idx="77">
                  <c:v>2.1478350000000002</c:v>
                </c:pt>
                <c:pt idx="78">
                  <c:v>2.1447349999999998</c:v>
                </c:pt>
                <c:pt idx="79">
                  <c:v>2.1418789999999999</c:v>
                </c:pt>
                <c:pt idx="80">
                  <c:v>2.1392530000000001</c:v>
                </c:pt>
                <c:pt idx="81">
                  <c:v>2.1368469999999999</c:v>
                </c:pt>
                <c:pt idx="82">
                  <c:v>2.1346470000000002</c:v>
                </c:pt>
                <c:pt idx="83">
                  <c:v>2.132644</c:v>
                </c:pt>
                <c:pt idx="84">
                  <c:v>2.130827</c:v>
                </c:pt>
                <c:pt idx="85">
                  <c:v>2.1291850000000001</c:v>
                </c:pt>
                <c:pt idx="86">
                  <c:v>2.1277089999999999</c:v>
                </c:pt>
                <c:pt idx="87">
                  <c:v>2.1263890000000001</c:v>
                </c:pt>
                <c:pt idx="88">
                  <c:v>2.1252170000000001</c:v>
                </c:pt>
                <c:pt idx="89">
                  <c:v>2.1241840000000001</c:v>
                </c:pt>
                <c:pt idx="90">
                  <c:v>2.1232829999999998</c:v>
                </c:pt>
                <c:pt idx="91">
                  <c:v>2.122506</c:v>
                </c:pt>
                <c:pt idx="92">
                  <c:v>2.121845</c:v>
                </c:pt>
                <c:pt idx="93">
                  <c:v>2.1212930000000001</c:v>
                </c:pt>
                <c:pt idx="94">
                  <c:v>2.1208450000000001</c:v>
                </c:pt>
                <c:pt idx="95">
                  <c:v>2.1204939999999999</c:v>
                </c:pt>
                <c:pt idx="96">
                  <c:v>2.120234</c:v>
                </c:pt>
                <c:pt idx="97">
                  <c:v>2.1200600000000001</c:v>
                </c:pt>
                <c:pt idx="98">
                  <c:v>2.1199659999999998</c:v>
                </c:pt>
                <c:pt idx="99">
                  <c:v>2.1199469999999998</c:v>
                </c:pt>
                <c:pt idx="100">
                  <c:v>2.12</c:v>
                </c:pt>
              </c:numCache>
            </c:numRef>
          </c:yVal>
          <c:smooth val="1"/>
          <c:extLst>
            <c:ext xmlns:c16="http://schemas.microsoft.com/office/drawing/2014/chart" uri="{C3380CC4-5D6E-409C-BE32-E72D297353CC}">
              <c16:uniqueId val="{00000000-DE7A-415E-8589-8A13F4D0AABB}"/>
            </c:ext>
          </c:extLst>
        </c:ser>
        <c:ser>
          <c:idx val="1"/>
          <c:order val="1"/>
          <c:tx>
            <c:strRef>
              <c:f>Local native baseline</c:f>
              <c:strCache>
                <c:ptCount val="1"/>
                <c:pt idx="0">
                  <c:v>Local native baseline</c:v>
                </c:pt>
              </c:strCache>
            </c:strRef>
          </c:tx>
          <c:spPr>
            <a:ln w="19050" cap="rnd">
              <a:solidFill>
                <a:srgbClr val="B96D20"/>
              </a:solidFill>
              <a:prstDash val="solid"/>
              <a:round/>
            </a:ln>
          </c:spPr>
          <c:marker>
            <c:symbol val="none"/>
          </c:marker>
          <c:xVal>
            <c:numRef>
              <c:f>'Chart Data'!$C$2:$C$3</c:f>
              <c:numCache>
                <c:formatCode>General</c:formatCode>
                <c:ptCount val="2"/>
                <c:pt idx="0">
                  <c:v>0</c:v>
                </c:pt>
                <c:pt idx="1">
                  <c:v>1</c:v>
                </c:pt>
              </c:numCache>
            </c:numRef>
          </c:xVal>
          <c:yVal>
            <c:numRef>
              <c:f>'Chart Data'!$D$2:$D$3</c:f>
              <c:numCache>
                <c:formatCode>0.0</c:formatCode>
                <c:ptCount val="2"/>
                <c:pt idx="0">
                  <c:v>2</c:v>
                </c:pt>
                <c:pt idx="1">
                  <c:v>2.12</c:v>
                </c:pt>
              </c:numCache>
            </c:numRef>
          </c:yVal>
          <c:smooth val="1"/>
          <c:extLst>
            <c:ext xmlns:c16="http://schemas.microsoft.com/office/drawing/2014/chart" uri="{C3380CC4-5D6E-409C-BE32-E72D297353CC}">
              <c16:uniqueId val="{00000001-DE7A-415E-8589-8A13F4D0AABB}"/>
            </c:ext>
          </c:extLst>
        </c:ser>
        <c:ser>
          <c:idx val="2"/>
          <c:order val="2"/>
          <c:tx>
            <c:strRef>
              <c:f>DC</c:f>
              <c:strCache>
                <c:ptCount val="1"/>
                <c:pt idx="0">
                  <c:v>DC</c:v>
                </c:pt>
              </c:strCache>
            </c:strRef>
          </c:tx>
          <c:spPr>
            <a:ln w="28575" cap="rnd">
              <a:solidFill>
                <a:srgbClr val="7056A8"/>
              </a:solidFill>
              <a:prstDash val="solid"/>
              <a:round/>
            </a:ln>
          </c:spPr>
          <c:marker>
            <c:symbol val="none"/>
          </c:marker>
          <c:xVal>
            <c:numRef>
              <c:f>'Chart Data'!$E$2:$E$3</c:f>
              <c:numCache>
                <c:formatCode>General</c:formatCode>
                <c:ptCount val="2"/>
                <c:pt idx="0">
                  <c:v>0.22</c:v>
                </c:pt>
                <c:pt idx="1">
                  <c:v>0.22</c:v>
                </c:pt>
              </c:numCache>
            </c:numRef>
          </c:xVal>
          <c:yVal>
            <c:numRef>
              <c:f>'Chart Data'!$F$2:$F$3</c:f>
              <c:numCache>
                <c:formatCode>0.0</c:formatCode>
                <c:ptCount val="2"/>
                <c:pt idx="0">
                  <c:v>0</c:v>
                </c:pt>
                <c:pt idx="1">
                  <c:v>2.0264000000000002</c:v>
                </c:pt>
              </c:numCache>
            </c:numRef>
          </c:yVal>
          <c:smooth val="1"/>
          <c:extLst>
            <c:ext xmlns:c16="http://schemas.microsoft.com/office/drawing/2014/chart" uri="{C3380CC4-5D6E-409C-BE32-E72D297353CC}">
              <c16:uniqueId val="{00000002-DE7A-415E-8589-8A13F4D0AABB}"/>
            </c:ext>
          </c:extLst>
        </c:ser>
        <c:dLbls>
          <c:showLegendKey val="0"/>
          <c:showVal val="0"/>
          <c:showCatName val="0"/>
          <c:showSerName val="0"/>
          <c:showPercent val="0"/>
          <c:showBubbleSize val="0"/>
        </c:dLbls>
        <c:axId val="48650112"/>
        <c:axId val="48672768"/>
      </c:scatterChart>
      <c:valAx>
        <c:axId val="48650112"/>
        <c:scaling>
          <c:orientation val="minMax"/>
          <c:max val="1"/>
          <c:min val="0"/>
        </c:scaling>
        <c:delete val="0"/>
        <c:axPos val="b"/>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0.2"/>
      </c:valAx>
      <c:valAx>
        <c:axId val="48672768"/>
        <c:scaling>
          <c:orientation val="minMax"/>
          <c:max val="3.3"/>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Native PPG</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de0cb7f8-aa4c-41dc-a705-4d03d2c4cae3}"/>
      </c:ext>
    </c:extLst>
  </c:chart>
  <c:spPr>
    <a:solidFill>
      <a:srgbClr val="FFFFFF"/>
    </a:solidFill>
    <a:ln w="0">
      <a:noFill/>
    </a:ln>
  </c:spPr>
  <c:txPr>
    <a:bodyPr/>
    <a:lstStyle/>
    <a:p>
      <a:pPr>
        <a:defRPr lang="zh-CN"/>
      </a:pPr>
      <a:endParaRPr lang="zh-CN"/>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Filtered optical signal</c:f>
              <c:strCache>
                <c:ptCount val="1"/>
                <c:pt idx="0">
                  <c:v>Filtered optical signal</c:v>
                </c:pt>
              </c:strCache>
            </c:strRef>
          </c:tx>
          <c:spPr>
            <a:ln w="23813" cap="rnd">
              <a:solidFill>
                <a:srgbClr val="087E8B"/>
              </a:solidFill>
              <a:prstDash val="solid"/>
              <a:round/>
            </a:ln>
          </c:spPr>
          <c:marker>
            <c:symbol val="none"/>
          </c:marker>
          <c:xVal>
            <c:numRef>
              <c:f>'Chart Data'!$A$2:$A$102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Data'!$B$2:$B$102</c:f>
              <c:numCache>
                <c:formatCode>0.0</c:formatCode>
                <c:ptCount val="101"/>
                <c:pt idx="0">
                  <c:v>-0.02</c:v>
                </c:pt>
                <c:pt idx="1">
                  <c:v>-8.5859999999999999E-3</c:v>
                </c:pt>
                <c:pt idx="2">
                  <c:v>2.1256000000000001E-2</c:v>
                </c:pt>
                <c:pt idx="3">
                  <c:v>6.4468999999999999E-2</c:v>
                </c:pt>
                <c:pt idx="4">
                  <c:v>0.11688999999999999</c:v>
                </c:pt>
                <c:pt idx="5">
                  <c:v>0.175118</c:v>
                </c:pt>
                <c:pt idx="6">
                  <c:v>0.236403</c:v>
                </c:pt>
                <c:pt idx="7">
                  <c:v>0.29854599999999998</c:v>
                </c:pt>
                <c:pt idx="8">
                  <c:v>0.35981299999999999</c:v>
                </c:pt>
                <c:pt idx="9">
                  <c:v>0.41886400000000001</c:v>
                </c:pt>
                <c:pt idx="10">
                  <c:v>0.474686</c:v>
                </c:pt>
                <c:pt idx="11">
                  <c:v>0.52654199999999995</c:v>
                </c:pt>
                <c:pt idx="12">
                  <c:v>0.57392100000000001</c:v>
                </c:pt>
                <c:pt idx="13">
                  <c:v>0.61649799999999999</c:v>
                </c:pt>
                <c:pt idx="14">
                  <c:v>0.65410000000000001</c:v>
                </c:pt>
                <c:pt idx="15">
                  <c:v>0.68667800000000001</c:v>
                </c:pt>
                <c:pt idx="16">
                  <c:v>0.71428100000000005</c:v>
                </c:pt>
                <c:pt idx="17">
                  <c:v>0.73703399999999997</c:v>
                </c:pt>
                <c:pt idx="18">
                  <c:v>0.75512000000000001</c:v>
                </c:pt>
                <c:pt idx="19">
                  <c:v>0.76876800000000001</c:v>
                </c:pt>
                <c:pt idx="20">
                  <c:v>0.77823699999999996</c:v>
                </c:pt>
                <c:pt idx="21">
                  <c:v>0.78380700000000003</c:v>
                </c:pt>
                <c:pt idx="22">
                  <c:v>0.78577200000000003</c:v>
                </c:pt>
                <c:pt idx="23">
                  <c:v>0.78443200000000002</c:v>
                </c:pt>
                <c:pt idx="24">
                  <c:v>0.78008500000000003</c:v>
                </c:pt>
                <c:pt idx="25">
                  <c:v>0.77302700000000002</c:v>
                </c:pt>
                <c:pt idx="26">
                  <c:v>0.76354500000000003</c:v>
                </c:pt>
                <c:pt idx="27">
                  <c:v>0.751915</c:v>
                </c:pt>
                <c:pt idx="28">
                  <c:v>0.73840300000000003</c:v>
                </c:pt>
                <c:pt idx="29">
                  <c:v>0.72325899999999999</c:v>
                </c:pt>
                <c:pt idx="30">
                  <c:v>0.70671799999999996</c:v>
                </c:pt>
                <c:pt idx="31">
                  <c:v>0.68900099999999997</c:v>
                </c:pt>
                <c:pt idx="32">
                  <c:v>0.67031300000000005</c:v>
                </c:pt>
                <c:pt idx="33">
                  <c:v>0.650841</c:v>
                </c:pt>
                <c:pt idx="34">
                  <c:v>0.63076100000000002</c:v>
                </c:pt>
                <c:pt idx="35">
                  <c:v>0.61022900000000002</c:v>
                </c:pt>
                <c:pt idx="36">
                  <c:v>0.58938999999999997</c:v>
                </c:pt>
                <c:pt idx="37">
                  <c:v>0.56837400000000005</c:v>
                </c:pt>
                <c:pt idx="38">
                  <c:v>0.54729799999999995</c:v>
                </c:pt>
                <c:pt idx="39">
                  <c:v>0.52626499999999998</c:v>
                </c:pt>
                <c:pt idx="40">
                  <c:v>0.50536899999999996</c:v>
                </c:pt>
                <c:pt idx="41">
                  <c:v>0.48468899999999998</c:v>
                </c:pt>
                <c:pt idx="42">
                  <c:v>0.46429799999999999</c:v>
                </c:pt>
                <c:pt idx="43">
                  <c:v>0.44425700000000001</c:v>
                </c:pt>
                <c:pt idx="44">
                  <c:v>0.42461700000000002</c:v>
                </c:pt>
                <c:pt idx="45">
                  <c:v>0.40542499999999998</c:v>
                </c:pt>
                <c:pt idx="46">
                  <c:v>0.386716</c:v>
                </c:pt>
                <c:pt idx="47">
                  <c:v>0.36852200000000002</c:v>
                </c:pt>
                <c:pt idx="48">
                  <c:v>0.35086600000000001</c:v>
                </c:pt>
                <c:pt idx="49">
                  <c:v>0.33376699999999998</c:v>
                </c:pt>
                <c:pt idx="50">
                  <c:v>0.31724000000000002</c:v>
                </c:pt>
                <c:pt idx="51">
                  <c:v>0.30129299999999998</c:v>
                </c:pt>
                <c:pt idx="52">
                  <c:v>0.28593200000000002</c:v>
                </c:pt>
                <c:pt idx="53">
                  <c:v>0.27115800000000001</c:v>
                </c:pt>
                <c:pt idx="54">
                  <c:v>0.256971</c:v>
                </c:pt>
                <c:pt idx="55">
                  <c:v>0.243366</c:v>
                </c:pt>
                <c:pt idx="56">
                  <c:v>0.23033699999999999</c:v>
                </c:pt>
                <c:pt idx="57">
                  <c:v>0.21787500000000001</c:v>
                </c:pt>
                <c:pt idx="58">
                  <c:v>0.20596999999999999</c:v>
                </c:pt>
                <c:pt idx="59">
                  <c:v>0.19461200000000001</c:v>
                </c:pt>
                <c:pt idx="60">
                  <c:v>0.183785</c:v>
                </c:pt>
                <c:pt idx="61">
                  <c:v>0.17347799999999999</c:v>
                </c:pt>
                <c:pt idx="62">
                  <c:v>0.16367499999999999</c:v>
                </c:pt>
                <c:pt idx="63">
                  <c:v>0.15436</c:v>
                </c:pt>
                <c:pt idx="64">
                  <c:v>0.14551900000000001</c:v>
                </c:pt>
                <c:pt idx="65">
                  <c:v>0.13713400000000001</c:v>
                </c:pt>
                <c:pt idx="66">
                  <c:v>0.129189</c:v>
                </c:pt>
                <c:pt idx="67">
                  <c:v>0.121669</c:v>
                </c:pt>
                <c:pt idx="68">
                  <c:v>0.114555</c:v>
                </c:pt>
                <c:pt idx="69">
                  <c:v>0.107833</c:v>
                </c:pt>
                <c:pt idx="70">
                  <c:v>0.10148500000000001</c:v>
                </c:pt>
                <c:pt idx="71">
                  <c:v>9.5495999999999998E-2</c:v>
                </c:pt>
                <c:pt idx="72">
                  <c:v>8.9849999999999999E-2</c:v>
                </c:pt>
                <c:pt idx="73">
                  <c:v>8.4530999999999995E-2</c:v>
                </c:pt>
                <c:pt idx="74">
                  <c:v>7.9523999999999997E-2</c:v>
                </c:pt>
                <c:pt idx="75">
                  <c:v>7.4815999999999994E-2</c:v>
                </c:pt>
                <c:pt idx="76">
                  <c:v>7.0389999999999994E-2</c:v>
                </c:pt>
                <c:pt idx="77">
                  <c:v>6.6235000000000002E-2</c:v>
                </c:pt>
                <c:pt idx="78">
                  <c:v>6.2335000000000002E-2</c:v>
                </c:pt>
                <c:pt idx="79">
                  <c:v>5.8679000000000002E-2</c:v>
                </c:pt>
                <c:pt idx="80">
                  <c:v>5.5252999999999997E-2</c:v>
                </c:pt>
                <c:pt idx="81">
                  <c:v>5.2047000000000003E-2</c:v>
                </c:pt>
                <c:pt idx="82">
                  <c:v>4.9047E-2</c:v>
                </c:pt>
                <c:pt idx="83">
                  <c:v>4.6244E-2</c:v>
                </c:pt>
                <c:pt idx="84">
                  <c:v>4.3626999999999999E-2</c:v>
                </c:pt>
                <c:pt idx="85">
                  <c:v>4.1184999999999999E-2</c:v>
                </c:pt>
                <c:pt idx="86">
                  <c:v>3.8908999999999999E-2</c:v>
                </c:pt>
                <c:pt idx="87">
                  <c:v>3.6789000000000002E-2</c:v>
                </c:pt>
                <c:pt idx="88">
                  <c:v>3.4817000000000001E-2</c:v>
                </c:pt>
                <c:pt idx="89">
                  <c:v>3.2983999999999999E-2</c:v>
                </c:pt>
                <c:pt idx="90">
                  <c:v>3.1282999999999998E-2</c:v>
                </c:pt>
                <c:pt idx="91">
                  <c:v>2.9706E-2</c:v>
                </c:pt>
                <c:pt idx="92">
                  <c:v>2.8244999999999999E-2</c:v>
                </c:pt>
                <c:pt idx="93">
                  <c:v>2.6893E-2</c:v>
                </c:pt>
                <c:pt idx="94">
                  <c:v>2.5645000000000001E-2</c:v>
                </c:pt>
                <c:pt idx="95">
                  <c:v>2.4493999999999998E-2</c:v>
                </c:pt>
                <c:pt idx="96">
                  <c:v>2.3434E-2</c:v>
                </c:pt>
                <c:pt idx="97">
                  <c:v>2.2460000000000001E-2</c:v>
                </c:pt>
                <c:pt idx="98">
                  <c:v>2.1565999999999998E-2</c:v>
                </c:pt>
                <c:pt idx="99">
                  <c:v>2.0747000000000002E-2</c:v>
                </c:pt>
                <c:pt idx="100">
                  <c:v>0.02</c:v>
                </c:pt>
              </c:numCache>
            </c:numRef>
          </c:yVal>
          <c:smooth val="1"/>
          <c:extLst>
            <c:ext xmlns:c16="http://schemas.microsoft.com/office/drawing/2014/chart" uri="{C3380CC4-5D6E-409C-BE32-E72D297353CC}">
              <c16:uniqueId val="{00000000-143E-44A2-8B62-CF3CBA06AC9C}"/>
            </c:ext>
          </c:extLst>
        </c:ser>
        <c:ser>
          <c:idx val="1"/>
          <c:order val="1"/>
          <c:tx>
            <c:strRef>
              <c:f>Local filtered baseline</c:f>
              <c:strCache>
                <c:ptCount val="1"/>
                <c:pt idx="0">
                  <c:v>Local filtered baseline</c:v>
                </c:pt>
              </c:strCache>
            </c:strRef>
          </c:tx>
          <c:spPr>
            <a:ln w="19050" cap="rnd">
              <a:solidFill>
                <a:srgbClr val="B96D20"/>
              </a:solidFill>
              <a:prstDash val="solid"/>
              <a:round/>
            </a:ln>
          </c:spPr>
          <c:marker>
            <c:symbol val="none"/>
          </c:marker>
          <c:xVal>
            <c:numRef>
              <c:f>'Chart Data'!$C$2:$C$3</c:f>
              <c:numCache>
                <c:formatCode>General</c:formatCode>
                <c:ptCount val="2"/>
                <c:pt idx="0">
                  <c:v>0</c:v>
                </c:pt>
                <c:pt idx="1">
                  <c:v>1</c:v>
                </c:pt>
              </c:numCache>
            </c:numRef>
          </c:xVal>
          <c:yVal>
            <c:numRef>
              <c:f>'Chart Data'!$D$2:$D$3</c:f>
              <c:numCache>
                <c:formatCode>0.0</c:formatCode>
                <c:ptCount val="2"/>
                <c:pt idx="0">
                  <c:v>-0.02</c:v>
                </c:pt>
                <c:pt idx="1">
                  <c:v>0.02</c:v>
                </c:pt>
              </c:numCache>
            </c:numRef>
          </c:yVal>
          <c:smooth val="1"/>
          <c:extLst>
            <c:ext xmlns:c16="http://schemas.microsoft.com/office/drawing/2014/chart" uri="{C3380CC4-5D6E-409C-BE32-E72D297353CC}">
              <c16:uniqueId val="{00000001-143E-44A2-8B62-CF3CBA06AC9C}"/>
            </c:ext>
          </c:extLst>
        </c:ser>
        <c:ser>
          <c:idx val="2"/>
          <c:order val="2"/>
          <c:tx>
            <c:strRef>
              <c:f>AC</c:f>
              <c:strCache>
                <c:ptCount val="1"/>
                <c:pt idx="0">
                  <c:v>AC</c:v>
                </c:pt>
              </c:strCache>
            </c:strRef>
          </c:tx>
          <c:spPr>
            <a:ln w="28575" cap="rnd">
              <a:solidFill>
                <a:srgbClr val="7056A8"/>
              </a:solidFill>
              <a:prstDash val="solid"/>
              <a:round/>
            </a:ln>
          </c:spPr>
          <c:marker>
            <c:symbol val="none"/>
          </c:marker>
          <c:xVal>
            <c:numRef>
              <c:f>'Chart Data'!$E$2:$E$3</c:f>
              <c:numCache>
                <c:formatCode>General</c:formatCode>
                <c:ptCount val="2"/>
                <c:pt idx="0">
                  <c:v>0.22</c:v>
                </c:pt>
                <c:pt idx="1">
                  <c:v>0.22</c:v>
                </c:pt>
              </c:numCache>
            </c:numRef>
          </c:xVal>
          <c:yVal>
            <c:numRef>
              <c:f>'Chart Data'!$F$2:$F$3</c:f>
              <c:numCache>
                <c:formatCode>0.0</c:formatCode>
                <c:ptCount val="2"/>
                <c:pt idx="0">
                  <c:v>-1.12E-2</c:v>
                </c:pt>
                <c:pt idx="1">
                  <c:v>0.78577200000000003</c:v>
                </c:pt>
              </c:numCache>
            </c:numRef>
          </c:yVal>
          <c:smooth val="1"/>
          <c:extLst>
            <c:ext xmlns:c16="http://schemas.microsoft.com/office/drawing/2014/chart" uri="{C3380CC4-5D6E-409C-BE32-E72D297353CC}">
              <c16:uniqueId val="{00000002-143E-44A2-8B62-CF3CBA06AC9C}"/>
            </c:ext>
          </c:extLst>
        </c:ser>
        <c:dLbls>
          <c:showLegendKey val="0"/>
          <c:showVal val="0"/>
          <c:showCatName val="0"/>
          <c:showSerName val="0"/>
          <c:showPercent val="0"/>
          <c:showBubbleSize val="0"/>
        </c:dLbls>
        <c:axId val="48650112"/>
        <c:axId val="48672768"/>
      </c:scatterChart>
      <c:valAx>
        <c:axId val="48650112"/>
        <c:scaling>
          <c:orientation val="minMax"/>
          <c:max val="1"/>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0.2"/>
      </c:valAx>
      <c:valAx>
        <c:axId val="48672768"/>
        <c:scaling>
          <c:orientation val="minMax"/>
          <c:max val="1"/>
          <c:min val="-0.1"/>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Filtered PPG</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0b35fa1c-7406-484a-a19a-522bcbbc6e64}"/>
      </c:ext>
    </c:extLst>
  </c:chart>
  <c:spPr>
    <a:solidFill>
      <a:srgbClr val="FFFFFF"/>
    </a:solidFill>
    <a:ln w="0">
      <a:noFill/>
    </a:ln>
  </c:spPr>
  <c:txPr>
    <a:bodyPr/>
    <a:lstStyle/>
    <a:p>
      <a:pPr>
        <a:defRPr lang="zh-CN"/>
      </a:pPr>
      <a:endParaRPr lang="zh-CN"/>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400 Hz grid</c:f>
              <c:strCache>
                <c:ptCount val="1"/>
                <c:pt idx="0">
                  <c:v>400 Hz grid</c:v>
                </c:pt>
              </c:strCache>
            </c:strRef>
          </c:tx>
          <c:spPr>
            <a:ln w="19050" cap="rnd">
              <a:solidFill>
                <a:srgbClr val="087E8B"/>
              </a:solidFill>
              <a:prstDash val="solid"/>
              <a:round/>
            </a:ln>
          </c:spPr>
          <c:marker>
            <c:symbol val="none"/>
          </c:marker>
          <c:xVal>
            <c:numRef>
              <c:f>'Chart Data'!$A$2:$A$162</c:f>
              <c:numCache>
                <c:formatCode>General</c:formatCode>
                <c:ptCount val="161"/>
                <c:pt idx="0">
                  <c:v>0</c:v>
                </c:pt>
                <c:pt idx="1">
                  <c:v>2.5000000000000001E-3</c:v>
                </c:pt>
                <c:pt idx="2">
                  <c:v>5.0000000000000001E-3</c:v>
                </c:pt>
                <c:pt idx="3">
                  <c:v>7.4999999999999997E-3</c:v>
                </c:pt>
                <c:pt idx="4">
                  <c:v>0.01</c:v>
                </c:pt>
                <c:pt idx="5">
                  <c:v>1.2500000000000001E-2</c:v>
                </c:pt>
                <c:pt idx="6">
                  <c:v>1.4999999999999999E-2</c:v>
                </c:pt>
                <c:pt idx="7">
                  <c:v>1.7500000000000002E-2</c:v>
                </c:pt>
                <c:pt idx="8">
                  <c:v>0.02</c:v>
                </c:pt>
                <c:pt idx="9">
                  <c:v>2.2499999999999999E-2</c:v>
                </c:pt>
                <c:pt idx="10">
                  <c:v>2.5000000000000001E-2</c:v>
                </c:pt>
                <c:pt idx="11">
                  <c:v>2.75E-2</c:v>
                </c:pt>
                <c:pt idx="12">
                  <c:v>0.03</c:v>
                </c:pt>
                <c:pt idx="13">
                  <c:v>3.2500000000000001E-2</c:v>
                </c:pt>
                <c:pt idx="14">
                  <c:v>3.5000000000000003E-2</c:v>
                </c:pt>
                <c:pt idx="15">
                  <c:v>3.7499999999999999E-2</c:v>
                </c:pt>
                <c:pt idx="16">
                  <c:v>0.04</c:v>
                </c:pt>
                <c:pt idx="17">
                  <c:v>4.2500000000000003E-2</c:v>
                </c:pt>
                <c:pt idx="18">
                  <c:v>4.4999999999999998E-2</c:v>
                </c:pt>
                <c:pt idx="19">
                  <c:v>4.7500000000000001E-2</c:v>
                </c:pt>
                <c:pt idx="20">
                  <c:v>0.05</c:v>
                </c:pt>
                <c:pt idx="21">
                  <c:v>5.2499999999999998E-2</c:v>
                </c:pt>
                <c:pt idx="22">
                  <c:v>5.5E-2</c:v>
                </c:pt>
                <c:pt idx="23">
                  <c:v>5.7500000000000002E-2</c:v>
                </c:pt>
                <c:pt idx="24">
                  <c:v>0.06</c:v>
                </c:pt>
                <c:pt idx="25">
                  <c:v>6.25E-2</c:v>
                </c:pt>
                <c:pt idx="26">
                  <c:v>6.5000000000000002E-2</c:v>
                </c:pt>
                <c:pt idx="27">
                  <c:v>6.7500000000000004E-2</c:v>
                </c:pt>
                <c:pt idx="28">
                  <c:v>7.0000000000000007E-2</c:v>
                </c:pt>
                <c:pt idx="29">
                  <c:v>7.2499999999999995E-2</c:v>
                </c:pt>
                <c:pt idx="30">
                  <c:v>7.4999999999999997E-2</c:v>
                </c:pt>
                <c:pt idx="31">
                  <c:v>7.7499999999999999E-2</c:v>
                </c:pt>
                <c:pt idx="32">
                  <c:v>0.08</c:v>
                </c:pt>
                <c:pt idx="33">
                  <c:v>8.2500000000000004E-2</c:v>
                </c:pt>
                <c:pt idx="34">
                  <c:v>8.5000000000000006E-2</c:v>
                </c:pt>
                <c:pt idx="35">
                  <c:v>8.7499999999999994E-2</c:v>
                </c:pt>
                <c:pt idx="36">
                  <c:v>0.09</c:v>
                </c:pt>
                <c:pt idx="37">
                  <c:v>9.2499999999999999E-2</c:v>
                </c:pt>
                <c:pt idx="38">
                  <c:v>9.5000000000000001E-2</c:v>
                </c:pt>
                <c:pt idx="39">
                  <c:v>9.7500000000000003E-2</c:v>
                </c:pt>
                <c:pt idx="40">
                  <c:v>0.1</c:v>
                </c:pt>
                <c:pt idx="41">
                  <c:v>0.10249999999999999</c:v>
                </c:pt>
                <c:pt idx="42">
                  <c:v>0.105</c:v>
                </c:pt>
                <c:pt idx="43">
                  <c:v>0.1075</c:v>
                </c:pt>
                <c:pt idx="44">
                  <c:v>0.11</c:v>
                </c:pt>
                <c:pt idx="45">
                  <c:v>0.1125</c:v>
                </c:pt>
                <c:pt idx="46">
                  <c:v>0.115</c:v>
                </c:pt>
                <c:pt idx="47">
                  <c:v>0.11749999999999999</c:v>
                </c:pt>
                <c:pt idx="48">
                  <c:v>0.12</c:v>
                </c:pt>
                <c:pt idx="49">
                  <c:v>0.1225</c:v>
                </c:pt>
                <c:pt idx="50">
                  <c:v>0.125</c:v>
                </c:pt>
                <c:pt idx="51">
                  <c:v>0.1275</c:v>
                </c:pt>
                <c:pt idx="52">
                  <c:v>0.13</c:v>
                </c:pt>
                <c:pt idx="53">
                  <c:v>0.13250000000000001</c:v>
                </c:pt>
                <c:pt idx="54">
                  <c:v>0.13500000000000001</c:v>
                </c:pt>
                <c:pt idx="55">
                  <c:v>0.13750000000000001</c:v>
                </c:pt>
                <c:pt idx="56">
                  <c:v>0.14000000000000001</c:v>
                </c:pt>
                <c:pt idx="57">
                  <c:v>0.14249999999999999</c:v>
                </c:pt>
                <c:pt idx="58">
                  <c:v>0.14499999999999999</c:v>
                </c:pt>
                <c:pt idx="59">
                  <c:v>0.14749999999999999</c:v>
                </c:pt>
                <c:pt idx="60">
                  <c:v>0.15</c:v>
                </c:pt>
                <c:pt idx="61">
                  <c:v>0.1525</c:v>
                </c:pt>
                <c:pt idx="62">
                  <c:v>0.155</c:v>
                </c:pt>
                <c:pt idx="63">
                  <c:v>0.1575</c:v>
                </c:pt>
                <c:pt idx="64">
                  <c:v>0.16</c:v>
                </c:pt>
                <c:pt idx="65">
                  <c:v>0.16250000000000001</c:v>
                </c:pt>
                <c:pt idx="66">
                  <c:v>0.16500000000000001</c:v>
                </c:pt>
                <c:pt idx="67">
                  <c:v>0.16750000000000001</c:v>
                </c:pt>
                <c:pt idx="68">
                  <c:v>0.17</c:v>
                </c:pt>
                <c:pt idx="69">
                  <c:v>0.17249999999999999</c:v>
                </c:pt>
                <c:pt idx="70">
                  <c:v>0.17499999999999999</c:v>
                </c:pt>
                <c:pt idx="71">
                  <c:v>0.17749999999999999</c:v>
                </c:pt>
                <c:pt idx="72">
                  <c:v>0.18</c:v>
                </c:pt>
                <c:pt idx="73">
                  <c:v>0.1825</c:v>
                </c:pt>
                <c:pt idx="74">
                  <c:v>0.185</c:v>
                </c:pt>
                <c:pt idx="75">
                  <c:v>0.1875</c:v>
                </c:pt>
                <c:pt idx="76">
                  <c:v>0.19</c:v>
                </c:pt>
                <c:pt idx="77">
                  <c:v>0.1925</c:v>
                </c:pt>
                <c:pt idx="78">
                  <c:v>0.19500000000000001</c:v>
                </c:pt>
                <c:pt idx="79">
                  <c:v>0.19750000000000001</c:v>
                </c:pt>
                <c:pt idx="80">
                  <c:v>0.2</c:v>
                </c:pt>
                <c:pt idx="81">
                  <c:v>0.20250000000000001</c:v>
                </c:pt>
                <c:pt idx="82">
                  <c:v>0.20499999999999999</c:v>
                </c:pt>
                <c:pt idx="83">
                  <c:v>0.20749999999999999</c:v>
                </c:pt>
                <c:pt idx="84">
                  <c:v>0.21</c:v>
                </c:pt>
                <c:pt idx="85">
                  <c:v>0.21249999999999999</c:v>
                </c:pt>
                <c:pt idx="86">
                  <c:v>0.215</c:v>
                </c:pt>
                <c:pt idx="87">
                  <c:v>0.2175</c:v>
                </c:pt>
                <c:pt idx="88">
                  <c:v>0.22</c:v>
                </c:pt>
                <c:pt idx="89">
                  <c:v>0.2225</c:v>
                </c:pt>
                <c:pt idx="90">
                  <c:v>0.22500000000000001</c:v>
                </c:pt>
                <c:pt idx="91">
                  <c:v>0.22750000000000001</c:v>
                </c:pt>
                <c:pt idx="92">
                  <c:v>0.23</c:v>
                </c:pt>
                <c:pt idx="93">
                  <c:v>0.23250000000000001</c:v>
                </c:pt>
                <c:pt idx="94">
                  <c:v>0.23499999999999999</c:v>
                </c:pt>
                <c:pt idx="95">
                  <c:v>0.23749999999999999</c:v>
                </c:pt>
                <c:pt idx="96">
                  <c:v>0.24</c:v>
                </c:pt>
                <c:pt idx="97">
                  <c:v>0.24249999999999999</c:v>
                </c:pt>
                <c:pt idx="98">
                  <c:v>0.245</c:v>
                </c:pt>
                <c:pt idx="99">
                  <c:v>0.2475</c:v>
                </c:pt>
                <c:pt idx="100">
                  <c:v>0.25</c:v>
                </c:pt>
                <c:pt idx="101">
                  <c:v>0.2525</c:v>
                </c:pt>
                <c:pt idx="102">
                  <c:v>0.255</c:v>
                </c:pt>
                <c:pt idx="103">
                  <c:v>0.25750000000000001</c:v>
                </c:pt>
                <c:pt idx="104">
                  <c:v>0.26</c:v>
                </c:pt>
                <c:pt idx="105">
                  <c:v>0.26250000000000001</c:v>
                </c:pt>
                <c:pt idx="106">
                  <c:v>0.26500000000000001</c:v>
                </c:pt>
                <c:pt idx="107">
                  <c:v>0.26750000000000002</c:v>
                </c:pt>
                <c:pt idx="108">
                  <c:v>0.27</c:v>
                </c:pt>
                <c:pt idx="109">
                  <c:v>0.27250000000000002</c:v>
                </c:pt>
                <c:pt idx="110">
                  <c:v>0.27500000000000002</c:v>
                </c:pt>
                <c:pt idx="111">
                  <c:v>0.27750000000000002</c:v>
                </c:pt>
                <c:pt idx="112">
                  <c:v>0.28000000000000003</c:v>
                </c:pt>
                <c:pt idx="113">
                  <c:v>0.28249999999999997</c:v>
                </c:pt>
                <c:pt idx="114">
                  <c:v>0.28499999999999998</c:v>
                </c:pt>
                <c:pt idx="115">
                  <c:v>0.28749999999999998</c:v>
                </c:pt>
                <c:pt idx="116">
                  <c:v>0.28999999999999998</c:v>
                </c:pt>
                <c:pt idx="117">
                  <c:v>0.29249999999999998</c:v>
                </c:pt>
                <c:pt idx="118">
                  <c:v>0.29499999999999998</c:v>
                </c:pt>
                <c:pt idx="119">
                  <c:v>0.29749999999999999</c:v>
                </c:pt>
                <c:pt idx="120">
                  <c:v>0.3</c:v>
                </c:pt>
                <c:pt idx="121">
                  <c:v>0.30249999999999999</c:v>
                </c:pt>
                <c:pt idx="122">
                  <c:v>0.30499999999999999</c:v>
                </c:pt>
                <c:pt idx="123">
                  <c:v>0.3075</c:v>
                </c:pt>
                <c:pt idx="124">
                  <c:v>0.31</c:v>
                </c:pt>
                <c:pt idx="125">
                  <c:v>0.3125</c:v>
                </c:pt>
                <c:pt idx="126">
                  <c:v>0.315</c:v>
                </c:pt>
                <c:pt idx="127">
                  <c:v>0.3175</c:v>
                </c:pt>
                <c:pt idx="128">
                  <c:v>0.32</c:v>
                </c:pt>
                <c:pt idx="129">
                  <c:v>0.32250000000000001</c:v>
                </c:pt>
                <c:pt idx="130">
                  <c:v>0.32500000000000001</c:v>
                </c:pt>
                <c:pt idx="131">
                  <c:v>0.32750000000000001</c:v>
                </c:pt>
                <c:pt idx="132">
                  <c:v>0.33</c:v>
                </c:pt>
                <c:pt idx="133">
                  <c:v>0.33250000000000002</c:v>
                </c:pt>
                <c:pt idx="134">
                  <c:v>0.33500000000000002</c:v>
                </c:pt>
                <c:pt idx="135">
                  <c:v>0.33750000000000002</c:v>
                </c:pt>
                <c:pt idx="136">
                  <c:v>0.34</c:v>
                </c:pt>
                <c:pt idx="137">
                  <c:v>0.34250000000000003</c:v>
                </c:pt>
                <c:pt idx="138">
                  <c:v>0.34499999999999997</c:v>
                </c:pt>
                <c:pt idx="139">
                  <c:v>0.34749999999999998</c:v>
                </c:pt>
                <c:pt idx="140">
                  <c:v>0.35</c:v>
                </c:pt>
                <c:pt idx="141">
                  <c:v>0.35249999999999998</c:v>
                </c:pt>
                <c:pt idx="142">
                  <c:v>0.35499999999999998</c:v>
                </c:pt>
                <c:pt idx="143">
                  <c:v>0.35749999999999998</c:v>
                </c:pt>
                <c:pt idx="144">
                  <c:v>0.36</c:v>
                </c:pt>
                <c:pt idx="145">
                  <c:v>0.36249999999999999</c:v>
                </c:pt>
                <c:pt idx="146">
                  <c:v>0.36499999999999999</c:v>
                </c:pt>
                <c:pt idx="147">
                  <c:v>0.36749999999999999</c:v>
                </c:pt>
                <c:pt idx="148">
                  <c:v>0.37</c:v>
                </c:pt>
                <c:pt idx="149">
                  <c:v>0.3725</c:v>
                </c:pt>
                <c:pt idx="150">
                  <c:v>0.375</c:v>
                </c:pt>
                <c:pt idx="151">
                  <c:v>0.3775</c:v>
                </c:pt>
                <c:pt idx="152">
                  <c:v>0.38</c:v>
                </c:pt>
                <c:pt idx="153">
                  <c:v>0.38250000000000001</c:v>
                </c:pt>
                <c:pt idx="154">
                  <c:v>0.38500000000000001</c:v>
                </c:pt>
                <c:pt idx="155">
                  <c:v>0.38750000000000001</c:v>
                </c:pt>
                <c:pt idx="156">
                  <c:v>0.39</c:v>
                </c:pt>
                <c:pt idx="157">
                  <c:v>0.39250000000000002</c:v>
                </c:pt>
                <c:pt idx="158">
                  <c:v>0.39500000000000002</c:v>
                </c:pt>
                <c:pt idx="159">
                  <c:v>0.39750000000000002</c:v>
                </c:pt>
                <c:pt idx="160">
                  <c:v>0.4</c:v>
                </c:pt>
              </c:numCache>
            </c:numRef>
          </c:xVal>
          <c:yVal>
            <c:numRef>
              <c:f>'Chart Data'!$B$2:$B$162</c:f>
              <c:numCache>
                <c:formatCode>0.0</c:formatCode>
                <c:ptCount val="161"/>
                <c:pt idx="0">
                  <c:v>6.0999999999999999E-5</c:v>
                </c:pt>
                <c:pt idx="1">
                  <c:v>7.8999999999999996E-5</c:v>
                </c:pt>
                <c:pt idx="2">
                  <c:v>1.01E-4</c:v>
                </c:pt>
                <c:pt idx="3">
                  <c:v>1.2999999999999999E-4</c:v>
                </c:pt>
                <c:pt idx="4">
                  <c:v>1.65E-4</c:v>
                </c:pt>
                <c:pt idx="5">
                  <c:v>2.1000000000000001E-4</c:v>
                </c:pt>
                <c:pt idx="6">
                  <c:v>2.6600000000000001E-4</c:v>
                </c:pt>
                <c:pt idx="7">
                  <c:v>3.3700000000000001E-4</c:v>
                </c:pt>
                <c:pt idx="8">
                  <c:v>4.2400000000000001E-4</c:v>
                </c:pt>
                <c:pt idx="9">
                  <c:v>5.31E-4</c:v>
                </c:pt>
                <c:pt idx="10">
                  <c:v>6.6399999999999999E-4</c:v>
                </c:pt>
                <c:pt idx="11">
                  <c:v>8.2799999999999996E-4</c:v>
                </c:pt>
                <c:pt idx="12">
                  <c:v>1.0280000000000001E-3</c:v>
                </c:pt>
                <c:pt idx="13">
                  <c:v>1.273E-3</c:v>
                </c:pt>
                <c:pt idx="14">
                  <c:v>1.57E-3</c:v>
                </c:pt>
                <c:pt idx="15">
                  <c:v>1.9300000000000001E-3</c:v>
                </c:pt>
                <c:pt idx="16">
                  <c:v>2.366E-3</c:v>
                </c:pt>
                <c:pt idx="17">
                  <c:v>2.8890000000000001E-3</c:v>
                </c:pt>
                <c:pt idx="18">
                  <c:v>3.516E-3</c:v>
                </c:pt>
                <c:pt idx="19">
                  <c:v>4.2649999999999997E-3</c:v>
                </c:pt>
                <c:pt idx="20">
                  <c:v>5.1570000000000001E-3</c:v>
                </c:pt>
                <c:pt idx="21">
                  <c:v>6.2139999999999999E-3</c:v>
                </c:pt>
                <c:pt idx="22">
                  <c:v>7.4619999999999999E-3</c:v>
                </c:pt>
                <c:pt idx="23">
                  <c:v>8.9320000000000007E-3</c:v>
                </c:pt>
                <c:pt idx="24">
                  <c:v>1.0654E-2</c:v>
                </c:pt>
                <c:pt idx="25">
                  <c:v>1.2666999999999999E-2</c:v>
                </c:pt>
                <c:pt idx="26">
                  <c:v>1.5008000000000001E-2</c:v>
                </c:pt>
                <c:pt idx="27">
                  <c:v>1.7724E-2</c:v>
                </c:pt>
                <c:pt idx="28">
                  <c:v>2.086E-2</c:v>
                </c:pt>
                <c:pt idx="29">
                  <c:v>2.4469000000000001E-2</c:v>
                </c:pt>
                <c:pt idx="30">
                  <c:v>2.8605999999999999E-2</c:v>
                </c:pt>
                <c:pt idx="31">
                  <c:v>3.3329999999999999E-2</c:v>
                </c:pt>
                <c:pt idx="32">
                  <c:v>3.8704000000000002E-2</c:v>
                </c:pt>
                <c:pt idx="33">
                  <c:v>4.4794E-2</c:v>
                </c:pt>
                <c:pt idx="34">
                  <c:v>5.1667999999999999E-2</c:v>
                </c:pt>
                <c:pt idx="35">
                  <c:v>5.9397999999999999E-2</c:v>
                </c:pt>
                <c:pt idx="36">
                  <c:v>6.8054000000000003E-2</c:v>
                </c:pt>
                <c:pt idx="37">
                  <c:v>7.7711000000000002E-2</c:v>
                </c:pt>
                <c:pt idx="38">
                  <c:v>8.8441000000000006E-2</c:v>
                </c:pt>
                <c:pt idx="39">
                  <c:v>0.100314</c:v>
                </c:pt>
                <c:pt idx="40">
                  <c:v>0.1134</c:v>
                </c:pt>
                <c:pt idx="41">
                  <c:v>0.12776299999999999</c:v>
                </c:pt>
                <c:pt idx="42">
                  <c:v>0.14346200000000001</c:v>
                </c:pt>
                <c:pt idx="43">
                  <c:v>0.160551</c:v>
                </c:pt>
                <c:pt idx="44">
                  <c:v>0.17907200000000001</c:v>
                </c:pt>
                <c:pt idx="45">
                  <c:v>0.19905999999999999</c:v>
                </c:pt>
                <c:pt idx="46">
                  <c:v>0.22053700000000001</c:v>
                </c:pt>
                <c:pt idx="47">
                  <c:v>0.24351200000000001</c:v>
                </c:pt>
                <c:pt idx="48">
                  <c:v>0.26797799999999999</c:v>
                </c:pt>
                <c:pt idx="49">
                  <c:v>0.29391400000000001</c:v>
                </c:pt>
                <c:pt idx="50">
                  <c:v>0.32127800000000001</c:v>
                </c:pt>
                <c:pt idx="51">
                  <c:v>0.35001300000000002</c:v>
                </c:pt>
                <c:pt idx="52">
                  <c:v>0.38003900000000002</c:v>
                </c:pt>
                <c:pt idx="53">
                  <c:v>0.41125699999999998</c:v>
                </c:pt>
                <c:pt idx="54">
                  <c:v>0.443546</c:v>
                </c:pt>
                <c:pt idx="55">
                  <c:v>0.476767</c:v>
                </c:pt>
                <c:pt idx="56">
                  <c:v>0.51075599999999999</c:v>
                </c:pt>
                <c:pt idx="57">
                  <c:v>0.54533500000000001</c:v>
                </c:pt>
                <c:pt idx="58">
                  <c:v>0.58030099999999996</c:v>
                </c:pt>
                <c:pt idx="59">
                  <c:v>0.61543800000000004</c:v>
                </c:pt>
                <c:pt idx="60">
                  <c:v>0.65051400000000004</c:v>
                </c:pt>
                <c:pt idx="61">
                  <c:v>0.685284</c:v>
                </c:pt>
                <c:pt idx="62">
                  <c:v>0.71948999999999996</c:v>
                </c:pt>
                <c:pt idx="63">
                  <c:v>0.75287099999999996</c:v>
                </c:pt>
                <c:pt idx="64">
                  <c:v>0.78515800000000002</c:v>
                </c:pt>
                <c:pt idx="65">
                  <c:v>0.81608400000000003</c:v>
                </c:pt>
                <c:pt idx="66">
                  <c:v>0.845383</c:v>
                </c:pt>
                <c:pt idx="67">
                  <c:v>0.87279700000000005</c:v>
                </c:pt>
                <c:pt idx="68">
                  <c:v>0.89807800000000004</c:v>
                </c:pt>
                <c:pt idx="69">
                  <c:v>0.92099299999999995</c:v>
                </c:pt>
                <c:pt idx="70">
                  <c:v>0.94132400000000005</c:v>
                </c:pt>
                <c:pt idx="71">
                  <c:v>0.95887800000000001</c:v>
                </c:pt>
                <c:pt idx="72">
                  <c:v>0.97348299999999999</c:v>
                </c:pt>
                <c:pt idx="73">
                  <c:v>0.98499700000000001</c:v>
                </c:pt>
                <c:pt idx="74">
                  <c:v>0.99330399999999996</c:v>
                </c:pt>
                <c:pt idx="75">
                  <c:v>0.99832200000000004</c:v>
                </c:pt>
                <c:pt idx="76">
                  <c:v>1</c:v>
                </c:pt>
                <c:pt idx="77">
                  <c:v>0.99832200000000004</c:v>
                </c:pt>
                <c:pt idx="78">
                  <c:v>0.99330399999999996</c:v>
                </c:pt>
                <c:pt idx="79">
                  <c:v>0.98499700000000001</c:v>
                </c:pt>
                <c:pt idx="80">
                  <c:v>0.97348299999999999</c:v>
                </c:pt>
                <c:pt idx="81">
                  <c:v>0.95887800000000001</c:v>
                </c:pt>
                <c:pt idx="82">
                  <c:v>0.94132400000000005</c:v>
                </c:pt>
                <c:pt idx="83">
                  <c:v>0.92099299999999995</c:v>
                </c:pt>
                <c:pt idx="84">
                  <c:v>0.89807800000000004</c:v>
                </c:pt>
                <c:pt idx="85">
                  <c:v>0.87279700000000005</c:v>
                </c:pt>
                <c:pt idx="86">
                  <c:v>0.845383</c:v>
                </c:pt>
                <c:pt idx="87">
                  <c:v>0.81608400000000003</c:v>
                </c:pt>
                <c:pt idx="88">
                  <c:v>0.78515800000000002</c:v>
                </c:pt>
                <c:pt idx="89">
                  <c:v>0.75287099999999996</c:v>
                </c:pt>
                <c:pt idx="90">
                  <c:v>0.71948999999999996</c:v>
                </c:pt>
                <c:pt idx="91">
                  <c:v>0.685284</c:v>
                </c:pt>
                <c:pt idx="92">
                  <c:v>0.65051400000000004</c:v>
                </c:pt>
                <c:pt idx="93">
                  <c:v>0.61543800000000004</c:v>
                </c:pt>
                <c:pt idx="94">
                  <c:v>0.58030099999999996</c:v>
                </c:pt>
                <c:pt idx="95">
                  <c:v>0.54533500000000001</c:v>
                </c:pt>
                <c:pt idx="96">
                  <c:v>0.51075599999999999</c:v>
                </c:pt>
                <c:pt idx="97">
                  <c:v>0.476767</c:v>
                </c:pt>
                <c:pt idx="98">
                  <c:v>0.443546</c:v>
                </c:pt>
                <c:pt idx="99">
                  <c:v>0.41125699999999998</c:v>
                </c:pt>
                <c:pt idx="100">
                  <c:v>0.38003900000000002</c:v>
                </c:pt>
                <c:pt idx="101">
                  <c:v>0.35001300000000002</c:v>
                </c:pt>
                <c:pt idx="102">
                  <c:v>0.32127800000000001</c:v>
                </c:pt>
                <c:pt idx="103">
                  <c:v>0.29391400000000001</c:v>
                </c:pt>
                <c:pt idx="104">
                  <c:v>0.26797799999999999</c:v>
                </c:pt>
                <c:pt idx="105">
                  <c:v>0.24351200000000001</c:v>
                </c:pt>
                <c:pt idx="106">
                  <c:v>0.22053700000000001</c:v>
                </c:pt>
                <c:pt idx="107">
                  <c:v>0.19905999999999999</c:v>
                </c:pt>
                <c:pt idx="108">
                  <c:v>0.17907200000000001</c:v>
                </c:pt>
                <c:pt idx="109">
                  <c:v>0.160551</c:v>
                </c:pt>
                <c:pt idx="110">
                  <c:v>0.14346200000000001</c:v>
                </c:pt>
                <c:pt idx="111">
                  <c:v>0.12776299999999999</c:v>
                </c:pt>
                <c:pt idx="112">
                  <c:v>0.1134</c:v>
                </c:pt>
                <c:pt idx="113">
                  <c:v>0.100314</c:v>
                </c:pt>
                <c:pt idx="114">
                  <c:v>8.8441000000000006E-2</c:v>
                </c:pt>
                <c:pt idx="115">
                  <c:v>7.7711000000000002E-2</c:v>
                </c:pt>
                <c:pt idx="116">
                  <c:v>6.8054000000000003E-2</c:v>
                </c:pt>
                <c:pt idx="117">
                  <c:v>5.9397999999999999E-2</c:v>
                </c:pt>
                <c:pt idx="118">
                  <c:v>5.1667999999999999E-2</c:v>
                </c:pt>
                <c:pt idx="119">
                  <c:v>4.4794E-2</c:v>
                </c:pt>
                <c:pt idx="120">
                  <c:v>3.8704000000000002E-2</c:v>
                </c:pt>
                <c:pt idx="121">
                  <c:v>3.3329999999999999E-2</c:v>
                </c:pt>
                <c:pt idx="122">
                  <c:v>2.8605999999999999E-2</c:v>
                </c:pt>
                <c:pt idx="123">
                  <c:v>2.4469000000000001E-2</c:v>
                </c:pt>
                <c:pt idx="124">
                  <c:v>2.086E-2</c:v>
                </c:pt>
                <c:pt idx="125">
                  <c:v>1.7724E-2</c:v>
                </c:pt>
                <c:pt idx="126">
                  <c:v>1.5008000000000001E-2</c:v>
                </c:pt>
                <c:pt idx="127">
                  <c:v>1.2666999999999999E-2</c:v>
                </c:pt>
                <c:pt idx="128">
                  <c:v>1.0654E-2</c:v>
                </c:pt>
                <c:pt idx="129">
                  <c:v>8.9320000000000007E-3</c:v>
                </c:pt>
                <c:pt idx="130">
                  <c:v>7.4619999999999999E-3</c:v>
                </c:pt>
                <c:pt idx="131">
                  <c:v>6.2139999999999999E-3</c:v>
                </c:pt>
                <c:pt idx="132">
                  <c:v>5.1570000000000001E-3</c:v>
                </c:pt>
                <c:pt idx="133">
                  <c:v>4.2649999999999997E-3</c:v>
                </c:pt>
                <c:pt idx="134">
                  <c:v>3.516E-3</c:v>
                </c:pt>
                <c:pt idx="135">
                  <c:v>2.8890000000000001E-3</c:v>
                </c:pt>
                <c:pt idx="136">
                  <c:v>2.366E-3</c:v>
                </c:pt>
                <c:pt idx="137">
                  <c:v>1.9300000000000001E-3</c:v>
                </c:pt>
                <c:pt idx="138">
                  <c:v>1.57E-3</c:v>
                </c:pt>
                <c:pt idx="139">
                  <c:v>1.273E-3</c:v>
                </c:pt>
                <c:pt idx="140">
                  <c:v>1.0280000000000001E-3</c:v>
                </c:pt>
                <c:pt idx="141">
                  <c:v>8.2799999999999996E-4</c:v>
                </c:pt>
                <c:pt idx="142">
                  <c:v>6.6399999999999999E-4</c:v>
                </c:pt>
                <c:pt idx="143">
                  <c:v>5.31E-4</c:v>
                </c:pt>
                <c:pt idx="144">
                  <c:v>4.2400000000000001E-4</c:v>
                </c:pt>
                <c:pt idx="145">
                  <c:v>3.3700000000000001E-4</c:v>
                </c:pt>
                <c:pt idx="146">
                  <c:v>2.6600000000000001E-4</c:v>
                </c:pt>
                <c:pt idx="147">
                  <c:v>2.1000000000000001E-4</c:v>
                </c:pt>
                <c:pt idx="148">
                  <c:v>1.65E-4</c:v>
                </c:pt>
                <c:pt idx="149">
                  <c:v>1.2999999999999999E-4</c:v>
                </c:pt>
                <c:pt idx="150">
                  <c:v>1.01E-4</c:v>
                </c:pt>
                <c:pt idx="151">
                  <c:v>7.8999999999999996E-5</c:v>
                </c:pt>
                <c:pt idx="152">
                  <c:v>6.0999999999999999E-5</c:v>
                </c:pt>
                <c:pt idx="153">
                  <c:v>4.6999999999999997E-5</c:v>
                </c:pt>
                <c:pt idx="154">
                  <c:v>3.6000000000000001E-5</c:v>
                </c:pt>
                <c:pt idx="155">
                  <c:v>2.8E-5</c:v>
                </c:pt>
                <c:pt idx="156">
                  <c:v>2.0999999999999999E-5</c:v>
                </c:pt>
                <c:pt idx="157">
                  <c:v>1.5999999999999999E-5</c:v>
                </c:pt>
                <c:pt idx="158">
                  <c:v>1.2E-5</c:v>
                </c:pt>
                <c:pt idx="159">
                  <c:v>9.0000000000000002E-6</c:v>
                </c:pt>
                <c:pt idx="160">
                  <c:v>6.9999999999999999E-6</c:v>
                </c:pt>
              </c:numCache>
            </c:numRef>
          </c:yVal>
          <c:smooth val="1"/>
          <c:extLst>
            <c:ext xmlns:c16="http://schemas.microsoft.com/office/drawing/2014/chart" uri="{C3380CC4-5D6E-409C-BE32-E72D297353CC}">
              <c16:uniqueId val="{00000000-EDD0-46C9-97CB-D028E3606631}"/>
            </c:ext>
          </c:extLst>
        </c:ser>
        <c:ser>
          <c:idx val="1"/>
          <c:order val="1"/>
          <c:tx>
            <c:strRef>
              <c:f>64 Hz samples</c:f>
              <c:strCache>
                <c:ptCount val="1"/>
                <c:pt idx="0">
                  <c:v>64 Hz samples</c:v>
                </c:pt>
              </c:strCache>
            </c:strRef>
          </c:tx>
          <c:spPr>
            <a:ln w="0" cap="rnd">
              <a:solidFill>
                <a:srgbClr val="B96D20"/>
              </a:solidFill>
              <a:prstDash val="solid"/>
              <a:round/>
            </a:ln>
          </c:spPr>
          <c:marker>
            <c:symbol val="circle"/>
            <c:size val="7"/>
            <c:spPr>
              <a:solidFill>
                <a:srgbClr val="B96D20"/>
              </a:solidFill>
            </c:spPr>
          </c:marker>
          <c:xVal>
            <c:numRef>
              <c:f>'Chart Data'!$C$2:$C$27</c:f>
              <c:numCache>
                <c:formatCode>General</c:formatCode>
                <c:ptCount val="26"/>
                <c:pt idx="0">
                  <c:v>0</c:v>
                </c:pt>
                <c:pt idx="1">
                  <c:v>1.5625E-2</c:v>
                </c:pt>
                <c:pt idx="2">
                  <c:v>3.125E-2</c:v>
                </c:pt>
                <c:pt idx="3">
                  <c:v>4.6875E-2</c:v>
                </c:pt>
                <c:pt idx="4">
                  <c:v>6.25E-2</c:v>
                </c:pt>
                <c:pt idx="5">
                  <c:v>7.8125E-2</c:v>
                </c:pt>
                <c:pt idx="6">
                  <c:v>9.375E-2</c:v>
                </c:pt>
                <c:pt idx="7">
                  <c:v>0.109375</c:v>
                </c:pt>
                <c:pt idx="8">
                  <c:v>0.125</c:v>
                </c:pt>
                <c:pt idx="9">
                  <c:v>0.140625</c:v>
                </c:pt>
                <c:pt idx="10">
                  <c:v>0.15625</c:v>
                </c:pt>
                <c:pt idx="11">
                  <c:v>0.171875</c:v>
                </c:pt>
                <c:pt idx="12">
                  <c:v>0.1875</c:v>
                </c:pt>
                <c:pt idx="13">
                  <c:v>0.203125</c:v>
                </c:pt>
                <c:pt idx="14">
                  <c:v>0.21875</c:v>
                </c:pt>
                <c:pt idx="15">
                  <c:v>0.234375</c:v>
                </c:pt>
                <c:pt idx="16">
                  <c:v>0.25</c:v>
                </c:pt>
                <c:pt idx="17">
                  <c:v>0.265625</c:v>
                </c:pt>
                <c:pt idx="18">
                  <c:v>0.28125</c:v>
                </c:pt>
                <c:pt idx="19">
                  <c:v>0.296875</c:v>
                </c:pt>
                <c:pt idx="20">
                  <c:v>0.3125</c:v>
                </c:pt>
                <c:pt idx="21">
                  <c:v>0.328125</c:v>
                </c:pt>
                <c:pt idx="22">
                  <c:v>0.34375</c:v>
                </c:pt>
                <c:pt idx="23">
                  <c:v>0.359375</c:v>
                </c:pt>
                <c:pt idx="24">
                  <c:v>0.375</c:v>
                </c:pt>
                <c:pt idx="25">
                  <c:v>0.390625</c:v>
                </c:pt>
              </c:numCache>
            </c:numRef>
          </c:xVal>
          <c:yVal>
            <c:numRef>
              <c:f>'Chart Data'!$D$2:$D$27</c:f>
              <c:numCache>
                <c:formatCode>0.0</c:formatCode>
                <c:ptCount val="26"/>
                <c:pt idx="0">
                  <c:v>6.0999999999999999E-5</c:v>
                </c:pt>
                <c:pt idx="1">
                  <c:v>2.8299999999999999E-4</c:v>
                </c:pt>
                <c:pt idx="2">
                  <c:v>1.1440000000000001E-3</c:v>
                </c:pt>
                <c:pt idx="3">
                  <c:v>4.0660000000000002E-3</c:v>
                </c:pt>
                <c:pt idx="4">
                  <c:v>1.2666999999999999E-2</c:v>
                </c:pt>
                <c:pt idx="5">
                  <c:v>3.4610000000000002E-2</c:v>
                </c:pt>
                <c:pt idx="6">
                  <c:v>8.2936999999999997E-2</c:v>
                </c:pt>
                <c:pt idx="7">
                  <c:v>0.17430499999999999</c:v>
                </c:pt>
                <c:pt idx="8">
                  <c:v>0.32127800000000001</c:v>
                </c:pt>
                <c:pt idx="9">
                  <c:v>0.51935299999999995</c:v>
                </c:pt>
                <c:pt idx="10">
                  <c:v>0.73629999999999995</c:v>
                </c:pt>
                <c:pt idx="11">
                  <c:v>0.91549800000000003</c:v>
                </c:pt>
                <c:pt idx="12">
                  <c:v>0.99832200000000004</c:v>
                </c:pt>
                <c:pt idx="13">
                  <c:v>0.95476000000000005</c:v>
                </c:pt>
                <c:pt idx="14">
                  <c:v>0.80080799999999996</c:v>
                </c:pt>
                <c:pt idx="15">
                  <c:v>0.58907799999999999</c:v>
                </c:pt>
                <c:pt idx="16">
                  <c:v>0.38003900000000002</c:v>
                </c:pt>
                <c:pt idx="17">
                  <c:v>0.215027</c:v>
                </c:pt>
                <c:pt idx="18">
                  <c:v>0.106701</c:v>
                </c:pt>
                <c:pt idx="19">
                  <c:v>4.6435999999999998E-2</c:v>
                </c:pt>
                <c:pt idx="20">
                  <c:v>1.7724E-2</c:v>
                </c:pt>
                <c:pt idx="21">
                  <c:v>5.9329999999999999E-3</c:v>
                </c:pt>
                <c:pt idx="22">
                  <c:v>1.7420000000000001E-3</c:v>
                </c:pt>
                <c:pt idx="23">
                  <c:v>4.4799999999999999E-4</c:v>
                </c:pt>
                <c:pt idx="24">
                  <c:v>1.01E-4</c:v>
                </c:pt>
                <c:pt idx="25">
                  <c:v>2.0000000000000002E-5</c:v>
                </c:pt>
              </c:numCache>
            </c:numRef>
          </c:yVal>
          <c:smooth val="1"/>
          <c:extLst>
            <c:ext xmlns:c16="http://schemas.microsoft.com/office/drawing/2014/chart" uri="{C3380CC4-5D6E-409C-BE32-E72D297353CC}">
              <c16:uniqueId val="{00000001-EDD0-46C9-97CB-D028E3606631}"/>
            </c:ext>
          </c:extLst>
        </c:ser>
        <c:dLbls>
          <c:showLegendKey val="0"/>
          <c:showVal val="0"/>
          <c:showCatName val="0"/>
          <c:showSerName val="0"/>
          <c:showPercent val="0"/>
          <c:showBubbleSize val="0"/>
        </c:dLbls>
        <c:axId val="48650112"/>
        <c:axId val="48672768"/>
      </c:scatterChart>
      <c:valAx>
        <c:axId val="48650112"/>
        <c:scaling>
          <c:orientation val="minMax"/>
          <c:max val="0.4"/>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Time (s)</a:t>
                </a:r>
              </a:p>
            </c:rich>
          </c:tx>
          <c:overlay val="0"/>
        </c:title>
        <c:numFmt formatCode="General"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72768"/>
        <c:crosses val="autoZero"/>
        <c:crossBetween val="midCat"/>
        <c:majorUnit val="0.1"/>
      </c:valAx>
      <c:valAx>
        <c:axId val="48672768"/>
        <c:scaling>
          <c:orientation val="minMax"/>
          <c:max val="1.2"/>
          <c:min val="0"/>
        </c:scaling>
        <c:delete val="0"/>
        <c:axPos val="l"/>
        <c:majorGridlines>
          <c:spPr>
            <a:ln w="9525">
              <a:solidFill>
                <a:srgbClr val="E5EBEF"/>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lang="en-US">
                    <a:latin typeface="DejaVu Sans" panose="020B0603030804020204"/>
                    <a:ea typeface="DejaVu Sans" panose="020B0603030804020204"/>
                    <a:cs typeface="DejaVu Sans" panose="020B0603030804020204"/>
                  </a:rPr>
                  <a:t>Conceptual pulse</a:t>
                </a:r>
              </a:p>
            </c:rich>
          </c:tx>
          <c:overlay val="0"/>
        </c:title>
        <c:numFmt formatCode="0.0" sourceLinked="1"/>
        <c:majorTickMark val="none"/>
        <c:minorTickMark val="none"/>
        <c:tickLblPos val="nextTo"/>
        <c:spPr>
          <a:ln w="9525">
            <a:solidFill>
              <a:srgbClr val="CAD5DE"/>
            </a:solidFill>
            <a:prstDash val="solid"/>
            <a:round/>
          </a:ln>
        </c:spPr>
        <c:txPr>
          <a:bodyPr rot="-60000000" spcFirstLastPara="0" vertOverflow="ellipsis" vert="horz" wrap="square" anchor="ctr" anchorCtr="1"/>
          <a:lstStyle/>
          <a:p>
            <a:pPr>
              <a:defRPr lang="zh-CN" sz="120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crossAx val="48650112"/>
        <c:crosses val="autoZero"/>
        <c:crossBetween val="midCat"/>
      </c:valAx>
      <c:spPr>
        <a:solidFill>
          <a:srgbClr val="FFFFFF"/>
        </a:solidFill>
      </c:spPr>
    </c:plotArea>
    <c:legend>
      <c:legendPos val="b"/>
      <c:overlay val="0"/>
      <c:txPr>
        <a:bodyPr rot="0" spcFirstLastPara="0" vertOverflow="ellipsis" vert="horz" wrap="square" anchor="ctr" anchorCtr="1"/>
        <a:lstStyle/>
        <a:p>
          <a:pPr>
            <a:defRPr lang="zh-CN" sz="1350" b="0" i="0" u="none" strike="noStrike" kern="1200" baseline="0">
              <a:solidFill>
                <a:srgbClr val="506577"/>
              </a:solidFill>
              <a:latin typeface="DejaVu Sans" panose="020B0603030804020204"/>
              <a:ea typeface="DejaVu Sans" panose="020B0603030804020204"/>
              <a:cs typeface="DejaVu Sans" panose="020B0603030804020204"/>
            </a:defRPr>
          </a:pPr>
          <a:endParaRPr lang="zh-CN"/>
        </a:p>
      </c:txPr>
    </c:legend>
    <c:plotVisOnly val="1"/>
    <c:dispBlanksAs val="gap"/>
    <c:showDLblsOverMax val="0"/>
    <c:extLst>
      <c:ext uri="{0b15fc19-7d7d-44ad-8c2d-2c3a37ce22c3}">
        <chartProps xmlns="https://web.wps.cn/et/2018/main" chartId="{42bace51-e87e-4e02-83f7-1fc2936bc5a9}"/>
      </c:ext>
    </c:extLst>
  </c:chart>
  <c:spPr>
    <a:solidFill>
      <a:srgbClr val="FFFFFF"/>
    </a:solidFill>
    <a:ln w="0">
      <a:noFill/>
    </a:ln>
  </c:spPr>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 Development and Evaluation of a Python-Based Signal Processing Pipeline for Frailty Classification from PPG Signals</a:t>
            </a:r>
          </a:p>
          <a:p>
            <a:r>
              <a:rPr dirty="0"/>
              <a:t>11 seconds</a:t>
            </a:r>
          </a:p>
          <a:p>
            <a:r>
              <a:rPr dirty="0"/>
              <a:t>Good </a:t>
            </a:r>
            <a:r>
              <a:rPr lang="en-US" dirty="0"/>
              <a:t>morning</a:t>
            </a:r>
            <a:r>
              <a:rPr dirty="0"/>
              <a:t>. I am Kaifeng Xu. Today I will present my master's thesis on frailty classification from photoplethysmography signals.</a:t>
            </a:r>
          </a:p>
          <a:p>
            <a:r>
              <a:rPr dirty="0">
                <a:sym typeface="+mn-ea"/>
              </a:rPr>
              <a:t>This thesis develops and evaluates a transparent Python-based signal-processing pipeline for classification of frailty-related groups from synchronized photoplethysmography, or PPG, and inertial measurement unit, or IMU, recordings. </a:t>
            </a:r>
          </a:p>
          <a:p>
            <a:endParaRPr dirty="0"/>
          </a:p>
          <a:p>
            <a:r>
              <a:rPr dirty="0"/>
              <a:t>Sources</a:t>
            </a:r>
          </a:p>
          <a:p>
            <a:r>
              <a:rPr dirty="0"/>
              <a:t>Thesis Abstract; Chapters 1, 3 and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 | Frailty and clinical vulnerability</a:t>
            </a:r>
          </a:p>
          <a:p>
            <a:r>
              <a:rPr dirty="0"/>
              <a:t>28 seconds</a:t>
            </a:r>
          </a:p>
          <a:p>
            <a:r>
              <a:rPr dirty="0"/>
              <a:t>Frailty means reduced physiological reserve and greater vulnerability to stressors. It is associated with falls, disability and loss of independence.</a:t>
            </a:r>
          </a:p>
          <a:p>
            <a:r>
              <a:rPr dirty="0">
                <a:sym typeface="+mn-ea"/>
              </a:rPr>
              <a:t>The chart summarizes the original Cardiovascular Health Study, or CHS. Three-year estimates of worsening disability in activities of daily living,</a:t>
            </a:r>
            <a:r>
              <a:rPr lang="en-US" dirty="0">
                <a:sym typeface="+mn-ea"/>
              </a:rPr>
              <a:t> </a:t>
            </a:r>
            <a:r>
              <a:rPr dirty="0">
                <a:sym typeface="+mn-ea"/>
              </a:rPr>
              <a:t>increased from eight to twenty to thirty-nine percent across the frailty categories. Early and repeatable assessment is therefore important. Clinical instruments remain essential, while wearable signals offer a way to investigate changes between assessments.</a:t>
            </a:r>
          </a:p>
          <a:p>
            <a:r>
              <a:rPr lang="en-US" altLang="zh-CN" dirty="0"/>
              <a:t> This motivates repeatable assessment between clinical visits.</a:t>
            </a:r>
          </a:p>
          <a:p>
            <a:endParaRPr lang="en-US" altLang="zh-CN" dirty="0"/>
          </a:p>
          <a:p>
            <a:endParaRPr dirty="0"/>
          </a:p>
          <a:p>
            <a:r>
              <a:rPr dirty="0"/>
              <a:t>Sources</a:t>
            </a:r>
          </a:p>
          <a:p>
            <a:r>
              <a:rPr dirty="0"/>
              <a:t>Thesis §§1–2; Fried et al. 2001, Table 6, DOI 10.1093/</a:t>
            </a:r>
            <a:r>
              <a:rPr dirty="0" err="1"/>
              <a:t>gerona</a:t>
            </a:r>
            <a:r>
              <a:rPr dirty="0"/>
              <a:t>/56.3.M146.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 | Why might PPG relate to frailty?</a:t>
            </a:r>
          </a:p>
          <a:p>
            <a:r>
              <a:rPr dirty="0"/>
              <a:t>30 seconds</a:t>
            </a:r>
          </a:p>
          <a:p>
            <a:r>
              <a:rPr dirty="0"/>
              <a:t>Photoplethysmography, or PPG, records peripheral blood-volume pulsations. Pulse timing and shape may reflect cardiovascular and autonomic regulation. Earlier electrocardiogram, or ECG, studies provide the rationale for examining pulse-rate variability, or PRV. An inertial measurement unit, or IMU, records movement, which provides physical-performance information but also introduces optical artefacts.</a:t>
            </a:r>
          </a:p>
          <a:p>
            <a:r>
              <a:rPr lang="en-US" altLang="zh-CN" dirty="0"/>
              <a:t>The multimodal combination of PPG signals and synchronized IMU signals may therefore be suitable for investigating frailty classification.</a:t>
            </a:r>
          </a:p>
          <a:p>
            <a:endParaRPr lang="en-US" altLang="zh-CN" dirty="0">
              <a:sym typeface="+mn-ea"/>
            </a:endParaRPr>
          </a:p>
          <a:p>
            <a:endParaRPr lang="en-US" altLang="zh-CN" dirty="0">
              <a:sym typeface="+mn-ea"/>
            </a:endParaRPr>
          </a:p>
          <a:p>
            <a:endParaRPr lang="en-US" altLang="zh-CN" dirty="0">
              <a:sym typeface="+mn-ea"/>
            </a:endParaRPr>
          </a:p>
          <a:p>
            <a:r>
              <a:rPr dirty="0">
                <a:sym typeface="+mn-ea"/>
              </a:rPr>
              <a:t>This thesis develops and evaluates a transparent Python-based signal-processing pipeline for classification of frailty-related groups from synchronized photoplethysmography, or PPG, and inertial measurement unit, or IMU, recordings. </a:t>
            </a:r>
          </a:p>
          <a:p>
            <a:endParaRPr dirty="0"/>
          </a:p>
          <a:p>
            <a:r>
              <a:rPr dirty="0"/>
              <a:t>Sources</a:t>
            </a:r>
          </a:p>
          <a:p>
            <a:r>
              <a:rPr dirty="0"/>
              <a:t>Thesis §§2.1–2.3 and §3.1; Chaves et al. 2008, DOI 10.1111/j.1532-5415.2008.01858.x.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 | Dataset and clinical reference labels</a:t>
            </a:r>
          </a:p>
          <a:p>
            <a:r>
              <a:rPr dirty="0"/>
              <a:t>46 seconds</a:t>
            </a:r>
          </a:p>
          <a:p>
            <a:r>
              <a:rPr dirty="0">
                <a:sym typeface="+mn-ea"/>
              </a:rPr>
              <a:t>The</a:t>
            </a:r>
            <a:r>
              <a:rPr lang="en-US" dirty="0">
                <a:sym typeface="+mn-ea"/>
              </a:rPr>
              <a:t> </a:t>
            </a:r>
            <a:r>
              <a:rPr dirty="0">
                <a:sym typeface="+mn-ea"/>
              </a:rPr>
              <a:t>dataset contains twenty-nine participants and two hundred and sixty-one recordings. Each participant completed baseline, walking, sit-to-stand and recovery recordings. Every recording contains eight synchronized channels: the red, and infrared</a:t>
            </a:r>
            <a:r>
              <a:rPr lang="en-US" dirty="0">
                <a:sym typeface="+mn-ea"/>
              </a:rPr>
              <a:t> </a:t>
            </a:r>
            <a:r>
              <a:rPr dirty="0">
                <a:sym typeface="+mn-ea"/>
              </a:rPr>
              <a:t>PPG channels, three acceleration axes and three angular-velocity axes, sampled at four hundred hertz.</a:t>
            </a:r>
          </a:p>
          <a:p>
            <a:r>
              <a:rPr dirty="0">
                <a:sym typeface="+mn-ea"/>
              </a:rPr>
              <a:t>The older participants were assessed using the Fried phenotype: weight loss, exhaustion, low activity, weak grip and slow walking. Zero criteria defined twelve Robust participants; one or two defined nine Pre-Frail participants. Eight Young participants provide an age-reference group. There were no clinically Frail participants.</a:t>
            </a:r>
          </a:p>
          <a:p>
            <a:endParaRPr lang="en-US" dirty="0"/>
          </a:p>
          <a:p>
            <a:endParaRPr lang="en-US" dirty="0"/>
          </a:p>
          <a:p>
            <a:r>
              <a:rPr dirty="0"/>
              <a:t>Sources</a:t>
            </a:r>
          </a:p>
          <a:p>
            <a:r>
              <a:rPr dirty="0"/>
              <a:t>Thesis §3.2.1 and Table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 | One pipeline, two analysis branches</a:t>
            </a:r>
          </a:p>
          <a:p>
            <a:r>
              <a:rPr dirty="0">
                <a:sym typeface="+mn-ea"/>
              </a:rPr>
              <a:t>35 seconds</a:t>
            </a:r>
          </a:p>
          <a:p>
            <a:r>
              <a:rPr dirty="0">
                <a:sym typeface="+mn-ea"/>
              </a:rPr>
              <a:t>The pipeline has two analysis branches with a common signal-preparation stage. The waveform branch produces normalized windows for direct time-series classification. The feature branch extracts pulse timing, morphology, optical and movement descriptors, organized as recording-level vectors or chronological matrices.</a:t>
            </a:r>
          </a:p>
          <a:p>
            <a:r>
              <a:rPr dirty="0">
                <a:sym typeface="+mn-ea"/>
              </a:rPr>
              <a:t>Motion processing and pulse detection support the physiological measurements. Both branches retain participant identity for the later grouped evaluation. I will follow the signal-processing stages first, then return to the classification experiments.</a:t>
            </a:r>
          </a:p>
          <a:p>
            <a:endParaRPr dirty="0">
              <a:sym typeface="+mn-ea"/>
            </a:endParaRPr>
          </a:p>
          <a:p>
            <a:endParaRPr dirty="0">
              <a:sym typeface="+mn-ea"/>
            </a:endParaRPr>
          </a:p>
          <a:p>
            <a:r>
              <a:rPr dirty="0"/>
              <a:t>Sources</a:t>
            </a:r>
          </a:p>
          <a:p>
            <a:r>
              <a:rPr dirty="0"/>
              <a:t>Thesis §3.1, Figure 14 and Table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6 | Workflow: preprocessing</a:t>
            </a:r>
          </a:p>
          <a:p>
            <a:r>
              <a:rPr dirty="0"/>
              <a:t>15 seconds</a:t>
            </a:r>
          </a:p>
          <a:p>
            <a:r>
              <a:rPr dirty="0"/>
              <a:t>Preprocessing prepares a filtered </a:t>
            </a:r>
            <a:r>
              <a:rPr lang="en-US" dirty="0"/>
              <a:t>ppg </a:t>
            </a:r>
            <a:r>
              <a:rPr dirty="0"/>
              <a:t>pulse waveform, retains a separate optical baseline</a:t>
            </a:r>
            <a:r>
              <a:rPr lang="en-US" dirty="0"/>
              <a:t> </a:t>
            </a:r>
            <a:r>
              <a:rPr dirty="0">
                <a:sym typeface="+mn-ea"/>
              </a:rPr>
              <a:t>for baseline-dependent measurements.</a:t>
            </a:r>
            <a:r>
              <a:rPr lang="en-US" dirty="0">
                <a:sym typeface="+mn-ea"/>
              </a:rPr>
              <a:t> </a:t>
            </a:r>
            <a:r>
              <a:rPr dirty="0">
                <a:sym typeface="+mn-ea"/>
              </a:rPr>
              <a:t>The IMU needs channel-specific filtering and </a:t>
            </a:r>
            <a:r>
              <a:rPr lang="en-US" dirty="0">
                <a:sym typeface="+mn-ea"/>
              </a:rPr>
              <a:t>a</a:t>
            </a:r>
            <a:r>
              <a:rPr dirty="0">
                <a:sym typeface="+mn-ea"/>
              </a:rPr>
              <a:t> treatment of gravity.</a:t>
            </a:r>
          </a:p>
          <a:p>
            <a:endParaRPr dirty="0">
              <a:sym typeface="+mn-ea"/>
            </a:endParaRPr>
          </a:p>
          <a:p>
            <a:endParaRPr dirty="0"/>
          </a:p>
          <a:p>
            <a:r>
              <a:rPr dirty="0"/>
              <a:t>Sources</a:t>
            </a:r>
          </a:p>
          <a:p>
            <a:r>
              <a:rPr dirty="0"/>
              <a:t>Thesis §3.3 and Table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7 | PPG preprocessing</a:t>
            </a:r>
          </a:p>
          <a:p>
            <a:r>
              <a:rPr dirty="0"/>
              <a:t>34 seconds</a:t>
            </a:r>
          </a:p>
          <a:p>
            <a:r>
              <a:rPr dirty="0">
                <a:sym typeface="+mn-ea"/>
              </a:rPr>
              <a:t>The example shows how preprocessing reduces baseline variation and high-frequency fluctuations while retaining the pulse waveform.</a:t>
            </a:r>
          </a:p>
          <a:p>
            <a:r>
              <a:rPr dirty="0"/>
              <a:t>PPG preprocessing repairs short internal gaps by linear interpolation, then treats red and infrared separately. A linear trend is removed before a third-order Butterworth band-pass from zero point two to eight hertz. Forward-backward filtering avoids phase displacement. Relative pulse amplitudes remain available, while a separate copy before detrending and filtering preserves the optical baseline for baseline-dependent measurements.</a:t>
            </a:r>
          </a:p>
          <a:p>
            <a:endParaRPr dirty="0"/>
          </a:p>
          <a:p>
            <a:endParaRPr dirty="0"/>
          </a:p>
          <a:p>
            <a:r>
              <a:rPr dirty="0"/>
              <a:t>Sources</a:t>
            </a:r>
          </a:p>
          <a:p>
            <a:r>
              <a:rPr dirty="0"/>
              <a:t>Thesis §3.3.1, Figure 15 and Table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8 | IMU preprocessing and gravity handling</a:t>
            </a:r>
          </a:p>
          <a:p>
            <a:r>
              <a:rPr dirty="0"/>
              <a:t>37 seconds</a:t>
            </a:r>
          </a:p>
          <a:p>
            <a:r>
              <a:rPr dirty="0">
                <a:sym typeface="+mn-ea"/>
              </a:rPr>
              <a:t>The three-axis i</a:t>
            </a:r>
            <a:r>
              <a:rPr lang="en-US" dirty="0">
                <a:sym typeface="+mn-ea"/>
              </a:rPr>
              <a:t>mu</a:t>
            </a:r>
            <a:r>
              <a:rPr dirty="0">
                <a:sym typeface="+mn-ea"/>
              </a:rPr>
              <a:t> records acceleration and angular velocity. We apply a twenty-hertz low-pass filter</a:t>
            </a:r>
            <a:r>
              <a:rPr lang="en-US" dirty="0">
                <a:sym typeface="+mn-ea"/>
              </a:rPr>
              <a:t> </a:t>
            </a:r>
            <a:r>
              <a:rPr dirty="0">
                <a:sym typeface="+mn-ea"/>
              </a:rPr>
              <a:t>to acceleration and a forty-hertz low-pass filter to angular velocity. Acceleration also includes the projection of gravity onto the sensor axes.</a:t>
            </a:r>
          </a:p>
          <a:p>
            <a:r>
              <a:rPr dirty="0">
                <a:sym typeface="+mn-ea"/>
              </a:rPr>
              <a:t>The pipeline evaluates two ways of separating this contribution.</a:t>
            </a:r>
          </a:p>
          <a:p>
            <a:r>
              <a:rPr dirty="0"/>
              <a:t>Profile A estimates gravity with a zero-point-three-hertz low-pass filter and subtracts it from acceleration. The alternative extended Kalman filter, or EKF, estimates orientation before projecting gravity. </a:t>
            </a:r>
          </a:p>
          <a:p>
            <a:endParaRPr dirty="0"/>
          </a:p>
          <a:p>
            <a:r>
              <a:rPr dirty="0"/>
              <a:t>Sources</a:t>
            </a:r>
          </a:p>
          <a:p>
            <a:r>
              <a:rPr dirty="0"/>
              <a:t>Thesis §3.3.2 and Tables 28–30, in particular B3.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9 | Roll–pitch orientation and gravity separation</a:t>
            </a:r>
          </a:p>
          <a:p>
            <a:r>
              <a:rPr dirty="0"/>
              <a:t>35 seconds</a:t>
            </a:r>
          </a:p>
          <a:p>
            <a:r>
              <a:rPr dirty="0">
                <a:sym typeface="+mn-ea"/>
              </a:rPr>
              <a:t>This diagram shows the alternative extended Kalman filter route.  Gyroscope angular velocities predict roll and pitch while an acceleration-based gravity estimate supplies a measurement update. The filter also estimates three gyroscope biases. </a:t>
            </a:r>
          </a:p>
          <a:p>
            <a:r>
              <a:rPr lang="en-US" dirty="0">
                <a:sym typeface="+mn-ea"/>
              </a:rPr>
              <a:t>(</a:t>
            </a:r>
            <a:r>
              <a:rPr dirty="0">
                <a:sym typeface="+mn-ea"/>
              </a:rPr>
              <a:t>During acceleration episodes, the acceleration measurement is given less weight.</a:t>
            </a:r>
            <a:r>
              <a:rPr lang="en-US" dirty="0">
                <a:sym typeface="+mn-ea"/>
              </a:rPr>
              <a:t>)</a:t>
            </a:r>
          </a:p>
          <a:p>
            <a:r>
              <a:rPr dirty="0">
                <a:sym typeface="+mn-ea"/>
              </a:rPr>
              <a:t> The resulting orientation defines the estimated gravitational acceleration, which is subtracted to obtain dynamic acceleration.</a:t>
            </a:r>
          </a:p>
          <a:p>
            <a:endParaRPr lang="en-US" dirty="0"/>
          </a:p>
          <a:p>
            <a:r>
              <a:rPr dirty="0"/>
              <a:t>Thesis §3.3.2 and Tables 28–30 (B0 versus B3).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11 | Workflow: motion detection and denoising</a:t>
            </a:r>
          </a:p>
          <a:p>
            <a:r>
              <a:rPr dirty="0"/>
              <a:t>18 seconds</a:t>
            </a:r>
          </a:p>
          <a:p>
            <a:r>
              <a:rPr dirty="0"/>
              <a:t>Motion artefacts can overlap the pulse bandwidth, so band-pass filtering alone cannot remove them. </a:t>
            </a:r>
          </a:p>
          <a:p>
            <a:r>
              <a:rPr lang="en-US" dirty="0"/>
              <a:t>A </a:t>
            </a:r>
            <a:r>
              <a:rPr dirty="0"/>
              <a:t>Motion detect</a:t>
            </a:r>
            <a:r>
              <a:rPr lang="en-US" dirty="0"/>
              <a:t>or is trained to</a:t>
            </a:r>
            <a:r>
              <a:rPr dirty="0"/>
              <a:t> identif</a:t>
            </a:r>
            <a:r>
              <a:rPr lang="en-US" dirty="0"/>
              <a:t>y</a:t>
            </a:r>
            <a:r>
              <a:rPr dirty="0"/>
              <a:t> </a:t>
            </a:r>
            <a:r>
              <a:rPr lang="en-US" dirty="0"/>
              <a:t>motion</a:t>
            </a:r>
            <a:r>
              <a:rPr dirty="0"/>
              <a:t> segments; </a:t>
            </a:r>
            <a:r>
              <a:rPr lang="en-US" dirty="0"/>
              <a:t>then </a:t>
            </a:r>
            <a:r>
              <a:rPr dirty="0"/>
              <a:t>an optional </a:t>
            </a:r>
            <a:r>
              <a:rPr lang="en-US" dirty="0"/>
              <a:t>motion artifact </a:t>
            </a:r>
            <a:r>
              <a:rPr dirty="0"/>
              <a:t>denoiser attempts to recover useful pulse timing.</a:t>
            </a:r>
          </a:p>
          <a:p>
            <a:endParaRPr dirty="0"/>
          </a:p>
          <a:p>
            <a:endParaRPr dirty="0"/>
          </a:p>
          <a:p>
            <a:r>
              <a:rPr dirty="0"/>
              <a:t>Sources</a:t>
            </a:r>
          </a:p>
          <a:p>
            <a:r>
              <a:rPr dirty="0"/>
              <a:t>Thesis §3.3.5.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8 | 70 seconds</a:t>
            </a:r>
          </a:p>
          <a:p>
            <a:r>
              <a:rPr dirty="0"/>
              <a:t>Cue:</a:t>
            </a:r>
            <a:endParaRPr lang="en-US" dirty="0"/>
          </a:p>
          <a:p>
            <a:endParaRPr dirty="0"/>
          </a:p>
          <a:p>
            <a:r>
              <a:rPr dirty="0"/>
              <a:t>Before extracting a measurement, the relevant question is whether the signal supports that particular measurement. A waveform may still provide reliable pulse timing even when its detailed shape is distorted. The pipeline therefore distinguishes a rate-quality assessment from a stricter morphology-quality assessment.</a:t>
            </a:r>
          </a:p>
          <a:p>
            <a:endParaRPr dirty="0"/>
          </a:p>
          <a:p>
            <a:r>
              <a:rPr lang="en-US" dirty="0"/>
              <a:t>(</a:t>
            </a:r>
            <a:r>
              <a:rPr dirty="0"/>
              <a:t>The available checks include periodicity, cardiac-band concentration, plausible peak density, interval stability, agreement between wavelengths, and motion energy. Flatlines, clipping, and long gaps can invalidate a segment. </a:t>
            </a:r>
            <a:r>
              <a:rPr lang="en-US" dirty="0"/>
              <a:t>)</a:t>
            </a:r>
          </a:p>
          <a:p>
            <a:r>
              <a:rPr dirty="0"/>
              <a:t>An optional lightweight CNN provides a separate motion estimate from eight-second, eight-channel windows with a two-second hop. These mechanisms can route a segment directly to analysis, through artefact reduction, or to exclusion. </a:t>
            </a:r>
          </a:p>
          <a:p>
            <a:r>
              <a:rPr lang="zh-CN" dirty="0">
                <a:ea typeface="宋体" panose="02010600030101010101" pitchFamily="2" charset="-122"/>
              </a:rPr>
              <a:t>（</a:t>
            </a:r>
            <a:r>
              <a:rPr dirty="0"/>
              <a:t>In the selected final classification configuration, the quality gate, learned motion routing, and denoiser are disabled. Their role here is to explain the pipeline’s supported processing options.</a:t>
            </a:r>
            <a:r>
              <a:rPr lang="zh-CN" dirty="0">
                <a:ea typeface="宋体" panose="02010600030101010101" pitchFamily="2" charset="-122"/>
              </a:rPr>
              <a:t>）</a:t>
            </a:r>
          </a:p>
          <a:p>
            <a:endParaRPr lang="zh-CN" dirty="0">
              <a:ea typeface="宋体" panose="02010600030101010101" pitchFamily="2" charset="-122"/>
            </a:endParaRPr>
          </a:p>
          <a:p>
            <a:endParaRPr dirty="0"/>
          </a:p>
          <a:p>
            <a:r>
              <a:rPr dirty="0"/>
              <a:t>Sources</a:t>
            </a:r>
          </a:p>
          <a:p>
            <a:r>
              <a:rPr dirty="0"/>
              <a:t>Thesis §3.3, Table6 and20; https://github.com/KaifengXuuu/PPG-Frailty-pipeline/blob/bc61262571725e4326fdefd2d722d007d629035d/final_v0/final_pipeline_v5/src/ppg_frailty/signal/sqi.py; https://github.com/KaifengXuuu/PPG-Frailty-pipeline/blob/bc61262571725e4326fdefd2d722d007d629035d/final_v0/final_pipeline_v5/src/ppg_frailty/artifacts/router.py</a:t>
            </a:r>
          </a:p>
          <a:p>
            <a:r>
              <a:rPr dirty="0"/>
              <a:t>Thesis §3.3.5; </a:t>
            </a:r>
            <a:r>
              <a:rPr dirty="0" err="1"/>
              <a:t>src</a:t>
            </a:r>
            <a:r>
              <a:rPr dirty="0"/>
              <a:t>/</a:t>
            </a:r>
            <a:r>
              <a:rPr dirty="0" err="1"/>
              <a:t>ppg_frailty</a:t>
            </a:r>
            <a:r>
              <a:rPr dirty="0"/>
              <a:t>/signal/sqi.py; quality/routing.py; quality/motion.py; configs/presets/</a:t>
            </a:r>
            <a:r>
              <a:rPr dirty="0" err="1"/>
              <a:t>finalcase.yaml</a:t>
            </a:r>
            <a:r>
              <a:rPr dirty="0"/>
              <a:t>: quality, artifact.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12 | Four approaches to motion artefacts</a:t>
            </a:r>
          </a:p>
          <a:p>
            <a:r>
              <a:rPr dirty="0"/>
              <a:t>33 seconds</a:t>
            </a:r>
          </a:p>
          <a:p>
            <a:r>
              <a:rPr dirty="0"/>
              <a:t>The four routes </a:t>
            </a:r>
            <a:r>
              <a:rPr lang="en-US" dirty="0"/>
              <a:t>of motion artifact </a:t>
            </a:r>
            <a:r>
              <a:rPr lang="en-US" dirty="0" err="1"/>
              <a:t>denoisor</a:t>
            </a:r>
            <a:r>
              <a:rPr lang="en-US" dirty="0"/>
              <a:t> </a:t>
            </a:r>
            <a:r>
              <a:rPr dirty="0"/>
              <a:t>use different representations: </a:t>
            </a:r>
          </a:p>
          <a:p>
            <a:r>
              <a:rPr lang="en-US" dirty="0"/>
              <a:t>the first </a:t>
            </a:r>
            <a:r>
              <a:rPr dirty="0"/>
              <a:t>adaptive cancellation</a:t>
            </a:r>
            <a:r>
              <a:rPr lang="en-US" dirty="0"/>
              <a:t> </a:t>
            </a:r>
            <a:r>
              <a:rPr dirty="0">
                <a:sym typeface="+mn-ea"/>
              </a:rPr>
              <a:t>predicts an additive artefact from the IMU reference and subtracts it from PPG</a:t>
            </a:r>
            <a:r>
              <a:rPr lang="en-US" dirty="0">
                <a:sym typeface="+mn-ea"/>
              </a:rPr>
              <a:t>. </a:t>
            </a:r>
          </a:p>
          <a:p>
            <a:r>
              <a:rPr lang="en-US" dirty="0"/>
              <a:t>the second </a:t>
            </a:r>
            <a:r>
              <a:rPr dirty="0"/>
              <a:t>spectral masking </a:t>
            </a:r>
            <a:r>
              <a:rPr dirty="0">
                <a:sym typeface="+mn-ea"/>
              </a:rPr>
              <a:t>compares optical and motion spectra, attenuating frequency regions dominated by movement. </a:t>
            </a:r>
            <a:r>
              <a:rPr dirty="0"/>
              <a:t>; </a:t>
            </a:r>
          </a:p>
          <a:p>
            <a:r>
              <a:rPr dirty="0">
                <a:sym typeface="+mn-ea"/>
              </a:rPr>
              <a:t>The third decomposes each optical waveform into components and reconstructs those concentrated in the cardiac band. </a:t>
            </a:r>
          </a:p>
          <a:p>
            <a:r>
              <a:rPr dirty="0">
                <a:sym typeface="+mn-ea"/>
              </a:rPr>
              <a:t>The fourth separates sources shared between red and infrared.</a:t>
            </a:r>
          </a:p>
          <a:p>
            <a:endParaRPr dirty="0">
              <a:sym typeface="+mn-ea"/>
            </a:endParaRPr>
          </a:p>
          <a:p>
            <a:endParaRPr dirty="0">
              <a:sym typeface="+mn-ea"/>
            </a:endParaRPr>
          </a:p>
          <a:p>
            <a:r>
              <a:rPr dirty="0"/>
              <a:t>Sources</a:t>
            </a:r>
          </a:p>
          <a:p>
            <a:r>
              <a:rPr dirty="0"/>
              <a:t>Thesis §3.3.5 and §3.3.5.2.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13 | NLMS: IMU based motion artefact cancellation</a:t>
            </a:r>
          </a:p>
          <a:p>
            <a:r>
              <a:rPr dirty="0"/>
              <a:t>51 seconds</a:t>
            </a:r>
          </a:p>
          <a:p>
            <a:r>
              <a:rPr dirty="0">
                <a:sym typeface="+mn-ea"/>
              </a:rPr>
              <a:t> the first method</a:t>
            </a:r>
            <a:r>
              <a:rPr lang="en-US" dirty="0">
                <a:sym typeface="+mn-ea"/>
              </a:rPr>
              <a:t>. </a:t>
            </a:r>
            <a:r>
              <a:rPr dirty="0"/>
              <a:t>Normalized least mean squares, or NLMS, uses an adaptive filter to predict motion contamination. </a:t>
            </a:r>
            <a:r>
              <a:rPr lang="en-US" dirty="0">
                <a:sym typeface="+mn-ea"/>
              </a:rPr>
              <a:t> </a:t>
            </a:r>
            <a:r>
              <a:rPr dirty="0"/>
              <a:t>The published structure </a:t>
            </a:r>
            <a:r>
              <a:rPr dirty="0">
                <a:sym typeface="+mn-ea"/>
              </a:rPr>
              <a:t>on the left </a:t>
            </a:r>
            <a:r>
              <a:rPr dirty="0"/>
              <a:t>shows a motion reference entering the filter and the predicted artefact being subtracted from PPG.</a:t>
            </a:r>
          </a:p>
          <a:p>
            <a:r>
              <a:rPr lang="en-US" dirty="0"/>
              <a:t>In this pipeline</a:t>
            </a:r>
            <a:r>
              <a:rPr dirty="0"/>
              <a:t>, six processed IMU axes and their delayed samples form the reference. For each wavelength, a weighted sum predicts the artefact. Subtraction produces the residual, which also updates the filter weights sample by sample. This </a:t>
            </a:r>
            <a:r>
              <a:rPr lang="en-US" dirty="0"/>
              <a:t>method </a:t>
            </a:r>
            <a:r>
              <a:rPr dirty="0"/>
              <a:t>requires the inertial reference to capture enough of the optical disturbance to separate it from the pulse.</a:t>
            </a:r>
          </a:p>
          <a:p>
            <a:endParaRPr dirty="0"/>
          </a:p>
          <a:p>
            <a:endParaRPr dirty="0"/>
          </a:p>
          <a:p>
            <a:r>
              <a:rPr dirty="0"/>
              <a:t>Sources</a:t>
            </a:r>
          </a:p>
          <a:p>
            <a:r>
              <a:rPr dirty="0"/>
              <a:t>Master thesis §3.3.5</a:t>
            </a:r>
          </a:p>
          <a:p>
            <a:r>
              <a:rPr dirty="0"/>
              <a:t>Shin &amp; Cho (2019), Fig. 2, https://doi.org/10.1155/2019/6283279</a:t>
            </a:r>
          </a:p>
          <a:p>
            <a:r>
              <a:rPr dirty="0" err="1"/>
              <a:t>Widrow</a:t>
            </a:r>
            <a:r>
              <a:rPr dirty="0"/>
              <a:t> et al. (1975), https://doi.org/10.1109/PROC.1975.10036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14 | Spectral masking: motion-dominant frequencies</a:t>
            </a:r>
          </a:p>
          <a:p>
            <a:r>
              <a:rPr dirty="0"/>
              <a:t>38 seconds</a:t>
            </a:r>
          </a:p>
          <a:p>
            <a:r>
              <a:rPr dirty="0"/>
              <a:t>Spectral masking compares motion and optical energy by frequency. </a:t>
            </a:r>
            <a:r>
              <a:rPr dirty="0">
                <a:sym typeface="+mn-ea"/>
              </a:rPr>
              <a:t>The </a:t>
            </a:r>
            <a:r>
              <a:rPr lang="en-US" dirty="0">
                <a:sym typeface="+mn-ea"/>
              </a:rPr>
              <a:t>plot</a:t>
            </a:r>
            <a:r>
              <a:rPr dirty="0">
                <a:sym typeface="+mn-ea"/>
              </a:rPr>
              <a:t> above</a:t>
            </a:r>
            <a:r>
              <a:rPr lang="en-US" dirty="0">
                <a:sym typeface="+mn-ea"/>
              </a:rPr>
              <a:t> shows that </a:t>
            </a:r>
            <a:r>
              <a:rPr dirty="0"/>
              <a:t>The signal is divided into overlapping four-second</a:t>
            </a:r>
            <a:r>
              <a:rPr lang="en-US" dirty="0"/>
              <a:t> window</a:t>
            </a:r>
            <a:r>
              <a:rPr dirty="0"/>
              <a:t> with a one-second </a:t>
            </a:r>
            <a:r>
              <a:rPr dirty="0" err="1"/>
              <a:t>step.</a:t>
            </a:r>
            <a:r>
              <a:rPr dirty="0" err="1">
                <a:sym typeface="+mn-ea"/>
              </a:rPr>
              <a:t>Within</a:t>
            </a:r>
            <a:r>
              <a:rPr dirty="0">
                <a:sym typeface="+mn-ea"/>
              </a:rPr>
              <a:t> each </a:t>
            </a:r>
            <a:r>
              <a:rPr lang="en-US" dirty="0">
                <a:sym typeface="+mn-ea"/>
              </a:rPr>
              <a:t>window</a:t>
            </a:r>
            <a:r>
              <a:rPr dirty="0">
                <a:sym typeface="+mn-ea"/>
              </a:rPr>
              <a:t>,</a:t>
            </a:r>
            <a:r>
              <a:rPr dirty="0"/>
              <a:t> A short-time Fourier transform, produces spectra</a:t>
            </a:r>
            <a:r>
              <a:rPr lang="en-US" dirty="0"/>
              <a:t> of PPG and imu signals</a:t>
            </a:r>
            <a:r>
              <a:rPr dirty="0"/>
              <a:t>. </a:t>
            </a:r>
          </a:p>
          <a:p>
            <a:r>
              <a:rPr dirty="0">
                <a:sym typeface="+mn-ea"/>
              </a:rPr>
              <a:t> In the lower-left example</a:t>
            </a:r>
            <a:r>
              <a:rPr lang="en-US" dirty="0"/>
              <a:t>, the teal wave represents ppg while the orange one represents imu, </a:t>
            </a:r>
            <a:r>
              <a:rPr dirty="0">
                <a:sym typeface="+mn-ea"/>
              </a:rPr>
              <a:t>the first peak is mainly optical, whereas the second peak has strong corresponding motion energy</a:t>
            </a:r>
            <a:r>
              <a:rPr lang="en-US" dirty="0"/>
              <a:t>. </a:t>
            </a:r>
          </a:p>
          <a:p>
            <a:r>
              <a:rPr dirty="0">
                <a:sym typeface="+mn-ea"/>
              </a:rPr>
              <a:t>The gain curve on the right follows this relationship.</a:t>
            </a:r>
            <a:r>
              <a:rPr lang="en-US" dirty="0"/>
              <a:t> </a:t>
            </a:r>
            <a:r>
              <a:rPr dirty="0"/>
              <a:t>Frequencies with a larger motion fraction receive stronger attenuation. </a:t>
            </a:r>
          </a:p>
          <a:p>
            <a:r>
              <a:rPr dirty="0"/>
              <a:t>A lower gain bound in the cardiac band makes suppression gradual. The original optical phase is retained for reconstruction.</a:t>
            </a:r>
          </a:p>
          <a:p>
            <a:endParaRPr dirty="0"/>
          </a:p>
          <a:p>
            <a:endParaRPr dirty="0"/>
          </a:p>
          <a:p>
            <a:r>
              <a:rPr dirty="0"/>
              <a:t>Sources</a:t>
            </a:r>
          </a:p>
          <a:p>
            <a:r>
              <a:rPr dirty="0"/>
              <a:t>Thesis §3.3.5, Spectral suppression and temporal tracking</a:t>
            </a:r>
          </a:p>
          <a:p>
            <a:r>
              <a:rPr dirty="0"/>
              <a:t>Zhang et al. 2015 TROIKA, doi:10.1109/TBME.2014.2359372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15 | Spectral masking: parallel signal pathways</a:t>
            </a:r>
          </a:p>
          <a:p>
            <a:r>
              <a:rPr dirty="0"/>
              <a:t>39 seconds</a:t>
            </a:r>
          </a:p>
          <a:p>
            <a:endParaRPr dirty="0"/>
          </a:p>
          <a:p>
            <a:endParaRPr dirty="0"/>
          </a:p>
          <a:p>
            <a:r>
              <a:rPr dirty="0">
                <a:sym typeface="+mn-ea"/>
              </a:rPr>
              <a:t>The workflow contains two parallel short-time Fourier transform, or STFT, spectral paths. One transforms an optical channel, and the other transforms the six IMU axes. The IMU magnitude spectra are combined by their root mean square, or RMS, value. Frame-wise </a:t>
            </a:r>
            <a:r>
              <a:rPr dirty="0" err="1">
                <a:sym typeface="+mn-ea"/>
              </a:rPr>
              <a:t>normalisation</a:t>
            </a:r>
            <a:r>
              <a:rPr dirty="0">
                <a:sym typeface="+mn-ea"/>
              </a:rPr>
              <a:t> makes the comparison less dependent on absolute optical and motion amplitudes. The </a:t>
            </a:r>
            <a:r>
              <a:rPr dirty="0" err="1">
                <a:sym typeface="+mn-ea"/>
              </a:rPr>
              <a:t>normalised</a:t>
            </a:r>
            <a:r>
              <a:rPr dirty="0">
                <a:sym typeface="+mn-ea"/>
              </a:rPr>
              <a:t> magnitudes then determine the motion fraction and the bounded gain. The long connection on the left carries the original complex PPG spectrum to the masking stage. This preserves the phase while changing spectral magnitude. Finally, the inverse transform and overlap-add reconstruction return the processed waveform to the original time grid.</a:t>
            </a:r>
          </a:p>
          <a:p>
            <a:endParaRPr dirty="0">
              <a:sym typeface="+mn-ea"/>
            </a:endParaRPr>
          </a:p>
          <a:p>
            <a:endParaRPr dirty="0">
              <a:sym typeface="+mn-ea"/>
            </a:endParaRPr>
          </a:p>
          <a:p>
            <a:r>
              <a:rPr dirty="0"/>
              <a:t>Sources</a:t>
            </a:r>
          </a:p>
          <a:p>
            <a:r>
              <a:rPr dirty="0"/>
              <a:t>Thesis §3.3.5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16 | SSA: separating pulse and interference</a:t>
            </a:r>
          </a:p>
          <a:p>
            <a:r>
              <a:rPr dirty="0"/>
              <a:t>35 seconds</a:t>
            </a:r>
          </a:p>
          <a:p>
            <a:r>
              <a:rPr dirty="0">
                <a:sym typeface="+mn-ea"/>
              </a:rPr>
              <a:t>Singular spectrum analysis, or SSA, represents the PPG as a sum of data-adaptive components. The upper trace combines a periodic pulse with slower and faster interference. A sliding embedding creates a matrix of </a:t>
            </a:r>
            <a:r>
              <a:rPr dirty="0" err="1">
                <a:sym typeface="+mn-ea"/>
              </a:rPr>
              <a:t>neighbouring</a:t>
            </a:r>
            <a:r>
              <a:rPr dirty="0">
                <a:sym typeface="+mn-ea"/>
              </a:rPr>
              <a:t> signal samples. Decomposition then separates patterns with different temporal structures. The lower traces show grouped components from this illustrative decomposition. Most energy in the teal group lies inside the cardiac band, while the orange and purple groups concentrate outside it. The selection criterion is the fraction of component power within the cardiac band. Retained components are summed to reconstruct the waveform.</a:t>
            </a:r>
          </a:p>
          <a:p>
            <a:endParaRPr dirty="0"/>
          </a:p>
          <a:p>
            <a:r>
              <a:rPr dirty="0"/>
              <a:t>Sources</a:t>
            </a:r>
          </a:p>
          <a:p>
            <a:r>
              <a:rPr dirty="0"/>
              <a:t>Thesis §3.3.5, Non-stationary decomposition</a:t>
            </a:r>
          </a:p>
          <a:p>
            <a:r>
              <a:rPr dirty="0"/>
              <a:t>Zhang et al. 2015 TROIKA, doi:10.1109/TBME.2014.2359372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17 | SSA: component scoring and reconstruction</a:t>
            </a:r>
          </a:p>
          <a:p>
            <a:endParaRPr dirty="0"/>
          </a:p>
          <a:p>
            <a:r>
              <a:rPr dirty="0">
                <a:sym typeface="+mn-ea"/>
              </a:rPr>
              <a:t>65 seconds</a:t>
            </a:r>
          </a:p>
          <a:p>
            <a:r>
              <a:rPr dirty="0">
                <a:sym typeface="+mn-ea"/>
              </a:rPr>
              <a:t>For each optical channel, SSA first constructs a Hankel trajectory matrix from overlapping sequences of samples. Singular value decomposition, or SVD, expresses that matrix as rank-one components. Each component returns to a time series by diagonal averaging: entries representing the same original sample are averaged together. The next stage estimates the component spectrum and calculates cardiac concentration, using power from 0.5 to 3.5 hertz relative to power from 0.2 to 8 hertz. Components reaching the configured threshold contribute to the reconstructed PPG. This assessment occurs in parallel across the retained singular components. Red and infrared follow the same independent procedure.</a:t>
            </a:r>
          </a:p>
          <a:p>
            <a:endParaRPr lang="en-US" dirty="0"/>
          </a:p>
          <a:p>
            <a:r>
              <a:rPr dirty="0"/>
              <a:t>Sources</a:t>
            </a:r>
          </a:p>
          <a:p>
            <a:r>
              <a:rPr dirty="0"/>
              <a:t>Thesis §3.3.5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18 | PCA: mixtures, projections and components</a:t>
            </a:r>
          </a:p>
          <a:p>
            <a:r>
              <a:rPr dirty="0">
                <a:sym typeface="+mn-ea"/>
              </a:rPr>
              <a:t>65 seconds</a:t>
            </a:r>
          </a:p>
          <a:p>
            <a:endParaRPr dirty="0">
              <a:sym typeface="+mn-ea"/>
            </a:endParaRPr>
          </a:p>
          <a:p>
            <a:r>
              <a:rPr dirty="0">
                <a:sym typeface="+mn-ea"/>
              </a:rPr>
              <a:t>Principal component analysis, or PCA, is used here for blind source separation, or BSS. This PCA-BSS route treats red and infrared as different mixtures of underlying physiological and artefact components. The left traces show two </a:t>
            </a:r>
            <a:r>
              <a:rPr dirty="0" err="1">
                <a:sym typeface="+mn-ea"/>
              </a:rPr>
              <a:t>synchronised</a:t>
            </a:r>
            <a:r>
              <a:rPr dirty="0">
                <a:sym typeface="+mn-ea"/>
              </a:rPr>
              <a:t> optical observations. In the central plot, each point pairs their amplitudes at one instant. PCA finds orthogonal directions through this cloud and projects the observations onto them. The right panel shows the resulting component time series. The first principal component explains the most variance, but variance alone does not identify the pulse. Here, the second component receives the higher selection score because it has stronger cardiac concentration and less association with the motion reference.</a:t>
            </a:r>
          </a:p>
          <a:p>
            <a:endParaRPr dirty="0">
              <a:sym typeface="+mn-ea"/>
            </a:endParaRPr>
          </a:p>
          <a:p>
            <a:endParaRPr dirty="0"/>
          </a:p>
          <a:p>
            <a:r>
              <a:rPr dirty="0"/>
              <a:t>Sources</a:t>
            </a:r>
          </a:p>
          <a:p>
            <a:r>
              <a:rPr dirty="0"/>
              <a:t>Thesis §3.3.5, Dual-wavelength blind source separation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19 | Four motion reducers on the same PPG segment</a:t>
            </a:r>
          </a:p>
          <a:p>
            <a:r>
              <a:rPr dirty="0"/>
              <a:t>30 seconds</a:t>
            </a:r>
          </a:p>
          <a:p>
            <a:r>
              <a:rPr dirty="0"/>
              <a:t>These outputs use the same ten-second segment. Blue is the recorded signal, teal </a:t>
            </a:r>
            <a:r>
              <a:rPr lang="en-US" dirty="0"/>
              <a:t>is </a:t>
            </a:r>
            <a:r>
              <a:rPr dirty="0"/>
              <a:t>the processed signal, and orange dots the detected peaks. The routes are spectral, NLMS, SSA and PCA. </a:t>
            </a:r>
          </a:p>
          <a:p>
            <a:endParaRPr dirty="0"/>
          </a:p>
          <a:p>
            <a:r>
              <a:rPr dirty="0">
                <a:sym typeface="+mn-ea"/>
              </a:rPr>
              <a:t> Spectral masking gives a noticeably smoother trace in this example; the NLMS output remains irregular. The SSA and PCA outputs follow the main pulse shapes more closely. This comparison shows the form of the outputs. A smooth line alone cannot establish accurate beats or physiological fidelity.</a:t>
            </a:r>
          </a:p>
          <a:p>
            <a:endParaRPr dirty="0">
              <a:sym typeface="+mn-ea"/>
            </a:endParaRPr>
          </a:p>
          <a:p>
            <a:endParaRPr dirty="0">
              <a:sym typeface="+mn-ea"/>
            </a:endParaRPr>
          </a:p>
          <a:p>
            <a:r>
              <a:rPr dirty="0"/>
              <a:t>Sources</a:t>
            </a:r>
          </a:p>
          <a:p>
            <a:r>
              <a:rPr dirty="0"/>
              <a:t>Four user-supplied pipeline screenshots, uploaded 2026-09-23; order spectral, NLMS, SSA, PCA</a:t>
            </a:r>
          </a:p>
          <a:p>
            <a:r>
              <a:rPr dirty="0"/>
              <a:t>Thesis §3.3.5 and §4.1.3, Table 22 (PCA algorithm name in source: </a:t>
            </a:r>
            <a:r>
              <a:rPr dirty="0" err="1"/>
              <a:t>pca_bss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20 | Identity control and four denoising methods</a:t>
            </a:r>
          </a:p>
          <a:p>
            <a:r>
              <a:rPr dirty="0"/>
              <a:t>52 seconds</a:t>
            </a:r>
          </a:p>
          <a:p>
            <a:r>
              <a:rPr dirty="0">
                <a:sym typeface="+mn-ea"/>
              </a:rPr>
              <a:t>The common benchmark </a:t>
            </a:r>
            <a:r>
              <a:rPr lang="en-US" dirty="0">
                <a:sym typeface="+mn-ea"/>
              </a:rPr>
              <a:t>test </a:t>
            </a:r>
            <a:r>
              <a:rPr dirty="0">
                <a:sym typeface="+mn-ea"/>
              </a:rPr>
              <a:t>compares </a:t>
            </a:r>
            <a:r>
              <a:rPr lang="en-US" dirty="0">
                <a:sym typeface="+mn-ea"/>
              </a:rPr>
              <a:t>4 denoiser </a:t>
            </a:r>
            <a:r>
              <a:rPr lang="en-US" dirty="0" err="1">
                <a:sym typeface="+mn-ea"/>
              </a:rPr>
              <a:t>argorithems</a:t>
            </a:r>
            <a:r>
              <a:rPr dirty="0">
                <a:sym typeface="+mn-ea"/>
              </a:rPr>
              <a:t> with Identity, which applies no additional denoising.  The benchmark uses </a:t>
            </a:r>
            <a:r>
              <a:rPr lang="en-US" dirty="0">
                <a:sym typeface="+mn-ea"/>
              </a:rPr>
              <a:t>an opensource dataset with labeled</a:t>
            </a:r>
            <a:r>
              <a:rPr dirty="0">
                <a:sym typeface="+mn-ea"/>
              </a:rPr>
              <a:t> ECG</a:t>
            </a:r>
            <a:r>
              <a:rPr lang="en-US" dirty="0">
                <a:sym typeface="+mn-ea"/>
              </a:rPr>
              <a:t> peaks</a:t>
            </a:r>
            <a:r>
              <a:rPr dirty="0">
                <a:sym typeface="+mn-ea"/>
              </a:rPr>
              <a:t>, as its reference.</a:t>
            </a:r>
          </a:p>
          <a:p>
            <a:r>
              <a:rPr dirty="0">
                <a:sym typeface="+mn-ea"/>
              </a:rPr>
              <a:t>On dynamic infrared recordings, </a:t>
            </a:r>
            <a:r>
              <a:rPr lang="en-US" dirty="0">
                <a:sym typeface="+mn-ea"/>
              </a:rPr>
              <a:t>both </a:t>
            </a:r>
            <a:r>
              <a:rPr dirty="0">
                <a:sym typeface="+mn-ea"/>
              </a:rPr>
              <a:t>mean interval root mean square error, or RMSE, </a:t>
            </a:r>
            <a:r>
              <a:rPr lang="en-US" dirty="0">
                <a:sym typeface="+mn-ea"/>
              </a:rPr>
              <a:t>and </a:t>
            </a:r>
            <a:r>
              <a:rPr dirty="0">
                <a:sym typeface="+mn-ea"/>
              </a:rPr>
              <a:t> Beat-matching F1,</a:t>
            </a:r>
            <a:r>
              <a:rPr lang="zh-CN" dirty="0">
                <a:ea typeface="宋体" panose="02010600030101010101" pitchFamily="2" charset="-122"/>
                <a:sym typeface="+mn-ea"/>
              </a:rPr>
              <a:t>（</a:t>
            </a:r>
            <a:r>
              <a:rPr dirty="0">
                <a:sym typeface="+mn-ea"/>
              </a:rPr>
              <a:t> the harmonic mean of precision and recall,</a:t>
            </a:r>
            <a:r>
              <a:rPr lang="zh-CN" dirty="0">
                <a:ea typeface="宋体" panose="02010600030101010101" pitchFamily="2" charset="-122"/>
                <a:sym typeface="+mn-ea"/>
              </a:rPr>
              <a:t>）</a:t>
            </a:r>
            <a:r>
              <a:rPr dirty="0">
                <a:sym typeface="+mn-ea"/>
              </a:rPr>
              <a:t> </a:t>
            </a:r>
            <a:r>
              <a:rPr lang="en-US" dirty="0">
                <a:sym typeface="+mn-ea"/>
              </a:rPr>
              <a:t> show that </a:t>
            </a:r>
            <a:r>
              <a:rPr b="1" dirty="0">
                <a:solidFill>
                  <a:srgbClr val="087E8B"/>
                </a:solidFill>
                <a:latin typeface="DejaVu Sans" panose="020B0603030804020204"/>
                <a:ea typeface="DejaVu Sans" panose="020B0603030804020204"/>
                <a:cs typeface="DejaVu Sans" panose="020B0603030804020204"/>
                <a:sym typeface="+mn-ea"/>
              </a:rPr>
              <a:t>Spectral, SSA and PCA have similar mean error; </a:t>
            </a:r>
            <a:r>
              <a:rPr lang="en-US" b="1" dirty="0">
                <a:solidFill>
                  <a:srgbClr val="087E8B"/>
                </a:solidFill>
                <a:latin typeface="DejaVu Sans" panose="020B0603030804020204"/>
                <a:ea typeface="DejaVu Sans" panose="020B0603030804020204"/>
                <a:cs typeface="DejaVu Sans" panose="020B0603030804020204"/>
                <a:sym typeface="+mn-ea"/>
              </a:rPr>
              <a:t> while </a:t>
            </a:r>
            <a:r>
              <a:rPr b="1" dirty="0">
                <a:solidFill>
                  <a:srgbClr val="087E8B"/>
                </a:solidFill>
                <a:latin typeface="DejaVu Sans" panose="020B0603030804020204"/>
                <a:ea typeface="DejaVu Sans" panose="020B0603030804020204"/>
                <a:cs typeface="DejaVu Sans" panose="020B0603030804020204"/>
                <a:sym typeface="+mn-ea"/>
              </a:rPr>
              <a:t>NLMS roughly doubles it.</a:t>
            </a:r>
          </a:p>
          <a:p>
            <a:endParaRPr b="1" dirty="0">
              <a:solidFill>
                <a:srgbClr val="087E8B"/>
              </a:solidFill>
              <a:latin typeface="DejaVu Sans" panose="020B0603030804020204"/>
              <a:ea typeface="DejaVu Sans" panose="020B0603030804020204"/>
              <a:cs typeface="DejaVu Sans" panose="020B0603030804020204"/>
              <a:sym typeface="+mn-ea"/>
            </a:endParaRPr>
          </a:p>
          <a:p>
            <a:endParaRPr dirty="0">
              <a:sym typeface="+mn-ea"/>
            </a:endParaRPr>
          </a:p>
          <a:p>
            <a:r>
              <a:rPr dirty="0"/>
              <a:t>Thesis §4.1.3, Tables 22–23; spectral-mask dynamic IR RMSE p = 0.0656.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21 | Workflow: peak detection</a:t>
            </a:r>
          </a:p>
          <a:p>
            <a:r>
              <a:rPr dirty="0"/>
              <a:t>18 seconds</a:t>
            </a:r>
          </a:p>
          <a:p>
            <a:r>
              <a:rPr dirty="0"/>
              <a:t>Peak detection assigns a time to each pulse. The project compared </a:t>
            </a:r>
            <a:r>
              <a:rPr dirty="0">
                <a:sym typeface="+mn-ea"/>
              </a:rPr>
              <a:t> two candidate detectors</a:t>
            </a:r>
            <a:r>
              <a:rPr lang="zh-CN" dirty="0">
                <a:ea typeface="宋体" panose="02010600030101010101" pitchFamily="2" charset="-122"/>
                <a:sym typeface="+mn-ea"/>
              </a:rPr>
              <a:t>：</a:t>
            </a:r>
            <a:r>
              <a:rPr lang="en-US" altLang="zh-CN" dirty="0">
                <a:ea typeface="宋体" panose="02010600030101010101" pitchFamily="2" charset="-122"/>
                <a:sym typeface="+mn-ea"/>
              </a:rPr>
              <a:t> </a:t>
            </a:r>
            <a:r>
              <a:rPr dirty="0"/>
              <a:t>Aboy++ with multiscale peak and trough detection, </a:t>
            </a:r>
            <a:r>
              <a:rPr dirty="0" err="1"/>
              <a:t>MSPTDfast</a:t>
            </a:r>
            <a:r>
              <a:rPr dirty="0"/>
              <a:t> v2, </a:t>
            </a:r>
            <a:r>
              <a:rPr dirty="0">
                <a:sym typeface="+mn-ea"/>
              </a:rPr>
              <a:t>Both were evaluated against ECG annotations from an external dataset.</a:t>
            </a:r>
          </a:p>
          <a:p>
            <a:endParaRPr dirty="0">
              <a:sym typeface="+mn-ea"/>
            </a:endParaRPr>
          </a:p>
          <a:p>
            <a:endParaRPr dirty="0"/>
          </a:p>
          <a:p>
            <a:r>
              <a:rPr dirty="0"/>
              <a:t>Sources</a:t>
            </a:r>
          </a:p>
          <a:p>
            <a:r>
              <a:rPr dirty="0"/>
              <a:t>Thesis §3.4.1.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22 | Anatomy of a PPG pulse</a:t>
            </a:r>
          </a:p>
          <a:p>
            <a:r>
              <a:rPr dirty="0"/>
              <a:t>39 seconds</a:t>
            </a:r>
          </a:p>
          <a:p>
            <a:r>
              <a:rPr dirty="0"/>
              <a:t>The landmarks are pulse onset, on; systolic peak, </a:t>
            </a:r>
            <a:r>
              <a:rPr dirty="0" err="1"/>
              <a:t>sp</a:t>
            </a:r>
            <a:r>
              <a:rPr dirty="0"/>
              <a:t>; dicrotic notch, dn; diastolic peak, </a:t>
            </a:r>
            <a:r>
              <a:rPr dirty="0" err="1"/>
              <a:t>dp</a:t>
            </a:r>
            <a:r>
              <a:rPr dirty="0"/>
              <a:t>; and pulse offset, off. In older adults, the notch and diastolic peak can be weak or absent. The project therefore detects the prominent systolic peak. Its </a:t>
            </a:r>
            <a:r>
              <a:rPr dirty="0" err="1"/>
              <a:t>neighbouring</a:t>
            </a:r>
            <a:r>
              <a:rPr dirty="0"/>
              <a:t> valleys delimit a pulse for morphology measurements. Both candidate detectors were evaluated separately on red and infrared recordings.</a:t>
            </a:r>
          </a:p>
          <a:p>
            <a:endParaRPr dirty="0"/>
          </a:p>
          <a:p>
            <a:endParaRPr dirty="0"/>
          </a:p>
          <a:p>
            <a:r>
              <a:rPr dirty="0"/>
              <a:t>Sources</a:t>
            </a:r>
          </a:p>
          <a:p>
            <a:r>
              <a:rPr dirty="0"/>
              <a:t>Thesis §2.3.3, Figures 5–6 and §3.4.1; §4.1.1.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23 | Aboy++: adaptive peak selection</a:t>
            </a:r>
          </a:p>
          <a:p>
            <a:r>
              <a:rPr dirty="0"/>
              <a:t>45 seconds</a:t>
            </a:r>
          </a:p>
          <a:p>
            <a:r>
              <a:rPr lang="en-US" dirty="0">
                <a:sym typeface="+mn-ea"/>
              </a:rPr>
              <a:t>This page shows the workflow of </a:t>
            </a:r>
            <a:r>
              <a:rPr lang="en-US" dirty="0" err="1">
                <a:sym typeface="+mn-ea"/>
              </a:rPr>
              <a:t>aboy</a:t>
            </a:r>
            <a:r>
              <a:rPr lang="en-US" dirty="0">
                <a:sym typeface="+mn-ea"/>
              </a:rPr>
              <a:t>++ </a:t>
            </a:r>
            <a:r>
              <a:rPr lang="en-US" dirty="0" err="1">
                <a:sym typeface="+mn-ea"/>
              </a:rPr>
              <a:t>argorithums</a:t>
            </a:r>
            <a:r>
              <a:rPr lang="en-US" dirty="0">
                <a:sym typeface="+mn-ea"/>
              </a:rPr>
              <a:t>.</a:t>
            </a:r>
            <a:endParaRPr dirty="0">
              <a:sym typeface="+mn-ea"/>
            </a:endParaRPr>
          </a:p>
          <a:p>
            <a:r>
              <a:rPr dirty="0">
                <a:sym typeface="+mn-ea"/>
              </a:rPr>
              <a:t> The upper signal </a:t>
            </a:r>
            <a:r>
              <a:rPr lang="en-US" dirty="0">
                <a:sym typeface="+mn-ea"/>
              </a:rPr>
              <a:t>plot </a:t>
            </a:r>
            <a:r>
              <a:rPr dirty="0">
                <a:sym typeface="+mn-ea"/>
              </a:rPr>
              <a:t>shows</a:t>
            </a:r>
            <a:r>
              <a:rPr lang="en-US" dirty="0">
                <a:sym typeface="+mn-ea"/>
              </a:rPr>
              <a:t> that </a:t>
            </a:r>
            <a:r>
              <a:rPr dirty="0"/>
              <a:t>Aboy++ works through ten-second windows without overlap. </a:t>
            </a:r>
            <a:r>
              <a:rPr dirty="0">
                <a:sym typeface="+mn-ea"/>
              </a:rPr>
              <a:t>Within each window, the detector first makes a permissive search for candidate peaks. </a:t>
            </a:r>
            <a:r>
              <a:rPr dirty="0"/>
              <a:t> and their pulse-to-pulse intervals, or PPI</a:t>
            </a:r>
            <a:r>
              <a:rPr lang="en-US" dirty="0"/>
              <a:t> sequence</a:t>
            </a:r>
            <a:r>
              <a:rPr dirty="0"/>
              <a:t>. Reliable intervals update the heart-rate index, </a:t>
            </a:r>
            <a:r>
              <a:rPr lang="en-US" dirty="0"/>
              <a:t>called</a:t>
            </a:r>
            <a:r>
              <a:rPr dirty="0"/>
              <a:t> </a:t>
            </a:r>
            <a:r>
              <a:rPr dirty="0" err="1"/>
              <a:t>HRi</a:t>
            </a:r>
            <a:r>
              <a:rPr dirty="0"/>
              <a:t>; otherwise, the previous value is retained. </a:t>
            </a:r>
          </a:p>
          <a:p>
            <a:r>
              <a:rPr lang="zh-CN" dirty="0">
                <a:ea typeface="宋体" panose="02010600030101010101" pitchFamily="2" charset="-122"/>
              </a:rPr>
              <a:t>（</a:t>
            </a:r>
            <a:r>
              <a:rPr dirty="0" err="1"/>
              <a:t>HRi</a:t>
            </a:r>
            <a:r>
              <a:rPr dirty="0"/>
              <a:t> measures interval variability, rather than beats per minute.</a:t>
            </a:r>
            <a:r>
              <a:rPr lang="zh-CN" dirty="0">
                <a:ea typeface="宋体" panose="02010600030101010101" pitchFamily="2" charset="-122"/>
              </a:rPr>
              <a:t>）</a:t>
            </a:r>
          </a:p>
          <a:p>
            <a:endParaRPr lang="zh-CN" dirty="0">
              <a:ea typeface="宋体" panose="02010600030101010101" pitchFamily="2" charset="-122"/>
            </a:endParaRPr>
          </a:p>
          <a:p>
            <a:r>
              <a:rPr dirty="0">
                <a:sym typeface="+mn-ea"/>
              </a:rPr>
              <a:t>The enlarged signal illustrates the final selection. </a:t>
            </a:r>
            <a:r>
              <a:rPr dirty="0"/>
              <a:t> </a:t>
            </a:r>
            <a:r>
              <a:rPr dirty="0">
                <a:sym typeface="+mn-ea"/>
              </a:rPr>
              <a:t>A minimum spacing removes nearby false peaks, while the height above the surrounding baseline removes small fluctuations. This local peak height is called prominence. The resulting </a:t>
            </a:r>
            <a:r>
              <a:rPr dirty="0" err="1">
                <a:sym typeface="+mn-ea"/>
              </a:rPr>
              <a:t>HRi</a:t>
            </a:r>
            <a:r>
              <a:rPr dirty="0">
                <a:sym typeface="+mn-ea"/>
              </a:rPr>
              <a:t> passes to the next window, where the same sequence repeats.</a:t>
            </a:r>
          </a:p>
          <a:p>
            <a:endParaRPr lang="en-US" dirty="0"/>
          </a:p>
          <a:p>
            <a:r>
              <a:rPr dirty="0"/>
              <a:t>Sources</a:t>
            </a:r>
          </a:p>
          <a:p>
            <a:r>
              <a:rPr dirty="0"/>
              <a:t>Thesis §3.4.1; Goda, Charlton and Behar 2023, DOI 10.48550/arXiv.2307.10398.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24 | Aboy++: peak selection in each 10 s block</a:t>
            </a:r>
          </a:p>
          <a:p>
            <a:r>
              <a:rPr dirty="0"/>
              <a:t>43 seconds</a:t>
            </a:r>
          </a:p>
          <a:p>
            <a:r>
              <a:rPr dirty="0"/>
              <a:t>The flow begins with filtering and the carried heart-rate index. Preliminary peaks give candidate intervals; intervals above the thirtieth percentile form Pd. If enough remain and their mean is plausible relative to the preliminary median, </a:t>
            </a:r>
            <a:r>
              <a:rPr dirty="0" err="1"/>
              <a:t>HRi</a:t>
            </a:r>
            <a:r>
              <a:rPr dirty="0"/>
              <a:t> is updated. Otherwise, it stays unchanged. The final search applies adaptive spacing and peak-height requirements. Both signal polarities are tested; the more plausible sequence is selected, blocks are merged and intervals checked.</a:t>
            </a:r>
          </a:p>
          <a:p>
            <a:endParaRPr dirty="0"/>
          </a:p>
          <a:p>
            <a:r>
              <a:rPr dirty="0"/>
              <a:t>Master thesis §3.4.1.1</a:t>
            </a:r>
          </a:p>
          <a:p>
            <a:r>
              <a:rPr dirty="0"/>
              <a:t>Goda, Charlton &amp; Behar (2023), https://arxiv.org/abs/2307.10398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25 | </a:t>
            </a:r>
            <a:r>
              <a:rPr dirty="0" err="1"/>
              <a:t>MSPTDfast</a:t>
            </a:r>
            <a:r>
              <a:rPr dirty="0"/>
              <a:t> v2: maxima across temporal scales</a:t>
            </a:r>
          </a:p>
          <a:p>
            <a:r>
              <a:rPr dirty="0"/>
              <a:t>41 seconds</a:t>
            </a:r>
          </a:p>
          <a:p>
            <a:r>
              <a:rPr dirty="0">
                <a:sym typeface="+mn-ea"/>
              </a:rPr>
              <a:t>The second detector, multi-scale peak and trough detection fast version two,</a:t>
            </a:r>
            <a:r>
              <a:rPr lang="en-US" dirty="0">
                <a:sym typeface="+mn-ea"/>
              </a:rPr>
              <a:t> called </a:t>
            </a:r>
            <a:r>
              <a:rPr dirty="0" err="1"/>
              <a:t>MSPTDfast</a:t>
            </a:r>
            <a:r>
              <a:rPr dirty="0"/>
              <a:t> v2 tests whether a sample remains a maximum as its</a:t>
            </a:r>
            <a:r>
              <a:rPr lang="en-US" dirty="0"/>
              <a:t> comparison</a:t>
            </a:r>
            <a:r>
              <a:rPr dirty="0"/>
              <a:t> </a:t>
            </a:r>
            <a:r>
              <a:rPr dirty="0" err="1"/>
              <a:t>neighbourhood</a:t>
            </a:r>
            <a:r>
              <a:rPr dirty="0"/>
              <a:t> </a:t>
            </a:r>
            <a:r>
              <a:rPr lang="en-US" dirty="0"/>
              <a:t>changes</a:t>
            </a:r>
            <a:r>
              <a:rPr dirty="0"/>
              <a:t>. </a:t>
            </a:r>
            <a:r>
              <a:rPr dirty="0">
                <a:sym typeface="+mn-ea"/>
              </a:rPr>
              <a:t>The upper-left plot shows a six-second signal window on the reduced twenty-hertz detector grid. In the lower plot, each row uses a different distance to the left and right </a:t>
            </a:r>
            <a:r>
              <a:rPr dirty="0" err="1">
                <a:sym typeface="+mn-ea"/>
              </a:rPr>
              <a:t>neighbours</a:t>
            </a:r>
            <a:r>
              <a:rPr dirty="0">
                <a:sym typeface="+mn-ea"/>
              </a:rPr>
              <a:t>. A teal marker means that the central sample is higher than both </a:t>
            </a:r>
            <a:r>
              <a:rPr dirty="0" err="1">
                <a:sym typeface="+mn-ea"/>
              </a:rPr>
              <a:t>neighbours</a:t>
            </a:r>
            <a:r>
              <a:rPr dirty="0">
                <a:sym typeface="+mn-ea"/>
              </a:rPr>
              <a:t> at that scale. A candidate peak must satisfy this condition at every scale up to the selected characteristic scale. Small fluctuations tend to lose this consistency when the </a:t>
            </a:r>
            <a:r>
              <a:rPr dirty="0" err="1">
                <a:sym typeface="+mn-ea"/>
              </a:rPr>
              <a:t>neighbourhood</a:t>
            </a:r>
            <a:r>
              <a:rPr dirty="0">
                <a:sym typeface="+mn-ea"/>
              </a:rPr>
              <a:t> grows. Detection on the reduced grid saves computation, but the final pulse time is refined on the original four-hundred-hertz signal. The right-hand enlargement shows a search within fifty milliseconds of the coarse location. Overlapping windows provide additional coverage near their boundaries.</a:t>
            </a:r>
          </a:p>
          <a:p>
            <a:endParaRPr dirty="0">
              <a:sym typeface="+mn-ea"/>
            </a:endParaRPr>
          </a:p>
          <a:p>
            <a:endParaRPr dirty="0">
              <a:sym typeface="+mn-ea"/>
            </a:endParaRPr>
          </a:p>
          <a:p>
            <a:r>
              <a:rPr dirty="0"/>
              <a:t>Sources</a:t>
            </a:r>
          </a:p>
          <a:p>
            <a:r>
              <a:rPr dirty="0"/>
              <a:t>Thesis §3.4.1; Charlton et al. 2025, DOI 10.1088/1361-6579/adb89e.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26 | </a:t>
            </a:r>
            <a:r>
              <a:rPr dirty="0" err="1"/>
              <a:t>MSPTDfast</a:t>
            </a:r>
            <a:r>
              <a:rPr dirty="0"/>
              <a:t> v2: parallel scales and peak refinement</a:t>
            </a:r>
          </a:p>
          <a:p>
            <a:r>
              <a:rPr dirty="0"/>
              <a:t>39 seconds</a:t>
            </a:r>
          </a:p>
          <a:p>
            <a:r>
              <a:rPr dirty="0"/>
              <a:t>The detector uses six-second windows with twenty-percent overlap. After </a:t>
            </a:r>
            <a:r>
              <a:rPr dirty="0" err="1"/>
              <a:t>downsampling</a:t>
            </a:r>
            <a:r>
              <a:rPr dirty="0"/>
              <a:t> and detrending, parallel comparisons form a local-maxima scalogram. The characteristic scale has the greatest number of local maxima. Candidates must remain maxima across all preceding scales. They map back to the original signal for local refinement. Peaks from overlapping windows are then merged and duplicates removed, producing the final pulse times.</a:t>
            </a:r>
          </a:p>
          <a:p>
            <a:endParaRPr dirty="0"/>
          </a:p>
          <a:p>
            <a:endParaRPr dirty="0">
              <a:sym typeface="+mn-ea"/>
            </a:endParaRPr>
          </a:p>
          <a:p>
            <a:r>
              <a:rPr dirty="0"/>
              <a:t>Sources</a:t>
            </a:r>
          </a:p>
          <a:p>
            <a:r>
              <a:rPr dirty="0"/>
              <a:t>Thesis §3.4.1; Charlton et al. 2025, DOI 10.1088/1361-6579/adb89e.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27 | Peak timing and execution speed</a:t>
            </a:r>
          </a:p>
          <a:p>
            <a:r>
              <a:rPr dirty="0"/>
              <a:t>47 seconds</a:t>
            </a:r>
          </a:p>
          <a:p>
            <a:r>
              <a:rPr dirty="0">
                <a:sym typeface="+mn-ea"/>
              </a:rPr>
              <a:t>Both detectors were evaluated against ECG timing on the external PPG dataset, </a:t>
            </a:r>
            <a:r>
              <a:rPr lang="en-US" dirty="0">
                <a:sym typeface="+mn-ea"/>
              </a:rPr>
              <a:t>called</a:t>
            </a:r>
            <a:r>
              <a:rPr dirty="0">
                <a:sym typeface="+mn-ea"/>
              </a:rPr>
              <a:t> PTT, benchmark with twenty-two participants. </a:t>
            </a:r>
          </a:p>
          <a:p>
            <a:r>
              <a:rPr dirty="0"/>
              <a:t>On infrared, </a:t>
            </a:r>
            <a:r>
              <a:rPr dirty="0" err="1"/>
              <a:t>MSPTDfast</a:t>
            </a:r>
            <a:r>
              <a:rPr dirty="0"/>
              <a:t> v2 achieved </a:t>
            </a:r>
            <a:r>
              <a:rPr lang="en-US" dirty="0"/>
              <a:t>better score </a:t>
            </a:r>
            <a:r>
              <a:rPr dirty="0">
                <a:sym typeface="+mn-ea"/>
              </a:rPr>
              <a:t> </a:t>
            </a:r>
            <a:r>
              <a:rPr lang="en-US" dirty="0">
                <a:sym typeface="+mn-ea"/>
              </a:rPr>
              <a:t>than</a:t>
            </a:r>
            <a:r>
              <a:rPr dirty="0">
                <a:sym typeface="+mn-ea"/>
              </a:rPr>
              <a:t> Aboy++</a:t>
            </a:r>
            <a:r>
              <a:rPr lang="en-US" dirty="0">
                <a:sym typeface="+mn-ea"/>
              </a:rPr>
              <a:t> </a:t>
            </a:r>
            <a:r>
              <a:rPr lang="en-US" dirty="0"/>
              <a:t>on both </a:t>
            </a:r>
            <a:r>
              <a:rPr dirty="0"/>
              <a:t>median beat F1 </a:t>
            </a:r>
            <a:r>
              <a:rPr lang="en-US" dirty="0"/>
              <a:t>and t</a:t>
            </a:r>
            <a:r>
              <a:rPr dirty="0"/>
              <a:t>he RMSE between ECG inter-beat intervals,. Runtime was about one fifth as long. These results supported </a:t>
            </a:r>
            <a:r>
              <a:rPr lang="en-US" dirty="0"/>
              <a:t>that </a:t>
            </a:r>
            <a:r>
              <a:rPr dirty="0" err="1"/>
              <a:t>MSPTDfast</a:t>
            </a:r>
            <a:r>
              <a:rPr dirty="0"/>
              <a:t> v2</a:t>
            </a:r>
            <a:r>
              <a:rPr lang="en-US" dirty="0"/>
              <a:t> is better</a:t>
            </a:r>
            <a:r>
              <a:rPr dirty="0"/>
              <a:t>.</a:t>
            </a:r>
          </a:p>
          <a:p>
            <a:endParaRPr lang="en-US" dirty="0">
              <a:sym typeface="+mn-ea"/>
            </a:endParaRPr>
          </a:p>
          <a:p>
            <a:endParaRPr dirty="0">
              <a:sym typeface="+mn-ea"/>
            </a:endParaRPr>
          </a:p>
          <a:p>
            <a:r>
              <a:rPr dirty="0"/>
              <a:t>Sources</a:t>
            </a:r>
          </a:p>
          <a:p>
            <a:r>
              <a:rPr dirty="0"/>
              <a:t>Thesis §4.1.1, Tables 18–19.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28 | Workflow: feature engineering</a:t>
            </a:r>
          </a:p>
          <a:p>
            <a:r>
              <a:rPr dirty="0"/>
              <a:t>14 seconds</a:t>
            </a:r>
          </a:p>
          <a:p>
            <a:r>
              <a:rPr dirty="0"/>
              <a:t>Feature engineering </a:t>
            </a:r>
            <a:r>
              <a:rPr dirty="0">
                <a:sym typeface="+mn-ea"/>
              </a:rPr>
              <a:t>first measure pulse intervals and their variability</a:t>
            </a:r>
            <a:r>
              <a:rPr dirty="0"/>
              <a:t>, </a:t>
            </a:r>
            <a:r>
              <a:rPr lang="en-US" dirty="0"/>
              <a:t>then </a:t>
            </a:r>
            <a:r>
              <a:rPr dirty="0"/>
              <a:t>pulse shape and optical descriptors.</a:t>
            </a:r>
          </a:p>
          <a:p>
            <a:r>
              <a:rPr dirty="0">
                <a:sym typeface="+mn-ea"/>
              </a:rPr>
              <a:t>These beat-level measurements are summarized together with spectral and movement descriptors to form the model inputs.</a:t>
            </a:r>
          </a:p>
          <a:p>
            <a:endParaRPr dirty="0">
              <a:sym typeface="+mn-ea"/>
            </a:endParaRPr>
          </a:p>
          <a:p>
            <a:r>
              <a:rPr dirty="0"/>
              <a:t>Sources</a:t>
            </a:r>
          </a:p>
          <a:p>
            <a:r>
              <a:rPr dirty="0"/>
              <a:t>Thesis §3.4 and Tables 7–10.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29 | Pulse intervals and pulse rate variability</a:t>
            </a:r>
          </a:p>
          <a:p>
            <a:r>
              <a:rPr dirty="0"/>
              <a:t>38 seconds</a:t>
            </a:r>
          </a:p>
          <a:p>
            <a:r>
              <a:rPr dirty="0"/>
              <a:t>Consecutive peaks define the interval series. Mean spacing gives pulse rate; changing spacing describes PRV. The standard deviation of accepted intervals, or SDNN, measures overall dispersion. The root mean square of successive differences, or RMSSD, measures beat-to-beat changes.</a:t>
            </a:r>
          </a:p>
          <a:p>
            <a:endParaRPr dirty="0"/>
          </a:p>
          <a:p>
            <a:endParaRPr dirty="0"/>
          </a:p>
          <a:p>
            <a:r>
              <a:rPr lang="en-US" dirty="0"/>
              <a:t>(</a:t>
            </a:r>
            <a:r>
              <a:rPr dirty="0"/>
              <a:t>Invalid intervals break the sequence, so unrelated beats are not joined across gaps. Longer static recordings can also support spectral PRV.</a:t>
            </a:r>
            <a:r>
              <a:rPr lang="en-US" dirty="0"/>
              <a:t>)</a:t>
            </a:r>
          </a:p>
          <a:p>
            <a:endParaRPr lang="en-US" dirty="0"/>
          </a:p>
          <a:p>
            <a:endParaRPr dirty="0"/>
          </a:p>
          <a:p>
            <a:r>
              <a:rPr dirty="0"/>
              <a:t>Sources</a:t>
            </a:r>
          </a:p>
          <a:p>
            <a:r>
              <a:rPr dirty="0"/>
              <a:t>Thesis §3.4.2 and Table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30 | Pulse morphology, AC and DC</a:t>
            </a:r>
          </a:p>
          <a:p>
            <a:r>
              <a:rPr dirty="0"/>
              <a:t>40 seconds</a:t>
            </a:r>
          </a:p>
          <a:p>
            <a:r>
              <a:rPr dirty="0" err="1"/>
              <a:t>Neighbouring</a:t>
            </a:r>
            <a:r>
              <a:rPr dirty="0"/>
              <a:t> valleys define the pulse baseline. The features are amplitude, half-amplitude width, rise and decay time, rising and falling slopes, and positive area. The alternating optical component, or AC, is pulse amplitude above that baseline. The direct optical component, or DC, comes from the aligned baseline-preserving signal. Their ratio expresses pulsatile amplitude relative to optical level; red and infrared supply wavelength-related ratios.</a:t>
            </a:r>
          </a:p>
          <a:p>
            <a:endParaRPr dirty="0"/>
          </a:p>
          <a:p>
            <a:endParaRPr dirty="0"/>
          </a:p>
          <a:p>
            <a:r>
              <a:rPr dirty="0"/>
              <a:t>Sources</a:t>
            </a:r>
          </a:p>
          <a:p>
            <a:r>
              <a:rPr dirty="0"/>
              <a:t>Thesis §3.4.3 and Table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30 | Pulse morphology, AC and DC</a:t>
            </a:r>
          </a:p>
          <a:p>
            <a:r>
              <a:rPr dirty="0"/>
              <a:t>40 seconds</a:t>
            </a:r>
          </a:p>
          <a:p>
            <a:r>
              <a:rPr dirty="0" err="1"/>
              <a:t>Neighbouring</a:t>
            </a:r>
            <a:r>
              <a:rPr dirty="0"/>
              <a:t> valleys define the pulse baseline. The features are amplitude, half-amplitude width, rise and decay time, rising and falling slopes, and positive area. The alternating optical component, or AC, is pulse amplitude above that baseline. The direct optical component, or DC, comes from the aligned baseline-preserving signal. Their ratio expresses pulsatile amplitude relative to optical level; red and infrared supply wavelength-related ratios.</a:t>
            </a:r>
          </a:p>
          <a:p>
            <a:endParaRPr dirty="0">
              <a:sym typeface="+mn-ea"/>
            </a:endParaRPr>
          </a:p>
          <a:p>
            <a:endParaRPr dirty="0">
              <a:sym typeface="+mn-ea"/>
            </a:endParaRPr>
          </a:p>
          <a:p>
            <a:r>
              <a:rPr dirty="0"/>
              <a:t>Sources</a:t>
            </a:r>
          </a:p>
          <a:p>
            <a:r>
              <a:rPr dirty="0"/>
              <a:t>Thesis §3.4.3 and Table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31 | Recording features and the ordered matrix</a:t>
            </a:r>
          </a:p>
          <a:p>
            <a:r>
              <a:rPr dirty="0"/>
              <a:t>32 seconds</a:t>
            </a:r>
          </a:p>
          <a:p>
            <a:r>
              <a:rPr dirty="0">
                <a:sym typeface="+mn-ea"/>
              </a:rPr>
              <a:t>The chronological feature matrix</a:t>
            </a:r>
            <a:r>
              <a:rPr lang="en-US" dirty="0">
                <a:sym typeface="+mn-ea"/>
              </a:rPr>
              <a:t> </a:t>
            </a:r>
            <a:r>
              <a:rPr dirty="0">
                <a:sym typeface="+mn-ea"/>
              </a:rPr>
              <a:t>combines pulse rate and PRV, pulse morphology, dual-wavelength optical descriptors, signal statistics, spectral measures and IMU features.</a:t>
            </a:r>
          </a:p>
          <a:p>
            <a:r>
              <a:rPr dirty="0">
                <a:sym typeface="+mn-ea"/>
              </a:rPr>
              <a:t> It has one hundred and forty-six columns per local window </a:t>
            </a:r>
            <a:r>
              <a:rPr lang="en-US" dirty="0">
                <a:sym typeface="+mn-ea"/>
              </a:rPr>
              <a:t>(</a:t>
            </a:r>
            <a:r>
              <a:rPr dirty="0">
                <a:sym typeface="+mn-ea"/>
              </a:rPr>
              <a:t>and one row per observation in time</a:t>
            </a:r>
            <a:r>
              <a:rPr lang="en-US" dirty="0">
                <a:sym typeface="+mn-ea"/>
              </a:rPr>
              <a:t>)</a:t>
            </a:r>
          </a:p>
          <a:p>
            <a:r>
              <a:rPr dirty="0">
                <a:sym typeface="+mn-ea"/>
              </a:rPr>
              <a:t>It uses ten-second windows with a two-second step</a:t>
            </a:r>
          </a:p>
          <a:p>
            <a:endParaRPr lang="en-US" dirty="0"/>
          </a:p>
          <a:p>
            <a:r>
              <a:rPr dirty="0"/>
              <a:t>Thesis §3.4.5 and Tables 7–11; feature matrix configuration.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10 | Workflow: windowing</a:t>
            </a:r>
          </a:p>
          <a:p>
            <a:r>
              <a:rPr dirty="0"/>
              <a:t>14 seconds</a:t>
            </a:r>
          </a:p>
          <a:p>
            <a:r>
              <a:rPr lang="en-US" dirty="0"/>
              <a:t>For waveform branch</a:t>
            </a:r>
            <a:r>
              <a:rPr dirty="0"/>
              <a:t>. classification uses resampled and normalized </a:t>
            </a:r>
            <a:r>
              <a:rPr lang="en-US" dirty="0"/>
              <a:t>ppg and imu signal in divided</a:t>
            </a:r>
            <a:r>
              <a:rPr dirty="0"/>
              <a:t> windows.</a:t>
            </a:r>
          </a:p>
          <a:p>
            <a:endParaRPr dirty="0"/>
          </a:p>
          <a:p>
            <a:endParaRPr dirty="0"/>
          </a:p>
          <a:p>
            <a:r>
              <a:rPr dirty="0"/>
              <a:t>Sources</a:t>
            </a:r>
          </a:p>
          <a:p>
            <a:r>
              <a:rPr dirty="0"/>
              <a:t>Thesis §§3.3.3–3.3.4 and Table 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32 | Windowing, resampling and normalization</a:t>
            </a:r>
          </a:p>
          <a:p>
            <a:r>
              <a:rPr dirty="0"/>
              <a:t>34 seconds</a:t>
            </a:r>
          </a:p>
          <a:p>
            <a:r>
              <a:rPr dirty="0"/>
              <a:t>The waveform branch uses five-second windows with a two-point-five-second step. Eight channels are resampled to sixty-four hertz</a:t>
            </a:r>
            <a:r>
              <a:rPr lang="en-US" dirty="0"/>
              <a:t>.</a:t>
            </a:r>
            <a:r>
              <a:rPr dirty="0"/>
              <a:t> Each channel is </a:t>
            </a:r>
            <a:r>
              <a:rPr dirty="0" err="1"/>
              <a:t>centred</a:t>
            </a:r>
            <a:r>
              <a:rPr dirty="0"/>
              <a:t> by its median and scaled by its interquartile range,</a:t>
            </a:r>
            <a:r>
              <a:rPr lang="en-US" dirty="0"/>
              <a:t> </a:t>
            </a:r>
            <a:r>
              <a:rPr dirty="0"/>
              <a:t>then clipped between minus eight and eight. Every window keeps its participant and recording-role identifiers.</a:t>
            </a:r>
          </a:p>
          <a:p>
            <a:endParaRPr dirty="0"/>
          </a:p>
          <a:p>
            <a:endParaRPr dirty="0"/>
          </a:p>
          <a:p>
            <a:r>
              <a:rPr dirty="0"/>
              <a:t>Sources</a:t>
            </a:r>
          </a:p>
          <a:p>
            <a:r>
              <a:rPr dirty="0"/>
              <a:t>Thesis §§3.3.3–3.3.4 and §3.5.2; Table 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33 | Participant grouping and balanced aggregation</a:t>
            </a:r>
          </a:p>
          <a:p>
            <a:r>
              <a:rPr dirty="0"/>
              <a:t>43 seconds</a:t>
            </a:r>
          </a:p>
          <a:p>
            <a:r>
              <a:rPr dirty="0"/>
              <a:t>Participants are the independent evaluation units. Stratified Group K-Fold, </a:t>
            </a:r>
            <a:r>
              <a:rPr lang="en-US" dirty="0"/>
              <a:t>was </a:t>
            </a:r>
            <a:r>
              <a:rPr lang="en-US" dirty="0" err="1"/>
              <a:t>implented</a:t>
            </a:r>
            <a:r>
              <a:rPr lang="en-US" dirty="0"/>
              <a:t> to</a:t>
            </a:r>
            <a:r>
              <a:rPr dirty="0"/>
              <a:t> keeps each person's recordings together while approximately preserving class proportions. Five-fold validation is repeated five times. All learned preprocessing uses training participants only.</a:t>
            </a:r>
          </a:p>
          <a:p>
            <a:r>
              <a:rPr dirty="0"/>
              <a:t>Predicted probabilities are averaged within each file, within each recording role, and across roles for each participant. With all roles present, each receives one-quarter weight. Balanced accuracy, or BA, averages class recalls; macro F1 averages the class F1 scores.</a:t>
            </a:r>
          </a:p>
          <a:p>
            <a:endParaRPr dirty="0"/>
          </a:p>
          <a:p>
            <a:endParaRPr dirty="0"/>
          </a:p>
          <a:p>
            <a:r>
              <a:rPr dirty="0"/>
              <a:t>Sources</a:t>
            </a:r>
          </a:p>
          <a:p>
            <a:r>
              <a:rPr dirty="0"/>
              <a:t>Thesis §3.6.1, §§3.6.2–3.7; </a:t>
            </a:r>
            <a:r>
              <a:rPr dirty="0" err="1"/>
              <a:t>StratifiedGroupKFold</a:t>
            </a:r>
            <a:r>
              <a:rPr dirty="0"/>
              <a:t>, participant-level aggregation.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34 | Workflow: models and classification</a:t>
            </a:r>
          </a:p>
          <a:p>
            <a:r>
              <a:rPr dirty="0"/>
              <a:t>11 seconds</a:t>
            </a:r>
          </a:p>
          <a:p>
            <a:r>
              <a:rPr dirty="0">
                <a:sym typeface="+mn-ea"/>
              </a:rPr>
              <a:t>The workflow </a:t>
            </a:r>
            <a:r>
              <a:rPr lang="en-US" dirty="0">
                <a:sym typeface="+mn-ea"/>
              </a:rPr>
              <a:t>has now</a:t>
            </a:r>
            <a:r>
              <a:rPr dirty="0">
                <a:sym typeface="+mn-ea"/>
              </a:rPr>
              <a:t> reached classification. </a:t>
            </a:r>
            <a:r>
              <a:rPr dirty="0"/>
              <a:t>Classification compares the resampled waveform windows with </a:t>
            </a:r>
            <a:r>
              <a:rPr lang="en-US" dirty="0"/>
              <a:t>feature </a:t>
            </a:r>
            <a:r>
              <a:rPr dirty="0"/>
              <a:t>engineered representations, using the same participant-grouped evaluation principle.</a:t>
            </a:r>
          </a:p>
          <a:p>
            <a:endParaRPr dirty="0"/>
          </a:p>
          <a:p>
            <a:endParaRPr dirty="0"/>
          </a:p>
          <a:p>
            <a:r>
              <a:rPr dirty="0"/>
              <a:t>Sources</a:t>
            </a:r>
          </a:p>
          <a:p>
            <a:r>
              <a:rPr dirty="0"/>
              <a:t>Thesis §§3.5–4.2.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35 | Screening the input representations</a:t>
            </a:r>
          </a:p>
          <a:p>
            <a:r>
              <a:rPr dirty="0"/>
              <a:t>29 seconds</a:t>
            </a:r>
          </a:p>
          <a:p>
            <a:r>
              <a:rPr dirty="0"/>
              <a:t>Waveform windows and the chronological feature matrix reached mean balanced accuracy of fifty-one point five and forty-four point seven percent. Representation screening did not establish a significant difference. The observed ordering guided later work toward waveform input; it does not show that engineered features lack predictive value.</a:t>
            </a:r>
          </a:p>
          <a:p>
            <a:endParaRPr dirty="0"/>
          </a:p>
          <a:p>
            <a:endParaRPr dirty="0"/>
          </a:p>
          <a:p>
            <a:r>
              <a:rPr dirty="0"/>
              <a:t>Sources</a:t>
            </a:r>
          </a:p>
          <a:p>
            <a:r>
              <a:rPr dirty="0"/>
              <a:t>Thesis §4.2.1, Table 24; Holm-adjusted route comparisons.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36 | Architectures make different assumptions</a:t>
            </a:r>
          </a:p>
          <a:p>
            <a:r>
              <a:rPr dirty="0"/>
              <a:t>30 seconds</a:t>
            </a:r>
          </a:p>
          <a:p>
            <a:r>
              <a:rPr dirty="0">
                <a:sym typeface="+mn-ea"/>
              </a:rPr>
              <a:t>For waveform classification, the thesis compares three time-series networks. </a:t>
            </a:r>
          </a:p>
          <a:p>
            <a:r>
              <a:rPr dirty="0"/>
              <a:t> A one-dimensional convolutional neural network, </a:t>
            </a:r>
            <a:r>
              <a:rPr lang="en-US" dirty="0"/>
              <a:t>1D</a:t>
            </a:r>
            <a:r>
              <a:rPr dirty="0"/>
              <a:t> CNN, learns local temporal patterns. </a:t>
            </a:r>
            <a:r>
              <a:rPr dirty="0" err="1"/>
              <a:t>InceptionTime</a:t>
            </a:r>
            <a:r>
              <a:rPr dirty="0"/>
              <a:t> uses parallel convolutions of different lengths. </a:t>
            </a:r>
            <a:r>
              <a:rPr dirty="0" err="1"/>
              <a:t>ShapeFormer</a:t>
            </a:r>
            <a:r>
              <a:rPr dirty="0"/>
              <a:t> combines attention with learned </a:t>
            </a:r>
            <a:r>
              <a:rPr dirty="0" err="1"/>
              <a:t>shapelets</a:t>
            </a:r>
            <a:r>
              <a:rPr dirty="0"/>
              <a:t>. </a:t>
            </a:r>
          </a:p>
          <a:p>
            <a:endParaRPr dirty="0">
              <a:sym typeface="+mn-ea"/>
            </a:endParaRPr>
          </a:p>
          <a:p>
            <a:r>
              <a:rPr dirty="0">
                <a:sym typeface="+mn-ea"/>
              </a:rPr>
              <a:t>The CNN and </a:t>
            </a:r>
            <a:r>
              <a:rPr dirty="0" err="1">
                <a:sym typeface="+mn-ea"/>
              </a:rPr>
              <a:t>InceptionTime</a:t>
            </a:r>
            <a:r>
              <a:rPr dirty="0">
                <a:sym typeface="+mn-ea"/>
              </a:rPr>
              <a:t> had comparable performance in the preliminary comparison; no significant advantage was established. </a:t>
            </a:r>
            <a:r>
              <a:rPr dirty="0" err="1">
                <a:sym typeface="+mn-ea"/>
              </a:rPr>
              <a:t>InceptionTime</a:t>
            </a:r>
            <a:r>
              <a:rPr dirty="0">
                <a:sym typeface="+mn-ea"/>
              </a:rPr>
              <a:t> ranked slightly higher descriptively and was carried into the subsequent grid search.</a:t>
            </a:r>
          </a:p>
          <a:p>
            <a:endParaRPr dirty="0">
              <a:sym typeface="+mn-ea"/>
            </a:endParaRPr>
          </a:p>
          <a:p>
            <a:endParaRPr dirty="0">
              <a:sym typeface="+mn-ea"/>
            </a:endParaRPr>
          </a:p>
          <a:p>
            <a:endParaRPr dirty="0"/>
          </a:p>
          <a:p>
            <a:r>
              <a:rPr dirty="0"/>
              <a:t>Sources</a:t>
            </a:r>
          </a:p>
          <a:p>
            <a:r>
              <a:rPr dirty="0"/>
              <a:t>Thesis §§3.5.1–3.5.4 and §4.2.2.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40 | Single-factor ablation</a:t>
            </a:r>
          </a:p>
          <a:p>
            <a:r>
              <a:rPr dirty="0">
                <a:sym typeface="+mn-ea"/>
              </a:rPr>
              <a:t>70 seconds</a:t>
            </a:r>
          </a:p>
          <a:p>
            <a:r>
              <a:rPr dirty="0">
                <a:sym typeface="+mn-ea"/>
              </a:rPr>
              <a:t>The single-factor ablation varied sampling rate, windowing, IMU preprocessing, normalization, sampling, optimization and aggregation around a common baseline. The strongest consistent change concerned normalization. Replacing window-wise scaling of all channels with separate fold-level IMU scaling reduced balanced accuracy by thirteen point eight percentage points for </a:t>
            </a:r>
            <a:r>
              <a:rPr dirty="0" err="1">
                <a:sym typeface="+mn-ea"/>
              </a:rPr>
              <a:t>InceptionTime</a:t>
            </a:r>
            <a:r>
              <a:rPr dirty="0">
                <a:sym typeface="+mn-ea"/>
              </a:rPr>
              <a:t> and ten point five for the CNN.</a:t>
            </a:r>
          </a:p>
          <a:p>
            <a:r>
              <a:rPr dirty="0">
                <a:sym typeface="+mn-ea"/>
              </a:rPr>
              <a:t>Calibrated EKF gravity handling and increasing the model rate to four hundred hertz also produced lower mean scores in both architectures. More detailed physiological processing therefore did not necessarily improve classification in this cohort. Retained posture information and estimation transients are possible explanations for the IMU result. These paired changes describe sensitivity around the tested baseline, rather than independent effects that can simply be added together.</a:t>
            </a:r>
          </a:p>
          <a:p>
            <a:endParaRPr dirty="0">
              <a:sym typeface="+mn-ea"/>
            </a:endParaRPr>
          </a:p>
          <a:p>
            <a:endParaRPr dirty="0"/>
          </a:p>
          <a:p>
            <a:r>
              <a:rPr dirty="0"/>
              <a:t>Sources</a:t>
            </a:r>
          </a:p>
          <a:p>
            <a:r>
              <a:rPr dirty="0"/>
              <a:t>Thesis §4.2.4.1, Tables 28–30; §5.1.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41 | Routing and hyperparameter searches</a:t>
            </a:r>
          </a:p>
          <a:p>
            <a:r>
              <a:rPr dirty="0"/>
              <a:t>46 seconds</a:t>
            </a:r>
          </a:p>
          <a:p>
            <a:r>
              <a:rPr dirty="0">
                <a:sym typeface="+mn-ea"/>
              </a:rPr>
              <a:t>Routing was tested before fine tuning. Retaining all recording roles with both gates disabled gave the highest mean score. Motion-only gating reduced balanced accuracy from sixty-one point nine to fifty point nine percent, supporting the ungated route for subsequent experiments.</a:t>
            </a:r>
          </a:p>
          <a:p>
            <a:r>
              <a:rPr dirty="0"/>
              <a:t>Grid searches examined batch size, learning rate and regularization. Differences across the regularization settings were small</a:t>
            </a:r>
            <a:r>
              <a:rPr lang="en-US" dirty="0"/>
              <a:t>.</a:t>
            </a:r>
          </a:p>
          <a:p>
            <a:endParaRPr lang="en-US" dirty="0"/>
          </a:p>
          <a:p>
            <a:r>
              <a:rPr dirty="0"/>
              <a:t>Sources</a:t>
            </a:r>
          </a:p>
          <a:p>
            <a:r>
              <a:rPr dirty="0"/>
              <a:t>Thesis §§4.2.4.2–4.2.4.4; Tables 31–32 and Appendix 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42 | Final comparison of five configurations</a:t>
            </a:r>
          </a:p>
          <a:p>
            <a:r>
              <a:rPr dirty="0"/>
              <a:t>40 seconds</a:t>
            </a:r>
          </a:p>
          <a:p>
            <a:r>
              <a:rPr dirty="0">
                <a:sym typeface="+mn-ea"/>
              </a:rPr>
              <a:t>The final comparison isolated three choices. Including walking and sit-to-stand alongside static recordings raised the full model's mean balanced accuracy from fifty-eight point one to seventy point six percent. This was the largest observed increase, but its Holm-adjusted p-value was zero point one two six.</a:t>
            </a:r>
          </a:p>
          <a:p>
            <a:r>
              <a:rPr dirty="0">
                <a:sym typeface="+mn-ea"/>
              </a:rPr>
              <a:t>Reducing network capacity gave a much smaller difference, and Profile A gravity separation versus no separation changed balanced accuracy by only half a percentage point. The selected compact configuration combined all recording roles, robust window scaling and Profile A. Dynamic recordings contributed only about four percent of signal duration but half of the role-averaged decision, so their observed contribution reflects both recorded information and aggregation weight.</a:t>
            </a:r>
          </a:p>
          <a:p>
            <a:endParaRPr dirty="0">
              <a:sym typeface="+mn-ea"/>
            </a:endParaRPr>
          </a:p>
          <a:p>
            <a:endParaRPr dirty="0">
              <a:sym typeface="+mn-ea"/>
            </a:endParaRPr>
          </a:p>
          <a:p>
            <a:r>
              <a:rPr dirty="0"/>
              <a:t>Sources</a:t>
            </a:r>
          </a:p>
          <a:p>
            <a:r>
              <a:rPr dirty="0"/>
              <a:t>Thesis §4.2.4.5, Tables 33–34; §5.1.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43 | Final participant-level classification</a:t>
            </a:r>
          </a:p>
          <a:p>
            <a:r>
              <a:rPr dirty="0"/>
              <a:t>45 seconds</a:t>
            </a:r>
          </a:p>
          <a:p>
            <a:r>
              <a:rPr dirty="0"/>
              <a:t>Selected Small </a:t>
            </a:r>
            <a:r>
              <a:rPr dirty="0" err="1"/>
              <a:t>InceptionTime</a:t>
            </a:r>
            <a:r>
              <a:rPr dirty="0"/>
              <a:t> achieved participant-level balanced accuracy of seventy-one point nine percent, with a between-repeat standard deviation of four point seven points. Macro F1 was seventy point four percent. Macro receiver operating characteristic area under the curve, or ROC-AUC, was eighty-four point four percent; macro precision-recall area under the curve, or PR-AUC, was seventy-seven point six percent. These are held-out-participant estimates within this cohort, using all roles, window-wise scaling and Profile A.</a:t>
            </a:r>
          </a:p>
          <a:p>
            <a:endParaRPr dirty="0"/>
          </a:p>
          <a:p>
            <a:endParaRPr dirty="0"/>
          </a:p>
          <a:p>
            <a:r>
              <a:rPr dirty="0"/>
              <a:t>Sources</a:t>
            </a:r>
          </a:p>
          <a:p>
            <a:r>
              <a:rPr dirty="0"/>
              <a:t>Thesis Tables 33–35.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44 | Classification across the three groups</a:t>
            </a:r>
          </a:p>
          <a:p>
            <a:r>
              <a:rPr dirty="0"/>
              <a:t>28 seconds</a:t>
            </a:r>
          </a:p>
          <a:p>
            <a:r>
              <a:rPr dirty="0">
                <a:sym typeface="+mn-ea"/>
              </a:rPr>
              <a:t>The confusion matrix shows where the aggregate result comes from. </a:t>
            </a:r>
          </a:p>
          <a:p>
            <a:r>
              <a:rPr dirty="0">
                <a:sym typeface="+mn-ea"/>
              </a:rPr>
              <a:t>The pooled recalls are eighty percent for Pre-Frail, forty-six point seven percent for Robust or Non-Frail, and eighty-seven point five percent for Young.</a:t>
            </a:r>
          </a:p>
          <a:p>
            <a:r>
              <a:rPr dirty="0"/>
              <a:t>Robust was the hardest category to distinguish, despite being the largest group.  Separating Robust from Pre-Frail older adults is the clinically relevant challenge here.</a:t>
            </a:r>
            <a:r>
              <a:rPr lang="en-US" dirty="0"/>
              <a:t> </a:t>
            </a:r>
            <a:r>
              <a:rPr dirty="0">
                <a:sym typeface="+mn-ea"/>
              </a:rPr>
              <a:t>The easier Young-versus-older contrast can raise the three-class summary, so the overall balanced accuracy should always be read alongside this class-level pattern.</a:t>
            </a:r>
          </a:p>
          <a:p>
            <a:endParaRPr dirty="0">
              <a:sym typeface="+mn-ea"/>
            </a:endParaRPr>
          </a:p>
          <a:p>
            <a:endParaRPr dirty="0">
              <a:sym typeface="+mn-ea"/>
            </a:endParaRPr>
          </a:p>
          <a:p>
            <a:endParaRPr dirty="0">
              <a:sym typeface="+mn-ea"/>
            </a:endParaRPr>
          </a:p>
          <a:p>
            <a:r>
              <a:rPr dirty="0"/>
              <a:t>Sources</a:t>
            </a:r>
          </a:p>
          <a:p>
            <a:r>
              <a:rPr dirty="0"/>
              <a:t>Thesis Table 34 and Chapters 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45 | Limitations</a:t>
            </a:r>
          </a:p>
          <a:p>
            <a:r>
              <a:rPr dirty="0">
                <a:sym typeface="+mn-ea"/>
              </a:rPr>
              <a:t>The most substantial limitation is the scope of modelling. Representation screening found no significant performance difference between the waveform, feature-vector and feature-matrix routes. Only the waveform route with a single </a:t>
            </a:r>
            <a:r>
              <a:rPr dirty="0" err="1">
                <a:sym typeface="+mn-ea"/>
              </a:rPr>
              <a:t>InceptionTime</a:t>
            </a:r>
            <a:r>
              <a:rPr dirty="0">
                <a:sym typeface="+mn-ea"/>
              </a:rPr>
              <a:t> network was then investigated in depth. The feature branches remained exploratory, so the thesis does not establish that another representation or ensemble could not perform as well or better.</a:t>
            </a:r>
          </a:p>
          <a:p>
            <a:r>
              <a:rPr dirty="0">
                <a:sym typeface="+mn-ea"/>
              </a:rPr>
              <a:t>All classification results are internal out-of-fold estimates from twenty-nine participants. Repeated selection on the same cohort introduces optimism, and there was no independent frailty-labelled test cohort. The dynamic recordings were short, yet their role-level aggregation gave them substantial weight. Window-level feature summaries also remove the order of beat-to-beat changes.</a:t>
            </a:r>
          </a:p>
          <a:p>
            <a:endParaRPr dirty="0">
              <a:sym typeface="+mn-ea"/>
            </a:endParaRPr>
          </a:p>
          <a:p>
            <a:endParaRPr dirty="0"/>
          </a:p>
          <a:p>
            <a:r>
              <a:rPr dirty="0"/>
              <a:t>Sources</a:t>
            </a:r>
          </a:p>
          <a:p>
            <a:r>
              <a:rPr dirty="0"/>
              <a:t>Thesis §5.2, especially scope restriction; internal evaluation; selection bias; feature aggregation and dynamic-task weighting.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46 | Conclusions and future work</a:t>
            </a:r>
          </a:p>
          <a:p>
            <a:r>
              <a:rPr dirty="0"/>
              <a:t>33 seconds</a:t>
            </a:r>
          </a:p>
          <a:p>
            <a:r>
              <a:rPr dirty="0"/>
              <a:t>The pipeline connects synchronized signals, physiological measurements and participant-level classification. External ECG evaluation supports the selected peak detector; grouped classification reached a highest mean balanced accuracy of seventy-one point nine percent. Future work should validate larger independent cohorts, investigate feature routes and preserve beat-level order, with emphasis on distinctions among older adults. Thank you.</a:t>
            </a:r>
          </a:p>
          <a:p>
            <a:endParaRPr dirty="0">
              <a:sym typeface="+mn-ea"/>
            </a:endParaRPr>
          </a:p>
          <a:p>
            <a:endParaRPr dirty="0">
              <a:sym typeface="+mn-ea"/>
            </a:endParaRPr>
          </a:p>
          <a:p>
            <a:r>
              <a:rPr dirty="0"/>
              <a:t>Sources</a:t>
            </a:r>
          </a:p>
          <a:p>
            <a:r>
              <a:rPr dirty="0"/>
              <a:t>Thesis Chapters 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47 | Backup material</a:t>
            </a:r>
          </a:p>
          <a:p>
            <a:r>
              <a:rPr dirty="0"/>
              <a:t>Backup: not included in timed presentation</a:t>
            </a:r>
          </a:p>
          <a:p>
            <a:r>
              <a:rPr dirty="0"/>
              <a:t>The following material provides additional detail on signal representations, quality assessment and modelling routes.</a:t>
            </a:r>
          </a:p>
          <a:p>
            <a:endParaRPr dirty="0"/>
          </a:p>
          <a:p>
            <a:endParaRPr dirty="0"/>
          </a:p>
          <a:p>
            <a:r>
              <a:rPr dirty="0"/>
              <a:t>Sources</a:t>
            </a:r>
          </a:p>
          <a:p>
            <a:r>
              <a:rPr dirty="0"/>
              <a:t>Thesis Chapter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48 | Published EKF: prediction and measurement update</a:t>
            </a:r>
          </a:p>
          <a:p>
            <a:r>
              <a:rPr dirty="0"/>
              <a:t>Backup: not included in timed presentation</a:t>
            </a:r>
          </a:p>
          <a:p>
            <a:r>
              <a:rPr dirty="0"/>
              <a:t>The prediction-and-correction cycle can also be followed through the covariance equations. The previous state predicts the next orientation and its uncertainty. Measurement validation then determines how strongly the new observations should influence that prediction.</a:t>
            </a:r>
          </a:p>
          <a:p>
            <a:r>
              <a:rPr dirty="0"/>
              <a:t>The Kalman gain weights the innovation: the difference between the measured observation and the observation predicted by the current state. Applying this correction updates both the state and its covariance. Repeating the loop combines the short-term information from angular velocity with the longer-term orientation reference.</a:t>
            </a:r>
          </a:p>
          <a:p>
            <a:endParaRPr dirty="0"/>
          </a:p>
          <a:p>
            <a:endParaRPr dirty="0"/>
          </a:p>
          <a:p>
            <a:r>
              <a:rPr dirty="0"/>
              <a:t>Sources</a:t>
            </a:r>
          </a:p>
          <a:p>
            <a:r>
              <a:rPr dirty="0"/>
              <a:t>Thesis §3.3.2; Sabatini 2011, Figure 6, DOI 10.3390/s110201489.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49 | PCA: component selection and reconstruction</a:t>
            </a:r>
          </a:p>
          <a:p>
            <a:r>
              <a:rPr dirty="0"/>
              <a:t>Backup: not included in timed presentation</a:t>
            </a:r>
          </a:p>
          <a:p>
            <a:r>
              <a:rPr dirty="0"/>
              <a:t>The PCA route begins with the paired red and infrared samples, </a:t>
            </a:r>
            <a:r>
              <a:rPr dirty="0" err="1"/>
              <a:t>centres</a:t>
            </a:r>
            <a:r>
              <a:rPr dirty="0"/>
              <a:t> both channels, and decomposes them into candidate components. Each component undergoes two assessments. Cardiac concentration measures the proportion of power in the expected pulse band. Motion association measures the largest absolute correlation with any IMU reference axis. The selection score subtracts a weighted motion penalty from cardiac concentration. The component with the highest score is projected back into the two optical channels. The thesis also evaluates </a:t>
            </a:r>
            <a:r>
              <a:rPr dirty="0" err="1"/>
              <a:t>FastICA</a:t>
            </a:r>
            <a:r>
              <a:rPr dirty="0"/>
              <a:t>, which seeks statistical independence, and spectral NMF, which decomposes nonnegative magnitude spectra. These methods therefore use different separation criteria.</a:t>
            </a:r>
          </a:p>
          <a:p>
            <a:endParaRPr dirty="0"/>
          </a:p>
          <a:p>
            <a:endParaRPr dirty="0"/>
          </a:p>
          <a:p>
            <a:r>
              <a:rPr dirty="0"/>
              <a:t>Sources</a:t>
            </a:r>
          </a:p>
          <a:p>
            <a:r>
              <a:rPr dirty="0"/>
              <a:t>Thesis §3.3.5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50 | Feature-matrix kernels move through time</a:t>
            </a:r>
          </a:p>
          <a:p>
            <a:r>
              <a:rPr dirty="0"/>
              <a:t>Backup: not included in timed presentation</a:t>
            </a:r>
          </a:p>
          <a:p>
            <a:r>
              <a:rPr dirty="0"/>
              <a:t>For a closer look at the chronological matrix, denote the number of rows by K. The array then has shape K by one hundred and forty-six. A length-thirty-nine temporal kernel covers up to eighty-six seconds in the original recording, assuming the ten-second source window and two-second step. Three stacked modules have a nominal maximum span of one hundred and fifteen positions if the data are long enough. For shorter records, padding preserves array size without adding observations. Every feature column is standardized from training-participant statistics only.</a:t>
            </a:r>
          </a:p>
          <a:p>
            <a:endParaRPr dirty="0"/>
          </a:p>
          <a:p>
            <a:endParaRPr dirty="0"/>
          </a:p>
          <a:p>
            <a:r>
              <a:rPr dirty="0"/>
              <a:t>Sources</a:t>
            </a:r>
          </a:p>
          <a:p>
            <a:r>
              <a:rPr dirty="0"/>
              <a:t>Thesis §3.4.5; chronological feature-matrix configuration.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51 | Three optical representations</a:t>
            </a:r>
          </a:p>
          <a:p>
            <a:r>
              <a:rPr dirty="0"/>
              <a:t>Backup: not included in timed presentation</a:t>
            </a:r>
          </a:p>
          <a:p>
            <a:r>
              <a:rPr dirty="0"/>
              <a:t>The baseline-preserving optical view keeps the acquisition-level signal needed for DC-dependent measurements. The filtered view removes a linear trend and restricts the bandwidth, while preserving relative pulse amplitude. The deep-learning view then applies window-wise normalization. The three views remain aligned in time, and each supplies the measurements for which it was defined.</a:t>
            </a:r>
          </a:p>
          <a:p>
            <a:endParaRPr dirty="0"/>
          </a:p>
          <a:p>
            <a:endParaRPr dirty="0"/>
          </a:p>
          <a:p>
            <a:r>
              <a:rPr dirty="0"/>
              <a:t>Sources</a:t>
            </a:r>
          </a:p>
          <a:p>
            <a:r>
              <a:rPr dirty="0"/>
              <a:t>Thesis Table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52 | Motion has two roles in PPG analysis</a:t>
            </a:r>
          </a:p>
          <a:p>
            <a:r>
              <a:rPr dirty="0"/>
              <a:t>Backup: not included in timed presentation</a:t>
            </a:r>
          </a:p>
          <a:p>
            <a:r>
              <a:rPr dirty="0"/>
              <a:t>Movement has two roles in this study. IMU signals describe physical activity and task execution, which can contribute to participant classification. The same activity can disturb optical contact and contaminate pulse measurements. Motion information therefore acts both as a model input and as a reference for interpreting and reducing PPG artefacts. The appropriate treatment depends on the endpoint being measured.</a:t>
            </a:r>
          </a:p>
          <a:p>
            <a:endParaRPr dirty="0"/>
          </a:p>
          <a:p>
            <a:endParaRPr dirty="0"/>
          </a:p>
          <a:p>
            <a:r>
              <a:rPr dirty="0"/>
              <a:t>Sources</a:t>
            </a:r>
          </a:p>
          <a:p>
            <a:r>
              <a:rPr dirty="0"/>
              <a:t>Thesis §3.3.5; §4.2.3 and §5.1.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53 | Quality requirements depend on the endpoint</a:t>
            </a:r>
          </a:p>
          <a:p>
            <a:r>
              <a:rPr dirty="0"/>
              <a:t>Backup: not included in timed presentation</a:t>
            </a:r>
          </a:p>
          <a:p>
            <a:r>
              <a:rPr dirty="0"/>
              <a:t>The quality module distinguishes pulse timing from pulse morphology. Rate quality evaluates periodicity, cardiac-band concentration, plausible peak density and interval stability. Morphology quality additionally requires repeatable pulse shape and agreement between wavelengths. Flatlines, clipping and long gaps provide exclusion checks.</a:t>
            </a:r>
          </a:p>
          <a:p>
            <a:r>
              <a:rPr dirty="0"/>
              <a:t>Together with the motion detector, these measures can direct a segment to analysis, artefact reduction or exclusion. The selected waveform classifier leaves these optional gates disabled, following the routing comparison. The physiological feature branch retains endpoint-specific eligibility checks.</a:t>
            </a:r>
          </a:p>
          <a:p>
            <a:endParaRPr dirty="0"/>
          </a:p>
          <a:p>
            <a:endParaRPr dirty="0"/>
          </a:p>
          <a:p>
            <a:r>
              <a:rPr dirty="0"/>
              <a:t>Sources</a:t>
            </a:r>
          </a:p>
          <a:p>
            <a:r>
              <a:rPr dirty="0"/>
              <a:t>Thesis §3.3.5 and Table 6; §4.2.3.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54 | Numerical handling depends on the representation</a:t>
            </a:r>
          </a:p>
          <a:p>
            <a:r>
              <a:rPr dirty="0"/>
              <a:t>Backup: not included in timed presentation</a:t>
            </a:r>
          </a:p>
          <a:p>
            <a:r>
              <a:rPr dirty="0"/>
              <a:t>Feature columns represent different physical and statistical quantities, so their numerical ranges differ. Imputation and standardization are fitted on the training participants and then applied to held-out participants. Missing-value indicators record which measurements were available. In a chronological matrix, the time mask separately identifies valid sequence positions. These operations keep numerical preparation tied to the representation and the participant split.</a:t>
            </a:r>
          </a:p>
          <a:p>
            <a:endParaRPr dirty="0"/>
          </a:p>
          <a:p>
            <a:endParaRPr dirty="0"/>
          </a:p>
          <a:p>
            <a:r>
              <a:rPr dirty="0"/>
              <a:t>Sources</a:t>
            </a:r>
          </a:p>
          <a:p>
            <a:r>
              <a:rPr dirty="0"/>
              <a:t>Thesis §§3.3.4, 3.4.5 and 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55 | Representations and models compared</a:t>
            </a:r>
          </a:p>
          <a:p>
            <a:r>
              <a:rPr dirty="0"/>
              <a:t>Backup: not included in timed presentation</a:t>
            </a:r>
          </a:p>
          <a:p>
            <a:r>
              <a:rPr dirty="0"/>
              <a:t>The representation comparison used a waveform CNN, a logistic-regression feature vector and a Small </a:t>
            </a:r>
            <a:r>
              <a:rPr dirty="0" err="1"/>
              <a:t>InceptionTime</a:t>
            </a:r>
            <a:r>
              <a:rPr dirty="0"/>
              <a:t> feature matrix. No significant route differences were established. The architecture comparison then evaluated CNN, </a:t>
            </a:r>
            <a:r>
              <a:rPr dirty="0" err="1"/>
              <a:t>InceptionTime</a:t>
            </a:r>
            <a:r>
              <a:rPr dirty="0"/>
              <a:t> and </a:t>
            </a:r>
            <a:r>
              <a:rPr dirty="0" err="1"/>
              <a:t>ShapeFormer</a:t>
            </a:r>
            <a:r>
              <a:rPr dirty="0"/>
              <a:t> with matched waveform inputs. </a:t>
            </a:r>
            <a:r>
              <a:rPr dirty="0" err="1"/>
              <a:t>InceptionTime</a:t>
            </a:r>
            <a:r>
              <a:rPr dirty="0"/>
              <a:t> ranked highest descriptively, while </a:t>
            </a:r>
            <a:r>
              <a:rPr dirty="0" err="1"/>
              <a:t>ShapeFormer</a:t>
            </a:r>
            <a:r>
              <a:rPr dirty="0"/>
              <a:t> required substantially more computation. These comparisons guided the allocation of the subsequent experiments.</a:t>
            </a:r>
          </a:p>
          <a:p>
            <a:endParaRPr dirty="0"/>
          </a:p>
          <a:p>
            <a:endParaRPr dirty="0"/>
          </a:p>
          <a:p>
            <a:r>
              <a:rPr dirty="0"/>
              <a:t>Sources</a:t>
            </a:r>
          </a:p>
          <a:p>
            <a:r>
              <a:rPr dirty="0"/>
              <a:t>Thesis Tables 24–25.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56 | Fusion joins two descriptions of one recording</a:t>
            </a:r>
          </a:p>
          <a:p>
            <a:r>
              <a:rPr dirty="0"/>
              <a:t>Backup: not included in timed presentation</a:t>
            </a:r>
          </a:p>
          <a:p>
            <a:r>
              <a:rPr dirty="0"/>
              <a:t>The fusion architecture combines two descriptions of the same recording. A waveform encoder produces window embeddings, which are pooled into a recording-level signal representation. In parallel, the engineered features and their validity indicators pass through a small multilayer perceptron, or MLP. Concatenating the two embeddings supplies the final three-class head. This provides a defined extension for combining learned waveform patterns with physiological descriptors.</a:t>
            </a:r>
          </a:p>
          <a:p>
            <a:endParaRPr dirty="0"/>
          </a:p>
          <a:p>
            <a:endParaRPr dirty="0"/>
          </a:p>
          <a:p>
            <a:r>
              <a:rPr dirty="0"/>
              <a:t>Sources</a:t>
            </a:r>
          </a:p>
          <a:p>
            <a:r>
              <a:rPr dirty="0"/>
              <a:t>Thesis §§3.4.5 and 3.5.2.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57 | AC and DC come from aligned optical views</a:t>
            </a:r>
          </a:p>
          <a:p>
            <a:r>
              <a:rPr dirty="0"/>
              <a:t>Backup: not included in timed presentation</a:t>
            </a:r>
          </a:p>
          <a:p>
            <a:r>
              <a:rPr dirty="0"/>
              <a:t>The filtered waveform supplies pulse amplitude above a local valley-to-valley baseline. The aligned baseline-preserving signal supplies the native optical level at those beat locations. Their ratio expresses pulsatile modulation relative to the optical baseline. Comparing the ratios between red and infrared adds a dual-wavelength descriptor. Preserving both signal views allows these quantities to be calculated after the pulse locations have been identified.</a:t>
            </a:r>
          </a:p>
          <a:p>
            <a:endParaRPr dirty="0"/>
          </a:p>
          <a:p>
            <a:endParaRPr dirty="0"/>
          </a:p>
          <a:p>
            <a:r>
              <a:rPr dirty="0"/>
              <a:t>Sources</a:t>
            </a:r>
          </a:p>
          <a:p>
            <a:r>
              <a:rPr dirty="0"/>
              <a:t>Thesis §3.4.3 and Table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37 | Small </a:t>
            </a:r>
            <a:r>
              <a:rPr dirty="0" err="1"/>
              <a:t>InceptionTime</a:t>
            </a:r>
            <a:endParaRPr dirty="0"/>
          </a:p>
          <a:p>
            <a:r>
              <a:rPr dirty="0"/>
              <a:t>50 seconds</a:t>
            </a:r>
          </a:p>
          <a:p>
            <a:r>
              <a:rPr dirty="0"/>
              <a:t>Figure eleven shows an Inception module. A one-by-one bottleneck feeds three parallel convolutions; a fourth branch uses max pooling and a one-by-one convolution. Their outputs are concatenated, normalized and passed through the rectified linear unit, or </a:t>
            </a:r>
            <a:r>
              <a:rPr dirty="0" err="1"/>
              <a:t>ReLU</a:t>
            </a:r>
            <a:r>
              <a:rPr dirty="0"/>
              <a:t>.</a:t>
            </a:r>
          </a:p>
          <a:p>
            <a:r>
              <a:rPr dirty="0"/>
              <a:t>Small </a:t>
            </a:r>
            <a:r>
              <a:rPr dirty="0" err="1"/>
              <a:t>InceptionTime</a:t>
            </a:r>
            <a:r>
              <a:rPr dirty="0"/>
              <a:t> uses kernel lengths thirty-nine, nineteen and nine, with sixteen filters per branch. Three modules and a residual connection process the eight-channel input. Global average pooling produces sixty-four values. Dropout and a linear head give three class scores, converted to probabilities by </a:t>
            </a:r>
            <a:r>
              <a:rPr dirty="0" err="1"/>
              <a:t>softmax</a:t>
            </a:r>
            <a:r>
              <a:rPr dirty="0"/>
              <a:t>.</a:t>
            </a:r>
          </a:p>
          <a:p>
            <a:endParaRPr dirty="0"/>
          </a:p>
          <a:p>
            <a:endParaRPr dirty="0"/>
          </a:p>
          <a:p>
            <a:r>
              <a:rPr dirty="0"/>
              <a:t>Sources</a:t>
            </a:r>
          </a:p>
          <a:p>
            <a:r>
              <a:rPr dirty="0"/>
              <a:t>Thesis Figure 11 and Table 13; Ismail Fawaz et al. 2020.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38 | A receptive field is measured in samples</a:t>
            </a:r>
          </a:p>
          <a:p>
            <a:r>
              <a:rPr dirty="0"/>
              <a:t>40 seconds</a:t>
            </a:r>
          </a:p>
          <a:p>
            <a:r>
              <a:rPr dirty="0"/>
              <a:t>A kernel's duration depends on sampling rate. Thirty-nine samples cover about zero point six seconds at sixty-four hertz, but less than one tenth of a second at four hundred hertz. Three stacked modules have a maximum local receptive field of one hundred and fifteen samples, about one point eight seconds at sixty-four hertz. Global average pooling combines information across the full five-second window.</a:t>
            </a:r>
          </a:p>
          <a:p>
            <a:endParaRPr dirty="0"/>
          </a:p>
          <a:p>
            <a:endParaRPr dirty="0"/>
          </a:p>
          <a:p>
            <a:r>
              <a:rPr dirty="0"/>
              <a:t>Sources</a:t>
            </a:r>
          </a:p>
          <a:p>
            <a:r>
              <a:rPr dirty="0"/>
              <a:t>Thesis §3.5.2 and §4.2.4.1.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39 | Sampling rate also sets resolution and bandwidth</a:t>
            </a:r>
          </a:p>
          <a:p>
            <a:r>
              <a:rPr dirty="0"/>
              <a:t>31 seconds</a:t>
            </a:r>
          </a:p>
          <a:p>
            <a:r>
              <a:rPr dirty="0"/>
              <a:t>Five seconds contains two thousand samples at four hundred hertz, but three hundred and twenty at sixty-four hertz. Higher-rate signals preserve pulse timing and morphology. The classifier rate still represents the filtered PPG band up to eight hertz and gives fixed-length kernels a longer time span. Anti-alias filtering precedes </a:t>
            </a:r>
            <a:r>
              <a:rPr dirty="0" err="1"/>
              <a:t>downsampling</a:t>
            </a:r>
            <a:r>
              <a:rPr dirty="0"/>
              <a:t>.</a:t>
            </a:r>
          </a:p>
          <a:p>
            <a:endParaRPr dirty="0"/>
          </a:p>
          <a:p>
            <a:endParaRPr dirty="0"/>
          </a:p>
          <a:p>
            <a:r>
              <a:rPr dirty="0"/>
              <a:t>Sources</a:t>
            </a:r>
          </a:p>
          <a:p>
            <a:r>
              <a:rPr dirty="0"/>
              <a:t>Thesis §3.3; §4.2.4.1; Table 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chart" Target="../charts/chart4.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chart" Target="../charts/chart10.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chart" Target="../charts/char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chart" Target="../charts/chart17.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chart" Target="../charts/chart20.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hesis-label"/>
          <p:cNvSpPr>
            <a:spLocks noGrp="1"/>
          </p:cNvSpPr>
          <p:nvPr/>
        </p:nvSpPr>
        <p:spPr>
          <a:xfrm>
            <a:off x="571500" y="762000"/>
            <a:ext cx="10953750" cy="361950"/>
          </a:xfrm>
          <a:prstGeom prst="rect">
            <a:avLst/>
          </a:prstGeom>
          <a:noFill/>
          <a:ln w="0">
            <a:noFill/>
          </a:ln>
        </p:spPr>
        <p:txBody>
          <a:bodyPr wrap="square" lIns="0" tIns="0" rIns="0" bIns="0" anchor="t">
            <a:noAutofit/>
          </a:bodyPr>
          <a:lstStyle/>
          <a:p>
            <a:pPr algn="l">
              <a:defRPr sz="1875" b="0">
                <a:solidFill>
                  <a:srgbClr val="087E8B"/>
                </a:solidFill>
                <a:latin typeface="DejaVu Sans" panose="020B0603030804020204"/>
                <a:ea typeface="DejaVu Sans" panose="020B0603030804020204"/>
                <a:cs typeface="DejaVu Sans" panose="020B0603030804020204"/>
              </a:defRPr>
            </a:pPr>
            <a:r>
              <a:rPr sz="1875" b="0">
                <a:solidFill>
                  <a:srgbClr val="087E8B"/>
                </a:solidFill>
                <a:latin typeface="DejaVu Sans" panose="020B0603030804020204"/>
                <a:ea typeface="DejaVu Sans" panose="020B0603030804020204"/>
                <a:cs typeface="DejaVu Sans" panose="020B0603030804020204"/>
              </a:rPr>
              <a:t>Master’s Thesis</a:t>
            </a:r>
          </a:p>
        </p:txBody>
      </p:sp>
      <p:sp>
        <p:nvSpPr>
          <p:cNvPr id="2" name="thesis-title"/>
          <p:cNvSpPr>
            <a:spLocks noGrp="1"/>
          </p:cNvSpPr>
          <p:nvPr/>
        </p:nvSpPr>
        <p:spPr>
          <a:xfrm>
            <a:off x="571500" y="1212850"/>
            <a:ext cx="10953750" cy="2000250"/>
          </a:xfrm>
          <a:prstGeom prst="rect">
            <a:avLst/>
          </a:prstGeom>
          <a:noFill/>
          <a:ln w="0">
            <a:noFill/>
          </a:ln>
        </p:spPr>
        <p:txBody>
          <a:bodyPr wrap="square" lIns="0" tIns="0" rIns="0" bIns="0" anchor="t">
            <a:noAutofit/>
          </a:bodyPr>
          <a:lstStyle/>
          <a:p>
            <a:pPr algn="l">
              <a:defRPr sz="3000" b="1">
                <a:solidFill>
                  <a:srgbClr val="152C3F"/>
                </a:solidFill>
                <a:latin typeface="DejaVu Sans" panose="020B0603030804020204"/>
                <a:ea typeface="DejaVu Sans" panose="020B0603030804020204"/>
                <a:cs typeface="DejaVu Sans" panose="020B0603030804020204"/>
              </a:defRPr>
            </a:pPr>
            <a:r>
              <a:rPr sz="3000" b="1">
                <a:solidFill>
                  <a:srgbClr val="152C3F"/>
                </a:solidFill>
                <a:latin typeface="DejaVu Sans" panose="020B0603030804020204"/>
                <a:ea typeface="DejaVu Sans" panose="020B0603030804020204"/>
                <a:cs typeface="DejaVu Sans" panose="020B0603030804020204"/>
              </a:rPr>
              <a:t>Development and Evaluation of a Python-Based</a:t>
            </a:r>
          </a:p>
          <a:p>
            <a:pPr algn="l">
              <a:defRPr sz="3000" b="1">
                <a:solidFill>
                  <a:srgbClr val="152C3F"/>
                </a:solidFill>
                <a:latin typeface="DejaVu Sans" panose="020B0603030804020204"/>
                <a:ea typeface="DejaVu Sans" panose="020B0603030804020204"/>
                <a:cs typeface="DejaVu Sans" panose="020B0603030804020204"/>
              </a:defRPr>
            </a:pPr>
            <a:r>
              <a:rPr sz="3000" b="1">
                <a:solidFill>
                  <a:srgbClr val="152C3F"/>
                </a:solidFill>
                <a:latin typeface="DejaVu Sans" panose="020B0603030804020204"/>
                <a:ea typeface="DejaVu Sans" panose="020B0603030804020204"/>
                <a:cs typeface="DejaVu Sans" panose="020B0603030804020204"/>
              </a:rPr>
              <a:t>Signal Processing Pipeline for Frailty Classification</a:t>
            </a:r>
          </a:p>
          <a:p>
            <a:pPr algn="l">
              <a:defRPr sz="3000" b="1">
                <a:solidFill>
                  <a:srgbClr val="152C3F"/>
                </a:solidFill>
                <a:latin typeface="DejaVu Sans" panose="020B0603030804020204"/>
                <a:ea typeface="DejaVu Sans" panose="020B0603030804020204"/>
                <a:cs typeface="DejaVu Sans" panose="020B0603030804020204"/>
              </a:defRPr>
            </a:pPr>
            <a:r>
              <a:rPr sz="3000" b="1">
                <a:solidFill>
                  <a:srgbClr val="152C3F"/>
                </a:solidFill>
                <a:latin typeface="DejaVu Sans" panose="020B0603030804020204"/>
                <a:ea typeface="DejaVu Sans" panose="020B0603030804020204"/>
                <a:cs typeface="DejaVu Sans" panose="020B0603030804020204"/>
              </a:rPr>
              <a:t>from PPG Signals</a:t>
            </a:r>
          </a:p>
        </p:txBody>
      </p:sp>
      <p:sp>
        <p:nvSpPr>
          <p:cNvPr id="3" name="author"/>
          <p:cNvSpPr>
            <a:spLocks noGrp="1"/>
          </p:cNvSpPr>
          <p:nvPr/>
        </p:nvSpPr>
        <p:spPr>
          <a:xfrm>
            <a:off x="571500" y="3285490"/>
            <a:ext cx="10953750" cy="466725"/>
          </a:xfrm>
          <a:prstGeom prst="rect">
            <a:avLst/>
          </a:prstGeom>
          <a:noFill/>
          <a:ln w="0">
            <a:noFill/>
          </a:ln>
        </p:spPr>
        <p:txBody>
          <a:bodyPr wrap="square" lIns="0" tIns="0" rIns="0" bIns="0" anchor="t">
            <a:noAutofit/>
          </a:bodyPr>
          <a:lstStyle/>
          <a:p>
            <a:pPr algn="l">
              <a:defRPr sz="2400" b="0">
                <a:solidFill>
                  <a:srgbClr val="152C3F"/>
                </a:solidFill>
                <a:latin typeface="DejaVu Sans" panose="020B0603030804020204"/>
                <a:ea typeface="DejaVu Sans" panose="020B0603030804020204"/>
                <a:cs typeface="DejaVu Sans" panose="020B0603030804020204"/>
              </a:defRPr>
            </a:pPr>
            <a:r>
              <a:rPr sz="2000" b="0">
                <a:solidFill>
                  <a:srgbClr val="152C3F"/>
                </a:solidFill>
                <a:latin typeface="DejaVu Sans" panose="020B0603030804020204"/>
                <a:ea typeface="DejaVu Sans" panose="020B0603030804020204"/>
                <a:cs typeface="DejaVu Sans" panose="020B0603030804020204"/>
              </a:rPr>
              <a:t>Kaifeng Xu</a:t>
            </a:r>
          </a:p>
        </p:txBody>
      </p:sp>
      <p:sp>
        <p:nvSpPr>
          <p:cNvPr id="4" name="supervisor-label"/>
          <p:cNvSpPr>
            <a:spLocks noGrp="1"/>
          </p:cNvSpPr>
          <p:nvPr/>
        </p:nvSpPr>
        <p:spPr>
          <a:xfrm>
            <a:off x="571500" y="4034790"/>
            <a:ext cx="10953750" cy="304800"/>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Supervisors</a:t>
            </a:r>
          </a:p>
        </p:txBody>
      </p:sp>
      <p:sp>
        <p:nvSpPr>
          <p:cNvPr id="5" name="supervisors"/>
          <p:cNvSpPr>
            <a:spLocks noGrp="1"/>
          </p:cNvSpPr>
          <p:nvPr/>
        </p:nvSpPr>
        <p:spPr>
          <a:xfrm>
            <a:off x="571500" y="4463415"/>
            <a:ext cx="10953750" cy="800100"/>
          </a:xfrm>
          <a:prstGeom prst="rect">
            <a:avLst/>
          </a:prstGeom>
          <a:noFill/>
          <a:ln w="0">
            <a:noFill/>
          </a:ln>
        </p:spPr>
        <p:txBody>
          <a:bodyPr wrap="square" lIns="0" tIns="0" rIns="0" bIns="0" anchor="t">
            <a:noAutofit/>
          </a:bodyPr>
          <a:lstStyle/>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Prof. Dr. Charmayne Mary Lee Hughes</a:t>
            </a:r>
          </a:p>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M.Sc. Ali Pourhossein</a:t>
            </a:r>
          </a:p>
        </p:txBody>
      </p:sp>
      <p:sp>
        <p:nvSpPr>
          <p:cNvPr id="7" name="文本框 6"/>
          <p:cNvSpPr txBox="1"/>
          <p:nvPr/>
        </p:nvSpPr>
        <p:spPr>
          <a:xfrm>
            <a:off x="499745" y="5445125"/>
            <a:ext cx="11681460" cy="1198880"/>
          </a:xfrm>
          <a:prstGeom prst="rect">
            <a:avLst/>
          </a:prstGeom>
          <a:noFill/>
        </p:spPr>
        <p:txBody>
          <a:bodyPr wrap="square" rtlCol="0">
            <a:spAutoFit/>
          </a:bodyPr>
          <a:lstStyle/>
          <a:p>
            <a:r>
              <a:rPr lang="en-US" altLang="zh-CN"/>
              <a:t>Faculty V - Mechanical Engineering and Transport Systems </a:t>
            </a:r>
          </a:p>
          <a:p>
            <a:r>
              <a:rPr lang="en-US" altLang="zh-CN"/>
              <a:t>Institute of Psychology and Ergonomics</a:t>
            </a:r>
          </a:p>
          <a:p>
            <a:r>
              <a:rPr lang="en-US" altLang="zh-CN"/>
              <a:t>Age-Appropriate Human-Machine Systems</a:t>
            </a:r>
          </a:p>
          <a:p>
            <a:r>
              <a:rPr lang="en-US" altLang="zh-CN"/>
              <a:t>Technische Universit</a:t>
            </a:r>
            <a:r>
              <a:rPr lang="en-US" altLang="en-US"/>
              <a:t>ä</a:t>
            </a:r>
            <a:r>
              <a:rPr lang="en-US" altLang="zh-CN"/>
              <a:t>t Berlin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Frailty and clinical vulnerability</a:t>
            </a:r>
          </a:p>
        </p:txBody>
      </p:sp>
      <p:sp>
        <p:nvSpPr>
          <p:cNvPr id="2" name="text-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PROJECT MOTIVATION</a:t>
            </a:r>
          </a:p>
        </p:txBody>
      </p:sp>
      <p:sp>
        <p:nvSpPr>
          <p:cNvPr id="3" name="text-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02</a:t>
            </a:r>
          </a:p>
        </p:txBody>
      </p:sp>
      <p:sp>
        <p:nvSpPr>
          <p:cNvPr id="4" name="text-4"/>
          <p:cNvSpPr>
            <a:spLocks noGrp="1"/>
          </p:cNvSpPr>
          <p:nvPr/>
        </p:nvSpPr>
        <p:spPr>
          <a:xfrm>
            <a:off x="571500" y="1457325"/>
            <a:ext cx="5238750" cy="6667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Worsening activities of daily living (ADL) disability</a:t>
            </a:r>
          </a:p>
        </p:txBody>
      </p:sp>
      <p:graphicFrame>
        <p:nvGraphicFramePr>
          <p:cNvPr id="18" name="Chart"/>
          <p:cNvGraphicFramePr/>
          <p:nvPr/>
        </p:nvGraphicFramePr>
        <p:xfrm>
          <a:off x="495300" y="2209800"/>
          <a:ext cx="5410200" cy="30575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6"/>
          <p:cNvSpPr>
            <a:spLocks noGrp="1"/>
          </p:cNvSpPr>
          <p:nvPr/>
        </p:nvSpPr>
        <p:spPr>
          <a:xfrm>
            <a:off x="6381750" y="1438275"/>
            <a:ext cx="5238750" cy="409575"/>
          </a:xfrm>
          <a:prstGeom prst="rect">
            <a:avLst/>
          </a:prstGeom>
          <a:noFill/>
          <a:ln w="0">
            <a:noFill/>
          </a:ln>
        </p:spPr>
        <p:txBody>
          <a:bodyPr wrap="square" lIns="0" tIns="0" rIns="0" bIns="0" anchor="t">
            <a:noAutofit/>
          </a:bodyPr>
          <a:lstStyle/>
          <a:p>
            <a:pPr algn="l">
              <a:defRPr sz="2175" b="1">
                <a:solidFill>
                  <a:srgbClr val="087E8B"/>
                </a:solidFill>
                <a:latin typeface="DejaVu Sans" panose="020B0603030804020204"/>
                <a:ea typeface="DejaVu Sans" panose="020B0603030804020204"/>
                <a:cs typeface="DejaVu Sans" panose="020B0603030804020204"/>
              </a:defRPr>
            </a:pPr>
            <a:r>
              <a:rPr sz="2175" b="1">
                <a:solidFill>
                  <a:srgbClr val="087E8B"/>
                </a:solidFill>
                <a:latin typeface="DejaVu Sans" panose="020B0603030804020204"/>
                <a:ea typeface="DejaVu Sans" panose="020B0603030804020204"/>
                <a:cs typeface="DejaVu Sans" panose="020B0603030804020204"/>
              </a:rPr>
              <a:t>What is frailty?</a:t>
            </a:r>
          </a:p>
        </p:txBody>
      </p:sp>
      <p:sp>
        <p:nvSpPr>
          <p:cNvPr id="8" name="text-7"/>
          <p:cNvSpPr>
            <a:spLocks noGrp="1"/>
          </p:cNvSpPr>
          <p:nvPr/>
        </p:nvSpPr>
        <p:spPr>
          <a:xfrm>
            <a:off x="6381750" y="1885315"/>
            <a:ext cx="5238750" cy="1009650"/>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Reduced physiological reserve and</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greater vulnerability to stressors</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across multiple physiological systems.</a:t>
            </a:r>
          </a:p>
        </p:txBody>
      </p:sp>
      <p:sp>
        <p:nvSpPr>
          <p:cNvPr id="9" name="text-8"/>
          <p:cNvSpPr>
            <a:spLocks noGrp="1"/>
          </p:cNvSpPr>
          <p:nvPr/>
        </p:nvSpPr>
        <p:spPr>
          <a:xfrm>
            <a:off x="6381750" y="2989580"/>
            <a:ext cx="5238750" cy="371475"/>
          </a:xfrm>
          <a:prstGeom prst="rect">
            <a:avLst/>
          </a:prstGeom>
          <a:noFill/>
          <a:ln w="0">
            <a:noFill/>
          </a:ln>
        </p:spPr>
        <p:txBody>
          <a:bodyPr wrap="square" lIns="0" tIns="0" rIns="0" bIns="0" anchor="t">
            <a:noAutofit/>
          </a:bodyPr>
          <a:lstStyle/>
          <a:p>
            <a:pPr algn="l">
              <a:defRPr sz="1950" b="1">
                <a:solidFill>
                  <a:srgbClr val="152C3F"/>
                </a:solidFill>
                <a:latin typeface="DejaVu Sans" panose="020B0603030804020204"/>
                <a:ea typeface="DejaVu Sans" panose="020B0603030804020204"/>
                <a:cs typeface="DejaVu Sans" panose="020B0603030804020204"/>
              </a:defRPr>
            </a:pPr>
            <a:r>
              <a:rPr sz="1950" b="1">
                <a:solidFill>
                  <a:srgbClr val="152C3F"/>
                </a:solidFill>
                <a:latin typeface="DejaVu Sans" panose="020B0603030804020204"/>
                <a:ea typeface="DejaVu Sans" panose="020B0603030804020204"/>
                <a:cs typeface="DejaVu Sans" panose="020B0603030804020204"/>
              </a:rPr>
              <a:t>Clinical phenotype</a:t>
            </a:r>
          </a:p>
        </p:txBody>
      </p:sp>
      <p:sp>
        <p:nvSpPr>
          <p:cNvPr id="10" name="text-9"/>
          <p:cNvSpPr>
            <a:spLocks noGrp="1"/>
          </p:cNvSpPr>
          <p:nvPr/>
        </p:nvSpPr>
        <p:spPr>
          <a:xfrm>
            <a:off x="6381750" y="3437255"/>
            <a:ext cx="5238750" cy="762000"/>
          </a:xfrm>
          <a:prstGeom prst="rect">
            <a:avLst/>
          </a:prstGeom>
          <a:noFill/>
          <a:ln w="0">
            <a:noFill/>
          </a:ln>
        </p:spPr>
        <p:txBody>
          <a:bodyPr wrap="square" lIns="0" tIns="0" rIns="0" bIns="0" anchor="t">
            <a:noAutofit/>
          </a:bodyPr>
          <a:lstStyle/>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Weight loss, exhaustion, low activity,</a:t>
            </a:r>
          </a:p>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weak grip strength and slow walking.</a:t>
            </a:r>
          </a:p>
        </p:txBody>
      </p:sp>
      <p:sp>
        <p:nvSpPr>
          <p:cNvPr id="11" name="text-10"/>
          <p:cNvSpPr>
            <a:spLocks noGrp="1"/>
          </p:cNvSpPr>
          <p:nvPr/>
        </p:nvSpPr>
        <p:spPr>
          <a:xfrm>
            <a:off x="6381750" y="4236720"/>
            <a:ext cx="5238750" cy="371475"/>
          </a:xfrm>
          <a:prstGeom prst="rect">
            <a:avLst/>
          </a:prstGeom>
          <a:noFill/>
          <a:ln w="0">
            <a:noFill/>
          </a:ln>
        </p:spPr>
        <p:txBody>
          <a:bodyPr wrap="square" lIns="0" tIns="0" rIns="0" bIns="0" anchor="t">
            <a:noAutofit/>
          </a:bodyPr>
          <a:lstStyle/>
          <a:p>
            <a:pPr algn="l">
              <a:defRPr sz="1950" b="1">
                <a:solidFill>
                  <a:srgbClr val="7056A8"/>
                </a:solidFill>
                <a:latin typeface="DejaVu Sans" panose="020B0603030804020204"/>
                <a:ea typeface="DejaVu Sans" panose="020B0603030804020204"/>
                <a:cs typeface="DejaVu Sans" panose="020B0603030804020204"/>
              </a:defRPr>
            </a:pPr>
            <a:r>
              <a:rPr sz="1950" b="1">
                <a:solidFill>
                  <a:srgbClr val="7056A8"/>
                </a:solidFill>
                <a:latin typeface="DejaVu Sans" panose="020B0603030804020204"/>
                <a:ea typeface="DejaVu Sans" panose="020B0603030804020204"/>
                <a:cs typeface="DejaVu Sans" panose="020B0603030804020204"/>
              </a:rPr>
              <a:t>Project question</a:t>
            </a:r>
          </a:p>
        </p:txBody>
      </p:sp>
      <p:sp>
        <p:nvSpPr>
          <p:cNvPr id="12" name="text-11"/>
          <p:cNvSpPr>
            <a:spLocks noGrp="1"/>
          </p:cNvSpPr>
          <p:nvPr/>
        </p:nvSpPr>
        <p:spPr>
          <a:xfrm>
            <a:off x="6381750" y="4684395"/>
            <a:ext cx="5238750" cy="800100"/>
          </a:xfrm>
          <a:prstGeom prst="rect">
            <a:avLst/>
          </a:prstGeom>
          <a:noFill/>
          <a:ln w="0">
            <a:noFill/>
          </a:ln>
        </p:spPr>
        <p:txBody>
          <a:bodyPr wrap="square" lIns="0" tIns="0" rIns="0" bIns="0" anchor="t">
            <a:noAutofit/>
          </a:bodyPr>
          <a:lstStyle/>
          <a:p>
            <a:pPr algn="l">
              <a:defRPr sz="1800" b="0">
                <a:solidFill>
                  <a:srgbClr val="152C3F"/>
                </a:solidFill>
                <a:latin typeface="DejaVu Sans" panose="020B0603030804020204"/>
                <a:ea typeface="DejaVu Sans" panose="020B0603030804020204"/>
                <a:cs typeface="DejaVu Sans" panose="020B0603030804020204"/>
              </a:defRPr>
            </a:pPr>
            <a:r>
              <a:rPr>
                <a:sym typeface="+mn-ea"/>
              </a:rPr>
              <a:t>Can PPG and IMU quantify physiological</a:t>
            </a:r>
            <a:endParaRPr b="0">
              <a:solidFill>
                <a:srgbClr val="152C3F"/>
              </a:solidFill>
              <a:latin typeface="DejaVu Sans" panose="020B0603030804020204"/>
              <a:ea typeface="DejaVu Sans" panose="020B0603030804020204"/>
              <a:cs typeface="DejaVu Sans" panose="020B0603030804020204"/>
            </a:endParaRPr>
          </a:p>
          <a:p>
            <a:pPr algn="l">
              <a:defRPr sz="1800" b="0">
                <a:solidFill>
                  <a:srgbClr val="152C3F"/>
                </a:solidFill>
                <a:latin typeface="DejaVu Sans" panose="020B0603030804020204"/>
                <a:ea typeface="DejaVu Sans" panose="020B0603030804020204"/>
                <a:cs typeface="DejaVu Sans" panose="020B0603030804020204"/>
              </a:defRPr>
            </a:pPr>
            <a:r>
              <a:rPr>
                <a:sym typeface="+mn-ea"/>
              </a:rPr>
              <a:t>and movement differences between groups?</a:t>
            </a:r>
            <a:endParaRPr sz="1800" b="0">
              <a:solidFill>
                <a:srgbClr val="152C3F"/>
              </a:solidFill>
              <a:latin typeface="DejaVu Sans" panose="020B0603030804020204"/>
              <a:ea typeface="DejaVu Sans" panose="020B0603030804020204"/>
              <a:cs typeface="DejaVu Sans" panose="020B0603030804020204"/>
            </a:endParaRPr>
          </a:p>
        </p:txBody>
      </p:sp>
      <p:sp>
        <p:nvSpPr>
          <p:cNvPr id="13" name="text-12"/>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Redrawn from Fried et al., 2001, Table 6. External longitudinal evidence motivates the study.</a:t>
            </a:r>
          </a:p>
        </p:txBody>
      </p:sp>
      <p:sp>
        <p:nvSpPr>
          <p:cNvPr id="5" name="text-5"/>
          <p:cNvSpPr>
            <a:spLocks noGrp="1"/>
          </p:cNvSpPr>
          <p:nvPr/>
        </p:nvSpPr>
        <p:spPr>
          <a:xfrm>
            <a:off x="714375" y="5495925"/>
            <a:ext cx="7354570" cy="330835"/>
          </a:xfrm>
          <a:prstGeom prst="rect">
            <a:avLst/>
          </a:prstGeom>
          <a:noFill/>
          <a:ln w="0">
            <a:noFill/>
          </a:ln>
        </p:spPr>
        <p:txBody>
          <a:bodyPr wrap="square" lIns="0" tIns="0" rIns="0" bIns="0" anchor="t">
            <a:noAutofit/>
          </a:bodyPr>
          <a:lstStyle/>
          <a:p>
            <a:pPr algn="l">
              <a:defRPr sz="1650" b="0">
                <a:solidFill>
                  <a:srgbClr val="506577"/>
                </a:solidFill>
                <a:latin typeface="DejaVu Sans" panose="020B0603030804020204"/>
                <a:ea typeface="DejaVu Sans" panose="020B0603030804020204"/>
                <a:cs typeface="DejaVu Sans" panose="020B0603030804020204"/>
              </a:defRPr>
            </a:pPr>
            <a:r>
              <a:rPr sz="1600" b="0">
                <a:solidFill>
                  <a:srgbClr val="506577"/>
                </a:solidFill>
                <a:latin typeface="DejaVu Sans" panose="020B0603030804020204"/>
                <a:ea typeface="DejaVu Sans" panose="020B0603030804020204"/>
                <a:cs typeface="DejaVu Sans" panose="020B0603030804020204"/>
              </a:rPr>
              <a:t>Cardiovascular Health Study (CHS), </a:t>
            </a:r>
            <a:r>
              <a:rPr sz="1600">
                <a:sym typeface="+mn-ea"/>
              </a:rPr>
              <a:t>5,317 adults aged ≥65</a:t>
            </a:r>
            <a:endParaRPr sz="1600" b="0">
              <a:solidFill>
                <a:srgbClr val="506577"/>
              </a:solidFill>
              <a:latin typeface="DejaVu Sans" panose="020B0603030804020204"/>
              <a:ea typeface="DejaVu Sans" panose="020B0603030804020204"/>
              <a:cs typeface="DejaVu Sans" panose="020B0603030804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1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Why might PPG relate to frailty?</a:t>
            </a:r>
          </a:p>
        </p:txBody>
      </p:sp>
      <p:sp>
        <p:nvSpPr>
          <p:cNvPr id="2" name="text-1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PHYSIOLOGICAL RATIONALE</a:t>
            </a:r>
          </a:p>
        </p:txBody>
      </p:sp>
      <p:sp>
        <p:nvSpPr>
          <p:cNvPr id="3" name="text-1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03</a:t>
            </a:r>
          </a:p>
        </p:txBody>
      </p:sp>
      <p:sp>
        <p:nvSpPr>
          <p:cNvPr id="4" name="workflow-18"/>
          <p:cNvSpPr>
            <a:spLocks noGrp="1"/>
          </p:cNvSpPr>
          <p:nvPr/>
        </p:nvSpPr>
        <p:spPr>
          <a:xfrm>
            <a:off x="590550" y="1409700"/>
            <a:ext cx="3190875" cy="7334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Physiological regulation</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and reserve</a:t>
            </a:r>
          </a:p>
        </p:txBody>
      </p:sp>
      <p:sp>
        <p:nvSpPr>
          <p:cNvPr id="5" name="workflow-19"/>
          <p:cNvSpPr>
            <a:spLocks noGrp="1"/>
          </p:cNvSpPr>
          <p:nvPr/>
        </p:nvSpPr>
        <p:spPr>
          <a:xfrm>
            <a:off x="4476750" y="1409700"/>
            <a:ext cx="3295650" cy="7334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Candidate cardiovascular</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associations</a:t>
            </a:r>
          </a:p>
        </p:txBody>
      </p:sp>
      <p:sp>
        <p:nvSpPr>
          <p:cNvPr id="6" name="workflow-20"/>
          <p:cNvSpPr>
            <a:spLocks noGrp="1"/>
          </p:cNvSpPr>
          <p:nvPr/>
        </p:nvSpPr>
        <p:spPr>
          <a:xfrm>
            <a:off x="8477250" y="1409700"/>
            <a:ext cx="3143250" cy="7334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Observable</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peripheral pulse</a:t>
            </a:r>
          </a:p>
        </p:txBody>
      </p:sp>
      <p:cxnSp>
        <p:nvCxnSpPr>
          <p:cNvPr id="20" name="直接箭头连接符 19"/>
          <p:cNvCxnSpPr>
            <a:stCxn id="4" idx="3"/>
            <a:endCxn id="5" idx="1"/>
          </p:cNvCxnSpPr>
          <p:nvPr/>
        </p:nvCxnSpPr>
        <p:spPr>
          <a:xfrm>
            <a:off x="3781425" y="1776413"/>
            <a:ext cx="695325" cy="0"/>
          </a:xfrm>
          <a:prstGeom prst="straightConnector1">
            <a:avLst/>
          </a:prstGeom>
          <a:ln w="19050">
            <a:solidFill>
              <a:srgbClr val="506577"/>
            </a:solidFill>
            <a:tailEnd type="triangle" w="sm" len="sm"/>
          </a:ln>
        </p:spPr>
      </p:cxnSp>
      <p:cxnSp>
        <p:nvCxnSpPr>
          <p:cNvPr id="21" name="直接箭头连接符 20"/>
          <p:cNvCxnSpPr>
            <a:stCxn id="5" idx="3"/>
            <a:endCxn id="6" idx="1"/>
          </p:cNvCxnSpPr>
          <p:nvPr/>
        </p:nvCxnSpPr>
        <p:spPr>
          <a:xfrm>
            <a:off x="7772400" y="1776413"/>
            <a:ext cx="704850" cy="0"/>
          </a:xfrm>
          <a:prstGeom prst="straightConnector1">
            <a:avLst/>
          </a:prstGeom>
          <a:ln w="19050">
            <a:solidFill>
              <a:srgbClr val="506577"/>
            </a:solidFill>
            <a:tailEnd type="triangle" w="sm" len="sm"/>
          </a:ln>
        </p:spPr>
      </p:cxnSp>
      <p:graphicFrame>
        <p:nvGraphicFramePr>
          <p:cNvPr id="23" name="表格 22"/>
          <p:cNvGraphicFramePr/>
          <p:nvPr/>
        </p:nvGraphicFramePr>
        <p:xfrm>
          <a:off x="571500" y="2695575"/>
          <a:ext cx="11049000" cy="2356485"/>
        </p:xfrm>
        <a:graphic>
          <a:graphicData uri="http://schemas.openxmlformats.org/drawingml/2006/table">
            <a:tbl>
              <a:tblPr/>
              <a:tblGrid>
                <a:gridCol w="328612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tblGrid>
              <a:tr h="561975">
                <a:tc>
                  <a:txBody>
                    <a:bodyPr/>
                    <a:lstStyle/>
                    <a:p>
                      <a:pPr algn="l"/>
                      <a:r>
                        <a:rPr sz="1575" b="1">
                          <a:solidFill>
                            <a:srgbClr val="FFFFFF"/>
                          </a:solidFill>
                          <a:latin typeface="DejaVu Sans" panose="020B0603030804020204"/>
                          <a:ea typeface="DejaVu Sans" panose="020B0603030804020204"/>
                          <a:cs typeface="DejaVu Sans" panose="020B0603030804020204"/>
                        </a:rPr>
                        <a:t>Question</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PPG observation</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Candidate descriptors</a:t>
                      </a:r>
                    </a:p>
                  </a:txBody>
                  <a:tcPr marL="114300" marR="114300" marT="95250" marB="95250" anchor="ctr">
                    <a:solidFill>
                      <a:srgbClr val="152C3F"/>
                    </a:solidFill>
                  </a:tcPr>
                </a:tc>
                <a:extLst>
                  <a:ext uri="{0D108BD9-81ED-4DB2-BD59-A6C34878D82A}">
                    <a16:rowId xmlns:a16="http://schemas.microsoft.com/office/drawing/2014/main" val="10000"/>
                  </a:ext>
                </a:extLst>
              </a:tr>
              <a:tr h="561975">
                <a:tc>
                  <a:txBody>
                    <a:bodyPr/>
                    <a:lstStyle/>
                    <a:p>
                      <a:pPr algn="l"/>
                      <a:r>
                        <a:rPr sz="1575" b="0">
                          <a:solidFill>
                            <a:srgbClr val="152C3F"/>
                          </a:solidFill>
                          <a:latin typeface="DejaVu Sans" panose="020B0603030804020204"/>
                          <a:ea typeface="DejaVu Sans" panose="020B0603030804020204"/>
                          <a:cs typeface="DejaVu Sans" panose="020B0603030804020204"/>
                        </a:rPr>
                        <a:t>Cardiac timing</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Spacing between pulses</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Rate and interval variation</a:t>
                      </a:r>
                    </a:p>
                  </a:txBody>
                  <a:tcPr marL="114300" marR="114300" marT="95250" marB="95250" anchor="ctr">
                    <a:solidFill>
                      <a:srgbClr val="FFFFFF"/>
                    </a:solidFill>
                  </a:tcPr>
                </a:tc>
                <a:extLst>
                  <a:ext uri="{0D108BD9-81ED-4DB2-BD59-A6C34878D82A}">
                    <a16:rowId xmlns:a16="http://schemas.microsoft.com/office/drawing/2014/main" val="10001"/>
                  </a:ext>
                </a:extLst>
              </a:tr>
              <a:tr h="561975">
                <a:tc>
                  <a:txBody>
                    <a:bodyPr/>
                    <a:lstStyle/>
                    <a:p>
                      <a:pPr algn="l"/>
                      <a:r>
                        <a:rPr sz="1575" b="0">
                          <a:solidFill>
                            <a:srgbClr val="152C3F"/>
                          </a:solidFill>
                          <a:latin typeface="DejaVu Sans" panose="020B0603030804020204"/>
                          <a:ea typeface="DejaVu Sans" panose="020B0603030804020204"/>
                          <a:cs typeface="DejaVu Sans" panose="020B0603030804020204"/>
                        </a:rPr>
                        <a:t>Peripheral pulse expression</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Upstroke, width, amplitude</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Rise time, width, </a:t>
                      </a:r>
                      <a:r>
                        <a:rPr sz="1575">
                          <a:solidFill>
                            <a:srgbClr val="152C3F"/>
                          </a:solidFill>
                          <a:latin typeface="DejaVu Sans" panose="020B0603030804020204"/>
                          <a:ea typeface="DejaVu Sans" panose="020B0603030804020204"/>
                          <a:cs typeface="DejaVu Sans" panose="020B0603030804020204"/>
                          <a:sym typeface="+mn-ea"/>
                        </a:rPr>
                        <a:t>area, AC/DC</a:t>
                      </a:r>
                      <a:endParaRPr sz="1575" b="0">
                        <a:solidFill>
                          <a:srgbClr val="152C3F"/>
                        </a:solidFill>
                        <a:latin typeface="DejaVu Sans" panose="020B0603030804020204"/>
                        <a:ea typeface="DejaVu Sans" panose="020B0603030804020204"/>
                        <a:cs typeface="DejaVu Sans" panose="020B0603030804020204"/>
                      </a:endParaRPr>
                    </a:p>
                  </a:txBody>
                  <a:tcPr marL="114300" marR="114300" marT="95250" marB="95250" anchor="ctr">
                    <a:solidFill>
                      <a:srgbClr val="F4F6F8"/>
                    </a:solidFill>
                  </a:tcPr>
                </a:tc>
                <a:extLst>
                  <a:ext uri="{0D108BD9-81ED-4DB2-BD59-A6C34878D82A}">
                    <a16:rowId xmlns:a16="http://schemas.microsoft.com/office/drawing/2014/main" val="10002"/>
                  </a:ext>
                </a:extLst>
              </a:tr>
              <a:tr h="561975">
                <a:tc>
                  <a:txBody>
                    <a:bodyPr/>
                    <a:lstStyle/>
                    <a:p>
                      <a:pPr algn="l"/>
                      <a:r>
                        <a:rPr sz="1575" b="0">
                          <a:solidFill>
                            <a:srgbClr val="152C3F"/>
                          </a:solidFill>
                          <a:latin typeface="DejaVu Sans" panose="020B0603030804020204"/>
                          <a:ea typeface="DejaVu Sans" panose="020B0603030804020204"/>
                          <a:cs typeface="DejaVu Sans" panose="020B0603030804020204"/>
                        </a:rPr>
                        <a:t>Response after a task</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Baseline and recovery differences</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Role-specific rate and variability</a:t>
                      </a:r>
                    </a:p>
                  </a:txBody>
                  <a:tcPr marL="11430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11" name="text-22"/>
          <p:cNvSpPr>
            <a:spLocks noGrp="1"/>
          </p:cNvSpPr>
          <p:nvPr/>
        </p:nvSpPr>
        <p:spPr>
          <a:xfrm>
            <a:off x="571500" y="5219700"/>
            <a:ext cx="10953750" cy="323850"/>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Evidence: electrocardiogram (ECG) studies link frailty to altered heart-rate dynamics.</a:t>
            </a:r>
          </a:p>
        </p:txBody>
      </p:sp>
      <p:sp>
        <p:nvSpPr>
          <p:cNvPr id="12" name="text-23"/>
          <p:cNvSpPr>
            <a:spLocks noGrp="1"/>
          </p:cNvSpPr>
          <p:nvPr/>
        </p:nvSpPr>
        <p:spPr>
          <a:xfrm>
            <a:off x="571500" y="5610225"/>
            <a:ext cx="10953750" cy="49530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PPG pulse rate variability (PRV) also reflects pulse propagation and measurement effects.</a:t>
            </a:r>
          </a:p>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Candidate descriptors of cardiovascular regulation and pulse-wave expression.</a:t>
            </a:r>
          </a:p>
        </p:txBody>
      </p:sp>
      <p:sp>
        <p:nvSpPr>
          <p:cNvPr id="13" name="text-24"/>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Chaves 2008; Varadhan 2009; Mejía-Mejía 2020; thesis §§2.1 and 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10"/>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Dataset and clinical reference labels</a:t>
            </a:r>
          </a:p>
        </p:txBody>
      </p:sp>
      <p:sp>
        <p:nvSpPr>
          <p:cNvPr id="2" name="text-11"/>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DATASET</a:t>
            </a:r>
          </a:p>
        </p:txBody>
      </p:sp>
      <p:sp>
        <p:nvSpPr>
          <p:cNvPr id="3" name="text-12"/>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04</a:t>
            </a:r>
          </a:p>
        </p:txBody>
      </p:sp>
      <p:sp>
        <p:nvSpPr>
          <p:cNvPr id="5" name="text-13"/>
          <p:cNvSpPr>
            <a:spLocks noGrp="1"/>
          </p:cNvSpPr>
          <p:nvPr/>
        </p:nvSpPr>
        <p:spPr>
          <a:xfrm>
            <a:off x="6715125" y="1447800"/>
            <a:ext cx="4953000" cy="676275"/>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Fried phenotype in adults aged ≥60</a:t>
            </a:r>
          </a:p>
        </p:txBody>
      </p:sp>
      <p:sp>
        <p:nvSpPr>
          <p:cNvPr id="6" name="text-14"/>
          <p:cNvSpPr>
            <a:spLocks noGrp="1"/>
          </p:cNvSpPr>
          <p:nvPr/>
        </p:nvSpPr>
        <p:spPr>
          <a:xfrm>
            <a:off x="6743700" y="2343150"/>
            <a:ext cx="4762500" cy="1781175"/>
          </a:xfrm>
          <a:prstGeom prst="rect">
            <a:avLst/>
          </a:prstGeom>
          <a:noFill/>
          <a:ln w="0">
            <a:noFill/>
          </a:ln>
        </p:spPr>
        <p:txBody>
          <a:bodyPr wrap="square" lIns="0" tIns="0" rIns="0" bIns="0" anchor="t">
            <a:noAutofit/>
          </a:bodyPr>
          <a:lstStyle/>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Unintentional weight loss</a:t>
            </a:r>
          </a:p>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Exhaustion</a:t>
            </a:r>
          </a:p>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Low physical activity</a:t>
            </a:r>
          </a:p>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Weak grip strength</a:t>
            </a:r>
          </a:p>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Slow walking</a:t>
            </a:r>
          </a:p>
        </p:txBody>
      </p:sp>
      <p:sp>
        <p:nvSpPr>
          <p:cNvPr id="9" name="text-17"/>
          <p:cNvSpPr>
            <a:spLocks noGrp="1"/>
          </p:cNvSpPr>
          <p:nvPr/>
        </p:nvSpPr>
        <p:spPr>
          <a:xfrm>
            <a:off x="6667500" y="4707890"/>
            <a:ext cx="5762625" cy="685800"/>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Red (RED), infrared (IR) and six IMU axes</a:t>
            </a:r>
          </a:p>
        </p:txBody>
      </p:sp>
      <p:graphicFrame>
        <p:nvGraphicFramePr>
          <p:cNvPr id="14" name="表格 13"/>
          <p:cNvGraphicFramePr/>
          <p:nvPr/>
        </p:nvGraphicFramePr>
        <p:xfrm>
          <a:off x="571500" y="1492885"/>
          <a:ext cx="5572125" cy="3143250"/>
        </p:xfrm>
        <a:graphic>
          <a:graphicData uri="http://schemas.openxmlformats.org/drawingml/2006/table">
            <a:tbl>
              <a:tblPr/>
              <a:tblGrid>
                <a:gridCol w="290512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628650">
                <a:tc>
                  <a:txBody>
                    <a:bodyPr/>
                    <a:lstStyle/>
                    <a:p>
                      <a:pPr algn="l"/>
                      <a:r>
                        <a:rPr sz="1725" b="1">
                          <a:solidFill>
                            <a:srgbClr val="FFFFFF"/>
                          </a:solidFill>
                          <a:latin typeface="DejaVu Sans" panose="020B0603030804020204"/>
                          <a:ea typeface="DejaVu Sans" panose="020B0603030804020204"/>
                          <a:cs typeface="DejaVu Sans" panose="020B0603030804020204"/>
                        </a:rPr>
                        <a:t>Group</a:t>
                      </a:r>
                    </a:p>
                  </a:txBody>
                  <a:tcPr marL="114300" marR="114300" marT="95250" marB="95250" anchor="ctr">
                    <a:solidFill>
                      <a:srgbClr val="152C3F"/>
                    </a:solidFill>
                  </a:tcPr>
                </a:tc>
                <a:tc>
                  <a:txBody>
                    <a:bodyPr/>
                    <a:lstStyle/>
                    <a:p>
                      <a:pPr algn="ctr"/>
                      <a:r>
                        <a:rPr sz="1725" b="1">
                          <a:solidFill>
                            <a:srgbClr val="FFFFFF"/>
                          </a:solidFill>
                          <a:latin typeface="DejaVu Sans" panose="020B0603030804020204"/>
                          <a:ea typeface="DejaVu Sans" panose="020B0603030804020204"/>
                          <a:cs typeface="DejaVu Sans" panose="020B0603030804020204"/>
                        </a:rPr>
                        <a:t>People</a:t>
                      </a:r>
                    </a:p>
                  </a:txBody>
                  <a:tcPr marL="114300" marR="114300" marT="95250" marB="95250" anchor="ctr">
                    <a:solidFill>
                      <a:srgbClr val="152C3F"/>
                    </a:solidFill>
                  </a:tcPr>
                </a:tc>
                <a:tc>
                  <a:txBody>
                    <a:bodyPr/>
                    <a:lstStyle/>
                    <a:p>
                      <a:pPr algn="ctr"/>
                      <a:r>
                        <a:rPr sz="1725" b="1">
                          <a:solidFill>
                            <a:srgbClr val="FFFFFF"/>
                          </a:solidFill>
                          <a:latin typeface="DejaVu Sans" panose="020B0603030804020204"/>
                          <a:ea typeface="DejaVu Sans" panose="020B0603030804020204"/>
                          <a:cs typeface="DejaVu Sans" panose="020B0603030804020204"/>
                        </a:rPr>
                        <a:t>Files</a:t>
                      </a:r>
                    </a:p>
                  </a:txBody>
                  <a:tcPr marL="114300" marR="114300" marT="95250" marB="95250" anchor="ctr">
                    <a:solidFill>
                      <a:srgbClr val="152C3F"/>
                    </a:solidFill>
                  </a:tcPr>
                </a:tc>
                <a:extLst>
                  <a:ext uri="{0D108BD9-81ED-4DB2-BD59-A6C34878D82A}">
                    <a16:rowId xmlns:a16="http://schemas.microsoft.com/office/drawing/2014/main" val="10000"/>
                  </a:ext>
                </a:extLst>
              </a:tr>
              <a:tr h="628650">
                <a:tc>
                  <a:txBody>
                    <a:bodyPr/>
                    <a:lstStyle/>
                    <a:p>
                      <a:pPr algn="l"/>
                      <a:r>
                        <a:rPr sz="1725" b="0">
                          <a:solidFill>
                            <a:srgbClr val="152C3F"/>
                          </a:solidFill>
                          <a:latin typeface="DejaVu Sans" panose="020B0603030804020204"/>
                          <a:ea typeface="DejaVu Sans" panose="020B0603030804020204"/>
                          <a:cs typeface="DejaVu Sans" panose="020B0603030804020204"/>
                        </a:rPr>
                        <a:t>Pre-Frail</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9</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81</a:t>
                      </a:r>
                    </a:p>
                  </a:txBody>
                  <a:tcPr marL="114300" marR="114300" marT="95250" marB="95250" anchor="ctr">
                    <a:solidFill>
                      <a:srgbClr val="FFFFFF"/>
                    </a:solidFill>
                  </a:tcPr>
                </a:tc>
                <a:extLst>
                  <a:ext uri="{0D108BD9-81ED-4DB2-BD59-A6C34878D82A}">
                    <a16:rowId xmlns:a16="http://schemas.microsoft.com/office/drawing/2014/main" val="10001"/>
                  </a:ext>
                </a:extLst>
              </a:tr>
              <a:tr h="628650">
                <a:tc>
                  <a:txBody>
                    <a:bodyPr/>
                    <a:lstStyle/>
                    <a:p>
                      <a:pPr algn="l"/>
                      <a:r>
                        <a:rPr sz="1725" b="0">
                          <a:solidFill>
                            <a:srgbClr val="152C3F"/>
                          </a:solidFill>
                          <a:latin typeface="DejaVu Sans" panose="020B0603030804020204"/>
                          <a:ea typeface="DejaVu Sans" panose="020B0603030804020204"/>
                          <a:cs typeface="DejaVu Sans" panose="020B0603030804020204"/>
                        </a:rPr>
                        <a:t>Robust / Non-Frail</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12</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108</a:t>
                      </a:r>
                    </a:p>
                  </a:txBody>
                  <a:tcPr marL="114300" marR="114300" marT="95250" marB="95250" anchor="ctr">
                    <a:solidFill>
                      <a:srgbClr val="F4F6F8"/>
                    </a:solidFill>
                  </a:tcPr>
                </a:tc>
                <a:extLst>
                  <a:ext uri="{0D108BD9-81ED-4DB2-BD59-A6C34878D82A}">
                    <a16:rowId xmlns:a16="http://schemas.microsoft.com/office/drawing/2014/main" val="10002"/>
                  </a:ext>
                </a:extLst>
              </a:tr>
              <a:tr h="628650">
                <a:tc>
                  <a:txBody>
                    <a:bodyPr/>
                    <a:lstStyle/>
                    <a:p>
                      <a:pPr algn="l"/>
                      <a:r>
                        <a:rPr sz="1725" b="0">
                          <a:solidFill>
                            <a:srgbClr val="152C3F"/>
                          </a:solidFill>
                          <a:latin typeface="DejaVu Sans" panose="020B0603030804020204"/>
                          <a:ea typeface="DejaVu Sans" panose="020B0603030804020204"/>
                          <a:cs typeface="DejaVu Sans" panose="020B0603030804020204"/>
                        </a:rPr>
                        <a:t>Young reference</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8</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72</a:t>
                      </a:r>
                    </a:p>
                  </a:txBody>
                  <a:tcPr marL="114300" marR="114300" marT="95250" marB="95250" anchor="ctr">
                    <a:solidFill>
                      <a:srgbClr val="FFFFFF"/>
                    </a:solidFill>
                  </a:tcPr>
                </a:tc>
                <a:extLst>
                  <a:ext uri="{0D108BD9-81ED-4DB2-BD59-A6C34878D82A}">
                    <a16:rowId xmlns:a16="http://schemas.microsoft.com/office/drawing/2014/main" val="10003"/>
                  </a:ext>
                </a:extLst>
              </a:tr>
              <a:tr h="628650">
                <a:tc>
                  <a:txBody>
                    <a:bodyPr/>
                    <a:lstStyle/>
                    <a:p>
                      <a:pPr algn="l"/>
                      <a:r>
                        <a:rPr sz="1725" b="0">
                          <a:solidFill>
                            <a:srgbClr val="152C3F"/>
                          </a:solidFill>
                          <a:latin typeface="DejaVu Sans" panose="020B0603030804020204"/>
                          <a:ea typeface="DejaVu Sans" panose="020B0603030804020204"/>
                          <a:cs typeface="DejaVu Sans" panose="020B0603030804020204"/>
                        </a:rPr>
                        <a:t>Total</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29</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261</a:t>
                      </a:r>
                    </a:p>
                  </a:txBody>
                  <a:tcPr marL="114300" marR="114300" marT="95250" marB="95250" anchor="ctr">
                    <a:solidFill>
                      <a:srgbClr val="F4F6F8"/>
                    </a:solidFill>
                  </a:tcPr>
                </a:tc>
                <a:extLst>
                  <a:ext uri="{0D108BD9-81ED-4DB2-BD59-A6C34878D82A}">
                    <a16:rowId xmlns:a16="http://schemas.microsoft.com/office/drawing/2014/main" val="10004"/>
                  </a:ext>
                </a:extLst>
              </a:tr>
            </a:tbl>
          </a:graphicData>
        </a:graphic>
      </p:graphicFrame>
      <p:sp>
        <p:nvSpPr>
          <p:cNvPr id="4" name="text-10"/>
          <p:cNvSpPr>
            <a:spLocks noGrp="1"/>
          </p:cNvSpPr>
          <p:nvPr/>
        </p:nvSpPr>
        <p:spPr>
          <a:xfrm>
            <a:off x="6667500" y="4255770"/>
            <a:ext cx="5324475" cy="685800"/>
          </a:xfrm>
          <a:prstGeom prst="rect">
            <a:avLst/>
          </a:prstGeom>
          <a:noFill/>
          <a:ln w="0">
            <a:noFill/>
          </a:ln>
        </p:spPr>
        <p:txBody>
          <a:bodyPr wrap="square" lIns="0" tIns="0" rIns="0" bIns="0" anchor="t">
            <a:noAutofit/>
          </a:bodyPr>
          <a:lstStyle/>
          <a:p>
            <a:pPr algn="l">
              <a:defRPr sz="2250" b="1">
                <a:solidFill>
                  <a:srgbClr val="087E8B"/>
                </a:solidFill>
                <a:latin typeface="DejaVu Sans" panose="020B0603030804020204"/>
                <a:ea typeface="DejaVu Sans" panose="020B0603030804020204"/>
                <a:cs typeface="DejaVu Sans" panose="020B0603030804020204"/>
              </a:defRPr>
            </a:pPr>
            <a:r>
              <a:rPr sz="2000" b="1">
                <a:solidFill>
                  <a:srgbClr val="087E8B"/>
                </a:solidFill>
                <a:latin typeface="DejaVu Sans" panose="020B0603030804020204"/>
                <a:ea typeface="DejaVu Sans" panose="020B0603030804020204"/>
                <a:cs typeface="DejaVu Sans" panose="020B0603030804020204"/>
              </a:rPr>
              <a:t>8 synchronized channels at 400 Hz</a:t>
            </a:r>
          </a:p>
        </p:txBody>
      </p:sp>
      <p:sp>
        <p:nvSpPr>
          <p:cNvPr id="17" name="text-18"/>
          <p:cNvSpPr>
            <a:spLocks noGrp="1"/>
          </p:cNvSpPr>
          <p:nvPr/>
        </p:nvSpPr>
        <p:spPr>
          <a:xfrm>
            <a:off x="571500" y="5897880"/>
            <a:ext cx="10858500" cy="371475"/>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700" b="0">
                <a:solidFill>
                  <a:srgbClr val="152C3F"/>
                </a:solidFill>
                <a:latin typeface="DejaVu Sans" panose="020B0603030804020204"/>
                <a:ea typeface="DejaVu Sans" panose="020B0603030804020204"/>
                <a:cs typeface="DejaVu Sans" panose="020B0603030804020204"/>
              </a:rPr>
              <a:t>261 recordings; 9 per person: B baseline, R1–R4 recovery, S1–S2 sit-to-stand, W1–W2 walking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text-9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One pipeline, two analysis branches</a:t>
            </a:r>
          </a:p>
        </p:txBody>
      </p:sp>
      <p:sp>
        <p:nvSpPr>
          <p:cNvPr id="2" name="text-9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PIPELINE WORKFLOW</a:t>
            </a:r>
          </a:p>
        </p:txBody>
      </p:sp>
      <p:sp>
        <p:nvSpPr>
          <p:cNvPr id="3" name="text-9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05</a:t>
            </a:r>
          </a:p>
        </p:txBody>
      </p:sp>
      <p:sp>
        <p:nvSpPr>
          <p:cNvPr id="4" name="workflow-94"/>
          <p:cNvSpPr>
            <a:spLocks noGrp="1"/>
          </p:cNvSpPr>
          <p:nvPr/>
        </p:nvSpPr>
        <p:spPr>
          <a:xfrm>
            <a:off x="571500" y="1724025"/>
            <a:ext cx="209550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PPG + IMU</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recordings</a:t>
            </a:r>
          </a:p>
        </p:txBody>
      </p:sp>
      <p:sp>
        <p:nvSpPr>
          <p:cNvPr id="5" name="workflow-95"/>
          <p:cNvSpPr>
            <a:spLocks noGrp="1"/>
          </p:cNvSpPr>
          <p:nvPr/>
        </p:nvSpPr>
        <p:spPr>
          <a:xfrm>
            <a:off x="3286125" y="172402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Preprocessing</a:t>
            </a:r>
          </a:p>
        </p:txBody>
      </p:sp>
      <p:sp>
        <p:nvSpPr>
          <p:cNvPr id="6" name="workflow-96"/>
          <p:cNvSpPr>
            <a:spLocks noGrp="1"/>
          </p:cNvSpPr>
          <p:nvPr/>
        </p:nvSpPr>
        <p:spPr>
          <a:xfrm>
            <a:off x="6143625" y="1724025"/>
            <a:ext cx="2428875"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Windowing</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 resample</a:t>
            </a:r>
          </a:p>
        </p:txBody>
      </p:sp>
      <p:sp>
        <p:nvSpPr>
          <p:cNvPr id="7" name="workflow-97"/>
          <p:cNvSpPr>
            <a:spLocks noGrp="1"/>
          </p:cNvSpPr>
          <p:nvPr/>
        </p:nvSpPr>
        <p:spPr>
          <a:xfrm>
            <a:off x="9239250" y="1724025"/>
            <a:ext cx="2381250"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Models &amp;</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classification</a:t>
            </a:r>
          </a:p>
        </p:txBody>
      </p:sp>
      <p:sp>
        <p:nvSpPr>
          <p:cNvPr id="8" name="workflow-98"/>
          <p:cNvSpPr>
            <a:spLocks noGrp="1"/>
          </p:cNvSpPr>
          <p:nvPr/>
        </p:nvSpPr>
        <p:spPr>
          <a:xfrm>
            <a:off x="3286125" y="368617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Motion detection</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&amp; denoising</a:t>
            </a:r>
          </a:p>
        </p:txBody>
      </p:sp>
      <p:sp>
        <p:nvSpPr>
          <p:cNvPr id="9" name="workflow-99"/>
          <p:cNvSpPr>
            <a:spLocks noGrp="1"/>
          </p:cNvSpPr>
          <p:nvPr/>
        </p:nvSpPr>
        <p:spPr>
          <a:xfrm>
            <a:off x="6143625" y="368617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Peak detection</a:t>
            </a:r>
          </a:p>
        </p:txBody>
      </p:sp>
      <p:sp>
        <p:nvSpPr>
          <p:cNvPr id="10" name="workflow-100"/>
          <p:cNvSpPr>
            <a:spLocks noGrp="1"/>
          </p:cNvSpPr>
          <p:nvPr/>
        </p:nvSpPr>
        <p:spPr>
          <a:xfrm>
            <a:off x="9239250" y="3686175"/>
            <a:ext cx="2381250"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Feature</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engineering</a:t>
            </a:r>
          </a:p>
        </p:txBody>
      </p:sp>
      <p:cxnSp>
        <p:nvCxnSpPr>
          <p:cNvPr id="36" name="直接箭头连接符 35"/>
          <p:cNvCxnSpPr>
            <a:stCxn id="4" idx="3"/>
            <a:endCxn id="5" idx="1"/>
          </p:cNvCxnSpPr>
          <p:nvPr/>
        </p:nvCxnSpPr>
        <p:spPr>
          <a:xfrm>
            <a:off x="2667000" y="2143125"/>
            <a:ext cx="619125" cy="0"/>
          </a:xfrm>
          <a:prstGeom prst="straightConnector1">
            <a:avLst/>
          </a:prstGeom>
          <a:ln w="19050">
            <a:solidFill>
              <a:srgbClr val="506577"/>
            </a:solidFill>
            <a:tailEnd type="triangle" w="sm" len="sm"/>
          </a:ln>
        </p:spPr>
      </p:cxnSp>
      <p:cxnSp>
        <p:nvCxnSpPr>
          <p:cNvPr id="37" name="直接箭头连接符 36"/>
          <p:cNvCxnSpPr>
            <a:stCxn id="5" idx="3"/>
            <a:endCxn id="6" idx="1"/>
          </p:cNvCxnSpPr>
          <p:nvPr/>
        </p:nvCxnSpPr>
        <p:spPr>
          <a:xfrm>
            <a:off x="5524500" y="2143125"/>
            <a:ext cx="619125" cy="0"/>
          </a:xfrm>
          <a:prstGeom prst="straightConnector1">
            <a:avLst/>
          </a:prstGeom>
          <a:ln w="19050">
            <a:solidFill>
              <a:srgbClr val="506577"/>
            </a:solidFill>
            <a:tailEnd type="triangle" w="sm" len="sm"/>
          </a:ln>
        </p:spPr>
      </p:cxnSp>
      <p:cxnSp>
        <p:nvCxnSpPr>
          <p:cNvPr id="38" name="直接箭头连接符 37"/>
          <p:cNvCxnSpPr>
            <a:stCxn id="6" idx="3"/>
            <a:endCxn id="7" idx="1"/>
          </p:cNvCxnSpPr>
          <p:nvPr/>
        </p:nvCxnSpPr>
        <p:spPr>
          <a:xfrm>
            <a:off x="8572500" y="2143125"/>
            <a:ext cx="666750" cy="0"/>
          </a:xfrm>
          <a:prstGeom prst="straightConnector1">
            <a:avLst/>
          </a:prstGeom>
          <a:ln w="19050">
            <a:solidFill>
              <a:srgbClr val="506577"/>
            </a:solidFill>
            <a:tailEnd type="triangle" w="sm" len="sm"/>
          </a:ln>
        </p:spPr>
      </p:cxnSp>
      <p:cxnSp>
        <p:nvCxnSpPr>
          <p:cNvPr id="39" name="直接箭头连接符 38"/>
          <p:cNvCxnSpPr>
            <a:stCxn id="5" idx="2"/>
            <a:endCxn id="8" idx="0"/>
          </p:cNvCxnSpPr>
          <p:nvPr/>
        </p:nvCxnSpPr>
        <p:spPr>
          <a:xfrm>
            <a:off x="4405313" y="2562225"/>
            <a:ext cx="0" cy="1123950"/>
          </a:xfrm>
          <a:prstGeom prst="straightConnector1">
            <a:avLst/>
          </a:prstGeom>
          <a:ln w="19050">
            <a:solidFill>
              <a:srgbClr val="506577"/>
            </a:solidFill>
            <a:tailEnd type="triangle" w="sm" len="sm"/>
          </a:ln>
        </p:spPr>
      </p:cxnSp>
      <p:cxnSp>
        <p:nvCxnSpPr>
          <p:cNvPr id="40" name="直接箭头连接符 39"/>
          <p:cNvCxnSpPr>
            <a:stCxn id="8" idx="3"/>
            <a:endCxn id="9" idx="1"/>
          </p:cNvCxnSpPr>
          <p:nvPr/>
        </p:nvCxnSpPr>
        <p:spPr>
          <a:xfrm>
            <a:off x="5524500" y="4105275"/>
            <a:ext cx="619125" cy="0"/>
          </a:xfrm>
          <a:prstGeom prst="straightConnector1">
            <a:avLst/>
          </a:prstGeom>
          <a:ln w="19050">
            <a:solidFill>
              <a:srgbClr val="506577"/>
            </a:solidFill>
            <a:tailEnd type="triangle" w="sm" len="sm"/>
          </a:ln>
        </p:spPr>
      </p:cxnSp>
      <p:cxnSp>
        <p:nvCxnSpPr>
          <p:cNvPr id="41" name="直接箭头连接符 40"/>
          <p:cNvCxnSpPr>
            <a:stCxn id="9" idx="3"/>
            <a:endCxn id="10" idx="1"/>
          </p:cNvCxnSpPr>
          <p:nvPr/>
        </p:nvCxnSpPr>
        <p:spPr>
          <a:xfrm>
            <a:off x="8572500" y="4105275"/>
            <a:ext cx="666750" cy="0"/>
          </a:xfrm>
          <a:prstGeom prst="straightConnector1">
            <a:avLst/>
          </a:prstGeom>
          <a:ln w="19050">
            <a:solidFill>
              <a:srgbClr val="506577"/>
            </a:solidFill>
            <a:tailEnd type="triangle" w="sm" len="sm"/>
          </a:ln>
        </p:spPr>
      </p:cxnSp>
      <p:cxnSp>
        <p:nvCxnSpPr>
          <p:cNvPr id="42" name="直接箭头连接符 41"/>
          <p:cNvCxnSpPr>
            <a:stCxn id="10" idx="0"/>
            <a:endCxn id="7" idx="2"/>
          </p:cNvCxnSpPr>
          <p:nvPr/>
        </p:nvCxnSpPr>
        <p:spPr>
          <a:xfrm flipV="1">
            <a:off x="10429875" y="2562225"/>
            <a:ext cx="0" cy="1123950"/>
          </a:xfrm>
          <a:prstGeom prst="straightConnector1">
            <a:avLst/>
          </a:prstGeom>
          <a:ln w="19050">
            <a:solidFill>
              <a:srgbClr val="506577"/>
            </a:solidFill>
            <a:tailEnd type="triangle" w="sm" len="sm"/>
          </a:ln>
        </p:spPr>
      </p:cxnSp>
      <p:sp>
        <p:nvSpPr>
          <p:cNvPr id="18" name="text-101"/>
          <p:cNvSpPr>
            <a:spLocks noGrp="1"/>
          </p:cNvSpPr>
          <p:nvPr/>
        </p:nvSpPr>
        <p:spPr>
          <a:xfrm>
            <a:off x="6191250" y="1371600"/>
            <a:ext cx="2543175" cy="266700"/>
          </a:xfrm>
          <a:prstGeom prst="rect">
            <a:avLst/>
          </a:prstGeom>
          <a:noFill/>
          <a:ln w="0">
            <a:noFill/>
          </a:ln>
        </p:spPr>
        <p:txBody>
          <a:bodyPr wrap="square" lIns="0" tIns="0" rIns="0" bIns="0" anchor="t">
            <a:noAutofit/>
          </a:bodyPr>
          <a:lstStyle/>
          <a:p>
            <a:pPr algn="l">
              <a:defRPr sz="1575" b="1">
                <a:solidFill>
                  <a:srgbClr val="506577"/>
                </a:solidFill>
                <a:latin typeface="DejaVu Sans" panose="020B0603030804020204"/>
                <a:ea typeface="DejaVu Sans" panose="020B0603030804020204"/>
                <a:cs typeface="DejaVu Sans" panose="020B0603030804020204"/>
              </a:defRPr>
            </a:pPr>
            <a:r>
              <a:rPr sz="1575" b="1">
                <a:solidFill>
                  <a:srgbClr val="506577"/>
                </a:solidFill>
                <a:latin typeface="DejaVu Sans" panose="020B0603030804020204"/>
                <a:ea typeface="DejaVu Sans" panose="020B0603030804020204"/>
                <a:cs typeface="DejaVu Sans" panose="020B0603030804020204"/>
              </a:rPr>
              <a:t>Waveform branch</a:t>
            </a:r>
          </a:p>
        </p:txBody>
      </p:sp>
      <p:sp>
        <p:nvSpPr>
          <p:cNvPr id="19" name="text-102"/>
          <p:cNvSpPr>
            <a:spLocks noGrp="1"/>
          </p:cNvSpPr>
          <p:nvPr/>
        </p:nvSpPr>
        <p:spPr>
          <a:xfrm>
            <a:off x="9277350" y="1371600"/>
            <a:ext cx="2343150" cy="266700"/>
          </a:xfrm>
          <a:prstGeom prst="rect">
            <a:avLst/>
          </a:prstGeom>
          <a:noFill/>
          <a:ln w="0">
            <a:noFill/>
          </a:ln>
        </p:spPr>
        <p:txBody>
          <a:bodyPr wrap="square" lIns="0" tIns="0" rIns="0" bIns="0" anchor="t">
            <a:noAutofit/>
          </a:bodyPr>
          <a:lstStyle/>
          <a:p>
            <a:pPr algn="ctr">
              <a:defRPr sz="1425" b="1">
                <a:solidFill>
                  <a:srgbClr val="506577"/>
                </a:solidFill>
                <a:latin typeface="DejaVu Sans" panose="020B0603030804020204"/>
                <a:ea typeface="DejaVu Sans" panose="020B0603030804020204"/>
                <a:cs typeface="DejaVu Sans" panose="020B0603030804020204"/>
              </a:defRPr>
            </a:pPr>
            <a:r>
              <a:rPr sz="1425" b="1">
                <a:solidFill>
                  <a:srgbClr val="506577"/>
                </a:solidFill>
                <a:latin typeface="DejaVu Sans" panose="020B0603030804020204"/>
                <a:ea typeface="DejaVu Sans" panose="020B0603030804020204"/>
                <a:cs typeface="DejaVu Sans" panose="020B0603030804020204"/>
              </a:rPr>
              <a:t>Alternative inputs</a:t>
            </a:r>
          </a:p>
        </p:txBody>
      </p:sp>
      <p:sp>
        <p:nvSpPr>
          <p:cNvPr id="20" name="text-103"/>
          <p:cNvSpPr>
            <a:spLocks noGrp="1"/>
          </p:cNvSpPr>
          <p:nvPr/>
        </p:nvSpPr>
        <p:spPr>
          <a:xfrm>
            <a:off x="571500" y="3781425"/>
            <a:ext cx="2190750" cy="742950"/>
          </a:xfrm>
          <a:prstGeom prst="rect">
            <a:avLst/>
          </a:prstGeom>
          <a:noFill/>
          <a:ln w="0">
            <a:noFill/>
          </a:ln>
        </p:spPr>
        <p:txBody>
          <a:bodyPr wrap="square" lIns="0" tIns="0" rIns="0" bIns="0" anchor="t">
            <a:noAutofit/>
          </a:bodyPr>
          <a:lstStyle/>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Physiological</a:t>
            </a:r>
          </a:p>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analysis branch</a:t>
            </a:r>
          </a:p>
        </p:txBody>
      </p:sp>
      <p:sp>
        <p:nvSpPr>
          <p:cNvPr id="21" name="text-104"/>
          <p:cNvSpPr>
            <a:spLocks noGrp="1"/>
          </p:cNvSpPr>
          <p:nvPr/>
        </p:nvSpPr>
        <p:spPr>
          <a:xfrm>
            <a:off x="3390900" y="4610100"/>
            <a:ext cx="2257425"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Optional / identity</a:t>
            </a:r>
          </a:p>
        </p:txBody>
      </p:sp>
      <p:sp>
        <p:nvSpPr>
          <p:cNvPr id="22" name="text-105"/>
          <p:cNvSpPr>
            <a:spLocks noGrp="1"/>
          </p:cNvSpPr>
          <p:nvPr/>
        </p:nvSpPr>
        <p:spPr>
          <a:xfrm>
            <a:off x="9210675" y="4610100"/>
            <a:ext cx="2438400" cy="476250"/>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Shape / baseline use original optical data</a:t>
            </a:r>
          </a:p>
        </p:txBody>
      </p:sp>
      <p:sp>
        <p:nvSpPr>
          <p:cNvPr id="23" name="text-106"/>
          <p:cNvSpPr>
            <a:spLocks noGrp="1"/>
          </p:cNvSpPr>
          <p:nvPr/>
        </p:nvSpPr>
        <p:spPr>
          <a:xfrm>
            <a:off x="571500" y="5105400"/>
            <a:ext cx="11049000" cy="295275"/>
          </a:xfrm>
          <a:prstGeom prst="rect">
            <a:avLst/>
          </a:prstGeom>
          <a:noFill/>
          <a:ln w="0">
            <a:noFill/>
          </a:ln>
        </p:spPr>
        <p:txBody>
          <a:bodyPr wrap="square" lIns="0" tIns="0" rIns="0" bIns="0" anchor="t">
            <a:noAutofit/>
          </a:bodyPr>
          <a:lstStyle/>
          <a:p>
            <a:pPr algn="l">
              <a:defRPr sz="1725" b="1">
                <a:solidFill>
                  <a:srgbClr val="087E8B"/>
                </a:solidFill>
                <a:latin typeface="DejaVu Sans" panose="020B0603030804020204"/>
                <a:ea typeface="DejaVu Sans" panose="020B0603030804020204"/>
                <a:cs typeface="DejaVu Sans" panose="020B0603030804020204"/>
              </a:defRPr>
            </a:pPr>
            <a:r>
              <a:rPr sz="1725" b="1">
                <a:solidFill>
                  <a:srgbClr val="087E8B"/>
                </a:solidFill>
                <a:latin typeface="DejaVu Sans" panose="020B0603030804020204"/>
                <a:ea typeface="DejaVu Sans" panose="020B0603030804020204"/>
                <a:cs typeface="DejaVu Sans" panose="020B0603030804020204"/>
              </a:rPr>
              <a:t>The waveform branch builds normalized 5 s inputs for direct learning.</a:t>
            </a:r>
          </a:p>
        </p:txBody>
      </p:sp>
      <p:sp>
        <p:nvSpPr>
          <p:cNvPr id="24" name="text-107"/>
          <p:cNvSpPr>
            <a:spLocks noGrp="1"/>
          </p:cNvSpPr>
          <p:nvPr/>
        </p:nvSpPr>
        <p:spPr>
          <a:xfrm>
            <a:off x="571500" y="5486400"/>
            <a:ext cx="11049000" cy="295275"/>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The physiological branch measures pulse timing, shape and motion, then builds features.</a:t>
            </a:r>
          </a:p>
        </p:txBody>
      </p:sp>
      <p:sp>
        <p:nvSpPr>
          <p:cNvPr id="25" name="text-108"/>
          <p:cNvSpPr>
            <a:spLocks noGrp="1"/>
          </p:cNvSpPr>
          <p:nvPr/>
        </p:nvSpPr>
        <p:spPr>
          <a:xfrm>
            <a:off x="571500" y="5867400"/>
            <a:ext cx="11049000" cy="304800"/>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Both routes share preprocessed recordings. Each model receives its selected representation.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10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Workflow: preprocessing</a:t>
            </a:r>
          </a:p>
        </p:txBody>
      </p:sp>
      <p:sp>
        <p:nvSpPr>
          <p:cNvPr id="2" name="text-11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PIPELINE WORKFLOW</a:t>
            </a:r>
          </a:p>
        </p:txBody>
      </p:sp>
      <p:sp>
        <p:nvSpPr>
          <p:cNvPr id="3" name="text-11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06</a:t>
            </a:r>
          </a:p>
        </p:txBody>
      </p:sp>
      <p:sp>
        <p:nvSpPr>
          <p:cNvPr id="4" name="workflow-112"/>
          <p:cNvSpPr>
            <a:spLocks noGrp="1"/>
          </p:cNvSpPr>
          <p:nvPr/>
        </p:nvSpPr>
        <p:spPr>
          <a:xfrm>
            <a:off x="571500" y="1724025"/>
            <a:ext cx="209550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PPG + IMU</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recordings</a:t>
            </a:r>
          </a:p>
        </p:txBody>
      </p:sp>
      <p:sp>
        <p:nvSpPr>
          <p:cNvPr id="5" name="workflow-113"/>
          <p:cNvSpPr>
            <a:spLocks noGrp="1"/>
          </p:cNvSpPr>
          <p:nvPr/>
        </p:nvSpPr>
        <p:spPr>
          <a:xfrm>
            <a:off x="3286125" y="1724025"/>
            <a:ext cx="2238375"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Preprocessing</a:t>
            </a:r>
          </a:p>
        </p:txBody>
      </p:sp>
      <p:sp>
        <p:nvSpPr>
          <p:cNvPr id="6" name="workflow-114"/>
          <p:cNvSpPr>
            <a:spLocks noGrp="1"/>
          </p:cNvSpPr>
          <p:nvPr/>
        </p:nvSpPr>
        <p:spPr>
          <a:xfrm>
            <a:off x="6143625" y="172402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Windowing</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 resample</a:t>
            </a:r>
          </a:p>
        </p:txBody>
      </p:sp>
      <p:sp>
        <p:nvSpPr>
          <p:cNvPr id="7" name="workflow-115"/>
          <p:cNvSpPr>
            <a:spLocks noGrp="1"/>
          </p:cNvSpPr>
          <p:nvPr/>
        </p:nvSpPr>
        <p:spPr>
          <a:xfrm>
            <a:off x="9239250" y="172402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Models &amp;</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classification</a:t>
            </a:r>
          </a:p>
        </p:txBody>
      </p:sp>
      <p:sp>
        <p:nvSpPr>
          <p:cNvPr id="8" name="workflow-116"/>
          <p:cNvSpPr>
            <a:spLocks noGrp="1"/>
          </p:cNvSpPr>
          <p:nvPr/>
        </p:nvSpPr>
        <p:spPr>
          <a:xfrm>
            <a:off x="3286125" y="368617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Motion detection</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&amp; denoising</a:t>
            </a:r>
          </a:p>
        </p:txBody>
      </p:sp>
      <p:sp>
        <p:nvSpPr>
          <p:cNvPr id="9" name="workflow-117"/>
          <p:cNvSpPr>
            <a:spLocks noGrp="1"/>
          </p:cNvSpPr>
          <p:nvPr/>
        </p:nvSpPr>
        <p:spPr>
          <a:xfrm>
            <a:off x="6143625" y="368617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Peak detection</a:t>
            </a:r>
          </a:p>
        </p:txBody>
      </p:sp>
      <p:sp>
        <p:nvSpPr>
          <p:cNvPr id="10" name="workflow-118"/>
          <p:cNvSpPr>
            <a:spLocks noGrp="1"/>
          </p:cNvSpPr>
          <p:nvPr/>
        </p:nvSpPr>
        <p:spPr>
          <a:xfrm>
            <a:off x="9239250" y="368617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Feature</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engineering</a:t>
            </a:r>
          </a:p>
        </p:txBody>
      </p:sp>
      <p:cxnSp>
        <p:nvCxnSpPr>
          <p:cNvPr id="34" name="直接箭头连接符 33"/>
          <p:cNvCxnSpPr>
            <a:stCxn id="4" idx="3"/>
            <a:endCxn id="5" idx="1"/>
          </p:cNvCxnSpPr>
          <p:nvPr/>
        </p:nvCxnSpPr>
        <p:spPr>
          <a:xfrm>
            <a:off x="2667000" y="2143125"/>
            <a:ext cx="619125" cy="0"/>
          </a:xfrm>
          <a:prstGeom prst="straightConnector1">
            <a:avLst/>
          </a:prstGeom>
          <a:ln w="19050">
            <a:solidFill>
              <a:srgbClr val="506577"/>
            </a:solidFill>
            <a:tailEnd type="triangle" w="sm" len="sm"/>
          </a:ln>
        </p:spPr>
      </p:cxnSp>
      <p:cxnSp>
        <p:nvCxnSpPr>
          <p:cNvPr id="35" name="直接箭头连接符 34"/>
          <p:cNvCxnSpPr>
            <a:stCxn id="5" idx="3"/>
            <a:endCxn id="6" idx="1"/>
          </p:cNvCxnSpPr>
          <p:nvPr/>
        </p:nvCxnSpPr>
        <p:spPr>
          <a:xfrm>
            <a:off x="5524500" y="2143125"/>
            <a:ext cx="619125" cy="0"/>
          </a:xfrm>
          <a:prstGeom prst="straightConnector1">
            <a:avLst/>
          </a:prstGeom>
          <a:ln w="19050">
            <a:solidFill>
              <a:srgbClr val="506577"/>
            </a:solidFill>
            <a:tailEnd type="triangle" w="sm" len="sm"/>
          </a:ln>
        </p:spPr>
      </p:cxnSp>
      <p:cxnSp>
        <p:nvCxnSpPr>
          <p:cNvPr id="36" name="直接箭头连接符 35"/>
          <p:cNvCxnSpPr>
            <a:stCxn id="6" idx="3"/>
            <a:endCxn id="7" idx="1"/>
          </p:cNvCxnSpPr>
          <p:nvPr/>
        </p:nvCxnSpPr>
        <p:spPr>
          <a:xfrm>
            <a:off x="8572500" y="2143125"/>
            <a:ext cx="666750" cy="0"/>
          </a:xfrm>
          <a:prstGeom prst="straightConnector1">
            <a:avLst/>
          </a:prstGeom>
          <a:ln w="19050">
            <a:solidFill>
              <a:srgbClr val="506577"/>
            </a:solidFill>
            <a:tailEnd type="triangle" w="sm" len="sm"/>
          </a:ln>
        </p:spPr>
      </p:cxnSp>
      <p:cxnSp>
        <p:nvCxnSpPr>
          <p:cNvPr id="37" name="直接箭头连接符 36"/>
          <p:cNvCxnSpPr>
            <a:stCxn id="5" idx="2"/>
            <a:endCxn id="8" idx="0"/>
          </p:cNvCxnSpPr>
          <p:nvPr/>
        </p:nvCxnSpPr>
        <p:spPr>
          <a:xfrm>
            <a:off x="4405313" y="2562225"/>
            <a:ext cx="0" cy="1123950"/>
          </a:xfrm>
          <a:prstGeom prst="straightConnector1">
            <a:avLst/>
          </a:prstGeom>
          <a:ln w="19050">
            <a:solidFill>
              <a:srgbClr val="506577"/>
            </a:solidFill>
            <a:tailEnd type="triangle" w="sm" len="sm"/>
          </a:ln>
        </p:spPr>
      </p:cxnSp>
      <p:cxnSp>
        <p:nvCxnSpPr>
          <p:cNvPr id="38" name="直接箭头连接符 37"/>
          <p:cNvCxnSpPr>
            <a:stCxn id="8" idx="3"/>
            <a:endCxn id="9" idx="1"/>
          </p:cNvCxnSpPr>
          <p:nvPr/>
        </p:nvCxnSpPr>
        <p:spPr>
          <a:xfrm>
            <a:off x="5524500" y="4105275"/>
            <a:ext cx="619125" cy="0"/>
          </a:xfrm>
          <a:prstGeom prst="straightConnector1">
            <a:avLst/>
          </a:prstGeom>
          <a:ln w="19050">
            <a:solidFill>
              <a:srgbClr val="506577"/>
            </a:solidFill>
            <a:tailEnd type="triangle" w="sm" len="sm"/>
          </a:ln>
        </p:spPr>
      </p:cxnSp>
      <p:cxnSp>
        <p:nvCxnSpPr>
          <p:cNvPr id="39" name="直接箭头连接符 38"/>
          <p:cNvCxnSpPr>
            <a:stCxn id="9" idx="3"/>
            <a:endCxn id="10" idx="1"/>
          </p:cNvCxnSpPr>
          <p:nvPr/>
        </p:nvCxnSpPr>
        <p:spPr>
          <a:xfrm>
            <a:off x="8572500" y="4105275"/>
            <a:ext cx="666750" cy="0"/>
          </a:xfrm>
          <a:prstGeom prst="straightConnector1">
            <a:avLst/>
          </a:prstGeom>
          <a:ln w="19050">
            <a:solidFill>
              <a:srgbClr val="506577"/>
            </a:solidFill>
            <a:tailEnd type="triangle" w="sm" len="sm"/>
          </a:ln>
        </p:spPr>
      </p:cxnSp>
      <p:cxnSp>
        <p:nvCxnSpPr>
          <p:cNvPr id="40" name="直接箭头连接符 39"/>
          <p:cNvCxnSpPr>
            <a:stCxn id="10" idx="0"/>
            <a:endCxn id="7" idx="2"/>
          </p:cNvCxnSpPr>
          <p:nvPr/>
        </p:nvCxnSpPr>
        <p:spPr>
          <a:xfrm flipV="1">
            <a:off x="10429875" y="2562225"/>
            <a:ext cx="0" cy="1123950"/>
          </a:xfrm>
          <a:prstGeom prst="straightConnector1">
            <a:avLst/>
          </a:prstGeom>
          <a:ln w="19050">
            <a:solidFill>
              <a:srgbClr val="506577"/>
            </a:solidFill>
            <a:tailEnd type="triangle" w="sm" len="sm"/>
          </a:ln>
        </p:spPr>
      </p:cxnSp>
      <p:sp>
        <p:nvSpPr>
          <p:cNvPr id="18" name="text-119"/>
          <p:cNvSpPr>
            <a:spLocks noGrp="1"/>
          </p:cNvSpPr>
          <p:nvPr/>
        </p:nvSpPr>
        <p:spPr>
          <a:xfrm>
            <a:off x="6191250" y="1371600"/>
            <a:ext cx="2543175" cy="266700"/>
          </a:xfrm>
          <a:prstGeom prst="rect">
            <a:avLst/>
          </a:prstGeom>
          <a:noFill/>
          <a:ln w="0">
            <a:noFill/>
          </a:ln>
        </p:spPr>
        <p:txBody>
          <a:bodyPr wrap="square" lIns="0" tIns="0" rIns="0" bIns="0" anchor="t">
            <a:noAutofit/>
          </a:bodyPr>
          <a:lstStyle/>
          <a:p>
            <a:pPr algn="l">
              <a:defRPr sz="1575" b="1">
                <a:solidFill>
                  <a:srgbClr val="506577"/>
                </a:solidFill>
                <a:latin typeface="DejaVu Sans" panose="020B0603030804020204"/>
                <a:ea typeface="DejaVu Sans" panose="020B0603030804020204"/>
                <a:cs typeface="DejaVu Sans" panose="020B0603030804020204"/>
              </a:defRPr>
            </a:pPr>
            <a:r>
              <a:rPr sz="1575" b="1">
                <a:solidFill>
                  <a:srgbClr val="506577"/>
                </a:solidFill>
                <a:latin typeface="DejaVu Sans" panose="020B0603030804020204"/>
                <a:ea typeface="DejaVu Sans" panose="020B0603030804020204"/>
                <a:cs typeface="DejaVu Sans" panose="020B0603030804020204"/>
              </a:rPr>
              <a:t>Waveform branch</a:t>
            </a:r>
          </a:p>
        </p:txBody>
      </p:sp>
      <p:sp>
        <p:nvSpPr>
          <p:cNvPr id="19" name="text-120"/>
          <p:cNvSpPr>
            <a:spLocks noGrp="1"/>
          </p:cNvSpPr>
          <p:nvPr/>
        </p:nvSpPr>
        <p:spPr>
          <a:xfrm>
            <a:off x="9277350" y="1371600"/>
            <a:ext cx="2343150" cy="266700"/>
          </a:xfrm>
          <a:prstGeom prst="rect">
            <a:avLst/>
          </a:prstGeom>
          <a:noFill/>
          <a:ln w="0">
            <a:noFill/>
          </a:ln>
        </p:spPr>
        <p:txBody>
          <a:bodyPr wrap="square" lIns="0" tIns="0" rIns="0" bIns="0" anchor="t">
            <a:noAutofit/>
          </a:bodyPr>
          <a:lstStyle/>
          <a:p>
            <a:pPr algn="ctr">
              <a:defRPr sz="1425" b="1">
                <a:solidFill>
                  <a:srgbClr val="506577"/>
                </a:solidFill>
                <a:latin typeface="DejaVu Sans" panose="020B0603030804020204"/>
                <a:ea typeface="DejaVu Sans" panose="020B0603030804020204"/>
                <a:cs typeface="DejaVu Sans" panose="020B0603030804020204"/>
              </a:defRPr>
            </a:pPr>
            <a:r>
              <a:rPr sz="1425" b="1">
                <a:solidFill>
                  <a:srgbClr val="506577"/>
                </a:solidFill>
                <a:latin typeface="DejaVu Sans" panose="020B0603030804020204"/>
                <a:ea typeface="DejaVu Sans" panose="020B0603030804020204"/>
                <a:cs typeface="DejaVu Sans" panose="020B0603030804020204"/>
              </a:rPr>
              <a:t>Alternative inputs</a:t>
            </a:r>
          </a:p>
        </p:txBody>
      </p:sp>
      <p:sp>
        <p:nvSpPr>
          <p:cNvPr id="20" name="text-121"/>
          <p:cNvSpPr>
            <a:spLocks noGrp="1"/>
          </p:cNvSpPr>
          <p:nvPr/>
        </p:nvSpPr>
        <p:spPr>
          <a:xfrm>
            <a:off x="571500" y="3781425"/>
            <a:ext cx="2190750" cy="742950"/>
          </a:xfrm>
          <a:prstGeom prst="rect">
            <a:avLst/>
          </a:prstGeom>
          <a:noFill/>
          <a:ln w="0">
            <a:noFill/>
          </a:ln>
        </p:spPr>
        <p:txBody>
          <a:bodyPr wrap="square" lIns="0" tIns="0" rIns="0" bIns="0" anchor="t">
            <a:noAutofit/>
          </a:bodyPr>
          <a:lstStyle/>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Physiological</a:t>
            </a:r>
          </a:p>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analysis branch</a:t>
            </a:r>
          </a:p>
        </p:txBody>
      </p:sp>
      <p:sp>
        <p:nvSpPr>
          <p:cNvPr id="21" name="text-122"/>
          <p:cNvSpPr>
            <a:spLocks noGrp="1"/>
          </p:cNvSpPr>
          <p:nvPr/>
        </p:nvSpPr>
        <p:spPr>
          <a:xfrm>
            <a:off x="3390900" y="4610100"/>
            <a:ext cx="2257425"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Optional / identity</a:t>
            </a:r>
          </a:p>
        </p:txBody>
      </p:sp>
      <p:sp>
        <p:nvSpPr>
          <p:cNvPr id="22" name="text-123"/>
          <p:cNvSpPr>
            <a:spLocks noGrp="1"/>
          </p:cNvSpPr>
          <p:nvPr/>
        </p:nvSpPr>
        <p:spPr>
          <a:xfrm>
            <a:off x="9210675" y="4610100"/>
            <a:ext cx="2438400" cy="476250"/>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Shape / baseline use original optical data</a:t>
            </a:r>
          </a:p>
        </p:txBody>
      </p:sp>
      <p:sp>
        <p:nvSpPr>
          <p:cNvPr id="23" name="text-124"/>
          <p:cNvSpPr>
            <a:spLocks noGrp="1"/>
          </p:cNvSpPr>
          <p:nvPr/>
        </p:nvSpPr>
        <p:spPr>
          <a:xfrm>
            <a:off x="571500" y="5391150"/>
            <a:ext cx="11049000" cy="7048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Preserve the timing, amplitude and movement information needed by the next stages.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37"/>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PPG preprocessing</a:t>
            </a:r>
          </a:p>
        </p:txBody>
      </p:sp>
      <p:sp>
        <p:nvSpPr>
          <p:cNvPr id="2" name="text-38"/>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FILTERING</a:t>
            </a:r>
          </a:p>
        </p:txBody>
      </p:sp>
      <p:sp>
        <p:nvSpPr>
          <p:cNvPr id="3" name="text-39"/>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07</a:t>
            </a:r>
          </a:p>
        </p:txBody>
      </p:sp>
      <p:pic>
        <p:nvPicPr>
          <p:cNvPr id="14" name="图片 13"/>
          <p:cNvPicPr>
            <a:picLocks noChangeAspect="1"/>
          </p:cNvPicPr>
          <p:nvPr/>
        </p:nvPicPr>
        <p:blipFill>
          <a:blip r:embed="rId3"/>
          <a:stretch>
            <a:fillRect/>
          </a:stretch>
        </p:blipFill>
        <p:spPr>
          <a:xfrm>
            <a:off x="997212" y="1362075"/>
            <a:ext cx="7235301" cy="2286000"/>
          </a:xfrm>
          <a:prstGeom prst="rect">
            <a:avLst/>
          </a:prstGeom>
        </p:spPr>
      </p:pic>
      <p:pic>
        <p:nvPicPr>
          <p:cNvPr id="15" name="图片 14"/>
          <p:cNvPicPr>
            <a:picLocks noChangeAspect="1"/>
          </p:cNvPicPr>
          <p:nvPr/>
        </p:nvPicPr>
        <p:blipFill>
          <a:blip r:embed="rId4"/>
          <a:stretch>
            <a:fillRect/>
          </a:stretch>
        </p:blipFill>
        <p:spPr>
          <a:xfrm>
            <a:off x="864075" y="3743325"/>
            <a:ext cx="7501575" cy="2133600"/>
          </a:xfrm>
          <a:prstGeom prst="rect">
            <a:avLst/>
          </a:prstGeom>
        </p:spPr>
      </p:pic>
      <p:sp>
        <p:nvSpPr>
          <p:cNvPr id="6" name="text-40"/>
          <p:cNvSpPr>
            <a:spLocks noGrp="1"/>
          </p:cNvSpPr>
          <p:nvPr/>
        </p:nvSpPr>
        <p:spPr>
          <a:xfrm>
            <a:off x="9124950" y="1504950"/>
            <a:ext cx="2419350" cy="381000"/>
          </a:xfrm>
          <a:prstGeom prst="rect">
            <a:avLst/>
          </a:prstGeom>
          <a:noFill/>
          <a:ln w="0">
            <a:noFill/>
          </a:ln>
        </p:spPr>
        <p:txBody>
          <a:bodyPr wrap="square" lIns="0" tIns="0" rIns="0" bIns="0" anchor="t">
            <a:noAutofit/>
          </a:bodyPr>
          <a:lstStyle/>
          <a:p>
            <a:pPr algn="l">
              <a:defRPr sz="2175" b="1">
                <a:solidFill>
                  <a:srgbClr val="152C3F"/>
                </a:solidFill>
                <a:latin typeface="DejaVu Sans" panose="020B0603030804020204"/>
                <a:ea typeface="DejaVu Sans" panose="020B0603030804020204"/>
                <a:cs typeface="DejaVu Sans" panose="020B0603030804020204"/>
              </a:defRPr>
            </a:pPr>
            <a:r>
              <a:rPr sz="2175" b="1">
                <a:solidFill>
                  <a:srgbClr val="152C3F"/>
                </a:solidFill>
                <a:latin typeface="DejaVu Sans" panose="020B0603030804020204"/>
                <a:ea typeface="DejaVu Sans" panose="020B0603030804020204"/>
                <a:cs typeface="DejaVu Sans" panose="020B0603030804020204"/>
              </a:rPr>
              <a:t>Raw RED</a:t>
            </a:r>
          </a:p>
        </p:txBody>
      </p:sp>
      <p:sp>
        <p:nvSpPr>
          <p:cNvPr id="7" name="text-41"/>
          <p:cNvSpPr>
            <a:spLocks noGrp="1"/>
          </p:cNvSpPr>
          <p:nvPr/>
        </p:nvSpPr>
        <p:spPr>
          <a:xfrm>
            <a:off x="9124950" y="1962150"/>
            <a:ext cx="2333625" cy="93345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Short internal gaps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 100 samples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Linear interpolation</a:t>
            </a:r>
          </a:p>
        </p:txBody>
      </p:sp>
      <p:sp>
        <p:nvSpPr>
          <p:cNvPr id="8" name="text-42"/>
          <p:cNvSpPr>
            <a:spLocks noGrp="1"/>
          </p:cNvSpPr>
          <p:nvPr/>
        </p:nvSpPr>
        <p:spPr>
          <a:xfrm>
            <a:off x="9124950" y="3771900"/>
            <a:ext cx="2409825" cy="381000"/>
          </a:xfrm>
          <a:prstGeom prst="rect">
            <a:avLst/>
          </a:prstGeom>
          <a:noFill/>
          <a:ln w="0">
            <a:noFill/>
          </a:ln>
        </p:spPr>
        <p:txBody>
          <a:bodyPr wrap="square" lIns="0" tIns="0" rIns="0" bIns="0" anchor="t">
            <a:noAutofit/>
          </a:bodyPr>
          <a:lstStyle/>
          <a:p>
            <a:pPr algn="l">
              <a:defRPr sz="2175" b="1">
                <a:solidFill>
                  <a:srgbClr val="087E8B"/>
                </a:solidFill>
                <a:latin typeface="DejaVu Sans" panose="020B0603030804020204"/>
                <a:ea typeface="DejaVu Sans" panose="020B0603030804020204"/>
                <a:cs typeface="DejaVu Sans" panose="020B0603030804020204"/>
              </a:defRPr>
            </a:pPr>
            <a:r>
              <a:rPr sz="2175" b="1">
                <a:solidFill>
                  <a:srgbClr val="087E8B"/>
                </a:solidFill>
                <a:latin typeface="DejaVu Sans" panose="020B0603030804020204"/>
                <a:ea typeface="DejaVu Sans" panose="020B0603030804020204"/>
                <a:cs typeface="DejaVu Sans" panose="020B0603030804020204"/>
              </a:rPr>
              <a:t>Filtered RED</a:t>
            </a:r>
          </a:p>
        </p:txBody>
      </p:sp>
      <p:sp>
        <p:nvSpPr>
          <p:cNvPr id="9" name="text-43"/>
          <p:cNvSpPr>
            <a:spLocks noGrp="1"/>
          </p:cNvSpPr>
          <p:nvPr/>
        </p:nvSpPr>
        <p:spPr>
          <a:xfrm>
            <a:off x="9124950" y="4229100"/>
            <a:ext cx="2476500" cy="1295400"/>
          </a:xfrm>
          <a:prstGeom prst="rect">
            <a:avLst/>
          </a:prstGeom>
          <a:noFill/>
          <a:ln w="0">
            <a:noFill/>
          </a:ln>
        </p:spPr>
        <p:txBody>
          <a:bodyPr wrap="square" lIns="0" tIns="0" rIns="0" bIns="0" anchor="t">
            <a:noAutofit/>
          </a:bodyPr>
          <a:lstStyle/>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Linear detrend</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Butterworth 0.2–8 Hz</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Prototype order 3</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Zero phase</a:t>
            </a:r>
          </a:p>
        </p:txBody>
      </p:sp>
      <p:sp>
        <p:nvSpPr>
          <p:cNvPr id="10" name="text-44"/>
          <p:cNvSpPr>
            <a:spLocks noGrp="1"/>
          </p:cNvSpPr>
          <p:nvPr/>
        </p:nvSpPr>
        <p:spPr>
          <a:xfrm>
            <a:off x="571500" y="6019800"/>
            <a:ext cx="10477500"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Thesis examples: raw and filtered RED signals, shown at their respective scales.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xt-4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IMU preprocessing and gravity handling</a:t>
            </a:r>
          </a:p>
        </p:txBody>
      </p:sp>
      <p:sp>
        <p:nvSpPr>
          <p:cNvPr id="2" name="text-4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PREPROCESSING</a:t>
            </a:r>
          </a:p>
        </p:txBody>
      </p:sp>
      <p:sp>
        <p:nvSpPr>
          <p:cNvPr id="3" name="text-4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08</a:t>
            </a:r>
          </a:p>
        </p:txBody>
      </p:sp>
      <p:sp>
        <p:nvSpPr>
          <p:cNvPr id="4" name="workflow-48"/>
          <p:cNvSpPr>
            <a:spLocks noGrp="1"/>
          </p:cNvSpPr>
          <p:nvPr/>
        </p:nvSpPr>
        <p:spPr>
          <a:xfrm>
            <a:off x="571500" y="1619250"/>
            <a:ext cx="2095500" cy="8572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Accelerometer</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3 axes</a:t>
            </a:r>
          </a:p>
        </p:txBody>
      </p:sp>
      <p:sp>
        <p:nvSpPr>
          <p:cNvPr id="5" name="workflow-49"/>
          <p:cNvSpPr>
            <a:spLocks noGrp="1"/>
          </p:cNvSpPr>
          <p:nvPr/>
        </p:nvSpPr>
        <p:spPr>
          <a:xfrm>
            <a:off x="3429000" y="1619250"/>
            <a:ext cx="2286000" cy="8572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Low-pass</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20 Hz</a:t>
            </a:r>
          </a:p>
        </p:txBody>
      </p:sp>
      <p:sp>
        <p:nvSpPr>
          <p:cNvPr id="6" name="workflow-50"/>
          <p:cNvSpPr>
            <a:spLocks noGrp="1"/>
          </p:cNvSpPr>
          <p:nvPr/>
        </p:nvSpPr>
        <p:spPr>
          <a:xfrm>
            <a:off x="7000875" y="1619250"/>
            <a:ext cx="3905250" cy="8572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Filtered acceleration</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before gravity separation</a:t>
            </a:r>
          </a:p>
        </p:txBody>
      </p:sp>
      <p:cxnSp>
        <p:nvCxnSpPr>
          <p:cNvPr id="25" name="直接箭头连接符 24"/>
          <p:cNvCxnSpPr>
            <a:stCxn id="4" idx="3"/>
            <a:endCxn id="5" idx="1"/>
          </p:cNvCxnSpPr>
          <p:nvPr/>
        </p:nvCxnSpPr>
        <p:spPr>
          <a:xfrm>
            <a:off x="2667000" y="2047875"/>
            <a:ext cx="762000" cy="0"/>
          </a:xfrm>
          <a:prstGeom prst="straightConnector1">
            <a:avLst/>
          </a:prstGeom>
          <a:ln w="19050">
            <a:solidFill>
              <a:srgbClr val="506577"/>
            </a:solidFill>
            <a:tailEnd type="triangle" w="sm" len="sm"/>
          </a:ln>
        </p:spPr>
      </p:cxnSp>
      <p:cxnSp>
        <p:nvCxnSpPr>
          <p:cNvPr id="26" name="直接箭头连接符 25"/>
          <p:cNvCxnSpPr>
            <a:stCxn id="5" idx="3"/>
            <a:endCxn id="6" idx="1"/>
          </p:cNvCxnSpPr>
          <p:nvPr/>
        </p:nvCxnSpPr>
        <p:spPr>
          <a:xfrm>
            <a:off x="5715000" y="2047875"/>
            <a:ext cx="1285875" cy="0"/>
          </a:xfrm>
          <a:prstGeom prst="straightConnector1">
            <a:avLst/>
          </a:prstGeom>
          <a:ln w="19050">
            <a:solidFill>
              <a:srgbClr val="506577"/>
            </a:solidFill>
            <a:tailEnd type="triangle" w="sm" len="sm"/>
          </a:ln>
        </p:spPr>
      </p:cxnSp>
      <p:sp>
        <p:nvSpPr>
          <p:cNvPr id="9" name="workflow-51"/>
          <p:cNvSpPr>
            <a:spLocks noGrp="1"/>
          </p:cNvSpPr>
          <p:nvPr/>
        </p:nvSpPr>
        <p:spPr>
          <a:xfrm>
            <a:off x="571500" y="3048000"/>
            <a:ext cx="2095500" cy="8572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Gyroscope</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3 axes</a:t>
            </a:r>
          </a:p>
        </p:txBody>
      </p:sp>
      <p:sp>
        <p:nvSpPr>
          <p:cNvPr id="10" name="workflow-52"/>
          <p:cNvSpPr>
            <a:spLocks noGrp="1"/>
          </p:cNvSpPr>
          <p:nvPr/>
        </p:nvSpPr>
        <p:spPr>
          <a:xfrm>
            <a:off x="3429000" y="3048000"/>
            <a:ext cx="2286000" cy="8572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Low-pass</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40 Hz</a:t>
            </a:r>
          </a:p>
        </p:txBody>
      </p:sp>
      <p:sp>
        <p:nvSpPr>
          <p:cNvPr id="11" name="workflow-53"/>
          <p:cNvSpPr>
            <a:spLocks noGrp="1"/>
          </p:cNvSpPr>
          <p:nvPr/>
        </p:nvSpPr>
        <p:spPr>
          <a:xfrm>
            <a:off x="7000875" y="3048000"/>
            <a:ext cx="3905250" cy="8572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Filtered angular velocity</a:t>
            </a:r>
          </a:p>
        </p:txBody>
      </p:sp>
      <p:cxnSp>
        <p:nvCxnSpPr>
          <p:cNvPr id="30" name="直接箭头连接符 29"/>
          <p:cNvCxnSpPr>
            <a:stCxn id="9" idx="3"/>
            <a:endCxn id="10" idx="1"/>
          </p:cNvCxnSpPr>
          <p:nvPr/>
        </p:nvCxnSpPr>
        <p:spPr>
          <a:xfrm>
            <a:off x="2667000" y="3476625"/>
            <a:ext cx="762000" cy="0"/>
          </a:xfrm>
          <a:prstGeom prst="straightConnector1">
            <a:avLst/>
          </a:prstGeom>
          <a:ln w="19050">
            <a:solidFill>
              <a:srgbClr val="506577"/>
            </a:solidFill>
            <a:tailEnd type="triangle" w="sm" len="sm"/>
          </a:ln>
        </p:spPr>
      </p:cxnSp>
      <p:cxnSp>
        <p:nvCxnSpPr>
          <p:cNvPr id="31" name="直接箭头连接符 30"/>
          <p:cNvCxnSpPr>
            <a:stCxn id="10" idx="3"/>
            <a:endCxn id="11" idx="1"/>
          </p:cNvCxnSpPr>
          <p:nvPr/>
        </p:nvCxnSpPr>
        <p:spPr>
          <a:xfrm>
            <a:off x="5715000" y="3476625"/>
            <a:ext cx="1285875" cy="0"/>
          </a:xfrm>
          <a:prstGeom prst="straightConnector1">
            <a:avLst/>
          </a:prstGeom>
          <a:ln w="19050">
            <a:solidFill>
              <a:srgbClr val="506577"/>
            </a:solidFill>
            <a:tailEnd type="triangle" w="sm" len="sm"/>
          </a:ln>
        </p:spPr>
      </p:cxnSp>
      <p:sp>
        <p:nvSpPr>
          <p:cNvPr id="15" name="text-55"/>
          <p:cNvSpPr>
            <a:spLocks noGrp="1"/>
          </p:cNvSpPr>
          <p:nvPr/>
        </p:nvSpPr>
        <p:spPr>
          <a:xfrm>
            <a:off x="571500" y="4143375"/>
            <a:ext cx="11049000" cy="314325"/>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Main profile: acceleration in g; angular velocity in degrees per second (°/s).</a:t>
            </a:r>
          </a:p>
        </p:txBody>
      </p:sp>
      <p:sp>
        <p:nvSpPr>
          <p:cNvPr id="16" name="text-56"/>
          <p:cNvSpPr>
            <a:spLocks noGrp="1"/>
          </p:cNvSpPr>
          <p:nvPr/>
        </p:nvSpPr>
        <p:spPr>
          <a:xfrm>
            <a:off x="571500" y="4648200"/>
            <a:ext cx="10668000" cy="352425"/>
          </a:xfrm>
          <a:prstGeom prst="rect">
            <a:avLst/>
          </a:prstGeom>
          <a:noFill/>
          <a:ln w="0">
            <a:noFill/>
          </a:ln>
        </p:spPr>
        <p:txBody>
          <a:bodyPr wrap="square" lIns="0" tIns="0" rIns="0" bIns="0" anchor="t">
            <a:noAutofit/>
          </a:bodyPr>
          <a:lstStyle/>
          <a:p>
            <a:pPr algn="l">
              <a:defRPr sz="2100" b="1">
                <a:solidFill>
                  <a:srgbClr val="B96D20"/>
                </a:solidFill>
                <a:latin typeface="DejaVu Sans" panose="020B0603030804020204"/>
                <a:ea typeface="DejaVu Sans" panose="020B0603030804020204"/>
                <a:cs typeface="DejaVu Sans" panose="020B0603030804020204"/>
              </a:defRPr>
            </a:pPr>
            <a:r>
              <a:rPr sz="2100" b="1">
                <a:solidFill>
                  <a:srgbClr val="B96D20"/>
                </a:solidFill>
                <a:latin typeface="DejaVu Sans" panose="020B0603030804020204"/>
                <a:ea typeface="DejaVu Sans" panose="020B0603030804020204"/>
                <a:cs typeface="DejaVu Sans" panose="020B0603030804020204"/>
              </a:rPr>
              <a:t>Profile A: low-pass filter (LPF) gravity separation</a:t>
            </a:r>
          </a:p>
        </p:txBody>
      </p:sp>
      <p:sp>
        <p:nvSpPr>
          <p:cNvPr id="17" name="text-57"/>
          <p:cNvSpPr>
            <a:spLocks noGrp="1"/>
          </p:cNvSpPr>
          <p:nvPr/>
        </p:nvSpPr>
        <p:spPr>
          <a:xfrm>
            <a:off x="619125" y="5143500"/>
            <a:ext cx="10858500" cy="504825"/>
          </a:xfrm>
          <a:prstGeom prst="rect">
            <a:avLst/>
          </a:prstGeom>
          <a:noFill/>
          <a:ln w="0">
            <a:noFill/>
          </a:ln>
        </p:spPr>
        <p:txBody>
          <a:bodyPr wrap="square" lIns="0" tIns="0" rIns="0" bIns="0" anchor="t">
            <a:noAutofit/>
          </a:bodyPr>
          <a:lstStyle/>
          <a:p>
            <a:pPr algn="l">
              <a:defRPr sz="2175" b="0">
                <a:solidFill>
                  <a:srgbClr val="152C3F"/>
                </a:solidFill>
                <a:latin typeface="DejaVu Sans" panose="020B0603030804020204"/>
                <a:ea typeface="DejaVu Sans" panose="020B0603030804020204"/>
                <a:cs typeface="DejaVu Sans" panose="020B0603030804020204"/>
              </a:defRPr>
            </a:pPr>
            <a:r>
              <a:rPr sz="2175" b="0">
                <a:solidFill>
                  <a:srgbClr val="152C3F"/>
                </a:solidFill>
                <a:latin typeface="DejaVu Sans" panose="020B0603030804020204"/>
                <a:ea typeface="DejaVu Sans" panose="020B0603030804020204"/>
                <a:cs typeface="DejaVu Sans" panose="020B0603030804020204"/>
              </a:rPr>
              <a:t>ĝ = LPF₀.₃Hz(a)        a_dynamic = a − ĝ</a:t>
            </a:r>
          </a:p>
        </p:txBody>
      </p:sp>
      <p:sp>
        <p:nvSpPr>
          <p:cNvPr id="18" name="text-58"/>
          <p:cNvSpPr>
            <a:spLocks noGrp="1"/>
          </p:cNvSpPr>
          <p:nvPr/>
        </p:nvSpPr>
        <p:spPr>
          <a:xfrm>
            <a:off x="571500" y="5829300"/>
            <a:ext cx="10953750" cy="457200"/>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Sensor low-pass filters: order 3. Profile A gravity estimate: 0.3 Hz, order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text-1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Roll–pitch orientation and gravity separation</a:t>
            </a:r>
          </a:p>
        </p:txBody>
      </p:sp>
      <p:sp>
        <p:nvSpPr>
          <p:cNvPr id="2" name="text-1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IMU PREPROCESSING</a:t>
            </a:r>
          </a:p>
        </p:txBody>
      </p:sp>
      <p:sp>
        <p:nvSpPr>
          <p:cNvPr id="3" name="text-1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09</a:t>
            </a:r>
          </a:p>
        </p:txBody>
      </p:sp>
      <p:sp>
        <p:nvSpPr>
          <p:cNvPr id="4" name="text-16"/>
          <p:cNvSpPr>
            <a:spLocks noGrp="1"/>
          </p:cNvSpPr>
          <p:nvPr/>
        </p:nvSpPr>
        <p:spPr>
          <a:xfrm>
            <a:off x="571500" y="1381125"/>
            <a:ext cx="11049000" cy="371475"/>
          </a:xfrm>
          <a:prstGeom prst="rect">
            <a:avLst/>
          </a:prstGeom>
          <a:noFill/>
          <a:ln w="0">
            <a:noFill/>
          </a:ln>
        </p:spPr>
        <p:txBody>
          <a:bodyPr wrap="square" lIns="0" tIns="0" rIns="0" bIns="0" anchor="t">
            <a:noAutofit/>
          </a:bodyPr>
          <a:lstStyle/>
          <a:p>
            <a:pPr algn="l">
              <a:defRPr sz="1800" b="0">
                <a:solidFill>
                  <a:srgbClr val="506577"/>
                </a:solidFill>
                <a:latin typeface="DejaVu Sans" panose="020B0603030804020204"/>
                <a:ea typeface="DejaVu Sans" panose="020B0603030804020204"/>
                <a:cs typeface="DejaVu Sans" panose="020B0603030804020204"/>
              </a:defRPr>
            </a:pPr>
            <a:r>
              <a:rPr sz="1800" b="0">
                <a:solidFill>
                  <a:srgbClr val="506577"/>
                </a:solidFill>
                <a:latin typeface="DejaVu Sans" panose="020B0603030804020204"/>
                <a:ea typeface="DejaVu Sans" panose="020B0603030804020204"/>
                <a:cs typeface="DejaVu Sans" panose="020B0603030804020204"/>
              </a:rPr>
              <a:t>Profile B: calibrated extended Kalman filter (EKF) with unit conversion</a:t>
            </a:r>
          </a:p>
        </p:txBody>
      </p:sp>
      <p:sp>
        <p:nvSpPr>
          <p:cNvPr id="5" name="workflow-17"/>
          <p:cNvSpPr>
            <a:spLocks noGrp="1"/>
          </p:cNvSpPr>
          <p:nvPr/>
        </p:nvSpPr>
        <p:spPr>
          <a:xfrm>
            <a:off x="571500" y="2095500"/>
            <a:ext cx="2000250" cy="78105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Gyroscope</a:t>
            </a:r>
          </a:p>
        </p:txBody>
      </p:sp>
      <p:sp>
        <p:nvSpPr>
          <p:cNvPr id="6" name="workflow-18"/>
          <p:cNvSpPr>
            <a:spLocks noGrp="1"/>
          </p:cNvSpPr>
          <p:nvPr/>
        </p:nvSpPr>
        <p:spPr>
          <a:xfrm>
            <a:off x="3095625" y="2095500"/>
            <a:ext cx="2476500" cy="78105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Predict roll and pitch</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and gyro bias</a:t>
            </a:r>
          </a:p>
        </p:txBody>
      </p:sp>
      <p:sp>
        <p:nvSpPr>
          <p:cNvPr id="7" name="workflow-19"/>
          <p:cNvSpPr>
            <a:spLocks noGrp="1"/>
          </p:cNvSpPr>
          <p:nvPr/>
        </p:nvSpPr>
        <p:spPr>
          <a:xfrm>
            <a:off x="571500" y="3981450"/>
            <a:ext cx="2000250" cy="78105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Accelerometer</a:t>
            </a:r>
          </a:p>
        </p:txBody>
      </p:sp>
      <p:sp>
        <p:nvSpPr>
          <p:cNvPr id="8" name="workflow-20"/>
          <p:cNvSpPr>
            <a:spLocks noGrp="1"/>
          </p:cNvSpPr>
          <p:nvPr/>
        </p:nvSpPr>
        <p:spPr>
          <a:xfrm>
            <a:off x="3095625" y="3981450"/>
            <a:ext cx="2476500" cy="78105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Observe roll, pitch</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Adapt weight R</a:t>
            </a:r>
          </a:p>
        </p:txBody>
      </p:sp>
      <p:cxnSp>
        <p:nvCxnSpPr>
          <p:cNvPr id="37" name="直接箭头连接符 36"/>
          <p:cNvCxnSpPr>
            <a:stCxn id="5" idx="3"/>
            <a:endCxn id="6" idx="1"/>
          </p:cNvCxnSpPr>
          <p:nvPr/>
        </p:nvCxnSpPr>
        <p:spPr>
          <a:xfrm>
            <a:off x="2571750" y="2486025"/>
            <a:ext cx="523875" cy="0"/>
          </a:xfrm>
          <a:prstGeom prst="straightConnector1">
            <a:avLst/>
          </a:prstGeom>
          <a:ln w="19050">
            <a:solidFill>
              <a:srgbClr val="506577"/>
            </a:solidFill>
            <a:tailEnd type="triangle" w="sm" len="sm"/>
          </a:ln>
        </p:spPr>
      </p:cxnSp>
      <p:cxnSp>
        <p:nvCxnSpPr>
          <p:cNvPr id="38" name="直接箭头连接符 37"/>
          <p:cNvCxnSpPr>
            <a:stCxn id="7" idx="3"/>
            <a:endCxn id="8" idx="1"/>
          </p:cNvCxnSpPr>
          <p:nvPr/>
        </p:nvCxnSpPr>
        <p:spPr>
          <a:xfrm>
            <a:off x="2571750" y="4371975"/>
            <a:ext cx="523875" cy="0"/>
          </a:xfrm>
          <a:prstGeom prst="straightConnector1">
            <a:avLst/>
          </a:prstGeom>
          <a:ln w="19050">
            <a:solidFill>
              <a:srgbClr val="506577"/>
            </a:solidFill>
            <a:tailEnd type="triangle" w="sm" len="sm"/>
          </a:ln>
        </p:spPr>
      </p:cxnSp>
      <p:sp>
        <p:nvSpPr>
          <p:cNvPr id="11" name="workflow-21"/>
          <p:cNvSpPr>
            <a:spLocks noGrp="1"/>
          </p:cNvSpPr>
          <p:nvPr/>
        </p:nvSpPr>
        <p:spPr>
          <a:xfrm>
            <a:off x="6457950" y="3038475"/>
            <a:ext cx="2228850" cy="819150"/>
          </a:xfrm>
          <a:prstGeom prst="rect">
            <a:avLst/>
          </a:prstGeom>
          <a:solidFill>
            <a:srgbClr val="F2EFF7"/>
          </a:solidFill>
          <a:ln w="16193">
            <a:solidFill>
              <a:srgbClr val="7056A8"/>
            </a:solidFill>
          </a:ln>
        </p:spPr>
        <p:txBody>
          <a:bodyPr lIns="95250" tIns="76200" rIns="95250" bIns="76200" anchor="ctr">
            <a:noAutofit/>
          </a:bodyPr>
          <a:lstStyle/>
          <a:p>
            <a:pPr algn="ctr">
              <a:defRPr sz="1725">
                <a:solidFill>
                  <a:srgbClr val="7056A8"/>
                </a:solidFill>
                <a:latin typeface="DejaVu Sans" panose="020B0603030804020204"/>
                <a:ea typeface="DejaVu Sans" panose="020B0603030804020204"/>
                <a:cs typeface="DejaVu Sans" panose="020B0603030804020204"/>
              </a:defRPr>
            </a:pPr>
            <a:r>
              <a:rPr sz="1725">
                <a:solidFill>
                  <a:srgbClr val="7056A8"/>
                </a:solidFill>
                <a:latin typeface="DejaVu Sans" panose="020B0603030804020204"/>
                <a:ea typeface="DejaVu Sans" panose="020B0603030804020204"/>
                <a:cs typeface="DejaVu Sans" panose="020B0603030804020204"/>
              </a:rPr>
              <a:t>EKF correction</a:t>
            </a:r>
          </a:p>
          <a:p>
            <a:pPr algn="ctr">
              <a:defRPr sz="1725">
                <a:solidFill>
                  <a:srgbClr val="7056A8"/>
                </a:solidFill>
                <a:latin typeface="DejaVu Sans" panose="020B0603030804020204"/>
                <a:ea typeface="DejaVu Sans" panose="020B0603030804020204"/>
                <a:cs typeface="DejaVu Sans" panose="020B0603030804020204"/>
              </a:defRPr>
            </a:pPr>
            <a:r>
              <a:rPr sz="1725">
                <a:solidFill>
                  <a:srgbClr val="7056A8"/>
                </a:solidFill>
                <a:latin typeface="DejaVu Sans" panose="020B0603030804020204"/>
                <a:ea typeface="DejaVu Sans" panose="020B0603030804020204"/>
                <a:cs typeface="DejaVu Sans" panose="020B0603030804020204"/>
              </a:rPr>
              <a:t>roll φ, pitch θ</a:t>
            </a:r>
          </a:p>
        </p:txBody>
      </p:sp>
      <p:cxnSp>
        <p:nvCxnSpPr>
          <p:cNvPr id="40" name="肘形连接符 39"/>
          <p:cNvCxnSpPr>
            <a:stCxn id="6" idx="3"/>
            <a:endCxn id="11" idx="1"/>
          </p:cNvCxnSpPr>
          <p:nvPr/>
        </p:nvCxnSpPr>
        <p:spPr>
          <a:xfrm>
            <a:off x="5572125" y="2486025"/>
            <a:ext cx="885825" cy="962025"/>
          </a:xfrm>
          <a:prstGeom prst="bentConnector3">
            <a:avLst>
              <a:gd name="adj1" fmla="val 50000"/>
            </a:avLst>
          </a:prstGeom>
          <a:ln w="19050">
            <a:solidFill>
              <a:srgbClr val="506577"/>
            </a:solidFill>
            <a:tailEnd type="triangle" w="sm" len="sm"/>
          </a:ln>
        </p:spPr>
      </p:cxnSp>
      <p:cxnSp>
        <p:nvCxnSpPr>
          <p:cNvPr id="41" name="肘形连接符 40"/>
          <p:cNvCxnSpPr>
            <a:stCxn id="8" idx="3"/>
            <a:endCxn id="11" idx="1"/>
          </p:cNvCxnSpPr>
          <p:nvPr/>
        </p:nvCxnSpPr>
        <p:spPr>
          <a:xfrm flipV="1">
            <a:off x="5572125" y="3448050"/>
            <a:ext cx="885825" cy="923925"/>
          </a:xfrm>
          <a:prstGeom prst="bentConnector3">
            <a:avLst>
              <a:gd name="adj1" fmla="val 50000"/>
            </a:avLst>
          </a:prstGeom>
          <a:ln w="19050">
            <a:solidFill>
              <a:srgbClr val="506577"/>
            </a:solidFill>
            <a:tailEnd type="triangle" w="sm" len="sm"/>
          </a:ln>
        </p:spPr>
      </p:cxnSp>
      <p:sp>
        <p:nvSpPr>
          <p:cNvPr id="14" name="workflow-22"/>
          <p:cNvSpPr>
            <a:spLocks noGrp="1"/>
          </p:cNvSpPr>
          <p:nvPr/>
        </p:nvSpPr>
        <p:spPr>
          <a:xfrm>
            <a:off x="9315450" y="3038475"/>
            <a:ext cx="2286000" cy="81915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Project gravity</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into sensor axes</a:t>
            </a:r>
          </a:p>
        </p:txBody>
      </p:sp>
      <p:cxnSp>
        <p:nvCxnSpPr>
          <p:cNvPr id="43" name="直接箭头连接符 42"/>
          <p:cNvCxnSpPr>
            <a:stCxn id="11" idx="3"/>
            <a:endCxn id="14" idx="1"/>
          </p:cNvCxnSpPr>
          <p:nvPr/>
        </p:nvCxnSpPr>
        <p:spPr>
          <a:xfrm>
            <a:off x="8686800" y="3448050"/>
            <a:ext cx="628650" cy="0"/>
          </a:xfrm>
          <a:prstGeom prst="straightConnector1">
            <a:avLst/>
          </a:prstGeom>
          <a:ln w="19050">
            <a:solidFill>
              <a:srgbClr val="506577"/>
            </a:solidFill>
            <a:tailEnd type="triangle" w="sm" len="sm"/>
          </a:ln>
        </p:spPr>
      </p:cxnSp>
      <p:sp>
        <p:nvSpPr>
          <p:cNvPr id="16" name="workflow-23"/>
          <p:cNvSpPr>
            <a:spLocks noGrp="1"/>
          </p:cNvSpPr>
          <p:nvPr/>
        </p:nvSpPr>
        <p:spPr>
          <a:xfrm>
            <a:off x="9315450" y="4772025"/>
            <a:ext cx="2286000" cy="1009650"/>
          </a:xfrm>
          <a:prstGeom prst="rect">
            <a:avLst/>
          </a:prstGeom>
          <a:solidFill>
            <a:srgbClr val="F2EFF7"/>
          </a:solidFill>
          <a:ln w="16193">
            <a:solidFill>
              <a:srgbClr val="7056A8"/>
            </a:solidFill>
          </a:ln>
        </p:spPr>
        <p:txBody>
          <a:bodyPr lIns="95250" tIns="76200" rIns="95250" bIns="76200" anchor="ctr">
            <a:noAutofit/>
          </a:bodyPr>
          <a:lstStyle/>
          <a:p>
            <a:endParaRPr/>
          </a:p>
        </p:txBody>
      </p:sp>
      <p:cxnSp>
        <p:nvCxnSpPr>
          <p:cNvPr id="45" name="直接箭头连接符 44"/>
          <p:cNvCxnSpPr>
            <a:stCxn id="14" idx="2"/>
            <a:endCxn id="16" idx="0"/>
          </p:cNvCxnSpPr>
          <p:nvPr/>
        </p:nvCxnSpPr>
        <p:spPr>
          <a:xfrm>
            <a:off x="10458450" y="3857625"/>
            <a:ext cx="0" cy="914400"/>
          </a:xfrm>
          <a:prstGeom prst="straightConnector1">
            <a:avLst/>
          </a:prstGeom>
          <a:ln w="19050">
            <a:solidFill>
              <a:srgbClr val="506577"/>
            </a:solidFill>
            <a:tailEnd type="triangle" w="sm" len="sm"/>
          </a:ln>
        </p:spPr>
      </p:cxnSp>
      <p:sp>
        <p:nvSpPr>
          <p:cNvPr id="18" name="text-24"/>
          <p:cNvSpPr>
            <a:spLocks noGrp="1"/>
          </p:cNvSpPr>
          <p:nvPr/>
        </p:nvSpPr>
        <p:spPr>
          <a:xfrm>
            <a:off x="9391650" y="4914900"/>
            <a:ext cx="2133600" cy="276225"/>
          </a:xfrm>
          <a:prstGeom prst="rect">
            <a:avLst/>
          </a:prstGeom>
          <a:noFill/>
          <a:ln w="0">
            <a:noFill/>
          </a:ln>
        </p:spPr>
        <p:txBody>
          <a:bodyPr wrap="square" lIns="0" tIns="0" rIns="0" bIns="0" anchor="t">
            <a:noAutofit/>
          </a:bodyPr>
          <a:lstStyle/>
          <a:p>
            <a:pPr algn="ctr">
              <a:defRPr sz="1240" b="1">
                <a:solidFill>
                  <a:srgbClr val="7056A8"/>
                </a:solidFill>
                <a:latin typeface="DejaVu Sans" panose="020B0603030804020204"/>
                <a:ea typeface="DejaVu Sans" panose="020B0603030804020204"/>
                <a:cs typeface="DejaVu Sans" panose="020B0603030804020204"/>
              </a:defRPr>
            </a:pPr>
            <a:r>
              <a:rPr sz="1240" b="1">
                <a:solidFill>
                  <a:srgbClr val="7056A8"/>
                </a:solidFill>
                <a:latin typeface="DejaVu Sans" panose="020B0603030804020204"/>
                <a:ea typeface="DejaVu Sans" panose="020B0603030804020204"/>
                <a:cs typeface="DejaVu Sans" panose="020B0603030804020204"/>
              </a:rPr>
              <a:t>Dynamic acceleration</a:t>
            </a:r>
          </a:p>
        </p:txBody>
      </p:sp>
      <p:sp>
        <p:nvSpPr>
          <p:cNvPr id="19" name="text-25"/>
          <p:cNvSpPr>
            <a:spLocks noGrp="1"/>
          </p:cNvSpPr>
          <p:nvPr/>
        </p:nvSpPr>
        <p:spPr>
          <a:xfrm>
            <a:off x="9391650" y="5191125"/>
            <a:ext cx="2133600" cy="238125"/>
          </a:xfrm>
          <a:prstGeom prst="rect">
            <a:avLst/>
          </a:prstGeom>
          <a:noFill/>
          <a:ln w="0">
            <a:noFill/>
          </a:ln>
        </p:spPr>
        <p:txBody>
          <a:bodyPr wrap="square" lIns="0" tIns="0" rIns="0" bIns="0" anchor="t">
            <a:noAutofit/>
          </a:bodyPr>
          <a:lstStyle/>
          <a:p>
            <a:pPr algn="ctr">
              <a:defRPr sz="1200" b="0">
                <a:solidFill>
                  <a:srgbClr val="7056A8"/>
                </a:solidFill>
                <a:latin typeface="DejaVu Sans" panose="020B0603030804020204"/>
                <a:ea typeface="DejaVu Sans" panose="020B0603030804020204"/>
                <a:cs typeface="DejaVu Sans" panose="020B0603030804020204"/>
              </a:defRPr>
            </a:pPr>
            <a:r>
              <a:rPr sz="1200" b="0">
                <a:solidFill>
                  <a:srgbClr val="7056A8"/>
                </a:solidFill>
                <a:latin typeface="DejaVu Sans" panose="020B0603030804020204"/>
                <a:ea typeface="DejaVu Sans" panose="020B0603030804020204"/>
                <a:cs typeface="DejaVu Sans" panose="020B0603030804020204"/>
              </a:rPr>
              <a:t>Subtract projected gravity</a:t>
            </a:r>
          </a:p>
        </p:txBody>
      </p:sp>
      <p:sp>
        <p:nvSpPr>
          <p:cNvPr id="20" name="text-26"/>
          <p:cNvSpPr>
            <a:spLocks noGrp="1"/>
          </p:cNvSpPr>
          <p:nvPr/>
        </p:nvSpPr>
        <p:spPr>
          <a:xfrm>
            <a:off x="9591675" y="5410200"/>
            <a:ext cx="200025" cy="295275"/>
          </a:xfrm>
          <a:prstGeom prst="rect">
            <a:avLst/>
          </a:prstGeom>
          <a:noFill/>
          <a:ln w="0">
            <a:noFill/>
          </a:ln>
        </p:spPr>
        <p:txBody>
          <a:bodyPr wrap="square" lIns="0" tIns="0" rIns="0" bIns="0" anchor="t">
            <a:noAutofit/>
          </a:bodyPr>
          <a:lstStyle/>
          <a:p>
            <a:pPr algn="l">
              <a:defRPr sz="1725" b="1">
                <a:solidFill>
                  <a:srgbClr val="7056A8"/>
                </a:solidFill>
                <a:latin typeface="DejaVu Sans" panose="020B0603030804020204"/>
                <a:ea typeface="DejaVu Sans" panose="020B0603030804020204"/>
                <a:cs typeface="DejaVu Sans" panose="020B0603030804020204"/>
              </a:defRPr>
            </a:pPr>
            <a:r>
              <a:rPr sz="1725" b="1">
                <a:solidFill>
                  <a:srgbClr val="7056A8"/>
                </a:solidFill>
                <a:latin typeface="DejaVu Sans" panose="020B0603030804020204"/>
                <a:ea typeface="DejaVu Sans" panose="020B0603030804020204"/>
                <a:cs typeface="DejaVu Sans" panose="020B0603030804020204"/>
              </a:rPr>
              <a:t>a</a:t>
            </a:r>
          </a:p>
        </p:txBody>
      </p:sp>
      <p:sp>
        <p:nvSpPr>
          <p:cNvPr id="21" name="text-27"/>
          <p:cNvSpPr>
            <a:spLocks noGrp="1"/>
          </p:cNvSpPr>
          <p:nvPr/>
        </p:nvSpPr>
        <p:spPr>
          <a:xfrm>
            <a:off x="9744075" y="5553075"/>
            <a:ext cx="304800" cy="200025"/>
          </a:xfrm>
          <a:prstGeom prst="rect">
            <a:avLst/>
          </a:prstGeom>
          <a:noFill/>
          <a:ln w="0">
            <a:noFill/>
          </a:ln>
        </p:spPr>
        <p:txBody>
          <a:bodyPr wrap="square" lIns="0" tIns="0" rIns="0" bIns="0" anchor="t">
            <a:noAutofit/>
          </a:bodyPr>
          <a:lstStyle/>
          <a:p>
            <a:pPr algn="l">
              <a:defRPr sz="975" b="1">
                <a:solidFill>
                  <a:srgbClr val="7056A8"/>
                </a:solidFill>
                <a:latin typeface="DejaVu Sans" panose="020B0603030804020204"/>
                <a:ea typeface="DejaVu Sans" panose="020B0603030804020204"/>
                <a:cs typeface="DejaVu Sans" panose="020B0603030804020204"/>
              </a:defRPr>
            </a:pPr>
            <a:r>
              <a:rPr sz="975" b="1">
                <a:solidFill>
                  <a:srgbClr val="7056A8"/>
                </a:solidFill>
                <a:latin typeface="DejaVu Sans" panose="020B0603030804020204"/>
                <a:ea typeface="DejaVu Sans" panose="020B0603030804020204"/>
                <a:cs typeface="DejaVu Sans" panose="020B0603030804020204"/>
              </a:rPr>
              <a:t>dyn</a:t>
            </a:r>
          </a:p>
        </p:txBody>
      </p:sp>
      <p:sp>
        <p:nvSpPr>
          <p:cNvPr id="22" name="text-28"/>
          <p:cNvSpPr>
            <a:spLocks noGrp="1"/>
          </p:cNvSpPr>
          <p:nvPr/>
        </p:nvSpPr>
        <p:spPr>
          <a:xfrm>
            <a:off x="10106025" y="5410200"/>
            <a:ext cx="495300" cy="295275"/>
          </a:xfrm>
          <a:prstGeom prst="rect">
            <a:avLst/>
          </a:prstGeom>
          <a:noFill/>
          <a:ln w="0">
            <a:noFill/>
          </a:ln>
        </p:spPr>
        <p:txBody>
          <a:bodyPr wrap="square" lIns="0" tIns="0" rIns="0" bIns="0" anchor="t">
            <a:noAutofit/>
          </a:bodyPr>
          <a:lstStyle/>
          <a:p>
            <a:pPr algn="l">
              <a:defRPr sz="1725" b="1">
                <a:solidFill>
                  <a:srgbClr val="7056A8"/>
                </a:solidFill>
                <a:latin typeface="DejaVu Sans" panose="020B0603030804020204"/>
                <a:ea typeface="DejaVu Sans" panose="020B0603030804020204"/>
                <a:cs typeface="DejaVu Sans" panose="020B0603030804020204"/>
              </a:defRPr>
            </a:pPr>
            <a:r>
              <a:rPr sz="1725" b="1">
                <a:solidFill>
                  <a:srgbClr val="7056A8"/>
                </a:solidFill>
                <a:latin typeface="DejaVu Sans" panose="020B0603030804020204"/>
                <a:ea typeface="DejaVu Sans" panose="020B0603030804020204"/>
                <a:cs typeface="DejaVu Sans" panose="020B0603030804020204"/>
              </a:rPr>
              <a:t>= a</a:t>
            </a:r>
          </a:p>
        </p:txBody>
      </p:sp>
      <p:sp>
        <p:nvSpPr>
          <p:cNvPr id="23" name="text-29"/>
          <p:cNvSpPr>
            <a:spLocks noGrp="1"/>
          </p:cNvSpPr>
          <p:nvPr/>
        </p:nvSpPr>
        <p:spPr>
          <a:xfrm>
            <a:off x="10553700" y="5553075"/>
            <a:ext cx="123825" cy="200025"/>
          </a:xfrm>
          <a:prstGeom prst="rect">
            <a:avLst/>
          </a:prstGeom>
          <a:noFill/>
          <a:ln w="0">
            <a:noFill/>
          </a:ln>
        </p:spPr>
        <p:txBody>
          <a:bodyPr wrap="square" lIns="0" tIns="0" rIns="0" bIns="0" anchor="t">
            <a:noAutofit/>
          </a:bodyPr>
          <a:lstStyle/>
          <a:p>
            <a:pPr algn="l">
              <a:defRPr sz="975" b="1">
                <a:solidFill>
                  <a:srgbClr val="7056A8"/>
                </a:solidFill>
                <a:latin typeface="DejaVu Sans" panose="020B0603030804020204"/>
                <a:ea typeface="DejaVu Sans" panose="020B0603030804020204"/>
                <a:cs typeface="DejaVu Sans" panose="020B0603030804020204"/>
              </a:defRPr>
            </a:pPr>
            <a:r>
              <a:rPr sz="975" b="1">
                <a:solidFill>
                  <a:srgbClr val="7056A8"/>
                </a:solidFill>
                <a:latin typeface="DejaVu Sans" panose="020B0603030804020204"/>
                <a:ea typeface="DejaVu Sans" panose="020B0603030804020204"/>
                <a:cs typeface="DejaVu Sans" panose="020B0603030804020204"/>
              </a:rPr>
              <a:t>f</a:t>
            </a:r>
          </a:p>
        </p:txBody>
      </p:sp>
      <p:sp>
        <p:nvSpPr>
          <p:cNvPr id="24" name="text-30"/>
          <p:cNvSpPr>
            <a:spLocks noGrp="1"/>
          </p:cNvSpPr>
          <p:nvPr/>
        </p:nvSpPr>
        <p:spPr>
          <a:xfrm>
            <a:off x="10753725" y="5410200"/>
            <a:ext cx="466725" cy="295275"/>
          </a:xfrm>
          <a:prstGeom prst="rect">
            <a:avLst/>
          </a:prstGeom>
          <a:noFill/>
          <a:ln w="0">
            <a:noFill/>
          </a:ln>
        </p:spPr>
        <p:txBody>
          <a:bodyPr wrap="square" lIns="0" tIns="0" rIns="0" bIns="0" anchor="t">
            <a:noAutofit/>
          </a:bodyPr>
          <a:lstStyle/>
          <a:p>
            <a:pPr algn="l">
              <a:defRPr sz="1725" b="1">
                <a:solidFill>
                  <a:srgbClr val="7056A8"/>
                </a:solidFill>
                <a:latin typeface="DejaVu Sans" panose="020B0603030804020204"/>
                <a:ea typeface="DejaVu Sans" panose="020B0603030804020204"/>
                <a:cs typeface="DejaVu Sans" panose="020B0603030804020204"/>
              </a:defRPr>
            </a:pPr>
            <a:r>
              <a:rPr sz="1725" b="1">
                <a:solidFill>
                  <a:srgbClr val="7056A8"/>
                </a:solidFill>
                <a:latin typeface="DejaVu Sans" panose="020B0603030804020204"/>
                <a:ea typeface="DejaVu Sans" panose="020B0603030804020204"/>
                <a:cs typeface="DejaVu Sans" panose="020B0603030804020204"/>
              </a:rPr>
              <a:t>− ĝ</a:t>
            </a:r>
          </a:p>
        </p:txBody>
      </p:sp>
      <p:sp>
        <p:nvSpPr>
          <p:cNvPr id="25" name="text-31"/>
          <p:cNvSpPr>
            <a:spLocks noGrp="1"/>
          </p:cNvSpPr>
          <p:nvPr/>
        </p:nvSpPr>
        <p:spPr>
          <a:xfrm>
            <a:off x="11201400" y="5553075"/>
            <a:ext cx="123825" cy="200025"/>
          </a:xfrm>
          <a:prstGeom prst="rect">
            <a:avLst/>
          </a:prstGeom>
          <a:noFill/>
          <a:ln w="0">
            <a:noFill/>
          </a:ln>
        </p:spPr>
        <p:txBody>
          <a:bodyPr wrap="square" lIns="0" tIns="0" rIns="0" bIns="0" anchor="t">
            <a:noAutofit/>
          </a:bodyPr>
          <a:lstStyle/>
          <a:p>
            <a:pPr algn="l">
              <a:defRPr sz="975" b="1">
                <a:solidFill>
                  <a:srgbClr val="7056A8"/>
                </a:solidFill>
                <a:latin typeface="DejaVu Sans" panose="020B0603030804020204"/>
                <a:ea typeface="DejaVu Sans" panose="020B0603030804020204"/>
                <a:cs typeface="DejaVu Sans" panose="020B0603030804020204"/>
              </a:defRPr>
            </a:pPr>
            <a:r>
              <a:rPr sz="975" b="1">
                <a:solidFill>
                  <a:srgbClr val="7056A8"/>
                </a:solidFill>
                <a:latin typeface="DejaVu Sans" panose="020B0603030804020204"/>
                <a:ea typeface="DejaVu Sans" panose="020B0603030804020204"/>
                <a:cs typeface="DejaVu Sans" panose="020B0603030804020204"/>
              </a:rPr>
              <a:t>b</a:t>
            </a:r>
          </a:p>
        </p:txBody>
      </p:sp>
      <p:sp>
        <p:nvSpPr>
          <p:cNvPr id="26" name="text-32"/>
          <p:cNvSpPr>
            <a:spLocks noGrp="1"/>
          </p:cNvSpPr>
          <p:nvPr/>
        </p:nvSpPr>
        <p:spPr>
          <a:xfrm>
            <a:off x="571500" y="5133975"/>
            <a:ext cx="7639050" cy="371475"/>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State x = [φ, θ, b₁, b₂, b₃]ᵀ</a:t>
            </a:r>
          </a:p>
        </p:txBody>
      </p:sp>
      <p:sp>
        <p:nvSpPr>
          <p:cNvPr id="27" name="text-33"/>
          <p:cNvSpPr>
            <a:spLocks noGrp="1"/>
          </p:cNvSpPr>
          <p:nvPr/>
        </p:nvSpPr>
        <p:spPr>
          <a:xfrm>
            <a:off x="571500" y="5610225"/>
            <a:ext cx="7877175" cy="295275"/>
          </a:xfrm>
          <a:prstGeom prst="rect">
            <a:avLst/>
          </a:prstGeom>
          <a:noFill/>
          <a:ln w="0">
            <a:noFill/>
          </a:ln>
        </p:spPr>
        <p:txBody>
          <a:bodyPr wrap="square" lIns="0" tIns="0" rIns="0" bIns="0" anchor="t">
            <a:noAutofit/>
          </a:bodyPr>
          <a:lstStyle/>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b₁–b₃: residual gyro biases. Accelerometer weight decreases when ‖a‖ &gt; g.</a:t>
            </a:r>
          </a:p>
        </p:txBody>
      </p:sp>
      <p:sp>
        <p:nvSpPr>
          <p:cNvPr id="28" name="text-34"/>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Profile B versus A: mean balanced accuracy was 7.0 (InceptionTime) and 6.6 (compact convolutional model) percentage points lower.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14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Workflow: motion detection and denoising</a:t>
            </a:r>
          </a:p>
        </p:txBody>
      </p:sp>
      <p:sp>
        <p:nvSpPr>
          <p:cNvPr id="2" name="text-14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PIPELINE WORKFLOW</a:t>
            </a:r>
          </a:p>
        </p:txBody>
      </p:sp>
      <p:sp>
        <p:nvSpPr>
          <p:cNvPr id="3" name="text-14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11</a:t>
            </a:r>
          </a:p>
        </p:txBody>
      </p:sp>
      <p:sp>
        <p:nvSpPr>
          <p:cNvPr id="4" name="workflow-144"/>
          <p:cNvSpPr>
            <a:spLocks noGrp="1"/>
          </p:cNvSpPr>
          <p:nvPr/>
        </p:nvSpPr>
        <p:spPr>
          <a:xfrm>
            <a:off x="571500" y="1724025"/>
            <a:ext cx="209550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PPG + IMU</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recordings</a:t>
            </a:r>
          </a:p>
        </p:txBody>
      </p:sp>
      <p:sp>
        <p:nvSpPr>
          <p:cNvPr id="5" name="workflow-145"/>
          <p:cNvSpPr>
            <a:spLocks noGrp="1"/>
          </p:cNvSpPr>
          <p:nvPr/>
        </p:nvSpPr>
        <p:spPr>
          <a:xfrm>
            <a:off x="3286125" y="172402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Preprocessing</a:t>
            </a:r>
          </a:p>
        </p:txBody>
      </p:sp>
      <p:sp>
        <p:nvSpPr>
          <p:cNvPr id="6" name="workflow-146"/>
          <p:cNvSpPr>
            <a:spLocks noGrp="1"/>
          </p:cNvSpPr>
          <p:nvPr/>
        </p:nvSpPr>
        <p:spPr>
          <a:xfrm>
            <a:off x="6143625" y="172402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Windowing</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 resample</a:t>
            </a:r>
          </a:p>
        </p:txBody>
      </p:sp>
      <p:sp>
        <p:nvSpPr>
          <p:cNvPr id="7" name="workflow-147"/>
          <p:cNvSpPr>
            <a:spLocks noGrp="1"/>
          </p:cNvSpPr>
          <p:nvPr/>
        </p:nvSpPr>
        <p:spPr>
          <a:xfrm>
            <a:off x="9239250" y="172402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Models &amp;</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classification</a:t>
            </a:r>
          </a:p>
        </p:txBody>
      </p:sp>
      <p:sp>
        <p:nvSpPr>
          <p:cNvPr id="8" name="workflow-148"/>
          <p:cNvSpPr>
            <a:spLocks noGrp="1"/>
          </p:cNvSpPr>
          <p:nvPr/>
        </p:nvSpPr>
        <p:spPr>
          <a:xfrm>
            <a:off x="3286125" y="3686175"/>
            <a:ext cx="2238375"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Motion detection</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&amp; denoising</a:t>
            </a:r>
          </a:p>
        </p:txBody>
      </p:sp>
      <p:sp>
        <p:nvSpPr>
          <p:cNvPr id="9" name="workflow-149"/>
          <p:cNvSpPr>
            <a:spLocks noGrp="1"/>
          </p:cNvSpPr>
          <p:nvPr/>
        </p:nvSpPr>
        <p:spPr>
          <a:xfrm>
            <a:off x="6143625" y="368617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Peak detection</a:t>
            </a:r>
          </a:p>
        </p:txBody>
      </p:sp>
      <p:sp>
        <p:nvSpPr>
          <p:cNvPr id="10" name="workflow-150"/>
          <p:cNvSpPr>
            <a:spLocks noGrp="1"/>
          </p:cNvSpPr>
          <p:nvPr/>
        </p:nvSpPr>
        <p:spPr>
          <a:xfrm>
            <a:off x="9239250" y="368617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Feature</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engineering</a:t>
            </a:r>
          </a:p>
        </p:txBody>
      </p:sp>
      <p:cxnSp>
        <p:nvCxnSpPr>
          <p:cNvPr id="34" name="直接箭头连接符 33"/>
          <p:cNvCxnSpPr>
            <a:stCxn id="4" idx="3"/>
            <a:endCxn id="5" idx="1"/>
          </p:cNvCxnSpPr>
          <p:nvPr/>
        </p:nvCxnSpPr>
        <p:spPr>
          <a:xfrm>
            <a:off x="2667000" y="2143125"/>
            <a:ext cx="619125" cy="0"/>
          </a:xfrm>
          <a:prstGeom prst="straightConnector1">
            <a:avLst/>
          </a:prstGeom>
          <a:ln w="19050">
            <a:solidFill>
              <a:srgbClr val="506577"/>
            </a:solidFill>
            <a:tailEnd type="triangle" w="sm" len="sm"/>
          </a:ln>
        </p:spPr>
      </p:cxnSp>
      <p:cxnSp>
        <p:nvCxnSpPr>
          <p:cNvPr id="35" name="直接箭头连接符 34"/>
          <p:cNvCxnSpPr>
            <a:stCxn id="5" idx="3"/>
            <a:endCxn id="6" idx="1"/>
          </p:cNvCxnSpPr>
          <p:nvPr/>
        </p:nvCxnSpPr>
        <p:spPr>
          <a:xfrm>
            <a:off x="5524500" y="2143125"/>
            <a:ext cx="619125" cy="0"/>
          </a:xfrm>
          <a:prstGeom prst="straightConnector1">
            <a:avLst/>
          </a:prstGeom>
          <a:ln w="19050">
            <a:solidFill>
              <a:srgbClr val="506577"/>
            </a:solidFill>
            <a:tailEnd type="triangle" w="sm" len="sm"/>
          </a:ln>
        </p:spPr>
      </p:cxnSp>
      <p:cxnSp>
        <p:nvCxnSpPr>
          <p:cNvPr id="36" name="直接箭头连接符 35"/>
          <p:cNvCxnSpPr>
            <a:stCxn id="6" idx="3"/>
            <a:endCxn id="7" idx="1"/>
          </p:cNvCxnSpPr>
          <p:nvPr/>
        </p:nvCxnSpPr>
        <p:spPr>
          <a:xfrm>
            <a:off x="8572500" y="2143125"/>
            <a:ext cx="666750" cy="0"/>
          </a:xfrm>
          <a:prstGeom prst="straightConnector1">
            <a:avLst/>
          </a:prstGeom>
          <a:ln w="19050">
            <a:solidFill>
              <a:srgbClr val="506577"/>
            </a:solidFill>
            <a:tailEnd type="triangle" w="sm" len="sm"/>
          </a:ln>
        </p:spPr>
      </p:cxnSp>
      <p:cxnSp>
        <p:nvCxnSpPr>
          <p:cNvPr id="37" name="直接箭头连接符 36"/>
          <p:cNvCxnSpPr>
            <a:stCxn id="5" idx="2"/>
            <a:endCxn id="8" idx="0"/>
          </p:cNvCxnSpPr>
          <p:nvPr/>
        </p:nvCxnSpPr>
        <p:spPr>
          <a:xfrm>
            <a:off x="4405313" y="2562225"/>
            <a:ext cx="0" cy="1123950"/>
          </a:xfrm>
          <a:prstGeom prst="straightConnector1">
            <a:avLst/>
          </a:prstGeom>
          <a:ln w="19050">
            <a:solidFill>
              <a:srgbClr val="506577"/>
            </a:solidFill>
            <a:tailEnd type="triangle" w="sm" len="sm"/>
          </a:ln>
        </p:spPr>
      </p:cxnSp>
      <p:cxnSp>
        <p:nvCxnSpPr>
          <p:cNvPr id="38" name="直接箭头连接符 37"/>
          <p:cNvCxnSpPr>
            <a:stCxn id="8" idx="3"/>
            <a:endCxn id="9" idx="1"/>
          </p:cNvCxnSpPr>
          <p:nvPr/>
        </p:nvCxnSpPr>
        <p:spPr>
          <a:xfrm>
            <a:off x="5524500" y="4105275"/>
            <a:ext cx="619125" cy="0"/>
          </a:xfrm>
          <a:prstGeom prst="straightConnector1">
            <a:avLst/>
          </a:prstGeom>
          <a:ln w="19050">
            <a:solidFill>
              <a:srgbClr val="506577"/>
            </a:solidFill>
            <a:tailEnd type="triangle" w="sm" len="sm"/>
          </a:ln>
        </p:spPr>
      </p:cxnSp>
      <p:cxnSp>
        <p:nvCxnSpPr>
          <p:cNvPr id="39" name="直接箭头连接符 38"/>
          <p:cNvCxnSpPr>
            <a:stCxn id="9" idx="3"/>
            <a:endCxn id="10" idx="1"/>
          </p:cNvCxnSpPr>
          <p:nvPr/>
        </p:nvCxnSpPr>
        <p:spPr>
          <a:xfrm>
            <a:off x="8572500" y="4105275"/>
            <a:ext cx="666750" cy="0"/>
          </a:xfrm>
          <a:prstGeom prst="straightConnector1">
            <a:avLst/>
          </a:prstGeom>
          <a:ln w="19050">
            <a:solidFill>
              <a:srgbClr val="506577"/>
            </a:solidFill>
            <a:tailEnd type="triangle" w="sm" len="sm"/>
          </a:ln>
        </p:spPr>
      </p:cxnSp>
      <p:cxnSp>
        <p:nvCxnSpPr>
          <p:cNvPr id="40" name="直接箭头连接符 39"/>
          <p:cNvCxnSpPr>
            <a:stCxn id="10" idx="0"/>
            <a:endCxn id="7" idx="2"/>
          </p:cNvCxnSpPr>
          <p:nvPr/>
        </p:nvCxnSpPr>
        <p:spPr>
          <a:xfrm flipV="1">
            <a:off x="10429875" y="2562225"/>
            <a:ext cx="0" cy="1123950"/>
          </a:xfrm>
          <a:prstGeom prst="straightConnector1">
            <a:avLst/>
          </a:prstGeom>
          <a:ln w="19050">
            <a:solidFill>
              <a:srgbClr val="506577"/>
            </a:solidFill>
            <a:tailEnd type="triangle" w="sm" len="sm"/>
          </a:ln>
        </p:spPr>
      </p:cxnSp>
      <p:sp>
        <p:nvSpPr>
          <p:cNvPr id="18" name="text-151"/>
          <p:cNvSpPr>
            <a:spLocks noGrp="1"/>
          </p:cNvSpPr>
          <p:nvPr/>
        </p:nvSpPr>
        <p:spPr>
          <a:xfrm>
            <a:off x="6191250" y="1371600"/>
            <a:ext cx="2543175" cy="266700"/>
          </a:xfrm>
          <a:prstGeom prst="rect">
            <a:avLst/>
          </a:prstGeom>
          <a:noFill/>
          <a:ln w="0">
            <a:noFill/>
          </a:ln>
        </p:spPr>
        <p:txBody>
          <a:bodyPr wrap="square" lIns="0" tIns="0" rIns="0" bIns="0" anchor="t">
            <a:noAutofit/>
          </a:bodyPr>
          <a:lstStyle/>
          <a:p>
            <a:pPr algn="l">
              <a:defRPr sz="1575" b="1">
                <a:solidFill>
                  <a:srgbClr val="506577"/>
                </a:solidFill>
                <a:latin typeface="DejaVu Sans" panose="020B0603030804020204"/>
                <a:ea typeface="DejaVu Sans" panose="020B0603030804020204"/>
                <a:cs typeface="DejaVu Sans" panose="020B0603030804020204"/>
              </a:defRPr>
            </a:pPr>
            <a:r>
              <a:rPr sz="1575" b="1">
                <a:solidFill>
                  <a:srgbClr val="506577"/>
                </a:solidFill>
                <a:latin typeface="DejaVu Sans" panose="020B0603030804020204"/>
                <a:ea typeface="DejaVu Sans" panose="020B0603030804020204"/>
                <a:cs typeface="DejaVu Sans" panose="020B0603030804020204"/>
              </a:rPr>
              <a:t>Waveform branch</a:t>
            </a:r>
          </a:p>
        </p:txBody>
      </p:sp>
      <p:sp>
        <p:nvSpPr>
          <p:cNvPr id="19" name="text-152"/>
          <p:cNvSpPr>
            <a:spLocks noGrp="1"/>
          </p:cNvSpPr>
          <p:nvPr/>
        </p:nvSpPr>
        <p:spPr>
          <a:xfrm>
            <a:off x="9277350" y="1371600"/>
            <a:ext cx="2343150" cy="266700"/>
          </a:xfrm>
          <a:prstGeom prst="rect">
            <a:avLst/>
          </a:prstGeom>
          <a:noFill/>
          <a:ln w="0">
            <a:noFill/>
          </a:ln>
        </p:spPr>
        <p:txBody>
          <a:bodyPr wrap="square" lIns="0" tIns="0" rIns="0" bIns="0" anchor="t">
            <a:noAutofit/>
          </a:bodyPr>
          <a:lstStyle/>
          <a:p>
            <a:pPr algn="ctr">
              <a:defRPr sz="1425" b="1">
                <a:solidFill>
                  <a:srgbClr val="506577"/>
                </a:solidFill>
                <a:latin typeface="DejaVu Sans" panose="020B0603030804020204"/>
                <a:ea typeface="DejaVu Sans" panose="020B0603030804020204"/>
                <a:cs typeface="DejaVu Sans" panose="020B0603030804020204"/>
              </a:defRPr>
            </a:pPr>
            <a:r>
              <a:rPr sz="1425" b="1">
                <a:solidFill>
                  <a:srgbClr val="506577"/>
                </a:solidFill>
                <a:latin typeface="DejaVu Sans" panose="020B0603030804020204"/>
                <a:ea typeface="DejaVu Sans" panose="020B0603030804020204"/>
                <a:cs typeface="DejaVu Sans" panose="020B0603030804020204"/>
              </a:rPr>
              <a:t>Alternative inputs</a:t>
            </a:r>
          </a:p>
        </p:txBody>
      </p:sp>
      <p:sp>
        <p:nvSpPr>
          <p:cNvPr id="20" name="text-153"/>
          <p:cNvSpPr>
            <a:spLocks noGrp="1"/>
          </p:cNvSpPr>
          <p:nvPr/>
        </p:nvSpPr>
        <p:spPr>
          <a:xfrm>
            <a:off x="571500" y="3781425"/>
            <a:ext cx="2190750" cy="742950"/>
          </a:xfrm>
          <a:prstGeom prst="rect">
            <a:avLst/>
          </a:prstGeom>
          <a:noFill/>
          <a:ln w="0">
            <a:noFill/>
          </a:ln>
        </p:spPr>
        <p:txBody>
          <a:bodyPr wrap="square" lIns="0" tIns="0" rIns="0" bIns="0" anchor="t">
            <a:noAutofit/>
          </a:bodyPr>
          <a:lstStyle/>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Physiological</a:t>
            </a:r>
          </a:p>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analysis branch</a:t>
            </a:r>
          </a:p>
        </p:txBody>
      </p:sp>
      <p:sp>
        <p:nvSpPr>
          <p:cNvPr id="21" name="text-154"/>
          <p:cNvSpPr>
            <a:spLocks noGrp="1"/>
          </p:cNvSpPr>
          <p:nvPr/>
        </p:nvSpPr>
        <p:spPr>
          <a:xfrm>
            <a:off x="3390900" y="4610100"/>
            <a:ext cx="2257425"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Optional / identity</a:t>
            </a:r>
          </a:p>
        </p:txBody>
      </p:sp>
      <p:sp>
        <p:nvSpPr>
          <p:cNvPr id="22" name="text-155"/>
          <p:cNvSpPr>
            <a:spLocks noGrp="1"/>
          </p:cNvSpPr>
          <p:nvPr/>
        </p:nvSpPr>
        <p:spPr>
          <a:xfrm>
            <a:off x="9210675" y="4610100"/>
            <a:ext cx="2438400" cy="476250"/>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Shape / baseline use original optical data</a:t>
            </a:r>
          </a:p>
        </p:txBody>
      </p:sp>
      <p:sp>
        <p:nvSpPr>
          <p:cNvPr id="23" name="text-156"/>
          <p:cNvSpPr>
            <a:spLocks noGrp="1"/>
          </p:cNvSpPr>
          <p:nvPr/>
        </p:nvSpPr>
        <p:spPr>
          <a:xfrm>
            <a:off x="571500" y="5391150"/>
            <a:ext cx="11049000" cy="7048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Motion provides context for optional artefact processing in the physiological branch.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72"/>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Quality requirements depend on the endpoint</a:t>
            </a:r>
          </a:p>
        </p:txBody>
      </p:sp>
      <p:sp>
        <p:nvSpPr>
          <p:cNvPr id="2" name="text-73"/>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OPTIONAL SIGNAL ANALYSIS</a:t>
            </a:r>
          </a:p>
        </p:txBody>
      </p:sp>
      <p:sp>
        <p:nvSpPr>
          <p:cNvPr id="3" name="text-74"/>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11</a:t>
            </a:r>
          </a:p>
        </p:txBody>
      </p:sp>
      <p:sp>
        <p:nvSpPr>
          <p:cNvPr id="4" name="workflow-75"/>
          <p:cNvSpPr>
            <a:spLocks noGrp="1"/>
          </p:cNvSpPr>
          <p:nvPr/>
        </p:nvSpPr>
        <p:spPr>
          <a:xfrm>
            <a:off x="666750" y="1428750"/>
            <a:ext cx="5238750" cy="8572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PPG periodicity + RED/IR agreement</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IMU motion information</a:t>
            </a:r>
          </a:p>
        </p:txBody>
      </p:sp>
      <p:sp>
        <p:nvSpPr>
          <p:cNvPr id="5" name="workflow-76"/>
          <p:cNvSpPr>
            <a:spLocks noGrp="1"/>
          </p:cNvSpPr>
          <p:nvPr/>
        </p:nvSpPr>
        <p:spPr>
          <a:xfrm>
            <a:off x="857250" y="2952750"/>
            <a:ext cx="2333625" cy="8096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Rate quality</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Q_rate</a:t>
            </a:r>
          </a:p>
        </p:txBody>
      </p:sp>
      <p:sp>
        <p:nvSpPr>
          <p:cNvPr id="6" name="workflow-77"/>
          <p:cNvSpPr>
            <a:spLocks noGrp="1"/>
          </p:cNvSpPr>
          <p:nvPr/>
        </p:nvSpPr>
        <p:spPr>
          <a:xfrm>
            <a:off x="3667125" y="2952750"/>
            <a:ext cx="2333625" cy="8096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Shape quality</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Q_morph</a:t>
            </a:r>
          </a:p>
        </p:txBody>
      </p:sp>
      <p:cxnSp>
        <p:nvCxnSpPr>
          <p:cNvPr id="23" name="肘形连接符 22"/>
          <p:cNvCxnSpPr>
            <a:stCxn id="4" idx="2"/>
            <a:endCxn id="5" idx="0"/>
          </p:cNvCxnSpPr>
          <p:nvPr/>
        </p:nvCxnSpPr>
        <p:spPr>
          <a:xfrm flipH="1">
            <a:off x="2024063" y="2286000"/>
            <a:ext cx="1262063" cy="666750"/>
          </a:xfrm>
          <a:prstGeom prst="bentConnector4">
            <a:avLst>
              <a:gd name="adj1" fmla="val 0"/>
              <a:gd name="adj2" fmla="val 50000"/>
            </a:avLst>
          </a:prstGeom>
          <a:ln w="19050">
            <a:solidFill>
              <a:srgbClr val="506577"/>
            </a:solidFill>
            <a:tailEnd type="triangle" w="sm" len="sm"/>
          </a:ln>
        </p:spPr>
      </p:cxnSp>
      <p:cxnSp>
        <p:nvCxnSpPr>
          <p:cNvPr id="24" name="肘形连接符 23"/>
          <p:cNvCxnSpPr>
            <a:stCxn id="4" idx="2"/>
            <a:endCxn id="6" idx="0"/>
          </p:cNvCxnSpPr>
          <p:nvPr/>
        </p:nvCxnSpPr>
        <p:spPr>
          <a:xfrm>
            <a:off x="3286125" y="2286000"/>
            <a:ext cx="1547813" cy="666750"/>
          </a:xfrm>
          <a:prstGeom prst="bentConnector4">
            <a:avLst>
              <a:gd name="adj1" fmla="val 0"/>
              <a:gd name="adj2" fmla="val 50000"/>
            </a:avLst>
          </a:prstGeom>
          <a:ln w="19050">
            <a:solidFill>
              <a:srgbClr val="506577"/>
            </a:solidFill>
            <a:tailEnd type="triangle" w="sm" len="sm"/>
          </a:ln>
        </p:spPr>
      </p:cxnSp>
      <p:sp>
        <p:nvSpPr>
          <p:cNvPr id="9" name="workflow-78"/>
          <p:cNvSpPr>
            <a:spLocks noGrp="1"/>
          </p:cNvSpPr>
          <p:nvPr/>
        </p:nvSpPr>
        <p:spPr>
          <a:xfrm>
            <a:off x="857250" y="4562475"/>
            <a:ext cx="2333625" cy="76200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Pulse timing / PRV</a:t>
            </a:r>
          </a:p>
        </p:txBody>
      </p:sp>
      <p:sp>
        <p:nvSpPr>
          <p:cNvPr id="10" name="workflow-79"/>
          <p:cNvSpPr>
            <a:spLocks noGrp="1"/>
          </p:cNvSpPr>
          <p:nvPr/>
        </p:nvSpPr>
        <p:spPr>
          <a:xfrm>
            <a:off x="3667125" y="4562475"/>
            <a:ext cx="2333625" cy="76200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Pulse morphology</a:t>
            </a:r>
          </a:p>
        </p:txBody>
      </p:sp>
      <p:cxnSp>
        <p:nvCxnSpPr>
          <p:cNvPr id="27" name="直接箭头连接符 26"/>
          <p:cNvCxnSpPr>
            <a:stCxn id="5" idx="2"/>
            <a:endCxn id="9" idx="0"/>
          </p:cNvCxnSpPr>
          <p:nvPr/>
        </p:nvCxnSpPr>
        <p:spPr>
          <a:xfrm>
            <a:off x="2024063" y="3762375"/>
            <a:ext cx="0" cy="800100"/>
          </a:xfrm>
          <a:prstGeom prst="straightConnector1">
            <a:avLst/>
          </a:prstGeom>
          <a:ln w="19050">
            <a:solidFill>
              <a:srgbClr val="506577"/>
            </a:solidFill>
            <a:tailEnd type="triangle" w="sm" len="sm"/>
          </a:ln>
        </p:spPr>
      </p:cxnSp>
      <p:cxnSp>
        <p:nvCxnSpPr>
          <p:cNvPr id="28" name="直接箭头连接符 27"/>
          <p:cNvCxnSpPr>
            <a:stCxn id="6" idx="2"/>
            <a:endCxn id="10" idx="0"/>
          </p:cNvCxnSpPr>
          <p:nvPr/>
        </p:nvCxnSpPr>
        <p:spPr>
          <a:xfrm>
            <a:off x="4833938" y="3762375"/>
            <a:ext cx="0" cy="800100"/>
          </a:xfrm>
          <a:prstGeom prst="straightConnector1">
            <a:avLst/>
          </a:prstGeom>
          <a:ln w="19050">
            <a:solidFill>
              <a:srgbClr val="506577"/>
            </a:solidFill>
            <a:tailEnd type="triangle" w="sm" len="sm"/>
          </a:ln>
        </p:spPr>
      </p:cxnSp>
      <p:sp>
        <p:nvSpPr>
          <p:cNvPr id="13" name="text-80"/>
          <p:cNvSpPr>
            <a:spLocks noGrp="1"/>
          </p:cNvSpPr>
          <p:nvPr/>
        </p:nvSpPr>
        <p:spPr>
          <a:xfrm>
            <a:off x="7019925" y="1562100"/>
            <a:ext cx="4476750" cy="428625"/>
          </a:xfrm>
          <a:prstGeom prst="rect">
            <a:avLst/>
          </a:prstGeom>
          <a:noFill/>
          <a:ln w="0">
            <a:noFill/>
          </a:ln>
        </p:spPr>
        <p:txBody>
          <a:bodyPr wrap="square" lIns="0" tIns="0" rIns="0" bIns="0" anchor="t">
            <a:noAutofit/>
          </a:bodyPr>
          <a:lstStyle/>
          <a:p>
            <a:pPr algn="l">
              <a:defRPr sz="2100" b="1">
                <a:solidFill>
                  <a:srgbClr val="B96D20"/>
                </a:solidFill>
                <a:latin typeface="DejaVu Sans" panose="020B0603030804020204"/>
                <a:ea typeface="DejaVu Sans" panose="020B0603030804020204"/>
                <a:cs typeface="DejaVu Sans" panose="020B0603030804020204"/>
              </a:defRPr>
            </a:pPr>
            <a:r>
              <a:rPr sz="2100" b="1">
                <a:solidFill>
                  <a:srgbClr val="B96D20"/>
                </a:solidFill>
                <a:latin typeface="DejaVu Sans" panose="020B0603030804020204"/>
                <a:ea typeface="DejaVu Sans" panose="020B0603030804020204"/>
                <a:cs typeface="DejaVu Sans" panose="020B0603030804020204"/>
              </a:rPr>
              <a:t>Optional motion detector</a:t>
            </a:r>
          </a:p>
        </p:txBody>
      </p:sp>
      <p:sp>
        <p:nvSpPr>
          <p:cNvPr id="14" name="text-81"/>
          <p:cNvSpPr>
            <a:spLocks noGrp="1"/>
          </p:cNvSpPr>
          <p:nvPr/>
        </p:nvSpPr>
        <p:spPr>
          <a:xfrm>
            <a:off x="7048500" y="2190750"/>
            <a:ext cx="4314825" cy="1619250"/>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LightCNN: 8 × 3200 samples</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8 s windows, 2 s stride</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3 convolution blocks</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Motion probability</a:t>
            </a:r>
          </a:p>
        </p:txBody>
      </p:sp>
      <p:sp>
        <p:nvSpPr>
          <p:cNvPr id="15" name="text-82"/>
          <p:cNvSpPr>
            <a:spLocks noGrp="1"/>
          </p:cNvSpPr>
          <p:nvPr/>
        </p:nvSpPr>
        <p:spPr>
          <a:xfrm>
            <a:off x="7048500" y="4305300"/>
            <a:ext cx="4286250" cy="790575"/>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Poor segments can enter</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artefact processing or be excluded</a:t>
            </a:r>
          </a:p>
        </p:txBody>
      </p:sp>
      <p:sp>
        <p:nvSpPr>
          <p:cNvPr id="16" name="text-83"/>
          <p:cNvSpPr>
            <a:spLocks noGrp="1"/>
          </p:cNvSpPr>
          <p:nvPr/>
        </p:nvSpPr>
        <p:spPr>
          <a:xfrm>
            <a:off x="571500" y="5829300"/>
            <a:ext cx="10953750" cy="457200"/>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SQI, the motion detector and denoising are all disabled in the final classification preset.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4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Four approaches to motion artefacts</a:t>
            </a:r>
          </a:p>
        </p:txBody>
      </p:sp>
      <p:sp>
        <p:nvSpPr>
          <p:cNvPr id="2" name="text-4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PROCESSING</a:t>
            </a:r>
          </a:p>
        </p:txBody>
      </p:sp>
      <p:sp>
        <p:nvSpPr>
          <p:cNvPr id="3" name="text-4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12</a:t>
            </a:r>
          </a:p>
        </p:txBody>
      </p:sp>
      <p:sp>
        <p:nvSpPr>
          <p:cNvPr id="4" name="workflow-48"/>
          <p:cNvSpPr>
            <a:spLocks noGrp="1"/>
          </p:cNvSpPr>
          <p:nvPr/>
        </p:nvSpPr>
        <p:spPr>
          <a:xfrm>
            <a:off x="571500" y="3257550"/>
            <a:ext cx="2381250" cy="885825"/>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Aligned PPG + IMU</a:t>
            </a:r>
          </a:p>
        </p:txBody>
      </p:sp>
      <p:sp>
        <p:nvSpPr>
          <p:cNvPr id="5" name="workflow-49"/>
          <p:cNvSpPr>
            <a:spLocks noGrp="1"/>
          </p:cNvSpPr>
          <p:nvPr/>
        </p:nvSpPr>
        <p:spPr>
          <a:xfrm>
            <a:off x="3857625" y="1457325"/>
            <a:ext cx="3267075" cy="72390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Adaptive cancellation</a:t>
            </a:r>
          </a:p>
        </p:txBody>
      </p:sp>
      <p:sp>
        <p:nvSpPr>
          <p:cNvPr id="6" name="workflow-50"/>
          <p:cNvSpPr>
            <a:spLocks noGrp="1"/>
          </p:cNvSpPr>
          <p:nvPr/>
        </p:nvSpPr>
        <p:spPr>
          <a:xfrm>
            <a:off x="3857625" y="2714625"/>
            <a:ext cx="3267075" cy="72390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Spectral suppression</a:t>
            </a:r>
          </a:p>
        </p:txBody>
      </p:sp>
      <p:sp>
        <p:nvSpPr>
          <p:cNvPr id="7" name="workflow-51"/>
          <p:cNvSpPr>
            <a:spLocks noGrp="1"/>
          </p:cNvSpPr>
          <p:nvPr/>
        </p:nvSpPr>
        <p:spPr>
          <a:xfrm>
            <a:off x="3857625" y="3971925"/>
            <a:ext cx="3267075" cy="72390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Decomposition</a:t>
            </a:r>
          </a:p>
        </p:txBody>
      </p:sp>
      <p:sp>
        <p:nvSpPr>
          <p:cNvPr id="8" name="workflow-52"/>
          <p:cNvSpPr>
            <a:spLocks noGrp="1"/>
          </p:cNvSpPr>
          <p:nvPr/>
        </p:nvSpPr>
        <p:spPr>
          <a:xfrm>
            <a:off x="3857625" y="5229225"/>
            <a:ext cx="3267075" cy="72390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Source separation</a:t>
            </a:r>
          </a:p>
        </p:txBody>
      </p:sp>
      <p:cxnSp>
        <p:nvCxnSpPr>
          <p:cNvPr id="26" name="肘形连接符 25"/>
          <p:cNvCxnSpPr>
            <a:stCxn id="4" idx="3"/>
            <a:endCxn id="5" idx="1"/>
          </p:cNvCxnSpPr>
          <p:nvPr/>
        </p:nvCxnSpPr>
        <p:spPr>
          <a:xfrm flipV="1">
            <a:off x="2952750" y="1819275"/>
            <a:ext cx="904875" cy="1881188"/>
          </a:xfrm>
          <a:prstGeom prst="bentConnector3">
            <a:avLst>
              <a:gd name="adj1" fmla="val 50000"/>
            </a:avLst>
          </a:prstGeom>
          <a:ln w="19050">
            <a:solidFill>
              <a:srgbClr val="506577"/>
            </a:solidFill>
            <a:tailEnd type="triangle" w="sm" len="sm"/>
          </a:ln>
        </p:spPr>
      </p:cxnSp>
      <p:cxnSp>
        <p:nvCxnSpPr>
          <p:cNvPr id="27" name="肘形连接符 26"/>
          <p:cNvCxnSpPr>
            <a:stCxn id="4" idx="3"/>
            <a:endCxn id="6" idx="1"/>
          </p:cNvCxnSpPr>
          <p:nvPr/>
        </p:nvCxnSpPr>
        <p:spPr>
          <a:xfrm flipV="1">
            <a:off x="2952750" y="3076575"/>
            <a:ext cx="904875" cy="623888"/>
          </a:xfrm>
          <a:prstGeom prst="bentConnector3">
            <a:avLst>
              <a:gd name="adj1" fmla="val 50000"/>
            </a:avLst>
          </a:prstGeom>
          <a:ln w="19050">
            <a:solidFill>
              <a:srgbClr val="506577"/>
            </a:solidFill>
            <a:tailEnd type="triangle" w="sm" len="sm"/>
          </a:ln>
        </p:spPr>
      </p:cxnSp>
      <p:cxnSp>
        <p:nvCxnSpPr>
          <p:cNvPr id="28" name="肘形连接符 27"/>
          <p:cNvCxnSpPr>
            <a:stCxn id="4" idx="3"/>
            <a:endCxn id="7" idx="1"/>
          </p:cNvCxnSpPr>
          <p:nvPr/>
        </p:nvCxnSpPr>
        <p:spPr>
          <a:xfrm>
            <a:off x="2952750" y="3700463"/>
            <a:ext cx="904875" cy="633413"/>
          </a:xfrm>
          <a:prstGeom prst="bentConnector3">
            <a:avLst>
              <a:gd name="adj1" fmla="val 50000"/>
            </a:avLst>
          </a:prstGeom>
          <a:ln w="19050">
            <a:solidFill>
              <a:srgbClr val="506577"/>
            </a:solidFill>
            <a:tailEnd type="triangle" w="sm" len="sm"/>
          </a:ln>
        </p:spPr>
      </p:cxnSp>
      <p:cxnSp>
        <p:nvCxnSpPr>
          <p:cNvPr id="29" name="肘形连接符 28"/>
          <p:cNvCxnSpPr>
            <a:stCxn id="4" idx="3"/>
            <a:endCxn id="8" idx="1"/>
          </p:cNvCxnSpPr>
          <p:nvPr/>
        </p:nvCxnSpPr>
        <p:spPr>
          <a:xfrm>
            <a:off x="2952750" y="3700463"/>
            <a:ext cx="904875" cy="1890713"/>
          </a:xfrm>
          <a:prstGeom prst="bentConnector3">
            <a:avLst>
              <a:gd name="adj1" fmla="val 50000"/>
            </a:avLst>
          </a:prstGeom>
          <a:ln w="19050">
            <a:solidFill>
              <a:srgbClr val="506577"/>
            </a:solidFill>
            <a:tailEnd type="triangle" w="sm" len="sm"/>
          </a:ln>
        </p:spPr>
      </p:cxnSp>
      <p:sp>
        <p:nvSpPr>
          <p:cNvPr id="13" name="text-53"/>
          <p:cNvSpPr>
            <a:spLocks noGrp="1"/>
          </p:cNvSpPr>
          <p:nvPr/>
        </p:nvSpPr>
        <p:spPr>
          <a:xfrm>
            <a:off x="7848600" y="1485900"/>
            <a:ext cx="3638550" cy="76200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Use motion to estimate interference</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Subtract the estimate</a:t>
            </a:r>
          </a:p>
        </p:txBody>
      </p:sp>
      <p:sp>
        <p:nvSpPr>
          <p:cNvPr id="14" name="text-54"/>
          <p:cNvSpPr>
            <a:spLocks noGrp="1"/>
          </p:cNvSpPr>
          <p:nvPr/>
        </p:nvSpPr>
        <p:spPr>
          <a:xfrm>
            <a:off x="7848600" y="2743200"/>
            <a:ext cx="3638550" cy="80010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Reduce motion-dominant frequencies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Use a soft spectral mask</a:t>
            </a:r>
          </a:p>
        </p:txBody>
      </p:sp>
      <p:sp>
        <p:nvSpPr>
          <p:cNvPr id="15" name="text-55"/>
          <p:cNvSpPr>
            <a:spLocks noGrp="1"/>
          </p:cNvSpPr>
          <p:nvPr/>
        </p:nvSpPr>
        <p:spPr>
          <a:xfrm>
            <a:off x="7848600" y="4000500"/>
            <a:ext cx="3638550" cy="76200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Reconstruct selected waveform</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Keep pulse-like components</a:t>
            </a:r>
          </a:p>
        </p:txBody>
      </p:sp>
      <p:sp>
        <p:nvSpPr>
          <p:cNvPr id="16" name="text-56"/>
          <p:cNvSpPr>
            <a:spLocks noGrp="1"/>
          </p:cNvSpPr>
          <p:nvPr/>
        </p:nvSpPr>
        <p:spPr>
          <a:xfrm>
            <a:off x="7848600" y="5257800"/>
            <a:ext cx="3638550" cy="70485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Separate paired optical signals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Use red and infrared channels</a:t>
            </a:r>
          </a:p>
        </p:txBody>
      </p:sp>
      <p:sp>
        <p:nvSpPr>
          <p:cNvPr id="17" name="text-57"/>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Alternative artefact-reduction routes support physiological signal analysis. Classification uses the waveform branch.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ext-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NLMS: IMU based motion artefact cancellation</a:t>
            </a:r>
          </a:p>
        </p:txBody>
      </p:sp>
      <p:sp>
        <p:nvSpPr>
          <p:cNvPr id="2" name="text-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13</a:t>
            </a:r>
          </a:p>
        </p:txBody>
      </p:sp>
      <p:sp>
        <p:nvSpPr>
          <p:cNvPr id="4" name="text-4"/>
          <p:cNvSpPr>
            <a:spLocks noGrp="1"/>
          </p:cNvSpPr>
          <p:nvPr/>
        </p:nvSpPr>
        <p:spPr>
          <a:xfrm>
            <a:off x="571500" y="1419225"/>
            <a:ext cx="5772150" cy="409575"/>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Published adaptive cancellation structure</a:t>
            </a:r>
          </a:p>
        </p:txBody>
      </p:sp>
      <p:pic>
        <p:nvPicPr>
          <p:cNvPr id="24" name="图片 23"/>
          <p:cNvPicPr>
            <a:picLocks noChangeAspect="1"/>
          </p:cNvPicPr>
          <p:nvPr/>
        </p:nvPicPr>
        <p:blipFill>
          <a:blip r:embed="rId3"/>
          <a:stretch>
            <a:fillRect/>
          </a:stretch>
        </p:blipFill>
        <p:spPr>
          <a:xfrm>
            <a:off x="571500" y="2096479"/>
            <a:ext cx="5715000" cy="2426918"/>
          </a:xfrm>
          <a:prstGeom prst="rect">
            <a:avLst/>
          </a:prstGeom>
        </p:spPr>
      </p:pic>
      <p:sp>
        <p:nvSpPr>
          <p:cNvPr id="6" name="text-5"/>
          <p:cNvSpPr>
            <a:spLocks noGrp="1"/>
          </p:cNvSpPr>
          <p:nvPr/>
        </p:nvSpPr>
        <p:spPr>
          <a:xfrm>
            <a:off x="628650" y="4829175"/>
            <a:ext cx="5638800" cy="352425"/>
          </a:xfrm>
          <a:prstGeom prst="rect">
            <a:avLst/>
          </a:prstGeom>
          <a:noFill/>
          <a:ln w="0">
            <a:noFill/>
          </a:ln>
        </p:spPr>
        <p:txBody>
          <a:bodyPr wrap="square" lIns="0" tIns="0" rIns="0" bIns="0" anchor="t">
            <a:noAutofit/>
          </a:bodyPr>
          <a:lstStyle/>
          <a:p>
            <a:pPr algn="l">
              <a:defRPr sz="1950" b="1">
                <a:solidFill>
                  <a:srgbClr val="152C3F"/>
                </a:solidFill>
                <a:latin typeface="DejaVu Sans" panose="020B0603030804020204"/>
                <a:ea typeface="DejaVu Sans" panose="020B0603030804020204"/>
                <a:cs typeface="DejaVu Sans" panose="020B0603030804020204"/>
              </a:defRPr>
            </a:pPr>
            <a:r>
              <a:rPr sz="1950" b="1">
                <a:solidFill>
                  <a:srgbClr val="152C3F"/>
                </a:solidFill>
                <a:latin typeface="DejaVu Sans" panose="020B0603030804020204"/>
                <a:ea typeface="DejaVu Sans" panose="020B0603030804020204"/>
                <a:cs typeface="DejaVu Sans" panose="020B0603030804020204"/>
              </a:rPr>
              <a:t>IMU motion estimates the artefact</a:t>
            </a:r>
          </a:p>
        </p:txBody>
      </p:sp>
      <p:sp>
        <p:nvSpPr>
          <p:cNvPr id="7" name="text-6"/>
          <p:cNvSpPr>
            <a:spLocks noGrp="1"/>
          </p:cNvSpPr>
          <p:nvPr/>
        </p:nvSpPr>
        <p:spPr>
          <a:xfrm>
            <a:off x="628650" y="5257800"/>
            <a:ext cx="5581650" cy="676275"/>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Subtract the estimate from PPG.</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The residual updates the filter weights.</a:t>
            </a:r>
          </a:p>
        </p:txBody>
      </p:sp>
      <p:sp>
        <p:nvSpPr>
          <p:cNvPr id="8" name="text-7"/>
          <p:cNvSpPr>
            <a:spLocks noGrp="1"/>
          </p:cNvSpPr>
          <p:nvPr/>
        </p:nvSpPr>
        <p:spPr>
          <a:xfrm>
            <a:off x="6772275" y="1419225"/>
            <a:ext cx="4857750" cy="647700"/>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Pipeline: normalised least mean squares (NLMS)</a:t>
            </a:r>
          </a:p>
        </p:txBody>
      </p:sp>
      <p:sp>
        <p:nvSpPr>
          <p:cNvPr id="9" name="workflow-8"/>
          <p:cNvSpPr>
            <a:spLocks noGrp="1"/>
          </p:cNvSpPr>
          <p:nvPr/>
        </p:nvSpPr>
        <p:spPr>
          <a:xfrm>
            <a:off x="6772275" y="2238375"/>
            <a:ext cx="2000250" cy="647700"/>
          </a:xfrm>
          <a:prstGeom prst="rect">
            <a:avLst/>
          </a:prstGeom>
          <a:solidFill>
            <a:srgbClr val="ECF4F6"/>
          </a:solidFill>
          <a:ln w="16193">
            <a:solidFill>
              <a:srgbClr val="087E8B"/>
            </a:solidFill>
          </a:ln>
        </p:spPr>
        <p:txBody>
          <a:bodyPr lIns="95250" tIns="76200" rIns="95250" bIns="76200" anchor="ctr">
            <a:noAutofit/>
          </a:bodyPr>
          <a:lstStyle/>
          <a:p>
            <a:pPr algn="ctr">
              <a:defRPr sz="1575">
                <a:solidFill>
                  <a:srgbClr val="087E8B"/>
                </a:solidFill>
                <a:latin typeface="DejaVu Sans" panose="020B0603030804020204"/>
                <a:ea typeface="DejaVu Sans" panose="020B0603030804020204"/>
                <a:cs typeface="DejaVu Sans" panose="020B0603030804020204"/>
              </a:defRPr>
            </a:pPr>
            <a:r>
              <a:rPr sz="1575">
                <a:solidFill>
                  <a:srgbClr val="087E8B"/>
                </a:solidFill>
                <a:latin typeface="DejaVu Sans" panose="020B0603030804020204"/>
                <a:ea typeface="DejaVu Sans" panose="020B0603030804020204"/>
                <a:cs typeface="DejaVu Sans" panose="020B0603030804020204"/>
              </a:rPr>
              <a:t>Six IMU axes</a:t>
            </a:r>
          </a:p>
        </p:txBody>
      </p:sp>
      <p:sp>
        <p:nvSpPr>
          <p:cNvPr id="10" name="workflow-9"/>
          <p:cNvSpPr>
            <a:spLocks noGrp="1"/>
          </p:cNvSpPr>
          <p:nvPr/>
        </p:nvSpPr>
        <p:spPr>
          <a:xfrm>
            <a:off x="9563100" y="2238375"/>
            <a:ext cx="2028825" cy="647700"/>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Delayed samples</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r[n]</a:t>
            </a:r>
          </a:p>
        </p:txBody>
      </p:sp>
      <p:sp>
        <p:nvSpPr>
          <p:cNvPr id="11" name="workflow-10"/>
          <p:cNvSpPr>
            <a:spLocks noGrp="1"/>
          </p:cNvSpPr>
          <p:nvPr/>
        </p:nvSpPr>
        <p:spPr>
          <a:xfrm>
            <a:off x="6772275" y="3390900"/>
            <a:ext cx="2000250" cy="685800"/>
          </a:xfrm>
          <a:prstGeom prst="rect">
            <a:avLst/>
          </a:prstGeom>
          <a:solidFill>
            <a:srgbClr val="EDF3FA"/>
          </a:solidFill>
          <a:ln w="16193">
            <a:solidFill>
              <a:srgbClr val="2874AE"/>
            </a:solidFill>
          </a:ln>
        </p:spPr>
        <p:txBody>
          <a:bodyPr lIns="95250" tIns="76200" rIns="95250" bIns="76200" anchor="ctr">
            <a:noAutofit/>
          </a:bodyPr>
          <a:lstStyle/>
          <a:p>
            <a:pPr algn="ctr">
              <a:defRPr sz="1575">
                <a:solidFill>
                  <a:srgbClr val="2874AE"/>
                </a:solidFill>
                <a:latin typeface="DejaVu Sans" panose="020B0603030804020204"/>
                <a:ea typeface="DejaVu Sans" panose="020B0603030804020204"/>
                <a:cs typeface="DejaVu Sans" panose="020B0603030804020204"/>
              </a:defRPr>
            </a:pPr>
            <a:r>
              <a:rPr sz="1575">
                <a:solidFill>
                  <a:srgbClr val="2874AE"/>
                </a:solidFill>
                <a:latin typeface="DejaVu Sans" panose="020B0603030804020204"/>
                <a:ea typeface="DejaVu Sans" panose="020B0603030804020204"/>
                <a:cs typeface="DejaVu Sans" panose="020B0603030804020204"/>
              </a:rPr>
              <a:t>RED / IR PPG</a:t>
            </a:r>
          </a:p>
          <a:p>
            <a:pPr algn="ctr">
              <a:defRPr sz="1575">
                <a:solidFill>
                  <a:srgbClr val="2874AE"/>
                </a:solidFill>
                <a:latin typeface="DejaVu Sans" panose="020B0603030804020204"/>
                <a:ea typeface="DejaVu Sans" panose="020B0603030804020204"/>
                <a:cs typeface="DejaVu Sans" panose="020B0603030804020204"/>
              </a:defRPr>
            </a:pPr>
            <a:r>
              <a:rPr sz="1575">
                <a:solidFill>
                  <a:srgbClr val="2874AE"/>
                </a:solidFill>
                <a:latin typeface="DejaVu Sans" panose="020B0603030804020204"/>
                <a:ea typeface="DejaVu Sans" panose="020B0603030804020204"/>
                <a:cs typeface="DejaVu Sans" panose="020B0603030804020204"/>
              </a:rPr>
              <a:t>d[n]</a:t>
            </a:r>
          </a:p>
        </p:txBody>
      </p:sp>
      <p:sp>
        <p:nvSpPr>
          <p:cNvPr id="12" name="workflow-11"/>
          <p:cNvSpPr>
            <a:spLocks noGrp="1"/>
          </p:cNvSpPr>
          <p:nvPr/>
        </p:nvSpPr>
        <p:spPr>
          <a:xfrm>
            <a:off x="9563100" y="3390900"/>
            <a:ext cx="2028825" cy="685800"/>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Estimate artefact</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â[n] = wᵀr[n]</a:t>
            </a:r>
          </a:p>
        </p:txBody>
      </p:sp>
      <p:sp>
        <p:nvSpPr>
          <p:cNvPr id="13" name="workflow-12"/>
          <p:cNvSpPr>
            <a:spLocks noGrp="1"/>
          </p:cNvSpPr>
          <p:nvPr/>
        </p:nvSpPr>
        <p:spPr>
          <a:xfrm>
            <a:off x="6772275" y="4686300"/>
            <a:ext cx="4819650" cy="771525"/>
          </a:xfrm>
          <a:prstGeom prst="rect">
            <a:avLst/>
          </a:prstGeom>
          <a:solidFill>
            <a:srgbClr val="F2EFF7"/>
          </a:solidFill>
          <a:ln w="16193">
            <a:solidFill>
              <a:srgbClr val="7056A8"/>
            </a:solidFill>
          </a:ln>
        </p:spPr>
        <p:txBody>
          <a:bodyPr lIns="95250" tIns="76200" rIns="95250" bIns="76200" anchor="ctr">
            <a:noAutofit/>
          </a:bodyPr>
          <a:lstStyle/>
          <a:p>
            <a:pPr algn="ctr">
              <a:defRPr sz="1650">
                <a:solidFill>
                  <a:srgbClr val="7056A8"/>
                </a:solidFill>
                <a:latin typeface="DejaVu Sans" panose="020B0603030804020204"/>
                <a:ea typeface="DejaVu Sans" panose="020B0603030804020204"/>
                <a:cs typeface="DejaVu Sans" panose="020B0603030804020204"/>
              </a:defRPr>
            </a:pPr>
            <a:r>
              <a:rPr sz="1650">
                <a:solidFill>
                  <a:srgbClr val="7056A8"/>
                </a:solidFill>
                <a:latin typeface="DejaVu Sans" panose="020B0603030804020204"/>
                <a:ea typeface="DejaVu Sans" panose="020B0603030804020204"/>
                <a:cs typeface="DejaVu Sans" panose="020B0603030804020204"/>
              </a:rPr>
              <a:t>Residual e[n] = d[n] − â[n]</a:t>
            </a:r>
          </a:p>
        </p:txBody>
      </p:sp>
      <p:cxnSp>
        <p:nvCxnSpPr>
          <p:cNvPr id="33" name="直接箭头连接符 32"/>
          <p:cNvCxnSpPr>
            <a:stCxn id="9" idx="3"/>
            <a:endCxn id="10" idx="1"/>
          </p:cNvCxnSpPr>
          <p:nvPr/>
        </p:nvCxnSpPr>
        <p:spPr>
          <a:xfrm>
            <a:off x="8772525" y="2562225"/>
            <a:ext cx="790575" cy="0"/>
          </a:xfrm>
          <a:prstGeom prst="straightConnector1">
            <a:avLst/>
          </a:prstGeom>
          <a:ln w="19050">
            <a:solidFill>
              <a:srgbClr val="506577"/>
            </a:solidFill>
            <a:tailEnd type="triangle" w="sm" len="sm"/>
          </a:ln>
        </p:spPr>
      </p:cxnSp>
      <p:cxnSp>
        <p:nvCxnSpPr>
          <p:cNvPr id="34" name="直接箭头连接符 33"/>
          <p:cNvCxnSpPr>
            <a:stCxn id="10" idx="2"/>
            <a:endCxn id="12" idx="0"/>
          </p:cNvCxnSpPr>
          <p:nvPr/>
        </p:nvCxnSpPr>
        <p:spPr>
          <a:xfrm>
            <a:off x="10577513" y="2886075"/>
            <a:ext cx="0" cy="504825"/>
          </a:xfrm>
          <a:prstGeom prst="straightConnector1">
            <a:avLst/>
          </a:prstGeom>
          <a:ln w="19050">
            <a:solidFill>
              <a:srgbClr val="506577"/>
            </a:solidFill>
            <a:tailEnd type="triangle" w="sm" len="sm"/>
          </a:ln>
        </p:spPr>
      </p:cxnSp>
      <p:cxnSp>
        <p:nvCxnSpPr>
          <p:cNvPr id="35" name="肘形连接符 34"/>
          <p:cNvCxnSpPr>
            <a:stCxn id="11" idx="2"/>
            <a:endCxn id="13" idx="0"/>
          </p:cNvCxnSpPr>
          <p:nvPr/>
        </p:nvCxnSpPr>
        <p:spPr>
          <a:xfrm>
            <a:off x="7772400" y="4076700"/>
            <a:ext cx="1409700" cy="609600"/>
          </a:xfrm>
          <a:prstGeom prst="bentConnector4">
            <a:avLst>
              <a:gd name="adj1" fmla="val 0"/>
              <a:gd name="adj2" fmla="val 50000"/>
            </a:avLst>
          </a:prstGeom>
          <a:ln w="19050">
            <a:solidFill>
              <a:srgbClr val="506577"/>
            </a:solidFill>
            <a:tailEnd type="triangle" w="sm" len="sm"/>
          </a:ln>
        </p:spPr>
      </p:cxnSp>
      <p:cxnSp>
        <p:nvCxnSpPr>
          <p:cNvPr id="36" name="肘形连接符 35"/>
          <p:cNvCxnSpPr>
            <a:stCxn id="12" idx="2"/>
            <a:endCxn id="13" idx="0"/>
          </p:cNvCxnSpPr>
          <p:nvPr/>
        </p:nvCxnSpPr>
        <p:spPr>
          <a:xfrm flipH="1">
            <a:off x="9182100" y="4076700"/>
            <a:ext cx="1395413" cy="609600"/>
          </a:xfrm>
          <a:prstGeom prst="bentConnector4">
            <a:avLst>
              <a:gd name="adj1" fmla="val 0"/>
              <a:gd name="adj2" fmla="val 50000"/>
            </a:avLst>
          </a:prstGeom>
          <a:ln w="19050">
            <a:solidFill>
              <a:srgbClr val="506577"/>
            </a:solidFill>
            <a:tailEnd type="triangle" w="sm" len="sm"/>
          </a:ln>
        </p:spPr>
      </p:cxnSp>
      <p:sp>
        <p:nvSpPr>
          <p:cNvPr id="18" name="text-13"/>
          <p:cNvSpPr>
            <a:spLocks noGrp="1"/>
          </p:cNvSpPr>
          <p:nvPr/>
        </p:nvSpPr>
        <p:spPr>
          <a:xfrm>
            <a:off x="6886575" y="5619750"/>
            <a:ext cx="4705350" cy="314325"/>
          </a:xfrm>
          <a:prstGeom prst="rect">
            <a:avLst/>
          </a:prstGeom>
          <a:noFill/>
          <a:ln w="0">
            <a:noFill/>
          </a:ln>
        </p:spPr>
        <p:txBody>
          <a:bodyPr wrap="square" lIns="0" tIns="0" rIns="0" bIns="0" anchor="t">
            <a:noAutofit/>
          </a:bodyPr>
          <a:lstStyle/>
          <a:p>
            <a:pPr algn="l">
              <a:defRPr sz="1575" b="1">
                <a:solidFill>
                  <a:srgbClr val="7056A8"/>
                </a:solidFill>
                <a:latin typeface="DejaVu Sans" panose="020B0603030804020204"/>
                <a:ea typeface="DejaVu Sans" panose="020B0603030804020204"/>
                <a:cs typeface="DejaVu Sans" panose="020B0603030804020204"/>
              </a:defRPr>
            </a:pPr>
            <a:r>
              <a:rPr sz="1575" b="1">
                <a:solidFill>
                  <a:srgbClr val="7056A8"/>
                </a:solidFill>
                <a:latin typeface="DejaVu Sans" panose="020B0603030804020204"/>
                <a:ea typeface="DejaVu Sans" panose="020B0603030804020204"/>
                <a:cs typeface="DejaVu Sans" panose="020B0603030804020204"/>
              </a:rPr>
              <a:t>Use e[n] to update w at each sample</a:t>
            </a:r>
          </a:p>
        </p:txBody>
      </p:sp>
      <p:sp>
        <p:nvSpPr>
          <p:cNvPr id="19" name="text-14"/>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Shin &amp; Cho, 2019, Fig. 2. Each wavelength uses synchronised PPG and IMU samples.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2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Spectral masking: motion-dominant frequencies</a:t>
            </a:r>
          </a:p>
        </p:txBody>
      </p:sp>
      <p:sp>
        <p:nvSpPr>
          <p:cNvPr id="2" name="text-3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3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14</a:t>
            </a:r>
          </a:p>
        </p:txBody>
      </p:sp>
      <p:graphicFrame>
        <p:nvGraphicFramePr>
          <p:cNvPr id="17" name="Chart"/>
          <p:cNvGraphicFramePr/>
          <p:nvPr/>
        </p:nvGraphicFramePr>
        <p:xfrm>
          <a:off x="457200" y="1304925"/>
          <a:ext cx="7620000" cy="173355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32"/>
          <p:cNvSpPr>
            <a:spLocks noGrp="1"/>
          </p:cNvSpPr>
          <p:nvPr/>
        </p:nvSpPr>
        <p:spPr>
          <a:xfrm>
            <a:off x="8763000" y="1552575"/>
            <a:ext cx="2628900" cy="657225"/>
          </a:xfrm>
          <a:prstGeom prst="rect">
            <a:avLst/>
          </a:prstGeom>
          <a:noFill/>
          <a:ln w="0">
            <a:noFill/>
          </a:ln>
        </p:spPr>
        <p:txBody>
          <a:bodyPr wrap="square" lIns="0" tIns="0" rIns="0" bIns="0" anchor="t">
            <a:noAutofit/>
          </a:bodyPr>
          <a:lstStyle/>
          <a:p>
            <a:pPr algn="l">
              <a:defRPr sz="1800" b="1">
                <a:solidFill>
                  <a:srgbClr val="087E8B"/>
                </a:solidFill>
                <a:latin typeface="DejaVu Sans" panose="020B0603030804020204"/>
                <a:ea typeface="DejaVu Sans" panose="020B0603030804020204"/>
                <a:cs typeface="DejaVu Sans" panose="020B0603030804020204"/>
              </a:defRPr>
            </a:pPr>
            <a:r>
              <a:rPr sz="1800" b="1">
                <a:solidFill>
                  <a:srgbClr val="087E8B"/>
                </a:solidFill>
                <a:latin typeface="DejaVu Sans" panose="020B0603030804020204"/>
                <a:ea typeface="DejaVu Sans" panose="020B0603030804020204"/>
                <a:cs typeface="DejaVu Sans" panose="020B0603030804020204"/>
              </a:rPr>
              <a:t>4 s </a:t>
            </a:r>
            <a:r>
              <a:rPr lang="en-US" sz="1800" b="1">
                <a:solidFill>
                  <a:srgbClr val="087E8B"/>
                </a:solidFill>
                <a:latin typeface="DejaVu Sans" panose="020B0603030804020204"/>
                <a:ea typeface="DejaVu Sans" panose="020B0603030804020204"/>
                <a:cs typeface="DejaVu Sans" panose="020B0603030804020204"/>
              </a:rPr>
              <a:t>window</a:t>
            </a:r>
            <a:endParaRPr sz="1800" b="1">
              <a:solidFill>
                <a:srgbClr val="087E8B"/>
              </a:solidFill>
              <a:latin typeface="DejaVu Sans" panose="020B0603030804020204"/>
              <a:ea typeface="DejaVu Sans" panose="020B0603030804020204"/>
              <a:cs typeface="DejaVu Sans" panose="020B0603030804020204"/>
            </a:endParaRPr>
          </a:p>
          <a:p>
            <a:pPr algn="l">
              <a:defRPr sz="1800" b="1">
                <a:solidFill>
                  <a:srgbClr val="087E8B"/>
                </a:solidFill>
                <a:latin typeface="DejaVu Sans" panose="020B0603030804020204"/>
                <a:ea typeface="DejaVu Sans" panose="020B0603030804020204"/>
                <a:cs typeface="DejaVu Sans" panose="020B0603030804020204"/>
              </a:defRPr>
            </a:pPr>
            <a:r>
              <a:rPr sz="1800" b="1">
                <a:solidFill>
                  <a:srgbClr val="087E8B"/>
                </a:solidFill>
                <a:latin typeface="DejaVu Sans" panose="020B0603030804020204"/>
                <a:ea typeface="DejaVu Sans" panose="020B0603030804020204"/>
                <a:cs typeface="DejaVu Sans" panose="020B0603030804020204"/>
              </a:rPr>
              <a:t>1 s hop</a:t>
            </a:r>
          </a:p>
        </p:txBody>
      </p:sp>
      <p:sp>
        <p:nvSpPr>
          <p:cNvPr id="6" name="text-33"/>
          <p:cNvSpPr>
            <a:spLocks noGrp="1"/>
          </p:cNvSpPr>
          <p:nvPr/>
        </p:nvSpPr>
        <p:spPr>
          <a:xfrm>
            <a:off x="8763000" y="2314575"/>
            <a:ext cx="2628900" cy="581025"/>
          </a:xfrm>
          <a:prstGeom prst="rect">
            <a:avLst/>
          </a:prstGeom>
          <a:noFill/>
          <a:ln w="0">
            <a:noFill/>
          </a:ln>
        </p:spPr>
        <p:txBody>
          <a:bodyPr wrap="square" lIns="0" tIns="0" rIns="0" bIns="0" anchor="t">
            <a:noAutofit/>
          </a:bodyPr>
          <a:lstStyle/>
          <a:p>
            <a:pPr algn="l">
              <a:defRPr sz="1500" b="0">
                <a:solidFill>
                  <a:srgbClr val="152C3F"/>
                </a:solidFill>
                <a:latin typeface="DejaVu Sans" panose="020B0603030804020204"/>
                <a:ea typeface="DejaVu Sans" panose="020B0603030804020204"/>
                <a:cs typeface="DejaVu Sans" panose="020B0603030804020204"/>
              </a:defRPr>
            </a:pPr>
            <a:r>
              <a:rPr sz="1500" b="0">
                <a:solidFill>
                  <a:srgbClr val="152C3F"/>
                </a:solidFill>
                <a:latin typeface="DejaVu Sans" panose="020B0603030804020204"/>
                <a:ea typeface="DejaVu Sans" panose="020B0603030804020204"/>
                <a:cs typeface="DejaVu Sans" panose="020B0603030804020204"/>
              </a:rPr>
              <a:t>Process overlapping</a:t>
            </a:r>
          </a:p>
          <a:p>
            <a:pPr algn="l">
              <a:defRPr sz="1500" b="0">
                <a:solidFill>
                  <a:srgbClr val="152C3F"/>
                </a:solidFill>
                <a:latin typeface="DejaVu Sans" panose="020B0603030804020204"/>
                <a:ea typeface="DejaVu Sans" panose="020B0603030804020204"/>
                <a:cs typeface="DejaVu Sans" panose="020B0603030804020204"/>
              </a:defRPr>
            </a:pPr>
            <a:r>
              <a:rPr sz="1500" b="0">
                <a:solidFill>
                  <a:srgbClr val="152C3F"/>
                </a:solidFill>
                <a:latin typeface="DejaVu Sans" panose="020B0603030804020204"/>
                <a:ea typeface="DejaVu Sans" panose="020B0603030804020204"/>
                <a:cs typeface="DejaVu Sans" panose="020B0603030804020204"/>
              </a:rPr>
              <a:t>frequency snapshots</a:t>
            </a:r>
          </a:p>
        </p:txBody>
      </p:sp>
      <p:sp>
        <p:nvSpPr>
          <p:cNvPr id="7" name="text-34"/>
          <p:cNvSpPr>
            <a:spLocks noGrp="1"/>
          </p:cNvSpPr>
          <p:nvPr/>
        </p:nvSpPr>
        <p:spPr>
          <a:xfrm>
            <a:off x="581025" y="3124200"/>
            <a:ext cx="5943600" cy="333375"/>
          </a:xfrm>
          <a:prstGeom prst="rect">
            <a:avLst/>
          </a:prstGeom>
          <a:noFill/>
          <a:ln w="0">
            <a:noFill/>
          </a:ln>
        </p:spPr>
        <p:txBody>
          <a:bodyPr wrap="square" lIns="0" tIns="0" rIns="0" bIns="0" anchor="t">
            <a:noAutofit/>
          </a:bodyPr>
          <a:lstStyle/>
          <a:p>
            <a:pPr algn="l">
              <a:defRPr sz="1650" b="1">
                <a:solidFill>
                  <a:srgbClr val="152C3F"/>
                </a:solidFill>
                <a:latin typeface="DejaVu Sans" panose="020B0603030804020204"/>
                <a:ea typeface="DejaVu Sans" panose="020B0603030804020204"/>
                <a:cs typeface="DejaVu Sans" panose="020B0603030804020204"/>
              </a:defRPr>
            </a:pPr>
            <a:r>
              <a:rPr sz="1650" b="1">
                <a:solidFill>
                  <a:srgbClr val="152C3F"/>
                </a:solidFill>
                <a:latin typeface="DejaVu Sans" panose="020B0603030804020204"/>
                <a:ea typeface="DejaVu Sans" panose="020B0603030804020204"/>
                <a:cs typeface="DejaVu Sans" panose="020B0603030804020204"/>
              </a:rPr>
              <a:t>Normalized PPG and motion spectra</a:t>
            </a:r>
          </a:p>
        </p:txBody>
      </p:sp>
      <p:graphicFrame>
        <p:nvGraphicFramePr>
          <p:cNvPr id="21" name="Chart"/>
          <p:cNvGraphicFramePr/>
          <p:nvPr/>
        </p:nvGraphicFramePr>
        <p:xfrm>
          <a:off x="457200" y="3533775"/>
          <a:ext cx="5724525"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35"/>
          <p:cNvSpPr>
            <a:spLocks noGrp="1"/>
          </p:cNvSpPr>
          <p:nvPr/>
        </p:nvSpPr>
        <p:spPr>
          <a:xfrm>
            <a:off x="6581775" y="3124200"/>
            <a:ext cx="5019675" cy="333375"/>
          </a:xfrm>
          <a:prstGeom prst="rect">
            <a:avLst/>
          </a:prstGeom>
          <a:noFill/>
          <a:ln w="0">
            <a:noFill/>
          </a:ln>
        </p:spPr>
        <p:txBody>
          <a:bodyPr wrap="square" lIns="0" tIns="0" rIns="0" bIns="0" anchor="t">
            <a:noAutofit/>
          </a:bodyPr>
          <a:lstStyle/>
          <a:p>
            <a:pPr algn="l">
              <a:defRPr sz="1650" b="1">
                <a:solidFill>
                  <a:srgbClr val="7056A8"/>
                </a:solidFill>
                <a:latin typeface="DejaVu Sans" panose="020B0603030804020204"/>
                <a:ea typeface="DejaVu Sans" panose="020B0603030804020204"/>
                <a:cs typeface="DejaVu Sans" panose="020B0603030804020204"/>
              </a:defRPr>
            </a:pPr>
            <a:r>
              <a:rPr sz="1650" b="1">
                <a:solidFill>
                  <a:srgbClr val="7056A8"/>
                </a:solidFill>
                <a:latin typeface="DejaVu Sans" panose="020B0603030804020204"/>
                <a:ea typeface="DejaVu Sans" panose="020B0603030804020204"/>
                <a:cs typeface="DejaVu Sans" panose="020B0603030804020204"/>
              </a:rPr>
              <a:t>Gain applied to the PPG spectrum</a:t>
            </a:r>
          </a:p>
        </p:txBody>
      </p:sp>
      <p:graphicFrame>
        <p:nvGraphicFramePr>
          <p:cNvPr id="23" name="Chart"/>
          <p:cNvGraphicFramePr/>
          <p:nvPr/>
        </p:nvGraphicFramePr>
        <p:xfrm>
          <a:off x="6457950" y="3533775"/>
          <a:ext cx="5200650" cy="205740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36"/>
          <p:cNvSpPr>
            <a:spLocks noGrp="1"/>
          </p:cNvSpPr>
          <p:nvPr/>
        </p:nvSpPr>
        <p:spPr>
          <a:xfrm>
            <a:off x="809625" y="5648325"/>
            <a:ext cx="5153025" cy="285750"/>
          </a:xfrm>
          <a:prstGeom prst="rect">
            <a:avLst/>
          </a:prstGeom>
          <a:noFill/>
          <a:ln w="0">
            <a:noFill/>
          </a:ln>
        </p:spPr>
        <p:txBody>
          <a:bodyPr wrap="square" lIns="0" tIns="0" rIns="0" bIns="0" anchor="t">
            <a:noAutofit/>
          </a:bodyPr>
          <a:lstStyle/>
          <a:p>
            <a:pPr algn="l">
              <a:defRPr sz="1425" b="0">
                <a:solidFill>
                  <a:srgbClr val="506577"/>
                </a:solidFill>
                <a:latin typeface="DejaVu Sans" panose="020B0603030804020204"/>
                <a:ea typeface="DejaVu Sans" panose="020B0603030804020204"/>
                <a:cs typeface="DejaVu Sans" panose="020B0603030804020204"/>
              </a:defRPr>
            </a:pPr>
            <a:r>
              <a:rPr sz="1425" b="0">
                <a:solidFill>
                  <a:srgbClr val="506577"/>
                </a:solidFill>
                <a:latin typeface="DejaVu Sans" panose="020B0603030804020204"/>
                <a:ea typeface="DejaVu Sans" panose="020B0603030804020204"/>
                <a:cs typeface="DejaVu Sans" panose="020B0603030804020204"/>
              </a:rPr>
              <a:t>Teal: PPG   Orange: motion</a:t>
            </a:r>
          </a:p>
        </p:txBody>
      </p:sp>
      <p:sp>
        <p:nvSpPr>
          <p:cNvPr id="12" name="text-37"/>
          <p:cNvSpPr>
            <a:spLocks noGrp="1"/>
          </p:cNvSpPr>
          <p:nvPr/>
        </p:nvSpPr>
        <p:spPr>
          <a:xfrm>
            <a:off x="6677025" y="5648325"/>
            <a:ext cx="4886325" cy="285750"/>
          </a:xfrm>
          <a:prstGeom prst="rect">
            <a:avLst/>
          </a:prstGeom>
          <a:noFill/>
          <a:ln w="0">
            <a:noFill/>
          </a:ln>
        </p:spPr>
        <p:txBody>
          <a:bodyPr wrap="square" lIns="0" tIns="0" rIns="0" bIns="0" anchor="t">
            <a:noAutofit/>
          </a:bodyPr>
          <a:lstStyle/>
          <a:p>
            <a:pPr algn="l">
              <a:defRPr sz="1425" b="1">
                <a:solidFill>
                  <a:srgbClr val="7056A8"/>
                </a:solidFill>
                <a:latin typeface="DejaVu Sans" panose="020B0603030804020204"/>
                <a:ea typeface="DejaVu Sans" panose="020B0603030804020204"/>
                <a:cs typeface="DejaVu Sans" panose="020B0603030804020204"/>
              </a:defRPr>
            </a:pPr>
            <a:r>
              <a:rPr sz="1425" b="1">
                <a:solidFill>
                  <a:srgbClr val="7056A8"/>
                </a:solidFill>
                <a:latin typeface="DejaVu Sans" panose="020B0603030804020204"/>
                <a:ea typeface="DejaVu Sans" panose="020B0603030804020204"/>
                <a:cs typeface="DejaVu Sans" panose="020B0603030804020204"/>
              </a:rPr>
              <a:t>More motion relative to PPG = lower gain</a:t>
            </a:r>
          </a:p>
        </p:txBody>
      </p:sp>
      <p:sp>
        <p:nvSpPr>
          <p:cNvPr id="13" name="text-38"/>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Illustrative signal. In-band gain ≥0.2 avoids complete removal. PPG phase remains unchanged.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ext-3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Spectral masking: parallel signal pathways</a:t>
            </a:r>
          </a:p>
        </p:txBody>
      </p:sp>
      <p:sp>
        <p:nvSpPr>
          <p:cNvPr id="2" name="text-4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4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15</a:t>
            </a:r>
          </a:p>
        </p:txBody>
      </p:sp>
      <p:sp>
        <p:nvSpPr>
          <p:cNvPr id="4" name="workflow-42"/>
          <p:cNvSpPr>
            <a:spLocks noGrp="1"/>
          </p:cNvSpPr>
          <p:nvPr/>
        </p:nvSpPr>
        <p:spPr>
          <a:xfrm>
            <a:off x="762000" y="1390650"/>
            <a:ext cx="2428875" cy="561975"/>
          </a:xfrm>
          <a:prstGeom prst="rect">
            <a:avLst/>
          </a:prstGeom>
          <a:solidFill>
            <a:srgbClr val="ECF4F6"/>
          </a:solidFill>
          <a:ln w="16193">
            <a:solidFill>
              <a:srgbClr val="152C3F"/>
            </a:solidFill>
          </a:ln>
        </p:spPr>
        <p:txBody>
          <a:bodyPr lIns="95250" tIns="76200" rIns="95250" bIns="76200" anchor="ctr">
            <a:noAutofit/>
          </a:bodyPr>
          <a:lstStyle/>
          <a:p>
            <a:pPr algn="ctr">
              <a:defRPr sz="1500">
                <a:solidFill>
                  <a:srgbClr val="152C3F"/>
                </a:solidFill>
                <a:latin typeface="DejaVu Sans" panose="020B0603030804020204"/>
                <a:ea typeface="DejaVu Sans" panose="020B0603030804020204"/>
                <a:cs typeface="DejaVu Sans" panose="020B0603030804020204"/>
              </a:defRPr>
            </a:pPr>
            <a:r>
              <a:rPr sz="1500">
                <a:solidFill>
                  <a:srgbClr val="152C3F"/>
                </a:solidFill>
                <a:latin typeface="DejaVu Sans" panose="020B0603030804020204"/>
                <a:ea typeface="DejaVu Sans" panose="020B0603030804020204"/>
                <a:cs typeface="DejaVu Sans" panose="020B0603030804020204"/>
              </a:rPr>
              <a:t>PPG channel</a:t>
            </a:r>
          </a:p>
        </p:txBody>
      </p:sp>
      <p:sp>
        <p:nvSpPr>
          <p:cNvPr id="5" name="workflow-43"/>
          <p:cNvSpPr>
            <a:spLocks noGrp="1"/>
          </p:cNvSpPr>
          <p:nvPr/>
        </p:nvSpPr>
        <p:spPr>
          <a:xfrm>
            <a:off x="8801100" y="1390650"/>
            <a:ext cx="2762250" cy="561975"/>
          </a:xfrm>
          <a:prstGeom prst="rect">
            <a:avLst/>
          </a:prstGeom>
          <a:solidFill>
            <a:srgbClr val="ECF4F6"/>
          </a:solidFill>
          <a:ln w="16193">
            <a:solidFill>
              <a:srgbClr val="B96D20"/>
            </a:solidFill>
          </a:ln>
        </p:spPr>
        <p:txBody>
          <a:bodyPr lIns="95250" tIns="76200" rIns="95250" bIns="76200" anchor="ctr">
            <a:noAutofit/>
          </a:bodyPr>
          <a:lstStyle/>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6 IMU axes</a:t>
            </a:r>
          </a:p>
        </p:txBody>
      </p:sp>
      <p:sp>
        <p:nvSpPr>
          <p:cNvPr id="6" name="workflow-44"/>
          <p:cNvSpPr>
            <a:spLocks noGrp="1"/>
          </p:cNvSpPr>
          <p:nvPr/>
        </p:nvSpPr>
        <p:spPr>
          <a:xfrm>
            <a:off x="762000" y="2438400"/>
            <a:ext cx="2428875" cy="63817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Hann STFT</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X(f,t)</a:t>
            </a:r>
          </a:p>
        </p:txBody>
      </p:sp>
      <p:sp>
        <p:nvSpPr>
          <p:cNvPr id="7" name="workflow-45"/>
          <p:cNvSpPr>
            <a:spLocks noGrp="1"/>
          </p:cNvSpPr>
          <p:nvPr/>
        </p:nvSpPr>
        <p:spPr>
          <a:xfrm>
            <a:off x="8801100" y="2438400"/>
            <a:ext cx="2762250" cy="638175"/>
          </a:xfrm>
          <a:prstGeom prst="rect">
            <a:avLst/>
          </a:prstGeom>
          <a:solidFill>
            <a:srgbClr val="ECF4F6"/>
          </a:solidFill>
          <a:ln w="16193">
            <a:solidFill>
              <a:srgbClr val="B96D20"/>
            </a:solidFill>
          </a:ln>
        </p:spPr>
        <p:txBody>
          <a:bodyPr lIns="95250" tIns="76200" rIns="95250" bIns="76200" anchor="ctr">
            <a:noAutofit/>
          </a:bodyPr>
          <a:lstStyle/>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Hann STFT</a:t>
            </a:r>
          </a:p>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U₁(f,t), …, U₆(f,t)</a:t>
            </a:r>
          </a:p>
        </p:txBody>
      </p:sp>
      <p:cxnSp>
        <p:nvCxnSpPr>
          <p:cNvPr id="37" name="直接箭头连接符 36"/>
          <p:cNvCxnSpPr>
            <a:stCxn id="4" idx="2"/>
            <a:endCxn id="6" idx="0"/>
          </p:cNvCxnSpPr>
          <p:nvPr/>
        </p:nvCxnSpPr>
        <p:spPr>
          <a:xfrm>
            <a:off x="1976438" y="1952625"/>
            <a:ext cx="0" cy="485775"/>
          </a:xfrm>
          <a:prstGeom prst="straightConnector1">
            <a:avLst/>
          </a:prstGeom>
          <a:ln w="19050">
            <a:solidFill>
              <a:srgbClr val="506577"/>
            </a:solidFill>
            <a:tailEnd type="triangle" w="sm" len="sm"/>
          </a:ln>
        </p:spPr>
      </p:cxnSp>
      <p:cxnSp>
        <p:nvCxnSpPr>
          <p:cNvPr id="38" name="直接箭头连接符 37"/>
          <p:cNvCxnSpPr>
            <a:stCxn id="5" idx="2"/>
            <a:endCxn id="7" idx="0"/>
          </p:cNvCxnSpPr>
          <p:nvPr/>
        </p:nvCxnSpPr>
        <p:spPr>
          <a:xfrm>
            <a:off x="10182225" y="1952625"/>
            <a:ext cx="0" cy="485775"/>
          </a:xfrm>
          <a:prstGeom prst="straightConnector1">
            <a:avLst/>
          </a:prstGeom>
          <a:ln w="19050">
            <a:solidFill>
              <a:srgbClr val="506577"/>
            </a:solidFill>
            <a:tailEnd type="triangle" w="sm" len="sm"/>
          </a:ln>
        </p:spPr>
      </p:cxnSp>
      <p:sp>
        <p:nvSpPr>
          <p:cNvPr id="10" name="workflow-46"/>
          <p:cNvSpPr>
            <a:spLocks noGrp="1"/>
          </p:cNvSpPr>
          <p:nvPr/>
        </p:nvSpPr>
        <p:spPr>
          <a:xfrm>
            <a:off x="762000" y="3562350"/>
            <a:ext cx="2428875" cy="73342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PPG magnitude</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P = |X| / percentile₉₅</a:t>
            </a:r>
          </a:p>
        </p:txBody>
      </p:sp>
      <p:sp>
        <p:nvSpPr>
          <p:cNvPr id="11" name="workflow-47"/>
          <p:cNvSpPr>
            <a:spLocks noGrp="1"/>
          </p:cNvSpPr>
          <p:nvPr/>
        </p:nvSpPr>
        <p:spPr>
          <a:xfrm>
            <a:off x="8801100" y="3562350"/>
            <a:ext cx="2762250" cy="733425"/>
          </a:xfrm>
          <a:prstGeom prst="rect">
            <a:avLst/>
          </a:prstGeom>
          <a:solidFill>
            <a:srgbClr val="ECF4F6"/>
          </a:solidFill>
          <a:ln w="16193">
            <a:solidFill>
              <a:srgbClr val="B96D20"/>
            </a:solidFill>
          </a:ln>
        </p:spPr>
        <p:txBody>
          <a:bodyPr lIns="95250" tIns="76200" rIns="95250" bIns="76200" anchor="ctr">
            <a:noAutofit/>
          </a:bodyPr>
          <a:lstStyle/>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RMS motion magnitude</a:t>
            </a:r>
          </a:p>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M = RMS(|Uᵢ|) / percentile₇₅</a:t>
            </a:r>
          </a:p>
        </p:txBody>
      </p:sp>
      <p:cxnSp>
        <p:nvCxnSpPr>
          <p:cNvPr id="41" name="直接箭头连接符 40"/>
          <p:cNvCxnSpPr>
            <a:stCxn id="6" idx="2"/>
            <a:endCxn id="10" idx="0"/>
          </p:cNvCxnSpPr>
          <p:nvPr/>
        </p:nvCxnSpPr>
        <p:spPr>
          <a:xfrm>
            <a:off x="1976438" y="3076575"/>
            <a:ext cx="0" cy="485775"/>
          </a:xfrm>
          <a:prstGeom prst="straightConnector1">
            <a:avLst/>
          </a:prstGeom>
          <a:ln w="19050">
            <a:solidFill>
              <a:srgbClr val="506577"/>
            </a:solidFill>
            <a:tailEnd type="triangle" w="sm" len="sm"/>
          </a:ln>
        </p:spPr>
      </p:cxnSp>
      <p:cxnSp>
        <p:nvCxnSpPr>
          <p:cNvPr id="42" name="直接箭头连接符 41"/>
          <p:cNvCxnSpPr>
            <a:stCxn id="7" idx="2"/>
            <a:endCxn id="11" idx="0"/>
          </p:cNvCxnSpPr>
          <p:nvPr/>
        </p:nvCxnSpPr>
        <p:spPr>
          <a:xfrm>
            <a:off x="10182225" y="3076575"/>
            <a:ext cx="0" cy="485775"/>
          </a:xfrm>
          <a:prstGeom prst="straightConnector1">
            <a:avLst/>
          </a:prstGeom>
          <a:ln w="19050">
            <a:solidFill>
              <a:srgbClr val="506577"/>
            </a:solidFill>
            <a:tailEnd type="triangle" w="sm" len="sm"/>
          </a:ln>
        </p:spPr>
      </p:cxnSp>
      <p:sp>
        <p:nvSpPr>
          <p:cNvPr id="14" name="workflow-48"/>
          <p:cNvSpPr>
            <a:spLocks noGrp="1"/>
          </p:cNvSpPr>
          <p:nvPr/>
        </p:nvSpPr>
        <p:spPr>
          <a:xfrm>
            <a:off x="4286250" y="3562350"/>
            <a:ext cx="3048000" cy="733425"/>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Motion fraction</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M / (M + P)</a:t>
            </a:r>
          </a:p>
        </p:txBody>
      </p:sp>
      <p:cxnSp>
        <p:nvCxnSpPr>
          <p:cNvPr id="44" name="直接箭头连接符 43"/>
          <p:cNvCxnSpPr>
            <a:stCxn id="10" idx="3"/>
            <a:endCxn id="14" idx="1"/>
          </p:cNvCxnSpPr>
          <p:nvPr/>
        </p:nvCxnSpPr>
        <p:spPr>
          <a:xfrm>
            <a:off x="3190875" y="3929063"/>
            <a:ext cx="1095375" cy="0"/>
          </a:xfrm>
          <a:prstGeom prst="straightConnector1">
            <a:avLst/>
          </a:prstGeom>
          <a:ln w="19050">
            <a:solidFill>
              <a:srgbClr val="506577"/>
            </a:solidFill>
            <a:tailEnd type="triangle" w="sm" len="sm"/>
          </a:ln>
        </p:spPr>
      </p:cxnSp>
      <p:cxnSp>
        <p:nvCxnSpPr>
          <p:cNvPr id="45" name="直接箭头连接符 44"/>
          <p:cNvCxnSpPr>
            <a:stCxn id="11" idx="1"/>
            <a:endCxn id="14" idx="3"/>
          </p:cNvCxnSpPr>
          <p:nvPr/>
        </p:nvCxnSpPr>
        <p:spPr>
          <a:xfrm flipH="1">
            <a:off x="7334250" y="3929063"/>
            <a:ext cx="1466850" cy="0"/>
          </a:xfrm>
          <a:prstGeom prst="straightConnector1">
            <a:avLst/>
          </a:prstGeom>
          <a:ln w="19050">
            <a:solidFill>
              <a:srgbClr val="506577"/>
            </a:solidFill>
            <a:tailEnd type="triangle" w="sm" len="sm"/>
          </a:ln>
        </p:spPr>
      </p:cxnSp>
      <p:sp>
        <p:nvSpPr>
          <p:cNvPr id="17" name="workflow-49"/>
          <p:cNvSpPr>
            <a:spLocks noGrp="1"/>
          </p:cNvSpPr>
          <p:nvPr/>
        </p:nvSpPr>
        <p:spPr>
          <a:xfrm>
            <a:off x="4286250" y="5124450"/>
            <a:ext cx="3048000" cy="666750"/>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Bounded gain and masking</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Y(f,t) = G(f,t) X(f,t)</a:t>
            </a:r>
          </a:p>
        </p:txBody>
      </p:sp>
      <p:sp>
        <p:nvSpPr>
          <p:cNvPr id="18" name="workflow-50"/>
          <p:cNvSpPr>
            <a:spLocks noGrp="1"/>
          </p:cNvSpPr>
          <p:nvPr/>
        </p:nvSpPr>
        <p:spPr>
          <a:xfrm>
            <a:off x="8801100" y="5124450"/>
            <a:ext cx="2762250" cy="666750"/>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Inverse STFT</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Overlap-add reconstruction</a:t>
            </a:r>
          </a:p>
        </p:txBody>
      </p:sp>
      <p:cxnSp>
        <p:nvCxnSpPr>
          <p:cNvPr id="48" name="直接箭头连接符 47"/>
          <p:cNvCxnSpPr>
            <a:stCxn id="14" idx="2"/>
            <a:endCxn id="17" idx="0"/>
          </p:cNvCxnSpPr>
          <p:nvPr/>
        </p:nvCxnSpPr>
        <p:spPr>
          <a:xfrm>
            <a:off x="5810250" y="4295775"/>
            <a:ext cx="0" cy="828675"/>
          </a:xfrm>
          <a:prstGeom prst="straightConnector1">
            <a:avLst/>
          </a:prstGeom>
          <a:ln w="19050">
            <a:solidFill>
              <a:srgbClr val="7056A8"/>
            </a:solidFill>
            <a:tailEnd type="triangle" w="sm" len="sm"/>
          </a:ln>
        </p:spPr>
      </p:cxnSp>
      <p:cxnSp>
        <p:nvCxnSpPr>
          <p:cNvPr id="49" name="直接箭头连接符 48"/>
          <p:cNvCxnSpPr>
            <a:stCxn id="17" idx="3"/>
            <a:endCxn id="18" idx="1"/>
          </p:cNvCxnSpPr>
          <p:nvPr/>
        </p:nvCxnSpPr>
        <p:spPr>
          <a:xfrm>
            <a:off x="7334250" y="5457825"/>
            <a:ext cx="1466850" cy="0"/>
          </a:xfrm>
          <a:prstGeom prst="straightConnector1">
            <a:avLst/>
          </a:prstGeom>
          <a:ln w="19050">
            <a:solidFill>
              <a:srgbClr val="506577"/>
            </a:solidFill>
            <a:tailEnd type="triangle" w="sm" len="sm"/>
          </a:ln>
        </p:spPr>
      </p:cxnSp>
      <p:sp>
        <p:nvSpPr>
          <p:cNvPr id="21" name="矩形 20"/>
          <p:cNvSpPr>
            <a:spLocks noGrp="1"/>
          </p:cNvSpPr>
          <p:nvPr/>
        </p:nvSpPr>
        <p:spPr>
          <a:xfrm>
            <a:off x="380524" y="2752249"/>
            <a:ext cx="953" cy="953"/>
          </a:xfrm>
          <a:prstGeom prst="rect">
            <a:avLst/>
          </a:prstGeom>
          <a:noFill/>
          <a:ln w="0">
            <a:noFill/>
          </a:ln>
        </p:spPr>
        <p:txBody>
          <a:bodyPr/>
          <a:lstStyle/>
          <a:p>
            <a:endParaRPr lang="zh-CN" altLang="en-US"/>
          </a:p>
        </p:txBody>
      </p:sp>
      <p:cxnSp>
        <p:nvCxnSpPr>
          <p:cNvPr id="51" name="直接箭头连接符 50"/>
          <p:cNvCxnSpPr>
            <a:stCxn id="6" idx="1"/>
            <a:endCxn id="21" idx="1"/>
          </p:cNvCxnSpPr>
          <p:nvPr/>
        </p:nvCxnSpPr>
        <p:spPr>
          <a:xfrm flipH="1" flipV="1">
            <a:off x="380524" y="2752726"/>
            <a:ext cx="381476" cy="4762"/>
          </a:xfrm>
          <a:prstGeom prst="straightConnector1">
            <a:avLst/>
          </a:prstGeom>
          <a:ln w="19050">
            <a:solidFill>
              <a:srgbClr val="087E8B"/>
            </a:solidFill>
          </a:ln>
        </p:spPr>
      </p:cxnSp>
      <p:sp>
        <p:nvSpPr>
          <p:cNvPr id="23" name="矩形 22"/>
          <p:cNvSpPr>
            <a:spLocks noGrp="1"/>
          </p:cNvSpPr>
          <p:nvPr/>
        </p:nvSpPr>
        <p:spPr>
          <a:xfrm>
            <a:off x="380524" y="5457349"/>
            <a:ext cx="953" cy="953"/>
          </a:xfrm>
          <a:prstGeom prst="rect">
            <a:avLst/>
          </a:prstGeom>
          <a:noFill/>
          <a:ln w="0">
            <a:noFill/>
          </a:ln>
        </p:spPr>
        <p:txBody>
          <a:bodyPr/>
          <a:lstStyle/>
          <a:p>
            <a:endParaRPr lang="zh-CN" altLang="en-US"/>
          </a:p>
        </p:txBody>
      </p:sp>
      <p:cxnSp>
        <p:nvCxnSpPr>
          <p:cNvPr id="53" name="直接箭头连接符 52"/>
          <p:cNvCxnSpPr>
            <a:stCxn id="21" idx="3"/>
            <a:endCxn id="23" idx="1"/>
          </p:cNvCxnSpPr>
          <p:nvPr/>
        </p:nvCxnSpPr>
        <p:spPr>
          <a:xfrm flipH="1">
            <a:off x="380524" y="2752726"/>
            <a:ext cx="953" cy="2705100"/>
          </a:xfrm>
          <a:prstGeom prst="straightConnector1">
            <a:avLst/>
          </a:prstGeom>
          <a:ln w="19050">
            <a:solidFill>
              <a:srgbClr val="087E8B"/>
            </a:solidFill>
          </a:ln>
        </p:spPr>
      </p:cxnSp>
      <p:cxnSp>
        <p:nvCxnSpPr>
          <p:cNvPr id="54" name="直接箭头连接符 53"/>
          <p:cNvCxnSpPr>
            <a:stCxn id="23" idx="3"/>
            <a:endCxn id="17" idx="1"/>
          </p:cNvCxnSpPr>
          <p:nvPr/>
        </p:nvCxnSpPr>
        <p:spPr>
          <a:xfrm flipV="1">
            <a:off x="381477" y="5457825"/>
            <a:ext cx="3904773" cy="1"/>
          </a:xfrm>
          <a:prstGeom prst="straightConnector1">
            <a:avLst/>
          </a:prstGeom>
          <a:ln w="19050">
            <a:solidFill>
              <a:srgbClr val="087E8B"/>
            </a:solidFill>
            <a:tailEnd type="triangle" w="sm" len="sm"/>
          </a:ln>
        </p:spPr>
      </p:cxnSp>
      <p:sp>
        <p:nvSpPr>
          <p:cNvPr id="26" name="text-51"/>
          <p:cNvSpPr>
            <a:spLocks noGrp="1"/>
          </p:cNvSpPr>
          <p:nvPr/>
        </p:nvSpPr>
        <p:spPr>
          <a:xfrm>
            <a:off x="666750" y="5067300"/>
            <a:ext cx="3257550" cy="276225"/>
          </a:xfrm>
          <a:prstGeom prst="rect">
            <a:avLst/>
          </a:prstGeom>
          <a:noFill/>
          <a:ln w="0">
            <a:noFill/>
          </a:ln>
        </p:spPr>
        <p:txBody>
          <a:bodyPr wrap="square" lIns="0" tIns="0" rIns="0" bIns="0" anchor="t">
            <a:noAutofit/>
          </a:bodyPr>
          <a:lstStyle/>
          <a:p>
            <a:pPr algn="l">
              <a:defRPr sz="1425" b="1">
                <a:solidFill>
                  <a:srgbClr val="087E8B"/>
                </a:solidFill>
                <a:latin typeface="DejaVu Sans" panose="020B0603030804020204"/>
                <a:ea typeface="DejaVu Sans" panose="020B0603030804020204"/>
                <a:cs typeface="DejaVu Sans" panose="020B0603030804020204"/>
              </a:defRPr>
            </a:pPr>
            <a:r>
              <a:rPr sz="1425" b="1">
                <a:solidFill>
                  <a:srgbClr val="087E8B"/>
                </a:solidFill>
                <a:latin typeface="DejaVu Sans" panose="020B0603030804020204"/>
                <a:ea typeface="DejaVu Sans" panose="020B0603030804020204"/>
                <a:cs typeface="DejaVu Sans" panose="020B0603030804020204"/>
              </a:rPr>
              <a:t>Original complex spectrum</a:t>
            </a:r>
          </a:p>
        </p:txBody>
      </p:sp>
      <p:sp>
        <p:nvSpPr>
          <p:cNvPr id="27" name="text-52"/>
          <p:cNvSpPr>
            <a:spLocks noGrp="1"/>
          </p:cNvSpPr>
          <p:nvPr/>
        </p:nvSpPr>
        <p:spPr>
          <a:xfrm>
            <a:off x="4533900" y="2324100"/>
            <a:ext cx="2733675" cy="581025"/>
          </a:xfrm>
          <a:prstGeom prst="rect">
            <a:avLst/>
          </a:prstGeom>
          <a:noFill/>
          <a:ln w="0">
            <a:noFill/>
          </a:ln>
        </p:spPr>
        <p:txBody>
          <a:bodyPr wrap="square" lIns="0" tIns="0" rIns="0" bIns="0" anchor="t">
            <a:noAutofit/>
          </a:bodyPr>
          <a:lstStyle/>
          <a:p>
            <a:pPr algn="ctr">
              <a:defRPr sz="1725" b="0">
                <a:solidFill>
                  <a:srgbClr val="506577"/>
                </a:solidFill>
                <a:latin typeface="DejaVu Sans" panose="020B0603030804020204"/>
                <a:ea typeface="DejaVu Sans" panose="020B0603030804020204"/>
                <a:cs typeface="DejaVu Sans" panose="020B0603030804020204"/>
              </a:defRPr>
            </a:pPr>
            <a:r>
              <a:rPr sz="1725" b="0">
                <a:solidFill>
                  <a:srgbClr val="506577"/>
                </a:solidFill>
                <a:latin typeface="DejaVu Sans" panose="020B0603030804020204"/>
                <a:ea typeface="DejaVu Sans" panose="020B0603030804020204"/>
                <a:cs typeface="DejaVu Sans" panose="020B0603030804020204"/>
              </a:rPr>
              <a:t>4 s frame</a:t>
            </a:r>
          </a:p>
          <a:p>
            <a:pPr algn="ctr">
              <a:defRPr sz="1725" b="0">
                <a:solidFill>
                  <a:srgbClr val="506577"/>
                </a:solidFill>
                <a:latin typeface="DejaVu Sans" panose="020B0603030804020204"/>
                <a:ea typeface="DejaVu Sans" panose="020B0603030804020204"/>
                <a:cs typeface="DejaVu Sans" panose="020B0603030804020204"/>
              </a:defRPr>
            </a:pPr>
            <a:r>
              <a:rPr sz="1725" b="0">
                <a:solidFill>
                  <a:srgbClr val="506577"/>
                </a:solidFill>
                <a:latin typeface="DejaVu Sans" panose="020B0603030804020204"/>
                <a:ea typeface="DejaVu Sans" panose="020B0603030804020204"/>
                <a:cs typeface="DejaVu Sans" panose="020B0603030804020204"/>
              </a:rPr>
              <a:t>1 s hop</a:t>
            </a:r>
          </a:p>
        </p:txBody>
      </p:sp>
      <p:sp>
        <p:nvSpPr>
          <p:cNvPr id="28" name="text-53"/>
          <p:cNvSpPr>
            <a:spLocks noGrp="1"/>
          </p:cNvSpPr>
          <p:nvPr/>
        </p:nvSpPr>
        <p:spPr>
          <a:xfrm>
            <a:off x="6200775" y="4562475"/>
            <a:ext cx="5429250" cy="323850"/>
          </a:xfrm>
          <a:prstGeom prst="rect">
            <a:avLst/>
          </a:prstGeom>
          <a:noFill/>
          <a:ln w="0">
            <a:noFill/>
          </a:ln>
        </p:spPr>
        <p:txBody>
          <a:bodyPr wrap="square" lIns="0" tIns="0" rIns="0" bIns="0" anchor="t">
            <a:noAutofit/>
          </a:bodyPr>
          <a:lstStyle/>
          <a:p>
            <a:pPr algn="l">
              <a:defRPr sz="1575" b="1">
                <a:solidFill>
                  <a:srgbClr val="7056A8"/>
                </a:solidFill>
                <a:latin typeface="DejaVu Sans" panose="020B0603030804020204"/>
                <a:ea typeface="DejaVu Sans" panose="020B0603030804020204"/>
                <a:cs typeface="DejaVu Sans" panose="020B0603030804020204"/>
              </a:defRPr>
            </a:pPr>
            <a:r>
              <a:rPr sz="1575" b="1">
                <a:solidFill>
                  <a:srgbClr val="7056A8"/>
                </a:solidFill>
                <a:latin typeface="DejaVu Sans" panose="020B0603030804020204"/>
                <a:ea typeface="DejaVu Sans" panose="020B0603030804020204"/>
                <a:cs typeface="DejaVu Sans" panose="020B0603030804020204"/>
              </a:rPr>
              <a:t>G = clip(1 − 0.8M / (M + P), 0.2, 1)</a:t>
            </a:r>
          </a:p>
        </p:txBody>
      </p:sp>
      <p:sp>
        <p:nvSpPr>
          <p:cNvPr id="29" name="text-54"/>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STFT = short-time Fourier transform; RMS = root mean square. Thesis §3.3.5; cardiac band 0.5–3 Hz.</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5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SSA: separating pulse and interference</a:t>
            </a:r>
          </a:p>
        </p:txBody>
      </p:sp>
      <p:sp>
        <p:nvSpPr>
          <p:cNvPr id="2" name="text-5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5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16</a:t>
            </a:r>
          </a:p>
        </p:txBody>
      </p:sp>
      <p:sp>
        <p:nvSpPr>
          <p:cNvPr id="4" name="text-58"/>
          <p:cNvSpPr>
            <a:spLocks noGrp="1"/>
          </p:cNvSpPr>
          <p:nvPr/>
        </p:nvSpPr>
        <p:spPr>
          <a:xfrm>
            <a:off x="581025" y="1323975"/>
            <a:ext cx="11001375" cy="333375"/>
          </a:xfrm>
          <a:prstGeom prst="rect">
            <a:avLst/>
          </a:prstGeom>
          <a:noFill/>
          <a:ln w="0">
            <a:noFill/>
          </a:ln>
        </p:spPr>
        <p:txBody>
          <a:bodyPr wrap="square" lIns="0" tIns="0" rIns="0" bIns="0" anchor="t">
            <a:noAutofit/>
          </a:bodyPr>
          <a:lstStyle/>
          <a:p>
            <a:pPr algn="l">
              <a:defRPr sz="1650" b="1">
                <a:solidFill>
                  <a:srgbClr val="152C3F"/>
                </a:solidFill>
                <a:latin typeface="DejaVu Sans" panose="020B0603030804020204"/>
                <a:ea typeface="DejaVu Sans" panose="020B0603030804020204"/>
                <a:cs typeface="DejaVu Sans" panose="020B0603030804020204"/>
              </a:defRPr>
            </a:pPr>
            <a:r>
              <a:rPr sz="1650" b="1">
                <a:solidFill>
                  <a:srgbClr val="152C3F"/>
                </a:solidFill>
                <a:latin typeface="DejaVu Sans" panose="020B0603030804020204"/>
                <a:ea typeface="DejaVu Sans" panose="020B0603030804020204"/>
                <a:cs typeface="DejaVu Sans" panose="020B0603030804020204"/>
              </a:rPr>
              <a:t>Input PPG: components overlap in time</a:t>
            </a:r>
          </a:p>
        </p:txBody>
      </p:sp>
      <p:graphicFrame>
        <p:nvGraphicFramePr>
          <p:cNvPr id="20" name="Chart"/>
          <p:cNvGraphicFramePr/>
          <p:nvPr/>
        </p:nvGraphicFramePr>
        <p:xfrm>
          <a:off x="466725" y="1695450"/>
          <a:ext cx="11077575" cy="16478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59"/>
          <p:cNvSpPr>
            <a:spLocks noGrp="1"/>
          </p:cNvSpPr>
          <p:nvPr/>
        </p:nvSpPr>
        <p:spPr>
          <a:xfrm>
            <a:off x="571500" y="3476625"/>
            <a:ext cx="3429000" cy="333375"/>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Pulse-rich components</a:t>
            </a:r>
          </a:p>
        </p:txBody>
      </p:sp>
      <p:graphicFrame>
        <p:nvGraphicFramePr>
          <p:cNvPr id="22" name="Chart"/>
          <p:cNvGraphicFramePr/>
          <p:nvPr/>
        </p:nvGraphicFramePr>
        <p:xfrm>
          <a:off x="466725" y="3914775"/>
          <a:ext cx="3476625" cy="1514475"/>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60"/>
          <p:cNvSpPr>
            <a:spLocks noGrp="1"/>
          </p:cNvSpPr>
          <p:nvPr/>
        </p:nvSpPr>
        <p:spPr>
          <a:xfrm>
            <a:off x="571500" y="5476875"/>
            <a:ext cx="3467100" cy="495300"/>
          </a:xfrm>
          <a:prstGeom prst="rect">
            <a:avLst/>
          </a:prstGeom>
          <a:noFill/>
          <a:ln w="0">
            <a:noFill/>
          </a:ln>
        </p:spPr>
        <p:txBody>
          <a:bodyPr wrap="square" lIns="0" tIns="0" rIns="0" bIns="0" anchor="t">
            <a:noAutofit/>
          </a:bodyPr>
          <a:lstStyle/>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Cardiac fraction ≈1.00</a:t>
            </a:r>
          </a:p>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Retain for reconstruction</a:t>
            </a:r>
          </a:p>
        </p:txBody>
      </p:sp>
      <p:sp>
        <p:nvSpPr>
          <p:cNvPr id="9" name="text-61"/>
          <p:cNvSpPr>
            <a:spLocks noGrp="1"/>
          </p:cNvSpPr>
          <p:nvPr/>
        </p:nvSpPr>
        <p:spPr>
          <a:xfrm>
            <a:off x="4362450" y="3476625"/>
            <a:ext cx="3429000" cy="333375"/>
          </a:xfrm>
          <a:prstGeom prst="rect">
            <a:avLst/>
          </a:prstGeom>
          <a:noFill/>
          <a:ln w="0">
            <a:noFill/>
          </a:ln>
        </p:spPr>
        <p:txBody>
          <a:bodyPr wrap="square" lIns="0" tIns="0" rIns="0" bIns="0" anchor="t">
            <a:noAutofit/>
          </a:bodyPr>
          <a:lstStyle/>
          <a:p>
            <a:pPr algn="l">
              <a:defRPr sz="1650" b="1">
                <a:solidFill>
                  <a:srgbClr val="B96D20"/>
                </a:solidFill>
                <a:latin typeface="DejaVu Sans" panose="020B0603030804020204"/>
                <a:ea typeface="DejaVu Sans" panose="020B0603030804020204"/>
                <a:cs typeface="DejaVu Sans" panose="020B0603030804020204"/>
              </a:defRPr>
            </a:pPr>
            <a:r>
              <a:rPr sz="1650" b="1">
                <a:solidFill>
                  <a:srgbClr val="B96D20"/>
                </a:solidFill>
                <a:latin typeface="DejaVu Sans" panose="020B0603030804020204"/>
                <a:ea typeface="DejaVu Sans" panose="020B0603030804020204"/>
                <a:cs typeface="DejaVu Sans" panose="020B0603030804020204"/>
              </a:rPr>
              <a:t>Slow interference</a:t>
            </a:r>
          </a:p>
        </p:txBody>
      </p:sp>
      <p:graphicFrame>
        <p:nvGraphicFramePr>
          <p:cNvPr id="25" name="Chart"/>
          <p:cNvGraphicFramePr/>
          <p:nvPr/>
        </p:nvGraphicFramePr>
        <p:xfrm>
          <a:off x="4257675" y="3914775"/>
          <a:ext cx="3476625" cy="1514475"/>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62"/>
          <p:cNvSpPr>
            <a:spLocks noGrp="1"/>
          </p:cNvSpPr>
          <p:nvPr/>
        </p:nvSpPr>
        <p:spPr>
          <a:xfrm>
            <a:off x="4362450" y="5476875"/>
            <a:ext cx="3467100" cy="495300"/>
          </a:xfrm>
          <a:prstGeom prst="rect">
            <a:avLst/>
          </a:prstGeom>
          <a:noFill/>
          <a:ln w="0">
            <a:noFill/>
          </a:ln>
        </p:spPr>
        <p:txBody>
          <a:bodyPr wrap="square" lIns="0" tIns="0" rIns="0" bIns="0" anchor="t">
            <a:noAutofit/>
          </a:bodyPr>
          <a:lstStyle/>
          <a:p>
            <a:pPr algn="l">
              <a:defRPr sz="1500" b="1">
                <a:solidFill>
                  <a:srgbClr val="B96D20"/>
                </a:solidFill>
                <a:latin typeface="DejaVu Sans" panose="020B0603030804020204"/>
                <a:ea typeface="DejaVu Sans" panose="020B0603030804020204"/>
                <a:cs typeface="DejaVu Sans" panose="020B0603030804020204"/>
              </a:defRPr>
            </a:pPr>
            <a:r>
              <a:rPr sz="1500" b="1">
                <a:solidFill>
                  <a:srgbClr val="B96D20"/>
                </a:solidFill>
                <a:latin typeface="DejaVu Sans" panose="020B0603030804020204"/>
                <a:ea typeface="DejaVu Sans" panose="020B0603030804020204"/>
                <a:cs typeface="DejaVu Sans" panose="020B0603030804020204"/>
              </a:rPr>
              <a:t>Cardiac fraction &lt;0.02</a:t>
            </a:r>
          </a:p>
          <a:p>
            <a:pPr algn="l">
              <a:defRPr sz="1500" b="1">
                <a:solidFill>
                  <a:srgbClr val="B96D20"/>
                </a:solidFill>
                <a:latin typeface="DejaVu Sans" panose="020B0603030804020204"/>
                <a:ea typeface="DejaVu Sans" panose="020B0603030804020204"/>
                <a:cs typeface="DejaVu Sans" panose="020B0603030804020204"/>
              </a:defRPr>
            </a:pPr>
            <a:r>
              <a:rPr sz="1500" b="1">
                <a:solidFill>
                  <a:srgbClr val="B96D20"/>
                </a:solidFill>
                <a:latin typeface="DejaVu Sans" panose="020B0603030804020204"/>
                <a:ea typeface="DejaVu Sans" panose="020B0603030804020204"/>
                <a:cs typeface="DejaVu Sans" panose="020B0603030804020204"/>
              </a:rPr>
              <a:t>Exclude from reconstruction</a:t>
            </a:r>
          </a:p>
        </p:txBody>
      </p:sp>
      <p:sp>
        <p:nvSpPr>
          <p:cNvPr id="12" name="text-63"/>
          <p:cNvSpPr>
            <a:spLocks noGrp="1"/>
          </p:cNvSpPr>
          <p:nvPr/>
        </p:nvSpPr>
        <p:spPr>
          <a:xfrm>
            <a:off x="8153400" y="3476625"/>
            <a:ext cx="3429000" cy="333375"/>
          </a:xfrm>
          <a:prstGeom prst="rect">
            <a:avLst/>
          </a:prstGeom>
          <a:noFill/>
          <a:ln w="0">
            <a:noFill/>
          </a:ln>
        </p:spPr>
        <p:txBody>
          <a:bodyPr wrap="square" lIns="0" tIns="0" rIns="0" bIns="0" anchor="t">
            <a:noAutofit/>
          </a:bodyPr>
          <a:lstStyle/>
          <a:p>
            <a:pPr algn="l">
              <a:defRPr sz="1650" b="1">
                <a:solidFill>
                  <a:srgbClr val="7056A8"/>
                </a:solidFill>
                <a:latin typeface="DejaVu Sans" panose="020B0603030804020204"/>
                <a:ea typeface="DejaVu Sans" panose="020B0603030804020204"/>
                <a:cs typeface="DejaVu Sans" panose="020B0603030804020204"/>
              </a:defRPr>
            </a:pPr>
            <a:r>
              <a:rPr sz="1650" b="1">
                <a:solidFill>
                  <a:srgbClr val="7056A8"/>
                </a:solidFill>
                <a:latin typeface="DejaVu Sans" panose="020B0603030804020204"/>
                <a:ea typeface="DejaVu Sans" panose="020B0603030804020204"/>
                <a:cs typeface="DejaVu Sans" panose="020B0603030804020204"/>
              </a:rPr>
              <a:t>Fast interference</a:t>
            </a:r>
          </a:p>
        </p:txBody>
      </p:sp>
      <p:graphicFrame>
        <p:nvGraphicFramePr>
          <p:cNvPr id="28" name="Chart"/>
          <p:cNvGraphicFramePr/>
          <p:nvPr/>
        </p:nvGraphicFramePr>
        <p:xfrm>
          <a:off x="8048625" y="3914775"/>
          <a:ext cx="3476625" cy="1514475"/>
        </p:xfrm>
        <a:graphic>
          <a:graphicData uri="http://schemas.openxmlformats.org/drawingml/2006/chart">
            <c:chart xmlns:c="http://schemas.openxmlformats.org/drawingml/2006/chart" xmlns:r="http://schemas.openxmlformats.org/officeDocument/2006/relationships" r:id="rId6"/>
          </a:graphicData>
        </a:graphic>
      </p:graphicFrame>
      <p:sp>
        <p:nvSpPr>
          <p:cNvPr id="14" name="text-64"/>
          <p:cNvSpPr>
            <a:spLocks noGrp="1"/>
          </p:cNvSpPr>
          <p:nvPr/>
        </p:nvSpPr>
        <p:spPr>
          <a:xfrm>
            <a:off x="8153400" y="5476875"/>
            <a:ext cx="3467100" cy="495300"/>
          </a:xfrm>
          <a:prstGeom prst="rect">
            <a:avLst/>
          </a:prstGeom>
          <a:noFill/>
          <a:ln w="0">
            <a:noFill/>
          </a:ln>
        </p:spPr>
        <p:txBody>
          <a:bodyPr wrap="square" lIns="0" tIns="0" rIns="0" bIns="0" anchor="t">
            <a:noAutofit/>
          </a:bodyPr>
          <a:lstStyle/>
          <a:p>
            <a:pPr algn="l">
              <a:defRPr sz="1500" b="1">
                <a:solidFill>
                  <a:srgbClr val="7056A8"/>
                </a:solidFill>
                <a:latin typeface="DejaVu Sans" panose="020B0603030804020204"/>
                <a:ea typeface="DejaVu Sans" panose="020B0603030804020204"/>
                <a:cs typeface="DejaVu Sans" panose="020B0603030804020204"/>
              </a:defRPr>
            </a:pPr>
            <a:r>
              <a:rPr sz="1500" b="1">
                <a:solidFill>
                  <a:srgbClr val="7056A8"/>
                </a:solidFill>
                <a:latin typeface="DejaVu Sans" panose="020B0603030804020204"/>
                <a:ea typeface="DejaVu Sans" panose="020B0603030804020204"/>
                <a:cs typeface="DejaVu Sans" panose="020B0603030804020204"/>
              </a:rPr>
              <a:t>Cardiac fraction &lt;0.02</a:t>
            </a:r>
          </a:p>
          <a:p>
            <a:pPr algn="l">
              <a:defRPr sz="1500" b="1">
                <a:solidFill>
                  <a:srgbClr val="7056A8"/>
                </a:solidFill>
                <a:latin typeface="DejaVu Sans" panose="020B0603030804020204"/>
                <a:ea typeface="DejaVu Sans" panose="020B0603030804020204"/>
                <a:cs typeface="DejaVu Sans" panose="020B0603030804020204"/>
              </a:defRPr>
            </a:pPr>
            <a:r>
              <a:rPr sz="1500" b="1">
                <a:solidFill>
                  <a:srgbClr val="7056A8"/>
                </a:solidFill>
                <a:latin typeface="DejaVu Sans" panose="020B0603030804020204"/>
                <a:ea typeface="DejaVu Sans" panose="020B0603030804020204"/>
                <a:cs typeface="DejaVu Sans" panose="020B0603030804020204"/>
              </a:rPr>
              <a:t>Exclude from reconstruction</a:t>
            </a:r>
          </a:p>
        </p:txBody>
      </p:sp>
      <p:sp>
        <p:nvSpPr>
          <p:cNvPr id="15" name="text-65"/>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Illustrative signal. Decomposition separates patterns by structure, then cardiac-band concentration guides selection.</a:t>
            </a:r>
          </a:p>
        </p:txBody>
      </p:sp>
      <p:sp>
        <p:nvSpPr>
          <p:cNvPr id="29" name="On-slide expansion"/>
          <p:cNvSpPr/>
          <p:nvPr/>
        </p:nvSpPr>
        <p:spPr>
          <a:xfrm>
            <a:off x="571500" y="1066800"/>
            <a:ext cx="10477500" cy="209550"/>
          </a:xfrm>
          <a:prstGeom prst="rect">
            <a:avLst/>
          </a:prstGeom>
          <a:noFill/>
          <a:ln>
            <a:noFill/>
          </a:ln>
        </p:spPr>
        <p:txBody>
          <a:bodyPr wrap="square" lIns="0" tIns="0" rIns="0" bIns="0"/>
          <a:lstStyle/>
          <a:p>
            <a:r>
              <a:rPr lang="en-US" sz="1600" b="1">
                <a:solidFill>
                  <a:srgbClr val="087E8B"/>
                </a:solidFill>
                <a:latin typeface="DejaVu Sans" panose="020B0603030804020204"/>
              </a:rPr>
              <a:t>SSA = singular spectrum analysis</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text-66"/>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SSA: component scoring and reconstruction</a:t>
            </a:r>
          </a:p>
        </p:txBody>
      </p:sp>
      <p:sp>
        <p:nvSpPr>
          <p:cNvPr id="2" name="text-67"/>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68"/>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17</a:t>
            </a:r>
          </a:p>
        </p:txBody>
      </p:sp>
      <p:sp>
        <p:nvSpPr>
          <p:cNvPr id="4" name="workflow-69"/>
          <p:cNvSpPr>
            <a:spLocks noGrp="1"/>
          </p:cNvSpPr>
          <p:nvPr/>
        </p:nvSpPr>
        <p:spPr>
          <a:xfrm>
            <a:off x="571500" y="1400175"/>
            <a:ext cx="2362200" cy="733425"/>
          </a:xfrm>
          <a:prstGeom prst="rect">
            <a:avLst/>
          </a:prstGeom>
          <a:solidFill>
            <a:srgbClr val="ECF4F6"/>
          </a:solidFill>
          <a:ln w="16193">
            <a:solidFill>
              <a:srgbClr val="152C3F"/>
            </a:solidFill>
          </a:ln>
        </p:spPr>
        <p:txBody>
          <a:bodyPr lIns="95250" tIns="76200" rIns="95250" bIns="76200" anchor="ctr">
            <a:noAutofit/>
          </a:bodyPr>
          <a:lstStyle/>
          <a:p>
            <a:pPr algn="ctr">
              <a:defRPr sz="1500">
                <a:solidFill>
                  <a:srgbClr val="152C3F"/>
                </a:solidFill>
                <a:latin typeface="DejaVu Sans" panose="020B0603030804020204"/>
                <a:ea typeface="DejaVu Sans" panose="020B0603030804020204"/>
                <a:cs typeface="DejaVu Sans" panose="020B0603030804020204"/>
              </a:defRPr>
            </a:pPr>
            <a:r>
              <a:rPr sz="1500">
                <a:solidFill>
                  <a:srgbClr val="152C3F"/>
                </a:solidFill>
                <a:latin typeface="DejaVu Sans" panose="020B0603030804020204"/>
                <a:ea typeface="DejaVu Sans" panose="020B0603030804020204"/>
                <a:cs typeface="DejaVu Sans" panose="020B0603030804020204"/>
              </a:rPr>
              <a:t>One PPG channel</a:t>
            </a:r>
          </a:p>
          <a:p>
            <a:pPr algn="ctr">
              <a:defRPr sz="1500">
                <a:solidFill>
                  <a:srgbClr val="152C3F"/>
                </a:solidFill>
                <a:latin typeface="DejaVu Sans" panose="020B0603030804020204"/>
                <a:ea typeface="DejaVu Sans" panose="020B0603030804020204"/>
                <a:cs typeface="DejaVu Sans" panose="020B0603030804020204"/>
              </a:defRPr>
            </a:pPr>
            <a:r>
              <a:rPr sz="1500">
                <a:solidFill>
                  <a:srgbClr val="152C3F"/>
                </a:solidFill>
                <a:latin typeface="DejaVu Sans" panose="020B0603030804020204"/>
                <a:ea typeface="DejaVu Sans" panose="020B0603030804020204"/>
                <a:cs typeface="DejaVu Sans" panose="020B0603030804020204"/>
              </a:rPr>
              <a:t>x[1], …, x[N]</a:t>
            </a:r>
          </a:p>
        </p:txBody>
      </p:sp>
      <p:sp>
        <p:nvSpPr>
          <p:cNvPr id="5" name="workflow-70"/>
          <p:cNvSpPr>
            <a:spLocks noGrp="1"/>
          </p:cNvSpPr>
          <p:nvPr/>
        </p:nvSpPr>
        <p:spPr>
          <a:xfrm>
            <a:off x="3857625" y="1400175"/>
            <a:ext cx="3248025" cy="73342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Hankel trajectory matrix</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Hᵢⱼ = x[i+j−1], L ≤160</a:t>
            </a:r>
          </a:p>
        </p:txBody>
      </p:sp>
      <p:sp>
        <p:nvSpPr>
          <p:cNvPr id="6" name="workflow-71"/>
          <p:cNvSpPr>
            <a:spLocks noGrp="1"/>
          </p:cNvSpPr>
          <p:nvPr/>
        </p:nvSpPr>
        <p:spPr>
          <a:xfrm>
            <a:off x="8401050" y="1400175"/>
            <a:ext cx="3152775" cy="733425"/>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Singular value decomposition</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H = UΣVᵀ</a:t>
            </a:r>
          </a:p>
        </p:txBody>
      </p:sp>
      <p:cxnSp>
        <p:nvCxnSpPr>
          <p:cNvPr id="59" name="直接箭头连接符 58"/>
          <p:cNvCxnSpPr>
            <a:stCxn id="4" idx="3"/>
            <a:endCxn id="5" idx="1"/>
          </p:cNvCxnSpPr>
          <p:nvPr/>
        </p:nvCxnSpPr>
        <p:spPr>
          <a:xfrm>
            <a:off x="2933700" y="1766888"/>
            <a:ext cx="923925" cy="0"/>
          </a:xfrm>
          <a:prstGeom prst="straightConnector1">
            <a:avLst/>
          </a:prstGeom>
          <a:ln w="19050">
            <a:solidFill>
              <a:srgbClr val="506577"/>
            </a:solidFill>
            <a:tailEnd type="triangle" w="sm" len="sm"/>
          </a:ln>
        </p:spPr>
      </p:cxnSp>
      <p:cxnSp>
        <p:nvCxnSpPr>
          <p:cNvPr id="60" name="直接箭头连接符 59"/>
          <p:cNvCxnSpPr>
            <a:stCxn id="5" idx="3"/>
            <a:endCxn id="6" idx="1"/>
          </p:cNvCxnSpPr>
          <p:nvPr/>
        </p:nvCxnSpPr>
        <p:spPr>
          <a:xfrm>
            <a:off x="7105650" y="1766888"/>
            <a:ext cx="1295400" cy="0"/>
          </a:xfrm>
          <a:prstGeom prst="straightConnector1">
            <a:avLst/>
          </a:prstGeom>
          <a:ln w="19050">
            <a:solidFill>
              <a:srgbClr val="506577"/>
            </a:solidFill>
            <a:tailEnd type="triangle" w="sm" len="sm"/>
          </a:ln>
        </p:spPr>
      </p:cxnSp>
      <p:sp>
        <p:nvSpPr>
          <p:cNvPr id="9" name="workflow-72"/>
          <p:cNvSpPr>
            <a:spLocks noGrp="1"/>
          </p:cNvSpPr>
          <p:nvPr/>
        </p:nvSpPr>
        <p:spPr>
          <a:xfrm>
            <a:off x="571500" y="2981325"/>
            <a:ext cx="3305175" cy="666750"/>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Rank-one component 1</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Hⱼ = σⱼuⱼvⱼᵀ</a:t>
            </a:r>
          </a:p>
        </p:txBody>
      </p:sp>
      <p:sp>
        <p:nvSpPr>
          <p:cNvPr id="10" name="workflow-73"/>
          <p:cNvSpPr>
            <a:spLocks noGrp="1"/>
          </p:cNvSpPr>
          <p:nvPr/>
        </p:nvSpPr>
        <p:spPr>
          <a:xfrm>
            <a:off x="571500" y="4200525"/>
            <a:ext cx="3305175" cy="71437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Diagonal average to xⱼ[n]</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Cardiac-band power fraction Cⱼ</a:t>
            </a:r>
          </a:p>
        </p:txBody>
      </p:sp>
      <p:cxnSp>
        <p:nvCxnSpPr>
          <p:cNvPr id="63" name="直接箭头连接符 62"/>
          <p:cNvCxnSpPr>
            <a:stCxn id="9" idx="2"/>
            <a:endCxn id="10" idx="0"/>
          </p:cNvCxnSpPr>
          <p:nvPr/>
        </p:nvCxnSpPr>
        <p:spPr>
          <a:xfrm>
            <a:off x="2224088" y="3648075"/>
            <a:ext cx="0" cy="552450"/>
          </a:xfrm>
          <a:prstGeom prst="straightConnector1">
            <a:avLst/>
          </a:prstGeom>
          <a:ln w="19050">
            <a:solidFill>
              <a:srgbClr val="506577"/>
            </a:solidFill>
            <a:tailEnd type="triangle" w="sm" len="sm"/>
          </a:ln>
        </p:spPr>
      </p:cxnSp>
      <p:sp>
        <p:nvSpPr>
          <p:cNvPr id="12" name="workflow-74"/>
          <p:cNvSpPr>
            <a:spLocks noGrp="1"/>
          </p:cNvSpPr>
          <p:nvPr/>
        </p:nvSpPr>
        <p:spPr>
          <a:xfrm>
            <a:off x="4410075" y="2981325"/>
            <a:ext cx="3305175" cy="666750"/>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Rank-one component 2</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Hⱼ = σⱼuⱼvⱼᵀ</a:t>
            </a:r>
          </a:p>
        </p:txBody>
      </p:sp>
      <p:sp>
        <p:nvSpPr>
          <p:cNvPr id="13" name="workflow-75"/>
          <p:cNvSpPr>
            <a:spLocks noGrp="1"/>
          </p:cNvSpPr>
          <p:nvPr/>
        </p:nvSpPr>
        <p:spPr>
          <a:xfrm>
            <a:off x="4410075" y="4200525"/>
            <a:ext cx="3305175" cy="71437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Diagonal average to xⱼ[n]</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Cardiac-band power fraction Cⱼ</a:t>
            </a:r>
          </a:p>
        </p:txBody>
      </p:sp>
      <p:cxnSp>
        <p:nvCxnSpPr>
          <p:cNvPr id="66" name="直接箭头连接符 65"/>
          <p:cNvCxnSpPr>
            <a:stCxn id="12" idx="2"/>
            <a:endCxn id="13" idx="0"/>
          </p:cNvCxnSpPr>
          <p:nvPr/>
        </p:nvCxnSpPr>
        <p:spPr>
          <a:xfrm>
            <a:off x="6062663" y="3648075"/>
            <a:ext cx="0" cy="552450"/>
          </a:xfrm>
          <a:prstGeom prst="straightConnector1">
            <a:avLst/>
          </a:prstGeom>
          <a:ln w="19050">
            <a:solidFill>
              <a:srgbClr val="506577"/>
            </a:solidFill>
            <a:tailEnd type="triangle" w="sm" len="sm"/>
          </a:ln>
        </p:spPr>
      </p:cxnSp>
      <p:sp>
        <p:nvSpPr>
          <p:cNvPr id="15" name="workflow-76"/>
          <p:cNvSpPr>
            <a:spLocks noGrp="1"/>
          </p:cNvSpPr>
          <p:nvPr/>
        </p:nvSpPr>
        <p:spPr>
          <a:xfrm>
            <a:off x="8248650" y="2981325"/>
            <a:ext cx="3305175" cy="666750"/>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Rank-one component j ≤12</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Hⱼ = σⱼuⱼvⱼᵀ</a:t>
            </a:r>
          </a:p>
        </p:txBody>
      </p:sp>
      <p:sp>
        <p:nvSpPr>
          <p:cNvPr id="16" name="workflow-77"/>
          <p:cNvSpPr>
            <a:spLocks noGrp="1"/>
          </p:cNvSpPr>
          <p:nvPr/>
        </p:nvSpPr>
        <p:spPr>
          <a:xfrm>
            <a:off x="8248650" y="4200525"/>
            <a:ext cx="3305175" cy="71437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Diagonal average to xⱼ[n]</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Cardiac-band power fraction Cⱼ</a:t>
            </a:r>
          </a:p>
        </p:txBody>
      </p:sp>
      <p:cxnSp>
        <p:nvCxnSpPr>
          <p:cNvPr id="69" name="直接箭头连接符 68"/>
          <p:cNvCxnSpPr>
            <a:stCxn id="15" idx="2"/>
            <a:endCxn id="16" idx="0"/>
          </p:cNvCxnSpPr>
          <p:nvPr/>
        </p:nvCxnSpPr>
        <p:spPr>
          <a:xfrm>
            <a:off x="9901238" y="3648075"/>
            <a:ext cx="0" cy="552450"/>
          </a:xfrm>
          <a:prstGeom prst="straightConnector1">
            <a:avLst/>
          </a:prstGeom>
          <a:ln w="19050">
            <a:solidFill>
              <a:srgbClr val="506577"/>
            </a:solidFill>
            <a:tailEnd type="triangle" w="sm" len="sm"/>
          </a:ln>
        </p:spPr>
      </p:cxnSp>
      <p:sp>
        <p:nvSpPr>
          <p:cNvPr id="18" name="矩形 17"/>
          <p:cNvSpPr>
            <a:spLocks noGrp="1"/>
          </p:cNvSpPr>
          <p:nvPr/>
        </p:nvSpPr>
        <p:spPr>
          <a:xfrm>
            <a:off x="9972199" y="2571274"/>
            <a:ext cx="953" cy="953"/>
          </a:xfrm>
          <a:prstGeom prst="rect">
            <a:avLst/>
          </a:prstGeom>
          <a:noFill/>
          <a:ln w="0">
            <a:noFill/>
          </a:ln>
        </p:spPr>
        <p:txBody>
          <a:bodyPr/>
          <a:lstStyle/>
          <a:p>
            <a:endParaRPr lang="zh-CN" altLang="en-US"/>
          </a:p>
        </p:txBody>
      </p:sp>
      <p:cxnSp>
        <p:nvCxnSpPr>
          <p:cNvPr id="71" name="直接箭头连接符 70"/>
          <p:cNvCxnSpPr>
            <a:stCxn id="6" idx="2"/>
            <a:endCxn id="18" idx="1"/>
          </p:cNvCxnSpPr>
          <p:nvPr/>
        </p:nvCxnSpPr>
        <p:spPr>
          <a:xfrm flipH="1">
            <a:off x="9972199" y="2133600"/>
            <a:ext cx="5238" cy="438151"/>
          </a:xfrm>
          <a:prstGeom prst="straightConnector1">
            <a:avLst/>
          </a:prstGeom>
          <a:ln w="19050">
            <a:solidFill>
              <a:srgbClr val="506577"/>
            </a:solidFill>
          </a:ln>
        </p:spPr>
      </p:cxnSp>
      <p:sp>
        <p:nvSpPr>
          <p:cNvPr id="20" name="矩形 19"/>
          <p:cNvSpPr>
            <a:spLocks noGrp="1"/>
          </p:cNvSpPr>
          <p:nvPr/>
        </p:nvSpPr>
        <p:spPr>
          <a:xfrm>
            <a:off x="2228374" y="2571274"/>
            <a:ext cx="953" cy="953"/>
          </a:xfrm>
          <a:prstGeom prst="rect">
            <a:avLst/>
          </a:prstGeom>
          <a:noFill/>
          <a:ln w="0">
            <a:noFill/>
          </a:ln>
        </p:spPr>
        <p:txBody>
          <a:bodyPr/>
          <a:lstStyle/>
          <a:p>
            <a:endParaRPr lang="zh-CN" altLang="en-US"/>
          </a:p>
        </p:txBody>
      </p:sp>
      <p:cxnSp>
        <p:nvCxnSpPr>
          <p:cNvPr id="73" name="直接箭头连接符 72"/>
          <p:cNvCxnSpPr>
            <a:stCxn id="18" idx="3"/>
            <a:endCxn id="20" idx="1"/>
          </p:cNvCxnSpPr>
          <p:nvPr/>
        </p:nvCxnSpPr>
        <p:spPr>
          <a:xfrm flipH="1">
            <a:off x="2228374" y="2571751"/>
            <a:ext cx="7744778" cy="0"/>
          </a:xfrm>
          <a:prstGeom prst="straightConnector1">
            <a:avLst/>
          </a:prstGeom>
          <a:ln w="19050">
            <a:solidFill>
              <a:srgbClr val="506577"/>
            </a:solidFill>
          </a:ln>
        </p:spPr>
      </p:cxnSp>
      <p:cxnSp>
        <p:nvCxnSpPr>
          <p:cNvPr id="74" name="直接箭头连接符 73"/>
          <p:cNvCxnSpPr>
            <a:stCxn id="20" idx="3"/>
            <a:endCxn id="9" idx="0"/>
          </p:cNvCxnSpPr>
          <p:nvPr/>
        </p:nvCxnSpPr>
        <p:spPr>
          <a:xfrm flipH="1">
            <a:off x="2224088" y="2571751"/>
            <a:ext cx="5240" cy="409575"/>
          </a:xfrm>
          <a:prstGeom prst="straightConnector1">
            <a:avLst/>
          </a:prstGeom>
          <a:ln w="19050">
            <a:solidFill>
              <a:srgbClr val="506577"/>
            </a:solidFill>
            <a:tailEnd type="triangle" w="sm" len="sm"/>
          </a:ln>
        </p:spPr>
      </p:cxnSp>
      <p:sp>
        <p:nvSpPr>
          <p:cNvPr id="23" name="矩形 22"/>
          <p:cNvSpPr>
            <a:spLocks noGrp="1"/>
          </p:cNvSpPr>
          <p:nvPr/>
        </p:nvSpPr>
        <p:spPr>
          <a:xfrm>
            <a:off x="9972199" y="2571274"/>
            <a:ext cx="953" cy="953"/>
          </a:xfrm>
          <a:prstGeom prst="rect">
            <a:avLst/>
          </a:prstGeom>
          <a:noFill/>
          <a:ln w="0">
            <a:noFill/>
          </a:ln>
        </p:spPr>
        <p:txBody>
          <a:bodyPr/>
          <a:lstStyle/>
          <a:p>
            <a:endParaRPr lang="zh-CN" altLang="en-US"/>
          </a:p>
        </p:txBody>
      </p:sp>
      <p:cxnSp>
        <p:nvCxnSpPr>
          <p:cNvPr id="76" name="直接箭头连接符 75"/>
          <p:cNvCxnSpPr>
            <a:stCxn id="6" idx="2"/>
            <a:endCxn id="23" idx="1"/>
          </p:cNvCxnSpPr>
          <p:nvPr/>
        </p:nvCxnSpPr>
        <p:spPr>
          <a:xfrm flipH="1">
            <a:off x="9972199" y="2133600"/>
            <a:ext cx="5238" cy="438151"/>
          </a:xfrm>
          <a:prstGeom prst="straightConnector1">
            <a:avLst/>
          </a:prstGeom>
          <a:ln w="19050">
            <a:solidFill>
              <a:srgbClr val="506577"/>
            </a:solidFill>
          </a:ln>
        </p:spPr>
      </p:cxnSp>
      <p:sp>
        <p:nvSpPr>
          <p:cNvPr id="25" name="矩形 24"/>
          <p:cNvSpPr>
            <a:spLocks noGrp="1"/>
          </p:cNvSpPr>
          <p:nvPr/>
        </p:nvSpPr>
        <p:spPr>
          <a:xfrm>
            <a:off x="6066949" y="2571274"/>
            <a:ext cx="953" cy="953"/>
          </a:xfrm>
          <a:prstGeom prst="rect">
            <a:avLst/>
          </a:prstGeom>
          <a:noFill/>
          <a:ln w="0">
            <a:noFill/>
          </a:ln>
        </p:spPr>
        <p:txBody>
          <a:bodyPr/>
          <a:lstStyle/>
          <a:p>
            <a:endParaRPr lang="zh-CN" altLang="en-US"/>
          </a:p>
        </p:txBody>
      </p:sp>
      <p:cxnSp>
        <p:nvCxnSpPr>
          <p:cNvPr id="78" name="直接箭头连接符 77"/>
          <p:cNvCxnSpPr>
            <a:stCxn id="23" idx="3"/>
            <a:endCxn id="25" idx="1"/>
          </p:cNvCxnSpPr>
          <p:nvPr/>
        </p:nvCxnSpPr>
        <p:spPr>
          <a:xfrm flipH="1">
            <a:off x="6066949" y="2571751"/>
            <a:ext cx="3906203" cy="0"/>
          </a:xfrm>
          <a:prstGeom prst="straightConnector1">
            <a:avLst/>
          </a:prstGeom>
          <a:ln w="19050">
            <a:solidFill>
              <a:srgbClr val="506577"/>
            </a:solidFill>
          </a:ln>
        </p:spPr>
      </p:cxnSp>
      <p:cxnSp>
        <p:nvCxnSpPr>
          <p:cNvPr id="79" name="直接箭头连接符 78"/>
          <p:cNvCxnSpPr>
            <a:stCxn id="25" idx="3"/>
            <a:endCxn id="12" idx="0"/>
          </p:cNvCxnSpPr>
          <p:nvPr/>
        </p:nvCxnSpPr>
        <p:spPr>
          <a:xfrm flipH="1">
            <a:off x="6062663" y="2571751"/>
            <a:ext cx="5240" cy="409575"/>
          </a:xfrm>
          <a:prstGeom prst="straightConnector1">
            <a:avLst/>
          </a:prstGeom>
          <a:ln w="19050">
            <a:solidFill>
              <a:srgbClr val="506577"/>
            </a:solidFill>
            <a:tailEnd type="triangle" w="sm" len="sm"/>
          </a:ln>
        </p:spPr>
      </p:cxnSp>
      <p:sp>
        <p:nvSpPr>
          <p:cNvPr id="28" name="矩形 27"/>
          <p:cNvSpPr>
            <a:spLocks noGrp="1"/>
          </p:cNvSpPr>
          <p:nvPr/>
        </p:nvSpPr>
        <p:spPr>
          <a:xfrm>
            <a:off x="9972199" y="2571274"/>
            <a:ext cx="953" cy="953"/>
          </a:xfrm>
          <a:prstGeom prst="rect">
            <a:avLst/>
          </a:prstGeom>
          <a:noFill/>
          <a:ln w="0">
            <a:noFill/>
          </a:ln>
        </p:spPr>
        <p:txBody>
          <a:bodyPr/>
          <a:lstStyle/>
          <a:p>
            <a:endParaRPr lang="zh-CN" altLang="en-US"/>
          </a:p>
        </p:txBody>
      </p:sp>
      <p:cxnSp>
        <p:nvCxnSpPr>
          <p:cNvPr id="81" name="直接箭头连接符 80"/>
          <p:cNvCxnSpPr>
            <a:stCxn id="6" idx="2"/>
            <a:endCxn id="28" idx="1"/>
          </p:cNvCxnSpPr>
          <p:nvPr/>
        </p:nvCxnSpPr>
        <p:spPr>
          <a:xfrm flipH="1">
            <a:off x="9972199" y="2133600"/>
            <a:ext cx="5238" cy="438151"/>
          </a:xfrm>
          <a:prstGeom prst="straightConnector1">
            <a:avLst/>
          </a:prstGeom>
          <a:ln w="19050">
            <a:solidFill>
              <a:srgbClr val="506577"/>
            </a:solidFill>
          </a:ln>
        </p:spPr>
      </p:cxnSp>
      <p:sp>
        <p:nvSpPr>
          <p:cNvPr id="30" name="矩形 29"/>
          <p:cNvSpPr>
            <a:spLocks noGrp="1"/>
          </p:cNvSpPr>
          <p:nvPr/>
        </p:nvSpPr>
        <p:spPr>
          <a:xfrm>
            <a:off x="9900761" y="2571274"/>
            <a:ext cx="953" cy="953"/>
          </a:xfrm>
          <a:prstGeom prst="rect">
            <a:avLst/>
          </a:prstGeom>
          <a:noFill/>
          <a:ln w="0">
            <a:noFill/>
          </a:ln>
        </p:spPr>
        <p:txBody>
          <a:bodyPr/>
          <a:lstStyle/>
          <a:p>
            <a:endParaRPr lang="zh-CN" altLang="en-US"/>
          </a:p>
        </p:txBody>
      </p:sp>
      <p:cxnSp>
        <p:nvCxnSpPr>
          <p:cNvPr id="83" name="直接箭头连接符 82"/>
          <p:cNvCxnSpPr>
            <a:stCxn id="28" idx="3"/>
            <a:endCxn id="30" idx="1"/>
          </p:cNvCxnSpPr>
          <p:nvPr/>
        </p:nvCxnSpPr>
        <p:spPr>
          <a:xfrm flipH="1">
            <a:off x="9900761" y="2571751"/>
            <a:ext cx="72391" cy="0"/>
          </a:xfrm>
          <a:prstGeom prst="straightConnector1">
            <a:avLst/>
          </a:prstGeom>
          <a:ln w="19050">
            <a:solidFill>
              <a:srgbClr val="506577"/>
            </a:solidFill>
          </a:ln>
        </p:spPr>
      </p:cxnSp>
      <p:cxnSp>
        <p:nvCxnSpPr>
          <p:cNvPr id="84" name="直接箭头连接符 83"/>
          <p:cNvCxnSpPr>
            <a:stCxn id="30" idx="3"/>
            <a:endCxn id="15" idx="0"/>
          </p:cNvCxnSpPr>
          <p:nvPr/>
        </p:nvCxnSpPr>
        <p:spPr>
          <a:xfrm flipH="1">
            <a:off x="9901238" y="2571751"/>
            <a:ext cx="477" cy="409575"/>
          </a:xfrm>
          <a:prstGeom prst="straightConnector1">
            <a:avLst/>
          </a:prstGeom>
          <a:ln w="19050">
            <a:solidFill>
              <a:srgbClr val="506577"/>
            </a:solidFill>
            <a:tailEnd type="triangle" w="sm" len="sm"/>
          </a:ln>
        </p:spPr>
      </p:cxnSp>
      <p:sp>
        <p:nvSpPr>
          <p:cNvPr id="33" name="workflow-78"/>
          <p:cNvSpPr>
            <a:spLocks noGrp="1"/>
          </p:cNvSpPr>
          <p:nvPr/>
        </p:nvSpPr>
        <p:spPr>
          <a:xfrm>
            <a:off x="4419600" y="5372100"/>
            <a:ext cx="3676650" cy="58102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Retain components with Cⱼ ≥0.45</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y[n] = Σ retained xⱼ[n]</a:t>
            </a:r>
          </a:p>
        </p:txBody>
      </p:sp>
      <p:sp>
        <p:nvSpPr>
          <p:cNvPr id="34" name="workflow-79"/>
          <p:cNvSpPr>
            <a:spLocks noGrp="1"/>
          </p:cNvSpPr>
          <p:nvPr/>
        </p:nvSpPr>
        <p:spPr>
          <a:xfrm>
            <a:off x="9201150" y="5372100"/>
            <a:ext cx="2352675" cy="581025"/>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Reconstructed</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PPG channel</a:t>
            </a:r>
          </a:p>
        </p:txBody>
      </p:sp>
      <p:sp>
        <p:nvSpPr>
          <p:cNvPr id="35" name="矩形 34"/>
          <p:cNvSpPr>
            <a:spLocks noGrp="1"/>
          </p:cNvSpPr>
          <p:nvPr/>
        </p:nvSpPr>
        <p:spPr>
          <a:xfrm>
            <a:off x="2223611" y="5171599"/>
            <a:ext cx="953" cy="953"/>
          </a:xfrm>
          <a:prstGeom prst="rect">
            <a:avLst/>
          </a:prstGeom>
          <a:noFill/>
          <a:ln w="0">
            <a:noFill/>
          </a:ln>
        </p:spPr>
        <p:txBody>
          <a:bodyPr/>
          <a:lstStyle/>
          <a:p>
            <a:endParaRPr lang="zh-CN" altLang="en-US"/>
          </a:p>
        </p:txBody>
      </p:sp>
      <p:cxnSp>
        <p:nvCxnSpPr>
          <p:cNvPr id="88" name="直接箭头连接符 87"/>
          <p:cNvCxnSpPr>
            <a:stCxn id="10" idx="2"/>
            <a:endCxn id="35" idx="1"/>
          </p:cNvCxnSpPr>
          <p:nvPr/>
        </p:nvCxnSpPr>
        <p:spPr>
          <a:xfrm flipH="1">
            <a:off x="2223611" y="4914900"/>
            <a:ext cx="476" cy="257176"/>
          </a:xfrm>
          <a:prstGeom prst="straightConnector1">
            <a:avLst/>
          </a:prstGeom>
          <a:ln w="19050">
            <a:solidFill>
              <a:srgbClr val="506577"/>
            </a:solidFill>
          </a:ln>
        </p:spPr>
      </p:cxnSp>
      <p:sp>
        <p:nvSpPr>
          <p:cNvPr id="37" name="矩形 36"/>
          <p:cNvSpPr>
            <a:spLocks noGrp="1"/>
          </p:cNvSpPr>
          <p:nvPr/>
        </p:nvSpPr>
        <p:spPr>
          <a:xfrm>
            <a:off x="6257449" y="5171599"/>
            <a:ext cx="953" cy="953"/>
          </a:xfrm>
          <a:prstGeom prst="rect">
            <a:avLst/>
          </a:prstGeom>
          <a:noFill/>
          <a:ln w="0">
            <a:noFill/>
          </a:ln>
        </p:spPr>
        <p:txBody>
          <a:bodyPr/>
          <a:lstStyle/>
          <a:p>
            <a:endParaRPr lang="zh-CN" altLang="en-US"/>
          </a:p>
        </p:txBody>
      </p:sp>
      <p:cxnSp>
        <p:nvCxnSpPr>
          <p:cNvPr id="90" name="直接箭头连接符 89"/>
          <p:cNvCxnSpPr>
            <a:stCxn id="35" idx="3"/>
            <a:endCxn id="37" idx="1"/>
          </p:cNvCxnSpPr>
          <p:nvPr/>
        </p:nvCxnSpPr>
        <p:spPr>
          <a:xfrm>
            <a:off x="2224564" y="5172076"/>
            <a:ext cx="4032885" cy="0"/>
          </a:xfrm>
          <a:prstGeom prst="straightConnector1">
            <a:avLst/>
          </a:prstGeom>
          <a:ln w="19050">
            <a:solidFill>
              <a:srgbClr val="506577"/>
            </a:solidFill>
          </a:ln>
        </p:spPr>
      </p:cxnSp>
      <p:cxnSp>
        <p:nvCxnSpPr>
          <p:cNvPr id="91" name="直接箭头连接符 90"/>
          <p:cNvCxnSpPr>
            <a:stCxn id="37" idx="3"/>
            <a:endCxn id="33" idx="0"/>
          </p:cNvCxnSpPr>
          <p:nvPr/>
        </p:nvCxnSpPr>
        <p:spPr>
          <a:xfrm flipH="1">
            <a:off x="6257925" y="5172076"/>
            <a:ext cx="477" cy="200024"/>
          </a:xfrm>
          <a:prstGeom prst="straightConnector1">
            <a:avLst/>
          </a:prstGeom>
          <a:ln w="19050">
            <a:solidFill>
              <a:srgbClr val="506577"/>
            </a:solidFill>
            <a:tailEnd type="triangle" w="sm" len="sm"/>
          </a:ln>
        </p:spPr>
      </p:cxnSp>
      <p:sp>
        <p:nvSpPr>
          <p:cNvPr id="40" name="矩形 39"/>
          <p:cNvSpPr>
            <a:spLocks noGrp="1"/>
          </p:cNvSpPr>
          <p:nvPr/>
        </p:nvSpPr>
        <p:spPr>
          <a:xfrm>
            <a:off x="6062186" y="5171599"/>
            <a:ext cx="953" cy="953"/>
          </a:xfrm>
          <a:prstGeom prst="rect">
            <a:avLst/>
          </a:prstGeom>
          <a:noFill/>
          <a:ln w="0">
            <a:noFill/>
          </a:ln>
        </p:spPr>
        <p:txBody>
          <a:bodyPr/>
          <a:lstStyle/>
          <a:p>
            <a:endParaRPr lang="zh-CN" altLang="en-US"/>
          </a:p>
        </p:txBody>
      </p:sp>
      <p:cxnSp>
        <p:nvCxnSpPr>
          <p:cNvPr id="93" name="直接箭头连接符 92"/>
          <p:cNvCxnSpPr>
            <a:stCxn id="13" idx="2"/>
            <a:endCxn id="40" idx="1"/>
          </p:cNvCxnSpPr>
          <p:nvPr/>
        </p:nvCxnSpPr>
        <p:spPr>
          <a:xfrm flipH="1">
            <a:off x="6062186" y="4914900"/>
            <a:ext cx="476" cy="257176"/>
          </a:xfrm>
          <a:prstGeom prst="straightConnector1">
            <a:avLst/>
          </a:prstGeom>
          <a:ln w="19050">
            <a:solidFill>
              <a:srgbClr val="506577"/>
            </a:solidFill>
          </a:ln>
        </p:spPr>
      </p:cxnSp>
      <p:sp>
        <p:nvSpPr>
          <p:cNvPr id="42" name="矩形 41"/>
          <p:cNvSpPr>
            <a:spLocks noGrp="1"/>
          </p:cNvSpPr>
          <p:nvPr/>
        </p:nvSpPr>
        <p:spPr>
          <a:xfrm>
            <a:off x="6257449" y="5171599"/>
            <a:ext cx="953" cy="953"/>
          </a:xfrm>
          <a:prstGeom prst="rect">
            <a:avLst/>
          </a:prstGeom>
          <a:noFill/>
          <a:ln w="0">
            <a:noFill/>
          </a:ln>
        </p:spPr>
        <p:txBody>
          <a:bodyPr/>
          <a:lstStyle/>
          <a:p>
            <a:endParaRPr lang="zh-CN" altLang="en-US"/>
          </a:p>
        </p:txBody>
      </p:sp>
      <p:cxnSp>
        <p:nvCxnSpPr>
          <p:cNvPr id="95" name="直接箭头连接符 94"/>
          <p:cNvCxnSpPr>
            <a:stCxn id="40" idx="3"/>
            <a:endCxn id="42" idx="1"/>
          </p:cNvCxnSpPr>
          <p:nvPr/>
        </p:nvCxnSpPr>
        <p:spPr>
          <a:xfrm>
            <a:off x="6063139" y="5172076"/>
            <a:ext cx="194310" cy="0"/>
          </a:xfrm>
          <a:prstGeom prst="straightConnector1">
            <a:avLst/>
          </a:prstGeom>
          <a:ln w="19050">
            <a:solidFill>
              <a:srgbClr val="506577"/>
            </a:solidFill>
          </a:ln>
        </p:spPr>
      </p:cxnSp>
      <p:cxnSp>
        <p:nvCxnSpPr>
          <p:cNvPr id="96" name="直接箭头连接符 95"/>
          <p:cNvCxnSpPr>
            <a:stCxn id="42" idx="3"/>
            <a:endCxn id="33" idx="0"/>
          </p:cNvCxnSpPr>
          <p:nvPr/>
        </p:nvCxnSpPr>
        <p:spPr>
          <a:xfrm flipH="1">
            <a:off x="6257925" y="5172076"/>
            <a:ext cx="477" cy="200024"/>
          </a:xfrm>
          <a:prstGeom prst="straightConnector1">
            <a:avLst/>
          </a:prstGeom>
          <a:ln w="19050">
            <a:solidFill>
              <a:srgbClr val="506577"/>
            </a:solidFill>
            <a:tailEnd type="triangle" w="sm" len="sm"/>
          </a:ln>
        </p:spPr>
      </p:cxnSp>
      <p:sp>
        <p:nvSpPr>
          <p:cNvPr id="45" name="矩形 44"/>
          <p:cNvSpPr>
            <a:spLocks noGrp="1"/>
          </p:cNvSpPr>
          <p:nvPr/>
        </p:nvSpPr>
        <p:spPr>
          <a:xfrm>
            <a:off x="9900761" y="5171599"/>
            <a:ext cx="953" cy="953"/>
          </a:xfrm>
          <a:prstGeom prst="rect">
            <a:avLst/>
          </a:prstGeom>
          <a:noFill/>
          <a:ln w="0">
            <a:noFill/>
          </a:ln>
        </p:spPr>
        <p:txBody>
          <a:bodyPr/>
          <a:lstStyle/>
          <a:p>
            <a:endParaRPr lang="zh-CN" altLang="en-US"/>
          </a:p>
        </p:txBody>
      </p:sp>
      <p:cxnSp>
        <p:nvCxnSpPr>
          <p:cNvPr id="98" name="直接箭头连接符 97"/>
          <p:cNvCxnSpPr>
            <a:stCxn id="16" idx="2"/>
            <a:endCxn id="45" idx="1"/>
          </p:cNvCxnSpPr>
          <p:nvPr/>
        </p:nvCxnSpPr>
        <p:spPr>
          <a:xfrm flipH="1">
            <a:off x="9900761" y="4914900"/>
            <a:ext cx="477" cy="257176"/>
          </a:xfrm>
          <a:prstGeom prst="straightConnector1">
            <a:avLst/>
          </a:prstGeom>
          <a:ln w="19050">
            <a:solidFill>
              <a:srgbClr val="506577"/>
            </a:solidFill>
          </a:ln>
        </p:spPr>
      </p:cxnSp>
      <p:sp>
        <p:nvSpPr>
          <p:cNvPr id="47" name="矩形 46"/>
          <p:cNvSpPr>
            <a:spLocks noGrp="1"/>
          </p:cNvSpPr>
          <p:nvPr/>
        </p:nvSpPr>
        <p:spPr>
          <a:xfrm>
            <a:off x="6257449" y="5171599"/>
            <a:ext cx="953" cy="953"/>
          </a:xfrm>
          <a:prstGeom prst="rect">
            <a:avLst/>
          </a:prstGeom>
          <a:noFill/>
          <a:ln w="0">
            <a:noFill/>
          </a:ln>
        </p:spPr>
        <p:txBody>
          <a:bodyPr/>
          <a:lstStyle/>
          <a:p>
            <a:endParaRPr lang="zh-CN" altLang="en-US"/>
          </a:p>
        </p:txBody>
      </p:sp>
      <p:cxnSp>
        <p:nvCxnSpPr>
          <p:cNvPr id="100" name="直接箭头连接符 99"/>
          <p:cNvCxnSpPr>
            <a:stCxn id="45" idx="3"/>
            <a:endCxn id="47" idx="1"/>
          </p:cNvCxnSpPr>
          <p:nvPr/>
        </p:nvCxnSpPr>
        <p:spPr>
          <a:xfrm flipH="1">
            <a:off x="6257449" y="5172076"/>
            <a:ext cx="3644265" cy="0"/>
          </a:xfrm>
          <a:prstGeom prst="straightConnector1">
            <a:avLst/>
          </a:prstGeom>
          <a:ln w="19050">
            <a:solidFill>
              <a:srgbClr val="506577"/>
            </a:solidFill>
          </a:ln>
        </p:spPr>
      </p:cxnSp>
      <p:cxnSp>
        <p:nvCxnSpPr>
          <p:cNvPr id="101" name="直接箭头连接符 100"/>
          <p:cNvCxnSpPr>
            <a:stCxn id="47" idx="3"/>
            <a:endCxn id="33" idx="0"/>
          </p:cNvCxnSpPr>
          <p:nvPr/>
        </p:nvCxnSpPr>
        <p:spPr>
          <a:xfrm flipH="1">
            <a:off x="6257925" y="5172076"/>
            <a:ext cx="477" cy="200024"/>
          </a:xfrm>
          <a:prstGeom prst="straightConnector1">
            <a:avLst/>
          </a:prstGeom>
          <a:ln w="19050">
            <a:solidFill>
              <a:srgbClr val="506577"/>
            </a:solidFill>
            <a:tailEnd type="triangle" w="sm" len="sm"/>
          </a:ln>
        </p:spPr>
      </p:cxnSp>
      <p:cxnSp>
        <p:nvCxnSpPr>
          <p:cNvPr id="102" name="直接箭头连接符 101"/>
          <p:cNvCxnSpPr>
            <a:stCxn id="33" idx="3"/>
            <a:endCxn id="34" idx="1"/>
          </p:cNvCxnSpPr>
          <p:nvPr/>
        </p:nvCxnSpPr>
        <p:spPr>
          <a:xfrm>
            <a:off x="8096250" y="5662613"/>
            <a:ext cx="1104900" cy="0"/>
          </a:xfrm>
          <a:prstGeom prst="straightConnector1">
            <a:avLst/>
          </a:prstGeom>
          <a:ln w="19050">
            <a:solidFill>
              <a:srgbClr val="506577"/>
            </a:solidFill>
            <a:tailEnd type="triangle" w="sm" len="sm"/>
          </a:ln>
        </p:spPr>
      </p:cxnSp>
      <p:sp>
        <p:nvSpPr>
          <p:cNvPr id="51" name="text-80"/>
          <p:cNvSpPr>
            <a:spLocks noGrp="1"/>
          </p:cNvSpPr>
          <p:nvPr/>
        </p:nvSpPr>
        <p:spPr>
          <a:xfrm>
            <a:off x="581025" y="5305425"/>
            <a:ext cx="3448050" cy="590550"/>
          </a:xfrm>
          <a:prstGeom prst="rect">
            <a:avLst/>
          </a:prstGeom>
          <a:noFill/>
          <a:ln w="0">
            <a:noFill/>
          </a:ln>
        </p:spPr>
        <p:txBody>
          <a:bodyPr wrap="square" lIns="0" tIns="0" rIns="0" bIns="0" anchor="t">
            <a:noAutofit/>
          </a:bodyPr>
          <a:lstStyle/>
          <a:p>
            <a:pPr algn="l">
              <a:defRPr sz="1575" b="1">
                <a:solidFill>
                  <a:srgbClr val="152C3F"/>
                </a:solidFill>
                <a:latin typeface="DejaVu Sans" panose="020B0603030804020204"/>
                <a:ea typeface="DejaVu Sans" panose="020B0603030804020204"/>
                <a:cs typeface="DejaVu Sans" panose="020B0603030804020204"/>
              </a:defRPr>
            </a:pPr>
            <a:r>
              <a:rPr sz="1575" b="1">
                <a:solidFill>
                  <a:srgbClr val="152C3F"/>
                </a:solidFill>
                <a:latin typeface="DejaVu Sans" panose="020B0603030804020204"/>
                <a:ea typeface="DejaVu Sans" panose="020B0603030804020204"/>
                <a:cs typeface="DejaVu Sans" panose="020B0603030804020204"/>
              </a:rPr>
              <a:t>Cⱼ = Pⱼ(0.5–3.5 Hz)</a:t>
            </a:r>
          </a:p>
          <a:p>
            <a:pPr algn="l">
              <a:defRPr sz="1575" b="1">
                <a:solidFill>
                  <a:srgbClr val="152C3F"/>
                </a:solidFill>
                <a:latin typeface="DejaVu Sans" panose="020B0603030804020204"/>
                <a:ea typeface="DejaVu Sans" panose="020B0603030804020204"/>
                <a:cs typeface="DejaVu Sans" panose="020B0603030804020204"/>
              </a:defRPr>
            </a:pPr>
            <a:r>
              <a:rPr sz="1575" b="1">
                <a:solidFill>
                  <a:srgbClr val="152C3F"/>
                </a:solidFill>
                <a:latin typeface="DejaVu Sans" panose="020B0603030804020204"/>
                <a:ea typeface="DejaVu Sans" panose="020B0603030804020204"/>
                <a:cs typeface="DejaVu Sans" panose="020B0603030804020204"/>
              </a:rPr>
              <a:t>/ Pⱼ(0.2–8 Hz)</a:t>
            </a:r>
          </a:p>
        </p:txBody>
      </p:sp>
      <p:sp>
        <p:nvSpPr>
          <p:cNvPr id="52" name="text-81"/>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Process RED and IR independently. Diagonal averaging restores each component to the original sample grid.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82"/>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PCA: mixtures, projections and components</a:t>
            </a:r>
          </a:p>
        </p:txBody>
      </p:sp>
      <p:sp>
        <p:nvSpPr>
          <p:cNvPr id="2" name="text-83"/>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84"/>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18</a:t>
            </a:r>
          </a:p>
        </p:txBody>
      </p:sp>
      <p:sp>
        <p:nvSpPr>
          <p:cNvPr id="4" name="text-85"/>
          <p:cNvSpPr>
            <a:spLocks noGrp="1"/>
          </p:cNvSpPr>
          <p:nvPr/>
        </p:nvSpPr>
        <p:spPr>
          <a:xfrm>
            <a:off x="581025" y="1371600"/>
            <a:ext cx="3438525" cy="333375"/>
          </a:xfrm>
          <a:prstGeom prst="rect">
            <a:avLst/>
          </a:prstGeom>
          <a:noFill/>
          <a:ln w="0">
            <a:noFill/>
          </a:ln>
        </p:spPr>
        <p:txBody>
          <a:bodyPr wrap="square" lIns="0" tIns="0" rIns="0" bIns="0" anchor="t">
            <a:noAutofit/>
          </a:bodyPr>
          <a:lstStyle/>
          <a:p>
            <a:pPr algn="l">
              <a:defRPr sz="1650" b="1">
                <a:solidFill>
                  <a:srgbClr val="152C3F"/>
                </a:solidFill>
                <a:latin typeface="DejaVu Sans" panose="020B0603030804020204"/>
                <a:ea typeface="DejaVu Sans" panose="020B0603030804020204"/>
                <a:cs typeface="DejaVu Sans" panose="020B0603030804020204"/>
              </a:defRPr>
            </a:pPr>
            <a:r>
              <a:rPr sz="1650" b="1">
                <a:solidFill>
                  <a:srgbClr val="152C3F"/>
                </a:solidFill>
                <a:latin typeface="DejaVu Sans" panose="020B0603030804020204"/>
                <a:ea typeface="DejaVu Sans" panose="020B0603030804020204"/>
                <a:cs typeface="DejaVu Sans" panose="020B0603030804020204"/>
              </a:rPr>
              <a:t>Synchronized RED and IR</a:t>
            </a:r>
          </a:p>
        </p:txBody>
      </p:sp>
      <p:graphicFrame>
        <p:nvGraphicFramePr>
          <p:cNvPr id="18" name="Chart"/>
          <p:cNvGraphicFramePr/>
          <p:nvPr/>
        </p:nvGraphicFramePr>
        <p:xfrm>
          <a:off x="438150" y="1924050"/>
          <a:ext cx="3543300" cy="31813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86"/>
          <p:cNvSpPr>
            <a:spLocks noGrp="1"/>
          </p:cNvSpPr>
          <p:nvPr/>
        </p:nvSpPr>
        <p:spPr>
          <a:xfrm>
            <a:off x="4257675" y="1371600"/>
            <a:ext cx="3524250" cy="333375"/>
          </a:xfrm>
          <a:prstGeom prst="rect">
            <a:avLst/>
          </a:prstGeom>
          <a:noFill/>
          <a:ln w="0">
            <a:noFill/>
          </a:ln>
        </p:spPr>
        <p:txBody>
          <a:bodyPr wrap="square" lIns="0" tIns="0" rIns="0" bIns="0" anchor="t">
            <a:noAutofit/>
          </a:bodyPr>
          <a:lstStyle/>
          <a:p>
            <a:pPr algn="l">
              <a:defRPr sz="1650" b="1">
                <a:solidFill>
                  <a:srgbClr val="152C3F"/>
                </a:solidFill>
                <a:latin typeface="DejaVu Sans" panose="020B0603030804020204"/>
                <a:ea typeface="DejaVu Sans" panose="020B0603030804020204"/>
                <a:cs typeface="DejaVu Sans" panose="020B0603030804020204"/>
              </a:defRPr>
            </a:pPr>
            <a:r>
              <a:rPr sz="1650" b="1">
                <a:solidFill>
                  <a:srgbClr val="152C3F"/>
                </a:solidFill>
                <a:latin typeface="DejaVu Sans" panose="020B0603030804020204"/>
                <a:ea typeface="DejaVu Sans" panose="020B0603030804020204"/>
                <a:cs typeface="DejaVu Sans" panose="020B0603030804020204"/>
              </a:rPr>
              <a:t>PCA directions</a:t>
            </a:r>
          </a:p>
        </p:txBody>
      </p:sp>
      <p:sp>
        <p:nvSpPr>
          <p:cNvPr id="8" name="text-87"/>
          <p:cNvSpPr>
            <a:spLocks noGrp="1"/>
          </p:cNvSpPr>
          <p:nvPr/>
        </p:nvSpPr>
        <p:spPr>
          <a:xfrm>
            <a:off x="8248650" y="1371600"/>
            <a:ext cx="3352800" cy="333375"/>
          </a:xfrm>
          <a:prstGeom prst="rect">
            <a:avLst/>
          </a:prstGeom>
          <a:noFill/>
          <a:ln w="0">
            <a:noFill/>
          </a:ln>
        </p:spPr>
        <p:txBody>
          <a:bodyPr wrap="square" lIns="0" tIns="0" rIns="0" bIns="0" anchor="t">
            <a:noAutofit/>
          </a:bodyPr>
          <a:lstStyle/>
          <a:p>
            <a:pPr algn="l">
              <a:defRPr sz="1650" b="1">
                <a:solidFill>
                  <a:srgbClr val="152C3F"/>
                </a:solidFill>
                <a:latin typeface="DejaVu Sans" panose="020B0603030804020204"/>
                <a:ea typeface="DejaVu Sans" panose="020B0603030804020204"/>
                <a:cs typeface="DejaVu Sans" panose="020B0603030804020204"/>
              </a:defRPr>
            </a:pPr>
            <a:r>
              <a:rPr sz="1650" b="1">
                <a:solidFill>
                  <a:srgbClr val="152C3F"/>
                </a:solidFill>
                <a:latin typeface="DejaVu Sans" panose="020B0603030804020204"/>
                <a:ea typeface="DejaVu Sans" panose="020B0603030804020204"/>
                <a:cs typeface="DejaVu Sans" panose="020B0603030804020204"/>
              </a:rPr>
              <a:t>Components</a:t>
            </a:r>
          </a:p>
        </p:txBody>
      </p:sp>
      <p:graphicFrame>
        <p:nvGraphicFramePr>
          <p:cNvPr id="22" name="Chart"/>
          <p:cNvGraphicFramePr/>
          <p:nvPr/>
        </p:nvGraphicFramePr>
        <p:xfrm>
          <a:off x="8115300" y="1924050"/>
          <a:ext cx="3552825" cy="318135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88"/>
          <p:cNvSpPr>
            <a:spLocks noGrp="1"/>
          </p:cNvSpPr>
          <p:nvPr/>
        </p:nvSpPr>
        <p:spPr>
          <a:xfrm>
            <a:off x="590550" y="5295900"/>
            <a:ext cx="3314700" cy="62865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Paired optical samples</a:t>
            </a:r>
          </a:p>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at the same instant.</a:t>
            </a:r>
          </a:p>
        </p:txBody>
      </p:sp>
      <p:sp>
        <p:nvSpPr>
          <p:cNvPr id="11" name="text-89"/>
          <p:cNvSpPr>
            <a:spLocks noGrp="1"/>
          </p:cNvSpPr>
          <p:nvPr/>
        </p:nvSpPr>
        <p:spPr>
          <a:xfrm>
            <a:off x="4257675" y="5295900"/>
            <a:ext cx="3476625" cy="619125"/>
          </a:xfrm>
          <a:prstGeom prst="rect">
            <a:avLst/>
          </a:prstGeom>
          <a:noFill/>
          <a:ln w="0">
            <a:noFill/>
          </a:ln>
        </p:spPr>
        <p:txBody>
          <a:bodyPr wrap="square" lIns="0" tIns="0" rIns="0" bIns="0" anchor="t">
            <a:noAutofit/>
          </a:bodyPr>
          <a:lstStyle/>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Orange: first principal axis</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Teal: second principal axis</a:t>
            </a:r>
          </a:p>
        </p:txBody>
      </p:sp>
      <p:sp>
        <p:nvSpPr>
          <p:cNvPr id="12" name="text-90"/>
          <p:cNvSpPr>
            <a:spLocks noGrp="1"/>
          </p:cNvSpPr>
          <p:nvPr/>
        </p:nvSpPr>
        <p:spPr>
          <a:xfrm>
            <a:off x="8258175" y="5295900"/>
            <a:ext cx="3314700" cy="619125"/>
          </a:xfrm>
          <a:prstGeom prst="rect">
            <a:avLst/>
          </a:prstGeom>
          <a:noFill/>
          <a:ln w="0">
            <a:noFill/>
          </a:ln>
        </p:spPr>
        <p:txBody>
          <a:bodyPr wrap="square" lIns="0" tIns="0" rIns="0" bIns="0" anchor="t">
            <a:noAutofit/>
          </a:bodyPr>
          <a:lstStyle/>
          <a:p>
            <a:pPr algn="l">
              <a:defRPr sz="1575" b="1">
                <a:solidFill>
                  <a:srgbClr val="087E8B"/>
                </a:solidFill>
                <a:latin typeface="DejaVu Sans" panose="020B0603030804020204"/>
                <a:ea typeface="DejaVu Sans" panose="020B0603030804020204"/>
                <a:cs typeface="DejaVu Sans" panose="020B0603030804020204"/>
              </a:defRPr>
            </a:pPr>
            <a:r>
              <a:rPr sz="1575" b="1">
                <a:solidFill>
                  <a:srgbClr val="087E8B"/>
                </a:solidFill>
                <a:latin typeface="DejaVu Sans" panose="020B0603030804020204"/>
                <a:ea typeface="DejaVu Sans" panose="020B0603030804020204"/>
                <a:cs typeface="DejaVu Sans" panose="020B0603030804020204"/>
              </a:rPr>
              <a:t>PC1 score ≈0.19</a:t>
            </a:r>
          </a:p>
          <a:p>
            <a:pPr algn="l">
              <a:defRPr sz="1575" b="1">
                <a:solidFill>
                  <a:srgbClr val="087E8B"/>
                </a:solidFill>
                <a:latin typeface="DejaVu Sans" panose="020B0603030804020204"/>
                <a:ea typeface="DejaVu Sans" panose="020B0603030804020204"/>
                <a:cs typeface="DejaVu Sans" panose="020B0603030804020204"/>
              </a:defRPr>
            </a:pPr>
            <a:r>
              <a:rPr sz="1575" b="1">
                <a:solidFill>
                  <a:srgbClr val="087E8B"/>
                </a:solidFill>
                <a:latin typeface="DejaVu Sans" panose="020B0603030804020204"/>
                <a:ea typeface="DejaVu Sans" panose="020B0603030804020204"/>
                <a:cs typeface="DejaVu Sans" panose="020B0603030804020204"/>
              </a:rPr>
              <a:t>PC2 score ≈0.71 → select</a:t>
            </a:r>
          </a:p>
        </p:txBody>
      </p:sp>
      <p:sp>
        <p:nvSpPr>
          <p:cNvPr id="13" name="text-91"/>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PCA = principal component analysis. The largest-variance component need not represent the pulse.</a:t>
            </a:r>
          </a:p>
        </p:txBody>
      </p:sp>
      <p:pic>
        <p:nvPicPr>
          <p:cNvPr id="15" name="图片 14"/>
          <p:cNvPicPr>
            <a:picLocks noChangeAspect="1"/>
          </p:cNvPicPr>
          <p:nvPr/>
        </p:nvPicPr>
        <p:blipFill>
          <a:blip r:embed="rId5"/>
          <a:stretch>
            <a:fillRect/>
          </a:stretch>
        </p:blipFill>
        <p:spPr>
          <a:xfrm>
            <a:off x="4257675" y="2103755"/>
            <a:ext cx="3361055" cy="29660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3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Four motion reducers on the same PPG segment</a:t>
            </a:r>
          </a:p>
        </p:txBody>
      </p:sp>
      <p:sp>
        <p:nvSpPr>
          <p:cNvPr id="2" name="text-3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3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19</a:t>
            </a:r>
          </a:p>
        </p:txBody>
      </p:sp>
      <p:sp>
        <p:nvSpPr>
          <p:cNvPr id="4" name="text-36"/>
          <p:cNvSpPr>
            <a:spLocks noGrp="1"/>
          </p:cNvSpPr>
          <p:nvPr/>
        </p:nvSpPr>
        <p:spPr>
          <a:xfrm>
            <a:off x="561975" y="1266825"/>
            <a:ext cx="5353050" cy="323850"/>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Spectral mask</a:t>
            </a:r>
          </a:p>
        </p:txBody>
      </p:sp>
      <p:pic>
        <p:nvPicPr>
          <p:cNvPr id="17" name="图片 16"/>
          <p:cNvPicPr>
            <a:picLocks noChangeAspect="1"/>
          </p:cNvPicPr>
          <p:nvPr/>
        </p:nvPicPr>
        <p:blipFill>
          <a:blip r:embed="rId3"/>
          <a:stretch>
            <a:fillRect/>
          </a:stretch>
        </p:blipFill>
        <p:spPr>
          <a:xfrm>
            <a:off x="668134" y="1581150"/>
            <a:ext cx="5140731" cy="1933575"/>
          </a:xfrm>
          <a:prstGeom prst="rect">
            <a:avLst/>
          </a:prstGeom>
        </p:spPr>
      </p:pic>
      <p:sp>
        <p:nvSpPr>
          <p:cNvPr id="6" name="text-37"/>
          <p:cNvSpPr>
            <a:spLocks noGrp="1"/>
          </p:cNvSpPr>
          <p:nvPr/>
        </p:nvSpPr>
        <p:spPr>
          <a:xfrm>
            <a:off x="6267450" y="1266825"/>
            <a:ext cx="5353050" cy="323850"/>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Normalized least mean squares (NLMS)</a:t>
            </a:r>
          </a:p>
        </p:txBody>
      </p:sp>
      <p:pic>
        <p:nvPicPr>
          <p:cNvPr id="19" name="图片 18"/>
          <p:cNvPicPr>
            <a:picLocks noChangeAspect="1"/>
          </p:cNvPicPr>
          <p:nvPr/>
        </p:nvPicPr>
        <p:blipFill>
          <a:blip r:embed="rId4"/>
          <a:stretch>
            <a:fillRect/>
          </a:stretch>
        </p:blipFill>
        <p:spPr>
          <a:xfrm>
            <a:off x="6267450" y="1614962"/>
            <a:ext cx="5353050" cy="1865951"/>
          </a:xfrm>
          <a:prstGeom prst="rect">
            <a:avLst/>
          </a:prstGeom>
        </p:spPr>
      </p:pic>
      <p:sp>
        <p:nvSpPr>
          <p:cNvPr id="8" name="text-38"/>
          <p:cNvSpPr>
            <a:spLocks noGrp="1"/>
          </p:cNvSpPr>
          <p:nvPr/>
        </p:nvSpPr>
        <p:spPr>
          <a:xfrm>
            <a:off x="561975" y="3714750"/>
            <a:ext cx="5353050" cy="323850"/>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Singular spectrum analysis (SSA)</a:t>
            </a:r>
          </a:p>
        </p:txBody>
      </p:sp>
      <p:pic>
        <p:nvPicPr>
          <p:cNvPr id="21" name="图片 20"/>
          <p:cNvPicPr>
            <a:picLocks noChangeAspect="1"/>
          </p:cNvPicPr>
          <p:nvPr/>
        </p:nvPicPr>
        <p:blipFill>
          <a:blip r:embed="rId5"/>
          <a:stretch>
            <a:fillRect/>
          </a:stretch>
        </p:blipFill>
        <p:spPr>
          <a:xfrm>
            <a:off x="561975" y="3978264"/>
            <a:ext cx="5353050" cy="1920898"/>
          </a:xfrm>
          <a:prstGeom prst="rect">
            <a:avLst/>
          </a:prstGeom>
        </p:spPr>
      </p:pic>
      <p:sp>
        <p:nvSpPr>
          <p:cNvPr id="10" name="text-39"/>
          <p:cNvSpPr>
            <a:spLocks noGrp="1"/>
          </p:cNvSpPr>
          <p:nvPr/>
        </p:nvSpPr>
        <p:spPr>
          <a:xfrm>
            <a:off x="6267450" y="3714750"/>
            <a:ext cx="5353050" cy="323850"/>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Principal component analysis (PCA)</a:t>
            </a:r>
          </a:p>
        </p:txBody>
      </p:sp>
      <p:pic>
        <p:nvPicPr>
          <p:cNvPr id="23" name="图片 22"/>
          <p:cNvPicPr>
            <a:picLocks noChangeAspect="1"/>
          </p:cNvPicPr>
          <p:nvPr/>
        </p:nvPicPr>
        <p:blipFill>
          <a:blip r:embed="rId6"/>
          <a:stretch>
            <a:fillRect/>
          </a:stretch>
        </p:blipFill>
        <p:spPr>
          <a:xfrm>
            <a:off x="6267450" y="4003706"/>
            <a:ext cx="5353050" cy="1870013"/>
          </a:xfrm>
          <a:prstGeom prst="rect">
            <a:avLst/>
          </a:prstGeom>
        </p:spPr>
      </p:pic>
      <p:sp>
        <p:nvSpPr>
          <p:cNvPr id="12" name="text-40"/>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Blue: original PPG   Teal: processed PPG   Orange dots: detected peaks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58"/>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Identity control and four denoising methods</a:t>
            </a:r>
          </a:p>
        </p:txBody>
      </p:sp>
      <p:sp>
        <p:nvSpPr>
          <p:cNvPr id="2" name="text-59"/>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DENOISING EVIDENCE</a:t>
            </a:r>
          </a:p>
        </p:txBody>
      </p:sp>
      <p:sp>
        <p:nvSpPr>
          <p:cNvPr id="3" name="text-60"/>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20</a:t>
            </a:r>
          </a:p>
        </p:txBody>
      </p:sp>
      <p:sp>
        <p:nvSpPr>
          <p:cNvPr id="4" name="text-61"/>
          <p:cNvSpPr>
            <a:spLocks noGrp="1"/>
          </p:cNvSpPr>
          <p:nvPr/>
        </p:nvSpPr>
        <p:spPr>
          <a:xfrm>
            <a:off x="571500" y="1438275"/>
            <a:ext cx="6896100" cy="41910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Dynamic IR: interval error relative to ECG</a:t>
            </a:r>
          </a:p>
        </p:txBody>
      </p:sp>
      <p:graphicFrame>
        <p:nvGraphicFramePr>
          <p:cNvPr id="14" name="Chart"/>
          <p:cNvGraphicFramePr/>
          <p:nvPr/>
        </p:nvGraphicFramePr>
        <p:xfrm>
          <a:off x="495300" y="2095500"/>
          <a:ext cx="6981825" cy="31051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表格 14"/>
          <p:cNvGraphicFramePr/>
          <p:nvPr/>
        </p:nvGraphicFramePr>
        <p:xfrm>
          <a:off x="7839075" y="1924050"/>
          <a:ext cx="3762375" cy="2943228"/>
        </p:xfrm>
        <a:graphic>
          <a:graphicData uri="http://schemas.openxmlformats.org/drawingml/2006/table">
            <a:tbl>
              <a:tblPr/>
              <a:tblGrid>
                <a:gridCol w="1685925">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tblGrid>
              <a:tr h="490538">
                <a:tc>
                  <a:txBody>
                    <a:bodyPr/>
                    <a:lstStyle/>
                    <a:p>
                      <a:pPr algn="l"/>
                      <a:r>
                        <a:rPr sz="1575" b="1">
                          <a:solidFill>
                            <a:srgbClr val="FFFFFF"/>
                          </a:solidFill>
                          <a:latin typeface="DejaVu Sans" panose="020B0603030804020204"/>
                          <a:ea typeface="DejaVu Sans" panose="020B0603030804020204"/>
                          <a:cs typeface="DejaVu Sans" panose="020B0603030804020204"/>
                        </a:rPr>
                        <a:t>Route</a:t>
                      </a:r>
                    </a:p>
                  </a:txBody>
                  <a:tcPr marL="95250" marR="95250" marT="76200" marB="7620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Beat F1 (%)</a:t>
                      </a:r>
                    </a:p>
                  </a:txBody>
                  <a:tcPr marL="95250" marR="95250" marT="76200" marB="76200" anchor="ctr">
                    <a:solidFill>
                      <a:srgbClr val="152C3F"/>
                    </a:solidFill>
                  </a:tcPr>
                </a:tc>
                <a:extLst>
                  <a:ext uri="{0D108BD9-81ED-4DB2-BD59-A6C34878D82A}">
                    <a16:rowId xmlns:a16="http://schemas.microsoft.com/office/drawing/2014/main" val="10000"/>
                  </a:ext>
                </a:extLst>
              </a:tr>
              <a:tr h="490538">
                <a:tc>
                  <a:txBody>
                    <a:bodyPr/>
                    <a:lstStyle/>
                    <a:p>
                      <a:pPr algn="l"/>
                      <a:r>
                        <a:rPr sz="1575" b="0">
                          <a:solidFill>
                            <a:srgbClr val="152C3F"/>
                          </a:solidFill>
                          <a:latin typeface="DejaVu Sans" panose="020B0603030804020204"/>
                          <a:ea typeface="DejaVu Sans" panose="020B0603030804020204"/>
                          <a:cs typeface="DejaVu Sans" panose="020B0603030804020204"/>
                        </a:rPr>
                        <a:t>Identity</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91.3 ± 8.0</a:t>
                      </a:r>
                    </a:p>
                  </a:txBody>
                  <a:tcPr marL="95250" marR="95250" marT="76200" marB="76200" anchor="ctr">
                    <a:solidFill>
                      <a:srgbClr val="FFFFFF"/>
                    </a:solidFill>
                  </a:tcPr>
                </a:tc>
                <a:extLst>
                  <a:ext uri="{0D108BD9-81ED-4DB2-BD59-A6C34878D82A}">
                    <a16:rowId xmlns:a16="http://schemas.microsoft.com/office/drawing/2014/main" val="10001"/>
                  </a:ext>
                </a:extLst>
              </a:tr>
              <a:tr h="490538">
                <a:tc>
                  <a:txBody>
                    <a:bodyPr/>
                    <a:lstStyle/>
                    <a:p>
                      <a:pPr algn="l"/>
                      <a:r>
                        <a:rPr sz="1575" b="0">
                          <a:solidFill>
                            <a:srgbClr val="152C3F"/>
                          </a:solidFill>
                          <a:latin typeface="DejaVu Sans" panose="020B0603030804020204"/>
                          <a:ea typeface="DejaVu Sans" panose="020B0603030804020204"/>
                          <a:cs typeface="DejaVu Sans" panose="020B0603030804020204"/>
                        </a:rPr>
                        <a:t>NLMS</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80.4 ± 5.5</a:t>
                      </a:r>
                    </a:p>
                  </a:txBody>
                  <a:tcPr marL="95250" marR="95250" marT="76200" marB="76200" anchor="ctr">
                    <a:solidFill>
                      <a:srgbClr val="F4F6F8"/>
                    </a:solidFill>
                  </a:tcPr>
                </a:tc>
                <a:extLst>
                  <a:ext uri="{0D108BD9-81ED-4DB2-BD59-A6C34878D82A}">
                    <a16:rowId xmlns:a16="http://schemas.microsoft.com/office/drawing/2014/main" val="10002"/>
                  </a:ext>
                </a:extLst>
              </a:tr>
              <a:tr h="490538">
                <a:tc>
                  <a:txBody>
                    <a:bodyPr/>
                    <a:lstStyle/>
                    <a:p>
                      <a:pPr algn="l"/>
                      <a:r>
                        <a:rPr sz="1575" b="0">
                          <a:solidFill>
                            <a:srgbClr val="152C3F"/>
                          </a:solidFill>
                          <a:latin typeface="DejaVu Sans" panose="020B0603030804020204"/>
                          <a:ea typeface="DejaVu Sans" panose="020B0603030804020204"/>
                          <a:cs typeface="DejaVu Sans" panose="020B0603030804020204"/>
                        </a:rPr>
                        <a:t>Spectral mask</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91.4 ± 8.1</a:t>
                      </a:r>
                    </a:p>
                  </a:txBody>
                  <a:tcPr marL="95250" marR="95250" marT="76200" marB="76200" anchor="ctr">
                    <a:solidFill>
                      <a:srgbClr val="FFFFFF"/>
                    </a:solidFill>
                  </a:tcPr>
                </a:tc>
                <a:extLst>
                  <a:ext uri="{0D108BD9-81ED-4DB2-BD59-A6C34878D82A}">
                    <a16:rowId xmlns:a16="http://schemas.microsoft.com/office/drawing/2014/main" val="10003"/>
                  </a:ext>
                </a:extLst>
              </a:tr>
              <a:tr h="490538">
                <a:tc>
                  <a:txBody>
                    <a:bodyPr/>
                    <a:lstStyle/>
                    <a:p>
                      <a:pPr algn="l"/>
                      <a:r>
                        <a:rPr sz="1575" b="0">
                          <a:solidFill>
                            <a:srgbClr val="152C3F"/>
                          </a:solidFill>
                          <a:latin typeface="DejaVu Sans" panose="020B0603030804020204"/>
                          <a:ea typeface="DejaVu Sans" panose="020B0603030804020204"/>
                          <a:cs typeface="DejaVu Sans" panose="020B0603030804020204"/>
                        </a:rPr>
                        <a:t>SSA</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91.7 ± 8.0</a:t>
                      </a:r>
                    </a:p>
                  </a:txBody>
                  <a:tcPr marL="95250" marR="95250" marT="76200" marB="76200" anchor="ctr">
                    <a:solidFill>
                      <a:srgbClr val="F4F6F8"/>
                    </a:solidFill>
                  </a:tcPr>
                </a:tc>
                <a:extLst>
                  <a:ext uri="{0D108BD9-81ED-4DB2-BD59-A6C34878D82A}">
                    <a16:rowId xmlns:a16="http://schemas.microsoft.com/office/drawing/2014/main" val="10004"/>
                  </a:ext>
                </a:extLst>
              </a:tr>
              <a:tr h="490538">
                <a:tc>
                  <a:txBody>
                    <a:bodyPr/>
                    <a:lstStyle/>
                    <a:p>
                      <a:pPr algn="l"/>
                      <a:r>
                        <a:rPr sz="1575" b="0">
                          <a:solidFill>
                            <a:srgbClr val="152C3F"/>
                          </a:solidFill>
                          <a:latin typeface="DejaVu Sans" panose="020B0603030804020204"/>
                          <a:ea typeface="DejaVu Sans" panose="020B0603030804020204"/>
                          <a:cs typeface="DejaVu Sans" panose="020B0603030804020204"/>
                        </a:rPr>
                        <a:t>PCA-BSS</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93.7 ± 5.3</a:t>
                      </a:r>
                    </a:p>
                  </a:txBody>
                  <a:tcPr marL="95250" marR="9525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7" name="text-62"/>
          <p:cNvSpPr>
            <a:spLocks noGrp="1"/>
          </p:cNvSpPr>
          <p:nvPr/>
        </p:nvSpPr>
        <p:spPr>
          <a:xfrm>
            <a:off x="7886700" y="5067300"/>
            <a:ext cx="3657600" cy="333375"/>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Five-run mean ± SD</a:t>
            </a:r>
          </a:p>
        </p:txBody>
      </p:sp>
      <p:sp>
        <p:nvSpPr>
          <p:cNvPr id="8" name="text-63"/>
          <p:cNvSpPr>
            <a:spLocks noGrp="1"/>
          </p:cNvSpPr>
          <p:nvPr/>
        </p:nvSpPr>
        <p:spPr>
          <a:xfrm>
            <a:off x="619125" y="5505450"/>
            <a:ext cx="10906125" cy="447675"/>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Spectral, SSA and PCA have similar mean error; NLMS roughly doubles it.</a:t>
            </a:r>
          </a:p>
        </p:txBody>
      </p:sp>
      <p:sp>
        <p:nvSpPr>
          <p:cNvPr id="9" name="text-64"/>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F1 = harmonic mean of precision and recall; SD = standard deviation; BSS = blind source separation. Thesis Table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157"/>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Workflow: peak detection</a:t>
            </a:r>
          </a:p>
        </p:txBody>
      </p:sp>
      <p:sp>
        <p:nvSpPr>
          <p:cNvPr id="2" name="text-158"/>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PIPELINE WORKFLOW</a:t>
            </a:r>
          </a:p>
        </p:txBody>
      </p:sp>
      <p:sp>
        <p:nvSpPr>
          <p:cNvPr id="3" name="text-159"/>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21</a:t>
            </a:r>
          </a:p>
        </p:txBody>
      </p:sp>
      <p:sp>
        <p:nvSpPr>
          <p:cNvPr id="4" name="workflow-160"/>
          <p:cNvSpPr>
            <a:spLocks noGrp="1"/>
          </p:cNvSpPr>
          <p:nvPr/>
        </p:nvSpPr>
        <p:spPr>
          <a:xfrm>
            <a:off x="571500" y="1724025"/>
            <a:ext cx="209550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PPG + IMU</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recordings</a:t>
            </a:r>
          </a:p>
        </p:txBody>
      </p:sp>
      <p:sp>
        <p:nvSpPr>
          <p:cNvPr id="5" name="workflow-161"/>
          <p:cNvSpPr>
            <a:spLocks noGrp="1"/>
          </p:cNvSpPr>
          <p:nvPr/>
        </p:nvSpPr>
        <p:spPr>
          <a:xfrm>
            <a:off x="3286125" y="172402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Preprocessing</a:t>
            </a:r>
          </a:p>
        </p:txBody>
      </p:sp>
      <p:sp>
        <p:nvSpPr>
          <p:cNvPr id="6" name="workflow-162"/>
          <p:cNvSpPr>
            <a:spLocks noGrp="1"/>
          </p:cNvSpPr>
          <p:nvPr/>
        </p:nvSpPr>
        <p:spPr>
          <a:xfrm>
            <a:off x="6143625" y="172402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Windowing</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 resample</a:t>
            </a:r>
          </a:p>
        </p:txBody>
      </p:sp>
      <p:sp>
        <p:nvSpPr>
          <p:cNvPr id="7" name="workflow-163"/>
          <p:cNvSpPr>
            <a:spLocks noGrp="1"/>
          </p:cNvSpPr>
          <p:nvPr/>
        </p:nvSpPr>
        <p:spPr>
          <a:xfrm>
            <a:off x="9239250" y="172402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Models &amp;</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classification</a:t>
            </a:r>
          </a:p>
        </p:txBody>
      </p:sp>
      <p:sp>
        <p:nvSpPr>
          <p:cNvPr id="8" name="workflow-164"/>
          <p:cNvSpPr>
            <a:spLocks noGrp="1"/>
          </p:cNvSpPr>
          <p:nvPr/>
        </p:nvSpPr>
        <p:spPr>
          <a:xfrm>
            <a:off x="3286125" y="368617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Motion detection</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&amp; denoising</a:t>
            </a:r>
          </a:p>
        </p:txBody>
      </p:sp>
      <p:sp>
        <p:nvSpPr>
          <p:cNvPr id="9" name="workflow-165"/>
          <p:cNvSpPr>
            <a:spLocks noGrp="1"/>
          </p:cNvSpPr>
          <p:nvPr/>
        </p:nvSpPr>
        <p:spPr>
          <a:xfrm>
            <a:off x="6143625" y="3686175"/>
            <a:ext cx="2428875"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Peak detection</a:t>
            </a:r>
          </a:p>
        </p:txBody>
      </p:sp>
      <p:sp>
        <p:nvSpPr>
          <p:cNvPr id="10" name="workflow-166"/>
          <p:cNvSpPr>
            <a:spLocks noGrp="1"/>
          </p:cNvSpPr>
          <p:nvPr/>
        </p:nvSpPr>
        <p:spPr>
          <a:xfrm>
            <a:off x="9239250" y="368617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Feature</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engineering</a:t>
            </a:r>
          </a:p>
        </p:txBody>
      </p:sp>
      <p:cxnSp>
        <p:nvCxnSpPr>
          <p:cNvPr id="34" name="直接箭头连接符 33"/>
          <p:cNvCxnSpPr>
            <a:stCxn id="4" idx="3"/>
            <a:endCxn id="5" idx="1"/>
          </p:cNvCxnSpPr>
          <p:nvPr/>
        </p:nvCxnSpPr>
        <p:spPr>
          <a:xfrm>
            <a:off x="2667000" y="2143125"/>
            <a:ext cx="619125" cy="0"/>
          </a:xfrm>
          <a:prstGeom prst="straightConnector1">
            <a:avLst/>
          </a:prstGeom>
          <a:ln w="19050">
            <a:solidFill>
              <a:srgbClr val="506577"/>
            </a:solidFill>
            <a:tailEnd type="triangle" w="sm" len="sm"/>
          </a:ln>
        </p:spPr>
      </p:cxnSp>
      <p:cxnSp>
        <p:nvCxnSpPr>
          <p:cNvPr id="35" name="直接箭头连接符 34"/>
          <p:cNvCxnSpPr>
            <a:stCxn id="5" idx="3"/>
            <a:endCxn id="6" idx="1"/>
          </p:cNvCxnSpPr>
          <p:nvPr/>
        </p:nvCxnSpPr>
        <p:spPr>
          <a:xfrm>
            <a:off x="5524500" y="2143125"/>
            <a:ext cx="619125" cy="0"/>
          </a:xfrm>
          <a:prstGeom prst="straightConnector1">
            <a:avLst/>
          </a:prstGeom>
          <a:ln w="19050">
            <a:solidFill>
              <a:srgbClr val="506577"/>
            </a:solidFill>
            <a:tailEnd type="triangle" w="sm" len="sm"/>
          </a:ln>
        </p:spPr>
      </p:cxnSp>
      <p:cxnSp>
        <p:nvCxnSpPr>
          <p:cNvPr id="36" name="直接箭头连接符 35"/>
          <p:cNvCxnSpPr>
            <a:stCxn id="6" idx="3"/>
            <a:endCxn id="7" idx="1"/>
          </p:cNvCxnSpPr>
          <p:nvPr/>
        </p:nvCxnSpPr>
        <p:spPr>
          <a:xfrm>
            <a:off x="8572500" y="2143125"/>
            <a:ext cx="666750" cy="0"/>
          </a:xfrm>
          <a:prstGeom prst="straightConnector1">
            <a:avLst/>
          </a:prstGeom>
          <a:ln w="19050">
            <a:solidFill>
              <a:srgbClr val="506577"/>
            </a:solidFill>
            <a:tailEnd type="triangle" w="sm" len="sm"/>
          </a:ln>
        </p:spPr>
      </p:cxnSp>
      <p:cxnSp>
        <p:nvCxnSpPr>
          <p:cNvPr id="37" name="直接箭头连接符 36"/>
          <p:cNvCxnSpPr>
            <a:stCxn id="5" idx="2"/>
            <a:endCxn id="8" idx="0"/>
          </p:cNvCxnSpPr>
          <p:nvPr/>
        </p:nvCxnSpPr>
        <p:spPr>
          <a:xfrm>
            <a:off x="4405313" y="2562225"/>
            <a:ext cx="0" cy="1123950"/>
          </a:xfrm>
          <a:prstGeom prst="straightConnector1">
            <a:avLst/>
          </a:prstGeom>
          <a:ln w="19050">
            <a:solidFill>
              <a:srgbClr val="506577"/>
            </a:solidFill>
            <a:tailEnd type="triangle" w="sm" len="sm"/>
          </a:ln>
        </p:spPr>
      </p:cxnSp>
      <p:cxnSp>
        <p:nvCxnSpPr>
          <p:cNvPr id="38" name="直接箭头连接符 37"/>
          <p:cNvCxnSpPr>
            <a:stCxn id="8" idx="3"/>
            <a:endCxn id="9" idx="1"/>
          </p:cNvCxnSpPr>
          <p:nvPr/>
        </p:nvCxnSpPr>
        <p:spPr>
          <a:xfrm>
            <a:off x="5524500" y="4105275"/>
            <a:ext cx="619125" cy="0"/>
          </a:xfrm>
          <a:prstGeom prst="straightConnector1">
            <a:avLst/>
          </a:prstGeom>
          <a:ln w="19050">
            <a:solidFill>
              <a:srgbClr val="506577"/>
            </a:solidFill>
            <a:tailEnd type="triangle" w="sm" len="sm"/>
          </a:ln>
        </p:spPr>
      </p:cxnSp>
      <p:cxnSp>
        <p:nvCxnSpPr>
          <p:cNvPr id="39" name="直接箭头连接符 38"/>
          <p:cNvCxnSpPr>
            <a:stCxn id="9" idx="3"/>
            <a:endCxn id="10" idx="1"/>
          </p:cNvCxnSpPr>
          <p:nvPr/>
        </p:nvCxnSpPr>
        <p:spPr>
          <a:xfrm>
            <a:off x="8572500" y="4105275"/>
            <a:ext cx="666750" cy="0"/>
          </a:xfrm>
          <a:prstGeom prst="straightConnector1">
            <a:avLst/>
          </a:prstGeom>
          <a:ln w="19050">
            <a:solidFill>
              <a:srgbClr val="506577"/>
            </a:solidFill>
            <a:tailEnd type="triangle" w="sm" len="sm"/>
          </a:ln>
        </p:spPr>
      </p:cxnSp>
      <p:cxnSp>
        <p:nvCxnSpPr>
          <p:cNvPr id="40" name="直接箭头连接符 39"/>
          <p:cNvCxnSpPr>
            <a:stCxn id="10" idx="0"/>
            <a:endCxn id="7" idx="2"/>
          </p:cNvCxnSpPr>
          <p:nvPr/>
        </p:nvCxnSpPr>
        <p:spPr>
          <a:xfrm flipV="1">
            <a:off x="10429875" y="2562225"/>
            <a:ext cx="0" cy="1123950"/>
          </a:xfrm>
          <a:prstGeom prst="straightConnector1">
            <a:avLst/>
          </a:prstGeom>
          <a:ln w="19050">
            <a:solidFill>
              <a:srgbClr val="506577"/>
            </a:solidFill>
            <a:tailEnd type="triangle" w="sm" len="sm"/>
          </a:ln>
        </p:spPr>
      </p:cxnSp>
      <p:sp>
        <p:nvSpPr>
          <p:cNvPr id="18" name="text-167"/>
          <p:cNvSpPr>
            <a:spLocks noGrp="1"/>
          </p:cNvSpPr>
          <p:nvPr/>
        </p:nvSpPr>
        <p:spPr>
          <a:xfrm>
            <a:off x="6191250" y="1371600"/>
            <a:ext cx="2543175" cy="266700"/>
          </a:xfrm>
          <a:prstGeom prst="rect">
            <a:avLst/>
          </a:prstGeom>
          <a:noFill/>
          <a:ln w="0">
            <a:noFill/>
          </a:ln>
        </p:spPr>
        <p:txBody>
          <a:bodyPr wrap="square" lIns="0" tIns="0" rIns="0" bIns="0" anchor="t">
            <a:noAutofit/>
          </a:bodyPr>
          <a:lstStyle/>
          <a:p>
            <a:pPr algn="l">
              <a:defRPr sz="1575" b="1">
                <a:solidFill>
                  <a:srgbClr val="506577"/>
                </a:solidFill>
                <a:latin typeface="DejaVu Sans" panose="020B0603030804020204"/>
                <a:ea typeface="DejaVu Sans" panose="020B0603030804020204"/>
                <a:cs typeface="DejaVu Sans" panose="020B0603030804020204"/>
              </a:defRPr>
            </a:pPr>
            <a:r>
              <a:rPr sz="1575" b="1">
                <a:solidFill>
                  <a:srgbClr val="506577"/>
                </a:solidFill>
                <a:latin typeface="DejaVu Sans" panose="020B0603030804020204"/>
                <a:ea typeface="DejaVu Sans" panose="020B0603030804020204"/>
                <a:cs typeface="DejaVu Sans" panose="020B0603030804020204"/>
              </a:rPr>
              <a:t>Waveform branch</a:t>
            </a:r>
          </a:p>
        </p:txBody>
      </p:sp>
      <p:sp>
        <p:nvSpPr>
          <p:cNvPr id="19" name="text-168"/>
          <p:cNvSpPr>
            <a:spLocks noGrp="1"/>
          </p:cNvSpPr>
          <p:nvPr/>
        </p:nvSpPr>
        <p:spPr>
          <a:xfrm>
            <a:off x="9277350" y="1371600"/>
            <a:ext cx="2343150" cy="266700"/>
          </a:xfrm>
          <a:prstGeom prst="rect">
            <a:avLst/>
          </a:prstGeom>
          <a:noFill/>
          <a:ln w="0">
            <a:noFill/>
          </a:ln>
        </p:spPr>
        <p:txBody>
          <a:bodyPr wrap="square" lIns="0" tIns="0" rIns="0" bIns="0" anchor="t">
            <a:noAutofit/>
          </a:bodyPr>
          <a:lstStyle/>
          <a:p>
            <a:pPr algn="ctr">
              <a:defRPr sz="1425" b="1">
                <a:solidFill>
                  <a:srgbClr val="506577"/>
                </a:solidFill>
                <a:latin typeface="DejaVu Sans" panose="020B0603030804020204"/>
                <a:ea typeface="DejaVu Sans" panose="020B0603030804020204"/>
                <a:cs typeface="DejaVu Sans" panose="020B0603030804020204"/>
              </a:defRPr>
            </a:pPr>
            <a:r>
              <a:rPr sz="1425" b="1">
                <a:solidFill>
                  <a:srgbClr val="506577"/>
                </a:solidFill>
                <a:latin typeface="DejaVu Sans" panose="020B0603030804020204"/>
                <a:ea typeface="DejaVu Sans" panose="020B0603030804020204"/>
                <a:cs typeface="DejaVu Sans" panose="020B0603030804020204"/>
              </a:rPr>
              <a:t>Alternative inputs</a:t>
            </a:r>
          </a:p>
        </p:txBody>
      </p:sp>
      <p:sp>
        <p:nvSpPr>
          <p:cNvPr id="20" name="text-169"/>
          <p:cNvSpPr>
            <a:spLocks noGrp="1"/>
          </p:cNvSpPr>
          <p:nvPr/>
        </p:nvSpPr>
        <p:spPr>
          <a:xfrm>
            <a:off x="571500" y="3781425"/>
            <a:ext cx="2190750" cy="742950"/>
          </a:xfrm>
          <a:prstGeom prst="rect">
            <a:avLst/>
          </a:prstGeom>
          <a:noFill/>
          <a:ln w="0">
            <a:noFill/>
          </a:ln>
        </p:spPr>
        <p:txBody>
          <a:bodyPr wrap="square" lIns="0" tIns="0" rIns="0" bIns="0" anchor="t">
            <a:noAutofit/>
          </a:bodyPr>
          <a:lstStyle/>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Physiological</a:t>
            </a:r>
          </a:p>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analysis branch</a:t>
            </a:r>
          </a:p>
        </p:txBody>
      </p:sp>
      <p:sp>
        <p:nvSpPr>
          <p:cNvPr id="21" name="text-170"/>
          <p:cNvSpPr>
            <a:spLocks noGrp="1"/>
          </p:cNvSpPr>
          <p:nvPr/>
        </p:nvSpPr>
        <p:spPr>
          <a:xfrm>
            <a:off x="3390900" y="4610100"/>
            <a:ext cx="2257425"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Optional / identity</a:t>
            </a:r>
          </a:p>
        </p:txBody>
      </p:sp>
      <p:sp>
        <p:nvSpPr>
          <p:cNvPr id="22" name="text-171"/>
          <p:cNvSpPr>
            <a:spLocks noGrp="1"/>
          </p:cNvSpPr>
          <p:nvPr/>
        </p:nvSpPr>
        <p:spPr>
          <a:xfrm>
            <a:off x="9210675" y="4610100"/>
            <a:ext cx="2438400" cy="476250"/>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Shape / baseline use original optical data</a:t>
            </a:r>
          </a:p>
        </p:txBody>
      </p:sp>
      <p:sp>
        <p:nvSpPr>
          <p:cNvPr id="23" name="text-172"/>
          <p:cNvSpPr>
            <a:spLocks noGrp="1"/>
          </p:cNvSpPr>
          <p:nvPr/>
        </p:nvSpPr>
        <p:spPr>
          <a:xfrm>
            <a:off x="571500" y="5391150"/>
            <a:ext cx="11049000" cy="7048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Locate pulse events before measuring their intervals and morphology.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4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Anatomy of a PPG pulse</a:t>
            </a:r>
          </a:p>
        </p:txBody>
      </p:sp>
      <p:sp>
        <p:nvSpPr>
          <p:cNvPr id="2" name="text-4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PEAK DETECTION</a:t>
            </a:r>
          </a:p>
        </p:txBody>
      </p:sp>
      <p:sp>
        <p:nvSpPr>
          <p:cNvPr id="3" name="text-4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22</a:t>
            </a:r>
          </a:p>
        </p:txBody>
      </p:sp>
      <p:sp>
        <p:nvSpPr>
          <p:cNvPr id="4" name="text-44"/>
          <p:cNvSpPr>
            <a:spLocks noGrp="1"/>
          </p:cNvSpPr>
          <p:nvPr/>
        </p:nvSpPr>
        <p:spPr>
          <a:xfrm>
            <a:off x="571500" y="1238250"/>
            <a:ext cx="10191750" cy="323850"/>
          </a:xfrm>
          <a:prstGeom prst="rect">
            <a:avLst/>
          </a:prstGeom>
          <a:noFill/>
          <a:ln w="0">
            <a:noFill/>
          </a:ln>
        </p:spPr>
        <p:txBody>
          <a:bodyPr wrap="square" lIns="0" tIns="0" rIns="0" bIns="0" anchor="t">
            <a:noAutofit/>
          </a:bodyPr>
          <a:lstStyle/>
          <a:p>
            <a:pPr algn="l">
              <a:defRPr sz="1800" b="1">
                <a:solidFill>
                  <a:srgbClr val="087E8B"/>
                </a:solidFill>
                <a:latin typeface="DejaVu Sans" panose="020B0603030804020204"/>
                <a:ea typeface="DejaVu Sans" panose="020B0603030804020204"/>
                <a:cs typeface="DejaVu Sans" panose="020B0603030804020204"/>
              </a:defRPr>
            </a:pPr>
            <a:r>
              <a:rPr sz="1800" b="1">
                <a:solidFill>
                  <a:srgbClr val="087E8B"/>
                </a:solidFill>
                <a:latin typeface="DejaVu Sans" panose="020B0603030804020204"/>
                <a:ea typeface="DejaVu Sans" panose="020B0603030804020204"/>
                <a:cs typeface="DejaVu Sans" panose="020B0603030804020204"/>
              </a:rPr>
              <a:t>Photoplethysmography (PPG): one complete pulse</a:t>
            </a:r>
          </a:p>
        </p:txBody>
      </p:sp>
      <p:graphicFrame>
        <p:nvGraphicFramePr>
          <p:cNvPr id="31" name="Chart"/>
          <p:cNvGraphicFramePr/>
          <p:nvPr/>
        </p:nvGraphicFramePr>
        <p:xfrm>
          <a:off x="428625" y="1676400"/>
          <a:ext cx="7381875" cy="345757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5"/>
          <p:cNvSpPr>
            <a:spLocks noGrp="1"/>
          </p:cNvSpPr>
          <p:nvPr/>
        </p:nvSpPr>
        <p:spPr>
          <a:xfrm>
            <a:off x="1419225" y="3838575"/>
            <a:ext cx="561975" cy="304800"/>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on</a:t>
            </a:r>
          </a:p>
        </p:txBody>
      </p:sp>
      <p:sp>
        <p:nvSpPr>
          <p:cNvPr id="7" name="text-46"/>
          <p:cNvSpPr>
            <a:spLocks noGrp="1"/>
          </p:cNvSpPr>
          <p:nvPr/>
        </p:nvSpPr>
        <p:spPr>
          <a:xfrm>
            <a:off x="2838450" y="1714500"/>
            <a:ext cx="533400" cy="304800"/>
          </a:xfrm>
          <a:prstGeom prst="rect">
            <a:avLst/>
          </a:prstGeom>
          <a:noFill/>
          <a:ln w="0">
            <a:noFill/>
          </a:ln>
        </p:spPr>
        <p:txBody>
          <a:bodyPr wrap="square" lIns="0" tIns="0" rIns="0" bIns="0" anchor="t">
            <a:noAutofit/>
          </a:bodyPr>
          <a:lstStyle/>
          <a:p>
            <a:pPr algn="l">
              <a:defRPr sz="1650" b="1">
                <a:solidFill>
                  <a:srgbClr val="2874AE"/>
                </a:solidFill>
                <a:latin typeface="DejaVu Sans" panose="020B0603030804020204"/>
                <a:ea typeface="DejaVu Sans" panose="020B0603030804020204"/>
                <a:cs typeface="DejaVu Sans" panose="020B0603030804020204"/>
              </a:defRPr>
            </a:pPr>
            <a:r>
              <a:rPr sz="1650" b="1">
                <a:solidFill>
                  <a:srgbClr val="2874AE"/>
                </a:solidFill>
                <a:latin typeface="DejaVu Sans" panose="020B0603030804020204"/>
                <a:ea typeface="DejaVu Sans" panose="020B0603030804020204"/>
                <a:cs typeface="DejaVu Sans" panose="020B0603030804020204"/>
              </a:rPr>
              <a:t>sp</a:t>
            </a:r>
          </a:p>
        </p:txBody>
      </p:sp>
      <p:sp>
        <p:nvSpPr>
          <p:cNvPr id="8" name="text-47"/>
          <p:cNvSpPr>
            <a:spLocks noGrp="1"/>
          </p:cNvSpPr>
          <p:nvPr/>
        </p:nvSpPr>
        <p:spPr>
          <a:xfrm>
            <a:off x="4286250" y="3962400"/>
            <a:ext cx="523875" cy="304800"/>
          </a:xfrm>
          <a:prstGeom prst="rect">
            <a:avLst/>
          </a:prstGeom>
          <a:noFill/>
          <a:ln w="0">
            <a:noFill/>
          </a:ln>
        </p:spPr>
        <p:txBody>
          <a:bodyPr wrap="square" lIns="0" tIns="0" rIns="0" bIns="0" anchor="t">
            <a:noAutofit/>
          </a:bodyPr>
          <a:lstStyle/>
          <a:p>
            <a:pPr algn="l">
              <a:defRPr sz="1650" b="1">
                <a:solidFill>
                  <a:srgbClr val="B96D20"/>
                </a:solidFill>
                <a:latin typeface="DejaVu Sans" panose="020B0603030804020204"/>
                <a:ea typeface="DejaVu Sans" panose="020B0603030804020204"/>
                <a:cs typeface="DejaVu Sans" panose="020B0603030804020204"/>
              </a:defRPr>
            </a:pPr>
            <a:r>
              <a:rPr sz="1650" b="1">
                <a:solidFill>
                  <a:srgbClr val="B96D20"/>
                </a:solidFill>
                <a:latin typeface="DejaVu Sans" panose="020B0603030804020204"/>
                <a:ea typeface="DejaVu Sans" panose="020B0603030804020204"/>
                <a:cs typeface="DejaVu Sans" panose="020B0603030804020204"/>
              </a:rPr>
              <a:t>dn</a:t>
            </a:r>
          </a:p>
        </p:txBody>
      </p:sp>
      <p:sp>
        <p:nvSpPr>
          <p:cNvPr id="9" name="text-48"/>
          <p:cNvSpPr>
            <a:spLocks noGrp="1"/>
          </p:cNvSpPr>
          <p:nvPr/>
        </p:nvSpPr>
        <p:spPr>
          <a:xfrm>
            <a:off x="5076825" y="2571750"/>
            <a:ext cx="523875" cy="304800"/>
          </a:xfrm>
          <a:prstGeom prst="rect">
            <a:avLst/>
          </a:prstGeom>
          <a:noFill/>
          <a:ln w="0">
            <a:noFill/>
          </a:ln>
        </p:spPr>
        <p:txBody>
          <a:bodyPr wrap="square" lIns="0" tIns="0" rIns="0" bIns="0" anchor="t">
            <a:noAutofit/>
          </a:bodyPr>
          <a:lstStyle/>
          <a:p>
            <a:pPr algn="l">
              <a:defRPr sz="1650" b="1">
                <a:solidFill>
                  <a:srgbClr val="B96D20"/>
                </a:solidFill>
                <a:latin typeface="DejaVu Sans" panose="020B0603030804020204"/>
                <a:ea typeface="DejaVu Sans" panose="020B0603030804020204"/>
                <a:cs typeface="DejaVu Sans" panose="020B0603030804020204"/>
              </a:defRPr>
            </a:pPr>
            <a:r>
              <a:rPr sz="1650" b="1">
                <a:solidFill>
                  <a:srgbClr val="B96D20"/>
                </a:solidFill>
                <a:latin typeface="DejaVu Sans" panose="020B0603030804020204"/>
                <a:ea typeface="DejaVu Sans" panose="020B0603030804020204"/>
                <a:cs typeface="DejaVu Sans" panose="020B0603030804020204"/>
              </a:rPr>
              <a:t>dp</a:t>
            </a:r>
          </a:p>
        </p:txBody>
      </p:sp>
      <p:sp>
        <p:nvSpPr>
          <p:cNvPr id="10" name="text-49"/>
          <p:cNvSpPr>
            <a:spLocks noGrp="1"/>
          </p:cNvSpPr>
          <p:nvPr/>
        </p:nvSpPr>
        <p:spPr>
          <a:xfrm>
            <a:off x="6705600" y="3790950"/>
            <a:ext cx="619125" cy="304800"/>
          </a:xfrm>
          <a:prstGeom prst="rect">
            <a:avLst/>
          </a:prstGeom>
          <a:noFill/>
          <a:ln w="0">
            <a:noFill/>
          </a:ln>
        </p:spPr>
        <p:txBody>
          <a:bodyPr wrap="square" lIns="0" tIns="0" rIns="0" bIns="0" anchor="t">
            <a:noAutofit/>
          </a:bodyPr>
          <a:lstStyle/>
          <a:p>
            <a:pPr algn="l">
              <a:defRPr sz="1650" b="1">
                <a:solidFill>
                  <a:srgbClr val="087E8B"/>
                </a:solidFill>
                <a:latin typeface="DejaVu Sans" panose="020B0603030804020204"/>
                <a:ea typeface="DejaVu Sans" panose="020B0603030804020204"/>
                <a:cs typeface="DejaVu Sans" panose="020B0603030804020204"/>
              </a:defRPr>
            </a:pPr>
            <a:r>
              <a:rPr sz="1650" b="1">
                <a:solidFill>
                  <a:srgbClr val="087E8B"/>
                </a:solidFill>
                <a:latin typeface="DejaVu Sans" panose="020B0603030804020204"/>
                <a:ea typeface="DejaVu Sans" panose="020B0603030804020204"/>
                <a:cs typeface="DejaVu Sans" panose="020B0603030804020204"/>
              </a:rPr>
              <a:t>off</a:t>
            </a:r>
          </a:p>
        </p:txBody>
      </p:sp>
      <p:sp>
        <p:nvSpPr>
          <p:cNvPr id="11" name="text-50"/>
          <p:cNvSpPr>
            <a:spLocks noGrp="1"/>
          </p:cNvSpPr>
          <p:nvPr/>
        </p:nvSpPr>
        <p:spPr>
          <a:xfrm>
            <a:off x="8058150" y="1724025"/>
            <a:ext cx="3419475" cy="304800"/>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Waveform landmarks</a:t>
            </a:r>
          </a:p>
        </p:txBody>
      </p:sp>
      <p:sp>
        <p:nvSpPr>
          <p:cNvPr id="12" name="直接连接符 11"/>
          <p:cNvSpPr>
            <a:spLocks noGrp="1"/>
          </p:cNvSpPr>
          <p:nvPr/>
        </p:nvSpPr>
        <p:spPr>
          <a:xfrm>
            <a:off x="8086725" y="2305050"/>
            <a:ext cx="209550" cy="0"/>
          </a:xfrm>
          <a:prstGeom prst="line">
            <a:avLst/>
          </a:prstGeom>
          <a:noFill/>
          <a:ln w="57150">
            <a:solidFill>
              <a:srgbClr val="087E8B"/>
            </a:solidFill>
          </a:ln>
        </p:spPr>
        <p:txBody>
          <a:bodyPr/>
          <a:lstStyle/>
          <a:p>
            <a:endParaRPr lang="zh-CN" altLang="en-US"/>
          </a:p>
        </p:txBody>
      </p:sp>
      <p:sp>
        <p:nvSpPr>
          <p:cNvPr id="13" name="text-51"/>
          <p:cNvSpPr>
            <a:spLocks noGrp="1"/>
          </p:cNvSpPr>
          <p:nvPr/>
        </p:nvSpPr>
        <p:spPr>
          <a:xfrm>
            <a:off x="8420100" y="2171700"/>
            <a:ext cx="3076575" cy="36195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on  Pulse onset</a:t>
            </a:r>
          </a:p>
        </p:txBody>
      </p:sp>
      <p:sp>
        <p:nvSpPr>
          <p:cNvPr id="14" name="直接连接符 13"/>
          <p:cNvSpPr>
            <a:spLocks noGrp="1"/>
          </p:cNvSpPr>
          <p:nvPr/>
        </p:nvSpPr>
        <p:spPr>
          <a:xfrm>
            <a:off x="8086725" y="2800350"/>
            <a:ext cx="209550" cy="0"/>
          </a:xfrm>
          <a:prstGeom prst="line">
            <a:avLst/>
          </a:prstGeom>
          <a:noFill/>
          <a:ln w="57150">
            <a:solidFill>
              <a:srgbClr val="2874AE"/>
            </a:solidFill>
          </a:ln>
        </p:spPr>
        <p:txBody>
          <a:bodyPr/>
          <a:lstStyle/>
          <a:p>
            <a:endParaRPr lang="zh-CN" altLang="en-US"/>
          </a:p>
        </p:txBody>
      </p:sp>
      <p:sp>
        <p:nvSpPr>
          <p:cNvPr id="15" name="text-52"/>
          <p:cNvSpPr>
            <a:spLocks noGrp="1"/>
          </p:cNvSpPr>
          <p:nvPr/>
        </p:nvSpPr>
        <p:spPr>
          <a:xfrm>
            <a:off x="8420100" y="2667000"/>
            <a:ext cx="3076575" cy="36195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sp  Systolic peak</a:t>
            </a:r>
          </a:p>
        </p:txBody>
      </p:sp>
      <p:sp>
        <p:nvSpPr>
          <p:cNvPr id="16" name="直接连接符 15"/>
          <p:cNvSpPr>
            <a:spLocks noGrp="1"/>
          </p:cNvSpPr>
          <p:nvPr/>
        </p:nvSpPr>
        <p:spPr>
          <a:xfrm>
            <a:off x="8086725" y="3295650"/>
            <a:ext cx="209550" cy="0"/>
          </a:xfrm>
          <a:prstGeom prst="line">
            <a:avLst/>
          </a:prstGeom>
          <a:noFill/>
          <a:ln w="57150">
            <a:solidFill>
              <a:srgbClr val="B96D20"/>
            </a:solidFill>
          </a:ln>
        </p:spPr>
        <p:txBody>
          <a:bodyPr/>
          <a:lstStyle/>
          <a:p>
            <a:endParaRPr lang="zh-CN" altLang="en-US"/>
          </a:p>
        </p:txBody>
      </p:sp>
      <p:sp>
        <p:nvSpPr>
          <p:cNvPr id="17" name="text-53"/>
          <p:cNvSpPr>
            <a:spLocks noGrp="1"/>
          </p:cNvSpPr>
          <p:nvPr/>
        </p:nvSpPr>
        <p:spPr>
          <a:xfrm>
            <a:off x="8420100" y="3162300"/>
            <a:ext cx="3076575" cy="36195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dn  Dicrotic notch</a:t>
            </a:r>
          </a:p>
        </p:txBody>
      </p:sp>
      <p:sp>
        <p:nvSpPr>
          <p:cNvPr id="18" name="直接连接符 17"/>
          <p:cNvSpPr>
            <a:spLocks noGrp="1"/>
          </p:cNvSpPr>
          <p:nvPr/>
        </p:nvSpPr>
        <p:spPr>
          <a:xfrm>
            <a:off x="8086725" y="3790950"/>
            <a:ext cx="209550" cy="0"/>
          </a:xfrm>
          <a:prstGeom prst="line">
            <a:avLst/>
          </a:prstGeom>
          <a:noFill/>
          <a:ln w="57150">
            <a:solidFill>
              <a:srgbClr val="B96D20"/>
            </a:solidFill>
          </a:ln>
        </p:spPr>
        <p:txBody>
          <a:bodyPr/>
          <a:lstStyle/>
          <a:p>
            <a:endParaRPr lang="zh-CN" altLang="en-US"/>
          </a:p>
        </p:txBody>
      </p:sp>
      <p:sp>
        <p:nvSpPr>
          <p:cNvPr id="19" name="text-54"/>
          <p:cNvSpPr>
            <a:spLocks noGrp="1"/>
          </p:cNvSpPr>
          <p:nvPr/>
        </p:nvSpPr>
        <p:spPr>
          <a:xfrm>
            <a:off x="8420100" y="3657600"/>
            <a:ext cx="3076575" cy="36195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dp  Diastolic peak</a:t>
            </a:r>
          </a:p>
        </p:txBody>
      </p:sp>
      <p:sp>
        <p:nvSpPr>
          <p:cNvPr id="20" name="直接连接符 19"/>
          <p:cNvSpPr>
            <a:spLocks noGrp="1"/>
          </p:cNvSpPr>
          <p:nvPr/>
        </p:nvSpPr>
        <p:spPr>
          <a:xfrm>
            <a:off x="8086725" y="4286250"/>
            <a:ext cx="209550" cy="0"/>
          </a:xfrm>
          <a:prstGeom prst="line">
            <a:avLst/>
          </a:prstGeom>
          <a:noFill/>
          <a:ln w="57150">
            <a:solidFill>
              <a:srgbClr val="087E8B"/>
            </a:solidFill>
          </a:ln>
        </p:spPr>
        <p:txBody>
          <a:bodyPr/>
          <a:lstStyle/>
          <a:p>
            <a:endParaRPr lang="zh-CN" altLang="en-US"/>
          </a:p>
        </p:txBody>
      </p:sp>
      <p:sp>
        <p:nvSpPr>
          <p:cNvPr id="21" name="text-55"/>
          <p:cNvSpPr>
            <a:spLocks noGrp="1"/>
          </p:cNvSpPr>
          <p:nvPr/>
        </p:nvSpPr>
        <p:spPr>
          <a:xfrm>
            <a:off x="8420100" y="4152900"/>
            <a:ext cx="3076575" cy="36195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off  Pulse offset</a:t>
            </a:r>
          </a:p>
        </p:txBody>
      </p:sp>
      <p:sp>
        <p:nvSpPr>
          <p:cNvPr id="22" name="直接连接符 21"/>
          <p:cNvSpPr>
            <a:spLocks noGrp="1"/>
          </p:cNvSpPr>
          <p:nvPr/>
        </p:nvSpPr>
        <p:spPr>
          <a:xfrm>
            <a:off x="8020050" y="4772025"/>
            <a:ext cx="3448050" cy="0"/>
          </a:xfrm>
          <a:prstGeom prst="line">
            <a:avLst/>
          </a:prstGeom>
          <a:noFill/>
          <a:ln w="11430">
            <a:solidFill>
              <a:srgbClr val="CAD5DE"/>
            </a:solidFill>
          </a:ln>
        </p:spPr>
        <p:txBody>
          <a:bodyPr/>
          <a:lstStyle/>
          <a:p>
            <a:endParaRPr lang="zh-CN" altLang="en-US"/>
          </a:p>
        </p:txBody>
      </p:sp>
      <p:sp>
        <p:nvSpPr>
          <p:cNvPr id="23" name="text-56"/>
          <p:cNvSpPr>
            <a:spLocks noGrp="1"/>
          </p:cNvSpPr>
          <p:nvPr/>
        </p:nvSpPr>
        <p:spPr>
          <a:xfrm>
            <a:off x="8067675" y="4905375"/>
            <a:ext cx="3448050" cy="619125"/>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In older adults, the notch and</a:t>
            </a:r>
          </a:p>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secondary peak may be faint.</a:t>
            </a:r>
          </a:p>
        </p:txBody>
      </p:sp>
      <p:sp>
        <p:nvSpPr>
          <p:cNvPr id="24" name="text-57"/>
          <p:cNvSpPr>
            <a:spLocks noGrp="1"/>
          </p:cNvSpPr>
          <p:nvPr/>
        </p:nvSpPr>
        <p:spPr>
          <a:xfrm>
            <a:off x="609600" y="5334000"/>
            <a:ext cx="10782300" cy="342900"/>
          </a:xfrm>
          <a:prstGeom prst="rect">
            <a:avLst/>
          </a:prstGeom>
          <a:noFill/>
          <a:ln w="0">
            <a:noFill/>
          </a:ln>
        </p:spPr>
        <p:txBody>
          <a:bodyPr wrap="square" lIns="0" tIns="0" rIns="0" bIns="0" anchor="t">
            <a:noAutofit/>
          </a:bodyPr>
          <a:lstStyle/>
          <a:p>
            <a:pPr algn="l">
              <a:defRPr sz="1800" b="1">
                <a:solidFill>
                  <a:srgbClr val="087E8B"/>
                </a:solidFill>
                <a:latin typeface="DejaVu Sans" panose="020B0603030804020204"/>
                <a:ea typeface="DejaVu Sans" panose="020B0603030804020204"/>
                <a:cs typeface="DejaVu Sans" panose="020B0603030804020204"/>
              </a:defRPr>
            </a:pPr>
            <a:r>
              <a:rPr sz="1800" b="1">
                <a:solidFill>
                  <a:srgbClr val="087E8B"/>
                </a:solidFill>
                <a:latin typeface="DejaVu Sans" panose="020B0603030804020204"/>
                <a:ea typeface="DejaVu Sans" panose="020B0603030804020204"/>
                <a:cs typeface="DejaVu Sans" panose="020B0603030804020204"/>
              </a:rPr>
              <a:t>Detect systolic peaks. Adjacent valleys define each pulse.</a:t>
            </a:r>
          </a:p>
        </p:txBody>
      </p:sp>
      <p:sp>
        <p:nvSpPr>
          <p:cNvPr id="25" name="text-58"/>
          <p:cNvSpPr>
            <a:spLocks noGrp="1"/>
          </p:cNvSpPr>
          <p:nvPr/>
        </p:nvSpPr>
        <p:spPr>
          <a:xfrm>
            <a:off x="609600" y="5676900"/>
            <a:ext cx="11172825" cy="276225"/>
          </a:xfrm>
          <a:prstGeom prst="rect">
            <a:avLst/>
          </a:prstGeom>
          <a:noFill/>
          <a:ln w="0">
            <a:noFill/>
          </a:ln>
        </p:spPr>
        <p:txBody>
          <a:bodyPr wrap="square" lIns="0" tIns="0" rIns="0" bIns="0" anchor="t">
            <a:noAutofit/>
          </a:bodyPr>
          <a:lstStyle/>
          <a:p>
            <a:pPr algn="l">
              <a:defRPr sz="1425" b="0">
                <a:solidFill>
                  <a:srgbClr val="152C3F"/>
                </a:solidFill>
                <a:latin typeface="DejaVu Sans" panose="020B0603030804020204"/>
                <a:ea typeface="DejaVu Sans" panose="020B0603030804020204"/>
                <a:cs typeface="DejaVu Sans" panose="020B0603030804020204"/>
              </a:defRPr>
            </a:pPr>
            <a:r>
              <a:rPr sz="1425" b="0">
                <a:solidFill>
                  <a:srgbClr val="152C3F"/>
                </a:solidFill>
                <a:latin typeface="DejaVu Sans" panose="020B0603030804020204"/>
                <a:ea typeface="DejaVu Sans" panose="020B0603030804020204"/>
                <a:cs typeface="DejaVu Sans" panose="020B0603030804020204"/>
              </a:rPr>
              <a:t>Two candidates: Aboy++ inspired and MSPTDfast v.2 (fast multiscale peak and trough detection).</a:t>
            </a:r>
          </a:p>
        </p:txBody>
      </p:sp>
      <p:sp>
        <p:nvSpPr>
          <p:cNvPr id="26" name="text-59"/>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External stationary recordings: electrocardiogram (ECG) beat annotations. Schematic pulse; thesis §2.1.2 and §4.1.1.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ext-107"/>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Aboy++: adaptive peak selection</a:t>
            </a:r>
          </a:p>
        </p:txBody>
      </p:sp>
      <p:sp>
        <p:nvSpPr>
          <p:cNvPr id="2" name="text-108"/>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PEAK DETECTION</a:t>
            </a:r>
          </a:p>
        </p:txBody>
      </p:sp>
      <p:sp>
        <p:nvSpPr>
          <p:cNvPr id="3" name="text-109"/>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23</a:t>
            </a:r>
          </a:p>
        </p:txBody>
      </p:sp>
      <p:sp>
        <p:nvSpPr>
          <p:cNvPr id="4" name="text-110"/>
          <p:cNvSpPr>
            <a:spLocks noGrp="1"/>
          </p:cNvSpPr>
          <p:nvPr/>
        </p:nvSpPr>
        <p:spPr>
          <a:xfrm>
            <a:off x="571500" y="1333500"/>
            <a:ext cx="7620000" cy="304800"/>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1  Consecutive 10 s windows, without overlap</a:t>
            </a:r>
          </a:p>
        </p:txBody>
      </p:sp>
      <p:sp>
        <p:nvSpPr>
          <p:cNvPr id="5" name="workflow-111"/>
          <p:cNvSpPr>
            <a:spLocks noGrp="1"/>
          </p:cNvSpPr>
          <p:nvPr/>
        </p:nvSpPr>
        <p:spPr>
          <a:xfrm>
            <a:off x="1295400" y="1838325"/>
            <a:ext cx="3381375" cy="1457325"/>
          </a:xfrm>
          <a:prstGeom prst="rect">
            <a:avLst/>
          </a:prstGeom>
          <a:solidFill>
            <a:srgbClr val="EDF6F6"/>
          </a:solidFill>
          <a:ln w="16193">
            <a:solidFill>
              <a:srgbClr val="EDF6F6"/>
            </a:solidFill>
          </a:ln>
        </p:spPr>
        <p:txBody>
          <a:bodyPr lIns="95250" tIns="76200" rIns="95250" bIns="76200" anchor="ctr">
            <a:noAutofit/>
          </a:bodyPr>
          <a:lstStyle/>
          <a:p>
            <a:endParaRPr/>
          </a:p>
        </p:txBody>
      </p:sp>
      <p:sp>
        <p:nvSpPr>
          <p:cNvPr id="6" name="workflow-112"/>
          <p:cNvSpPr>
            <a:spLocks noGrp="1"/>
          </p:cNvSpPr>
          <p:nvPr/>
        </p:nvSpPr>
        <p:spPr>
          <a:xfrm>
            <a:off x="4676775" y="1838325"/>
            <a:ext cx="3381375" cy="1457325"/>
          </a:xfrm>
          <a:prstGeom prst="rect">
            <a:avLst/>
          </a:prstGeom>
          <a:solidFill>
            <a:srgbClr val="F4F0F8"/>
          </a:solidFill>
          <a:ln w="16193">
            <a:solidFill>
              <a:srgbClr val="F4F0F8"/>
            </a:solidFill>
          </a:ln>
        </p:spPr>
        <p:txBody>
          <a:bodyPr lIns="95250" tIns="76200" rIns="95250" bIns="76200" anchor="ctr">
            <a:noAutofit/>
          </a:bodyPr>
          <a:lstStyle/>
          <a:p>
            <a:endParaRPr/>
          </a:p>
        </p:txBody>
      </p:sp>
      <p:sp>
        <p:nvSpPr>
          <p:cNvPr id="7" name="workflow-113"/>
          <p:cNvSpPr>
            <a:spLocks noGrp="1"/>
          </p:cNvSpPr>
          <p:nvPr/>
        </p:nvSpPr>
        <p:spPr>
          <a:xfrm>
            <a:off x="8058150" y="1838325"/>
            <a:ext cx="3381375" cy="1457325"/>
          </a:xfrm>
          <a:prstGeom prst="rect">
            <a:avLst/>
          </a:prstGeom>
          <a:solidFill>
            <a:srgbClr val="EDF6F6"/>
          </a:solidFill>
          <a:ln w="16193">
            <a:solidFill>
              <a:srgbClr val="EDF6F6"/>
            </a:solidFill>
          </a:ln>
        </p:spPr>
        <p:txBody>
          <a:bodyPr lIns="95250" tIns="76200" rIns="95250" bIns="76200" anchor="ctr">
            <a:noAutofit/>
          </a:bodyPr>
          <a:lstStyle/>
          <a:p>
            <a:endParaRPr/>
          </a:p>
        </p:txBody>
      </p:sp>
      <p:graphicFrame>
        <p:nvGraphicFramePr>
          <p:cNvPr id="28" name="Chart"/>
          <p:cNvGraphicFramePr/>
          <p:nvPr/>
        </p:nvGraphicFramePr>
        <p:xfrm>
          <a:off x="457200" y="1743075"/>
          <a:ext cx="11210925"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114"/>
          <p:cNvSpPr>
            <a:spLocks noGrp="1"/>
          </p:cNvSpPr>
          <p:nvPr/>
        </p:nvSpPr>
        <p:spPr>
          <a:xfrm>
            <a:off x="1504950" y="1695450"/>
            <a:ext cx="2857500" cy="276225"/>
          </a:xfrm>
          <a:prstGeom prst="rect">
            <a:avLst/>
          </a:prstGeom>
          <a:noFill/>
          <a:ln w="0">
            <a:noFill/>
          </a:ln>
        </p:spPr>
        <p:txBody>
          <a:bodyPr wrap="square" lIns="0" tIns="0" rIns="0" bIns="0" anchor="t">
            <a:noAutofit/>
          </a:bodyPr>
          <a:lstStyle/>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0–10 s: estimate HRi</a:t>
            </a:r>
          </a:p>
        </p:txBody>
      </p:sp>
      <p:sp>
        <p:nvSpPr>
          <p:cNvPr id="10" name="text-115"/>
          <p:cNvSpPr>
            <a:spLocks noGrp="1"/>
          </p:cNvSpPr>
          <p:nvPr/>
        </p:nvSpPr>
        <p:spPr>
          <a:xfrm>
            <a:off x="4905375" y="1695450"/>
            <a:ext cx="3333750" cy="276225"/>
          </a:xfrm>
          <a:prstGeom prst="rect">
            <a:avLst/>
          </a:prstGeom>
          <a:noFill/>
          <a:ln w="0">
            <a:noFill/>
          </a:ln>
        </p:spPr>
        <p:txBody>
          <a:bodyPr wrap="square" lIns="0" tIns="0" rIns="0" bIns="0" anchor="t">
            <a:noAutofit/>
          </a:bodyPr>
          <a:lstStyle/>
          <a:p>
            <a:pPr algn="l">
              <a:defRPr sz="1500" b="1">
                <a:solidFill>
                  <a:srgbClr val="7056A8"/>
                </a:solidFill>
                <a:latin typeface="DejaVu Sans" panose="020B0603030804020204"/>
                <a:ea typeface="DejaVu Sans" panose="020B0603030804020204"/>
                <a:cs typeface="DejaVu Sans" panose="020B0603030804020204"/>
              </a:defRPr>
            </a:pPr>
            <a:r>
              <a:rPr sz="1500" b="1">
                <a:solidFill>
                  <a:srgbClr val="7056A8"/>
                </a:solidFill>
                <a:latin typeface="DejaVu Sans" panose="020B0603030804020204"/>
                <a:ea typeface="DejaVu Sans" panose="020B0603030804020204"/>
                <a:cs typeface="DejaVu Sans" panose="020B0603030804020204"/>
              </a:rPr>
              <a:t>10–20 s: update or reuse</a:t>
            </a:r>
          </a:p>
        </p:txBody>
      </p:sp>
      <p:sp>
        <p:nvSpPr>
          <p:cNvPr id="11" name="text-116"/>
          <p:cNvSpPr>
            <a:spLocks noGrp="1"/>
          </p:cNvSpPr>
          <p:nvPr/>
        </p:nvSpPr>
        <p:spPr>
          <a:xfrm>
            <a:off x="8905875" y="1695450"/>
            <a:ext cx="2571750" cy="276225"/>
          </a:xfrm>
          <a:prstGeom prst="rect">
            <a:avLst/>
          </a:prstGeom>
          <a:noFill/>
          <a:ln w="0">
            <a:noFill/>
          </a:ln>
        </p:spPr>
        <p:txBody>
          <a:bodyPr wrap="square" lIns="0" tIns="0" rIns="0" bIns="0" anchor="t">
            <a:noAutofit/>
          </a:bodyPr>
          <a:lstStyle/>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20–30 s: repeat</a:t>
            </a:r>
          </a:p>
        </p:txBody>
      </p:sp>
      <p:sp>
        <p:nvSpPr>
          <p:cNvPr id="12" name="text-117"/>
          <p:cNvSpPr>
            <a:spLocks noGrp="1"/>
          </p:cNvSpPr>
          <p:nvPr/>
        </p:nvSpPr>
        <p:spPr>
          <a:xfrm>
            <a:off x="571500" y="3962400"/>
            <a:ext cx="6410325" cy="304800"/>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2  Candidate peaks, interval and peak height</a:t>
            </a:r>
          </a:p>
        </p:txBody>
      </p:sp>
      <p:sp>
        <p:nvSpPr>
          <p:cNvPr id="17" name="text-121"/>
          <p:cNvSpPr>
            <a:spLocks noGrp="1"/>
          </p:cNvSpPr>
          <p:nvPr/>
        </p:nvSpPr>
        <p:spPr>
          <a:xfrm>
            <a:off x="7372350" y="4095750"/>
            <a:ext cx="4257675" cy="628650"/>
          </a:xfrm>
          <a:prstGeom prst="rect">
            <a:avLst/>
          </a:prstGeom>
          <a:noFill/>
          <a:ln w="0">
            <a:noFill/>
          </a:ln>
        </p:spPr>
        <p:txBody>
          <a:bodyPr wrap="square" lIns="0" tIns="0" rIns="0" bIns="0" anchor="t">
            <a:noAutofit/>
          </a:bodyPr>
          <a:lstStyle/>
          <a:p>
            <a:pPr algn="l">
              <a:defRPr sz="1575" b="1">
                <a:solidFill>
                  <a:srgbClr val="152C3F"/>
                </a:solidFill>
                <a:latin typeface="DejaVu Sans" panose="020B0603030804020204"/>
                <a:ea typeface="DejaVu Sans" panose="020B0603030804020204"/>
                <a:cs typeface="DejaVu Sans" panose="020B0603030804020204"/>
              </a:defRPr>
            </a:pPr>
            <a:r>
              <a:rPr sz="1575" b="1">
                <a:solidFill>
                  <a:srgbClr val="152C3F"/>
                </a:solidFill>
                <a:latin typeface="DejaVu Sans" panose="020B0603030804020204"/>
                <a:ea typeface="DejaVu Sans" panose="020B0603030804020204"/>
                <a:cs typeface="DejaVu Sans" panose="020B0603030804020204"/>
              </a:rPr>
              <a:t>3  Reliable intervals update HRi.</a:t>
            </a:r>
          </a:p>
          <a:p>
            <a:pPr algn="l">
              <a:defRPr sz="1575" b="1">
                <a:solidFill>
                  <a:srgbClr val="152C3F"/>
                </a:solidFill>
                <a:latin typeface="DejaVu Sans" panose="020B0603030804020204"/>
                <a:ea typeface="DejaVu Sans" panose="020B0603030804020204"/>
                <a:cs typeface="DejaVu Sans" panose="020B0603030804020204"/>
              </a:defRPr>
            </a:pPr>
            <a:r>
              <a:rPr sz="1575" b="1">
                <a:solidFill>
                  <a:srgbClr val="152C3F"/>
                </a:solidFill>
                <a:latin typeface="DejaVu Sans" panose="020B0603030804020204"/>
                <a:ea typeface="DejaVu Sans" panose="020B0603030804020204"/>
                <a:cs typeface="DejaVu Sans" panose="020B0603030804020204"/>
              </a:rPr>
              <a:t>    Otherwise, retain the previous HRi.</a:t>
            </a:r>
          </a:p>
        </p:txBody>
      </p:sp>
      <p:sp>
        <p:nvSpPr>
          <p:cNvPr id="19" name="text-123"/>
          <p:cNvSpPr>
            <a:spLocks noGrp="1"/>
          </p:cNvSpPr>
          <p:nvPr/>
        </p:nvSpPr>
        <p:spPr>
          <a:xfrm>
            <a:off x="7393305" y="5019675"/>
            <a:ext cx="4257675" cy="295275"/>
          </a:xfrm>
          <a:prstGeom prst="rect">
            <a:avLst/>
          </a:prstGeom>
          <a:noFill/>
          <a:ln w="0">
            <a:noFill/>
          </a:ln>
        </p:spPr>
        <p:txBody>
          <a:bodyPr wrap="square" lIns="0" tIns="0" rIns="0" bIns="0" anchor="t">
            <a:noAutofit/>
          </a:bodyPr>
          <a:lstStyle/>
          <a:p>
            <a:pPr algn="l">
              <a:defRPr sz="1425" b="1">
                <a:solidFill>
                  <a:srgbClr val="7056A8"/>
                </a:solidFill>
                <a:latin typeface="DejaVu Sans" panose="020B0603030804020204"/>
                <a:ea typeface="DejaVu Sans" panose="020B0603030804020204"/>
                <a:cs typeface="DejaVu Sans" panose="020B0603030804020204"/>
              </a:defRPr>
            </a:pPr>
            <a:r>
              <a:rPr lang="en-US" sz="1425" b="1">
                <a:solidFill>
                  <a:srgbClr val="7056A8"/>
                </a:solidFill>
                <a:latin typeface="DejaVu Sans" panose="020B0603030804020204"/>
                <a:ea typeface="DejaVu Sans" panose="020B0603030804020204"/>
                <a:cs typeface="DejaVu Sans" panose="020B0603030804020204"/>
              </a:rPr>
              <a:t>4  </a:t>
            </a:r>
            <a:r>
              <a:rPr sz="1425" b="1">
                <a:solidFill>
                  <a:srgbClr val="7056A8"/>
                </a:solidFill>
                <a:latin typeface="DejaVu Sans" panose="020B0603030804020204"/>
                <a:ea typeface="DejaVu Sans" panose="020B0603030804020204"/>
                <a:cs typeface="DejaVu Sans" panose="020B0603030804020204"/>
              </a:rPr>
              <a:t>Carry HRi into the next window.</a:t>
            </a:r>
          </a:p>
        </p:txBody>
      </p:sp>
      <p:sp>
        <p:nvSpPr>
          <p:cNvPr id="20" name="text-124"/>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PPI = pulse-to-pulse interval; HRi = heart-rate index (a variability measure, not beats per minute). Peak height above baseline is prominence.</a:t>
            </a:r>
          </a:p>
        </p:txBody>
      </p:sp>
      <p:pic>
        <p:nvPicPr>
          <p:cNvPr id="8" name="图片 7"/>
          <p:cNvPicPr>
            <a:picLocks noChangeAspect="1"/>
          </p:cNvPicPr>
          <p:nvPr/>
        </p:nvPicPr>
        <p:blipFill>
          <a:blip r:embed="rId4"/>
          <a:stretch>
            <a:fillRect/>
          </a:stretch>
        </p:blipFill>
        <p:spPr>
          <a:xfrm>
            <a:off x="480695" y="4331970"/>
            <a:ext cx="6306820" cy="15754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text-1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Aboy++: peak selection in each 10 s block</a:t>
            </a:r>
          </a:p>
        </p:txBody>
      </p:sp>
      <p:sp>
        <p:nvSpPr>
          <p:cNvPr id="2" name="text-1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PEAK DETECTION</a:t>
            </a:r>
          </a:p>
        </p:txBody>
      </p:sp>
      <p:sp>
        <p:nvSpPr>
          <p:cNvPr id="3" name="text-1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24</a:t>
            </a:r>
          </a:p>
        </p:txBody>
      </p:sp>
      <p:sp>
        <p:nvSpPr>
          <p:cNvPr id="4" name="workflow-18"/>
          <p:cNvSpPr>
            <a:spLocks noGrp="1"/>
          </p:cNvSpPr>
          <p:nvPr/>
        </p:nvSpPr>
        <p:spPr>
          <a:xfrm>
            <a:off x="571500" y="1485900"/>
            <a:ext cx="2190750" cy="866775"/>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PPG, both polarities</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10 s blocks</a:t>
            </a:r>
          </a:p>
        </p:txBody>
      </p:sp>
      <p:sp>
        <p:nvSpPr>
          <p:cNvPr id="5" name="workflow-19"/>
          <p:cNvSpPr>
            <a:spLocks noGrp="1"/>
          </p:cNvSpPr>
          <p:nvPr/>
        </p:nvSpPr>
        <p:spPr>
          <a:xfrm>
            <a:off x="3333750" y="1485900"/>
            <a:ext cx="2238375" cy="866775"/>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High-pass, then</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adaptive band-pass</a:t>
            </a:r>
          </a:p>
        </p:txBody>
      </p:sp>
      <p:sp>
        <p:nvSpPr>
          <p:cNvPr id="6" name="workflow-20"/>
          <p:cNvSpPr>
            <a:spLocks noGrp="1"/>
          </p:cNvSpPr>
          <p:nvPr/>
        </p:nvSpPr>
        <p:spPr>
          <a:xfrm>
            <a:off x="6143625" y="1485900"/>
            <a:ext cx="2333625" cy="866775"/>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Find candidate peaks</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Spacing ≥ 60/210 s</a:t>
            </a:r>
          </a:p>
        </p:txBody>
      </p:sp>
      <p:sp>
        <p:nvSpPr>
          <p:cNvPr id="7" name="workflow-21"/>
          <p:cNvSpPr>
            <a:spLocks noGrp="1"/>
          </p:cNvSpPr>
          <p:nvPr/>
        </p:nvSpPr>
        <p:spPr>
          <a:xfrm>
            <a:off x="9048750" y="1485900"/>
            <a:ext cx="2571750" cy="866775"/>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Pulse-to-pulse intervals</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Pd: values above P30</a:t>
            </a:r>
          </a:p>
        </p:txBody>
      </p:sp>
      <p:cxnSp>
        <p:nvCxnSpPr>
          <p:cNvPr id="38" name="直接箭头连接符 37"/>
          <p:cNvCxnSpPr>
            <a:stCxn id="4" idx="3"/>
            <a:endCxn id="5" idx="1"/>
          </p:cNvCxnSpPr>
          <p:nvPr/>
        </p:nvCxnSpPr>
        <p:spPr>
          <a:xfrm>
            <a:off x="2762250" y="1919288"/>
            <a:ext cx="571500" cy="0"/>
          </a:xfrm>
          <a:prstGeom prst="straightConnector1">
            <a:avLst/>
          </a:prstGeom>
          <a:ln w="19050">
            <a:solidFill>
              <a:srgbClr val="506577"/>
            </a:solidFill>
            <a:tailEnd type="triangle" w="sm" len="sm"/>
          </a:ln>
        </p:spPr>
      </p:cxnSp>
      <p:cxnSp>
        <p:nvCxnSpPr>
          <p:cNvPr id="39" name="直接箭头连接符 38"/>
          <p:cNvCxnSpPr>
            <a:stCxn id="5" idx="3"/>
            <a:endCxn id="6" idx="1"/>
          </p:cNvCxnSpPr>
          <p:nvPr/>
        </p:nvCxnSpPr>
        <p:spPr>
          <a:xfrm>
            <a:off x="5572125" y="1919288"/>
            <a:ext cx="571500" cy="0"/>
          </a:xfrm>
          <a:prstGeom prst="straightConnector1">
            <a:avLst/>
          </a:prstGeom>
          <a:ln w="19050">
            <a:solidFill>
              <a:srgbClr val="506577"/>
            </a:solidFill>
            <a:tailEnd type="triangle" w="sm" len="sm"/>
          </a:ln>
        </p:spPr>
      </p:cxnSp>
      <p:cxnSp>
        <p:nvCxnSpPr>
          <p:cNvPr id="40" name="直接箭头连接符 39"/>
          <p:cNvCxnSpPr>
            <a:stCxn id="6" idx="3"/>
            <a:endCxn id="7" idx="1"/>
          </p:cNvCxnSpPr>
          <p:nvPr/>
        </p:nvCxnSpPr>
        <p:spPr>
          <a:xfrm>
            <a:off x="8477250" y="1919288"/>
            <a:ext cx="571500" cy="0"/>
          </a:xfrm>
          <a:prstGeom prst="straightConnector1">
            <a:avLst/>
          </a:prstGeom>
          <a:ln w="19050">
            <a:solidFill>
              <a:srgbClr val="506577"/>
            </a:solidFill>
            <a:tailEnd type="triangle" w="sm" len="sm"/>
          </a:ln>
        </p:spPr>
      </p:cxnSp>
      <p:sp>
        <p:nvSpPr>
          <p:cNvPr id="11" name="workflow-22"/>
          <p:cNvSpPr>
            <a:spLocks noGrp="1"/>
          </p:cNvSpPr>
          <p:nvPr/>
        </p:nvSpPr>
        <p:spPr>
          <a:xfrm>
            <a:off x="6143625" y="3048000"/>
            <a:ext cx="2333625" cy="819150"/>
          </a:xfrm>
          <a:prstGeom prst="rect">
            <a:avLst/>
          </a:prstGeom>
          <a:solidFill>
            <a:srgbClr val="F2EFF7"/>
          </a:solidFill>
          <a:ln w="16193">
            <a:solidFill>
              <a:srgbClr val="7056A8"/>
            </a:solidFill>
          </a:ln>
        </p:spPr>
        <p:txBody>
          <a:bodyPr lIns="95250" tIns="76200" rIns="95250" bIns="76200" anchor="ctr">
            <a:noAutofit/>
          </a:bodyPr>
          <a:lstStyle/>
          <a:p>
            <a:pPr algn="ctr">
              <a:defRPr sz="1350">
                <a:solidFill>
                  <a:srgbClr val="7056A8"/>
                </a:solidFill>
                <a:latin typeface="DejaVu Sans" panose="020B0603030804020204"/>
                <a:ea typeface="DejaVu Sans" panose="020B0603030804020204"/>
                <a:cs typeface="DejaVu Sans" panose="020B0603030804020204"/>
              </a:defRPr>
            </a:pPr>
            <a:r>
              <a:rPr sz="1350">
                <a:solidFill>
                  <a:srgbClr val="7056A8"/>
                </a:solidFill>
                <a:latin typeface="DejaVu Sans" panose="020B0603030804020204"/>
                <a:ea typeface="DejaVu Sans" panose="020B0603030804020204"/>
                <a:cs typeface="DejaVu Sans" panose="020B0603030804020204"/>
              </a:rPr>
              <a:t>Update HRi</a:t>
            </a:r>
          </a:p>
          <a:p>
            <a:pPr algn="ctr">
              <a:defRPr sz="1350">
                <a:solidFill>
                  <a:srgbClr val="7056A8"/>
                </a:solidFill>
                <a:latin typeface="DejaVu Sans" panose="020B0603030804020204"/>
                <a:ea typeface="DejaVu Sans" panose="020B0603030804020204"/>
                <a:cs typeface="DejaVu Sans" panose="020B0603030804020204"/>
              </a:defRPr>
            </a:pPr>
            <a:r>
              <a:rPr sz="1350">
                <a:solidFill>
                  <a:srgbClr val="7056A8"/>
                </a:solidFill>
                <a:latin typeface="DejaVu Sans" panose="020B0603030804020204"/>
                <a:ea typeface="DejaVu Sans" panose="020B0603030804020204"/>
                <a:cs typeface="DejaVu Sans" panose="020B0603030804020204"/>
              </a:rPr>
              <a:t>10 × SD(Pd) / mean(Pd)</a:t>
            </a:r>
          </a:p>
        </p:txBody>
      </p:sp>
      <p:sp>
        <p:nvSpPr>
          <p:cNvPr id="12" name="菱形 11"/>
          <p:cNvSpPr>
            <a:spLocks noGrp="1"/>
          </p:cNvSpPr>
          <p:nvPr/>
        </p:nvSpPr>
        <p:spPr>
          <a:xfrm>
            <a:off x="9048750" y="2952750"/>
            <a:ext cx="2571750" cy="1009650"/>
          </a:xfrm>
          <a:prstGeom prst="diamond">
            <a:avLst/>
          </a:prstGeom>
          <a:solidFill>
            <a:srgbClr val="F2EFF7"/>
          </a:solidFill>
          <a:ln w="16193">
            <a:solidFill>
              <a:srgbClr val="7056A8"/>
            </a:solidFill>
          </a:ln>
        </p:spPr>
        <p:txBody>
          <a:bodyPr/>
          <a:lstStyle/>
          <a:p>
            <a:endParaRPr lang="zh-CN" altLang="en-US"/>
          </a:p>
        </p:txBody>
      </p:sp>
      <p:sp>
        <p:nvSpPr>
          <p:cNvPr id="13" name="text-23"/>
          <p:cNvSpPr>
            <a:spLocks noGrp="1"/>
          </p:cNvSpPr>
          <p:nvPr/>
        </p:nvSpPr>
        <p:spPr>
          <a:xfrm>
            <a:off x="9667875" y="3248025"/>
            <a:ext cx="1333500" cy="523875"/>
          </a:xfrm>
          <a:prstGeom prst="rect">
            <a:avLst/>
          </a:prstGeom>
          <a:noFill/>
          <a:ln w="0">
            <a:noFill/>
          </a:ln>
        </p:spPr>
        <p:txBody>
          <a:bodyPr wrap="square" lIns="0" tIns="0" rIns="0" bIns="0" anchor="t">
            <a:noAutofit/>
          </a:bodyPr>
          <a:lstStyle/>
          <a:p>
            <a:pPr algn="ctr">
              <a:defRPr sz="1425" b="1">
                <a:solidFill>
                  <a:srgbClr val="7056A8"/>
                </a:solidFill>
                <a:latin typeface="DejaVu Sans" panose="020B0603030804020204"/>
                <a:ea typeface="DejaVu Sans" panose="020B0603030804020204"/>
                <a:cs typeface="DejaVu Sans" panose="020B0603030804020204"/>
              </a:defRPr>
            </a:pPr>
            <a:r>
              <a:rPr sz="1425" b="1">
                <a:solidFill>
                  <a:srgbClr val="7056A8"/>
                </a:solidFill>
                <a:latin typeface="DejaVu Sans" panose="020B0603030804020204"/>
                <a:ea typeface="DejaVu Sans" panose="020B0603030804020204"/>
                <a:cs typeface="DejaVu Sans" panose="020B0603030804020204"/>
              </a:rPr>
              <a:t>Plausible</a:t>
            </a:r>
          </a:p>
          <a:p>
            <a:pPr algn="ctr">
              <a:defRPr sz="1425" b="1">
                <a:solidFill>
                  <a:srgbClr val="7056A8"/>
                </a:solidFill>
                <a:latin typeface="DejaVu Sans" panose="020B0603030804020204"/>
                <a:ea typeface="DejaVu Sans" panose="020B0603030804020204"/>
                <a:cs typeface="DejaVu Sans" panose="020B0603030804020204"/>
              </a:defRPr>
            </a:pPr>
            <a:r>
              <a:rPr sz="1425" b="1">
                <a:solidFill>
                  <a:srgbClr val="7056A8"/>
                </a:solidFill>
                <a:latin typeface="DejaVu Sans" panose="020B0603030804020204"/>
                <a:ea typeface="DejaVu Sans" panose="020B0603030804020204"/>
                <a:cs typeface="DejaVu Sans" panose="020B0603030804020204"/>
              </a:rPr>
              <a:t>intervals?</a:t>
            </a:r>
          </a:p>
        </p:txBody>
      </p:sp>
      <p:cxnSp>
        <p:nvCxnSpPr>
          <p:cNvPr id="44" name="直接箭头连接符 43"/>
          <p:cNvCxnSpPr>
            <a:stCxn id="7" idx="2"/>
            <a:endCxn id="12" idx="0"/>
          </p:cNvCxnSpPr>
          <p:nvPr/>
        </p:nvCxnSpPr>
        <p:spPr>
          <a:xfrm>
            <a:off x="10334625" y="2352675"/>
            <a:ext cx="0" cy="600075"/>
          </a:xfrm>
          <a:prstGeom prst="straightConnector1">
            <a:avLst/>
          </a:prstGeom>
          <a:ln w="19050">
            <a:solidFill>
              <a:srgbClr val="7056A8"/>
            </a:solidFill>
            <a:tailEnd type="triangle" w="sm" len="sm"/>
          </a:ln>
        </p:spPr>
      </p:cxnSp>
      <p:cxnSp>
        <p:nvCxnSpPr>
          <p:cNvPr id="45" name="肘形连接符 44"/>
          <p:cNvCxnSpPr>
            <a:stCxn id="12" idx="1"/>
            <a:endCxn id="11" idx="3"/>
          </p:cNvCxnSpPr>
          <p:nvPr/>
        </p:nvCxnSpPr>
        <p:spPr>
          <a:xfrm rot="10800000" flipV="1">
            <a:off x="8477250" y="3457575"/>
            <a:ext cx="571500" cy="3175"/>
          </a:xfrm>
          <a:prstGeom prst="bentConnector2">
            <a:avLst/>
          </a:prstGeom>
          <a:ln w="19050">
            <a:solidFill>
              <a:srgbClr val="7056A8"/>
            </a:solidFill>
            <a:tailEnd type="triangle" w="sm" len="sm"/>
          </a:ln>
        </p:spPr>
      </p:cxnSp>
      <p:sp>
        <p:nvSpPr>
          <p:cNvPr id="16" name="text-24"/>
          <p:cNvSpPr>
            <a:spLocks noGrp="1"/>
          </p:cNvSpPr>
          <p:nvPr/>
        </p:nvSpPr>
        <p:spPr>
          <a:xfrm>
            <a:off x="8620125" y="3143250"/>
            <a:ext cx="457200" cy="257175"/>
          </a:xfrm>
          <a:prstGeom prst="rect">
            <a:avLst/>
          </a:prstGeom>
          <a:noFill/>
          <a:ln w="0">
            <a:noFill/>
          </a:ln>
        </p:spPr>
        <p:txBody>
          <a:bodyPr wrap="square" lIns="0" tIns="0" rIns="0" bIns="0" anchor="t">
            <a:noAutofit/>
          </a:bodyPr>
          <a:lstStyle/>
          <a:p>
            <a:pPr algn="l">
              <a:defRPr sz="1275" b="1">
                <a:solidFill>
                  <a:srgbClr val="7056A8"/>
                </a:solidFill>
                <a:latin typeface="DejaVu Sans" panose="020B0603030804020204"/>
                <a:ea typeface="DejaVu Sans" panose="020B0603030804020204"/>
                <a:cs typeface="DejaVu Sans" panose="020B0603030804020204"/>
              </a:defRPr>
            </a:pPr>
            <a:r>
              <a:rPr sz="1275" b="1">
                <a:solidFill>
                  <a:srgbClr val="7056A8"/>
                </a:solidFill>
                <a:latin typeface="DejaVu Sans" panose="020B0603030804020204"/>
                <a:ea typeface="DejaVu Sans" panose="020B0603030804020204"/>
                <a:cs typeface="DejaVu Sans" panose="020B0603030804020204"/>
              </a:rPr>
              <a:t>Yes</a:t>
            </a:r>
          </a:p>
        </p:txBody>
      </p:sp>
      <p:sp>
        <p:nvSpPr>
          <p:cNvPr id="17" name="workflow-25"/>
          <p:cNvSpPr>
            <a:spLocks noGrp="1"/>
          </p:cNvSpPr>
          <p:nvPr/>
        </p:nvSpPr>
        <p:spPr>
          <a:xfrm>
            <a:off x="9048750" y="4486275"/>
            <a:ext cx="2571750" cy="714375"/>
          </a:xfrm>
          <a:prstGeom prst="rect">
            <a:avLst/>
          </a:prstGeom>
          <a:solidFill>
            <a:srgbClr val="F2EFF7"/>
          </a:solidFill>
          <a:ln w="16193">
            <a:solidFill>
              <a:srgbClr val="7056A8"/>
            </a:solidFill>
          </a:ln>
        </p:spPr>
        <p:txBody>
          <a:bodyPr lIns="95250" tIns="76200" rIns="95250" bIns="76200" anchor="ctr">
            <a:noAutofit/>
          </a:bodyPr>
          <a:lstStyle/>
          <a:p>
            <a:pPr algn="ctr">
              <a:defRPr sz="1425">
                <a:solidFill>
                  <a:srgbClr val="7056A8"/>
                </a:solidFill>
                <a:latin typeface="DejaVu Sans" panose="020B0603030804020204"/>
                <a:ea typeface="DejaVu Sans" panose="020B0603030804020204"/>
                <a:cs typeface="DejaVu Sans" panose="020B0603030804020204"/>
              </a:defRPr>
            </a:pPr>
            <a:r>
              <a:rPr sz="1425">
                <a:solidFill>
                  <a:srgbClr val="7056A8"/>
                </a:solidFill>
                <a:latin typeface="DejaVu Sans" panose="020B0603030804020204"/>
                <a:ea typeface="DejaVu Sans" panose="020B0603030804020204"/>
                <a:cs typeface="DejaVu Sans" panose="020B0603030804020204"/>
              </a:rPr>
              <a:t>Reuse previous HRi</a:t>
            </a:r>
          </a:p>
        </p:txBody>
      </p:sp>
      <p:cxnSp>
        <p:nvCxnSpPr>
          <p:cNvPr id="48" name="直接箭头连接符 47"/>
          <p:cNvCxnSpPr>
            <a:stCxn id="12" idx="2"/>
            <a:endCxn id="17" idx="0"/>
          </p:cNvCxnSpPr>
          <p:nvPr/>
        </p:nvCxnSpPr>
        <p:spPr>
          <a:xfrm>
            <a:off x="10334625" y="3962400"/>
            <a:ext cx="0" cy="523875"/>
          </a:xfrm>
          <a:prstGeom prst="straightConnector1">
            <a:avLst/>
          </a:prstGeom>
          <a:ln w="19050">
            <a:solidFill>
              <a:srgbClr val="7056A8"/>
            </a:solidFill>
            <a:tailEnd type="triangle" w="sm" len="sm"/>
          </a:ln>
        </p:spPr>
      </p:cxnSp>
      <p:sp>
        <p:nvSpPr>
          <p:cNvPr id="19" name="text-26"/>
          <p:cNvSpPr>
            <a:spLocks noGrp="1"/>
          </p:cNvSpPr>
          <p:nvPr/>
        </p:nvSpPr>
        <p:spPr>
          <a:xfrm>
            <a:off x="10420350" y="4124325"/>
            <a:ext cx="466725" cy="247650"/>
          </a:xfrm>
          <a:prstGeom prst="rect">
            <a:avLst/>
          </a:prstGeom>
          <a:noFill/>
          <a:ln w="0">
            <a:noFill/>
          </a:ln>
        </p:spPr>
        <p:txBody>
          <a:bodyPr wrap="square" lIns="0" tIns="0" rIns="0" bIns="0" anchor="t">
            <a:noAutofit/>
          </a:bodyPr>
          <a:lstStyle/>
          <a:p>
            <a:pPr algn="l">
              <a:defRPr sz="1275" b="1">
                <a:solidFill>
                  <a:srgbClr val="7056A8"/>
                </a:solidFill>
                <a:latin typeface="DejaVu Sans" panose="020B0603030804020204"/>
                <a:ea typeface="DejaVu Sans" panose="020B0603030804020204"/>
                <a:cs typeface="DejaVu Sans" panose="020B0603030804020204"/>
              </a:defRPr>
            </a:pPr>
            <a:r>
              <a:rPr sz="1275" b="1">
                <a:solidFill>
                  <a:srgbClr val="7056A8"/>
                </a:solidFill>
                <a:latin typeface="DejaVu Sans" panose="020B0603030804020204"/>
                <a:ea typeface="DejaVu Sans" panose="020B0603030804020204"/>
                <a:cs typeface="DejaVu Sans" panose="020B0603030804020204"/>
              </a:rPr>
              <a:t>No</a:t>
            </a:r>
          </a:p>
        </p:txBody>
      </p:sp>
      <p:sp>
        <p:nvSpPr>
          <p:cNvPr id="20" name="workflow-27"/>
          <p:cNvSpPr>
            <a:spLocks noGrp="1"/>
          </p:cNvSpPr>
          <p:nvPr/>
        </p:nvSpPr>
        <p:spPr>
          <a:xfrm>
            <a:off x="6143625" y="4486275"/>
            <a:ext cx="2333625" cy="714375"/>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HRi for this block</a:t>
            </a:r>
          </a:p>
        </p:txBody>
      </p:sp>
      <p:cxnSp>
        <p:nvCxnSpPr>
          <p:cNvPr id="51" name="直接箭头连接符 50"/>
          <p:cNvCxnSpPr>
            <a:stCxn id="11" idx="2"/>
            <a:endCxn id="20" idx="0"/>
          </p:cNvCxnSpPr>
          <p:nvPr/>
        </p:nvCxnSpPr>
        <p:spPr>
          <a:xfrm>
            <a:off x="7310438" y="3867150"/>
            <a:ext cx="0" cy="619125"/>
          </a:xfrm>
          <a:prstGeom prst="straightConnector1">
            <a:avLst/>
          </a:prstGeom>
          <a:ln w="19050">
            <a:solidFill>
              <a:srgbClr val="7056A8"/>
            </a:solidFill>
            <a:tailEnd type="triangle" w="sm" len="sm"/>
          </a:ln>
        </p:spPr>
      </p:cxnSp>
      <p:cxnSp>
        <p:nvCxnSpPr>
          <p:cNvPr id="52" name="直接箭头连接符 51"/>
          <p:cNvCxnSpPr>
            <a:stCxn id="17" idx="1"/>
            <a:endCxn id="20" idx="3"/>
          </p:cNvCxnSpPr>
          <p:nvPr/>
        </p:nvCxnSpPr>
        <p:spPr>
          <a:xfrm flipH="1">
            <a:off x="8477250" y="4843463"/>
            <a:ext cx="571500" cy="0"/>
          </a:xfrm>
          <a:prstGeom prst="straightConnector1">
            <a:avLst/>
          </a:prstGeom>
          <a:ln w="19050">
            <a:solidFill>
              <a:srgbClr val="7056A8"/>
            </a:solidFill>
            <a:tailEnd type="triangle" w="sm" len="sm"/>
          </a:ln>
        </p:spPr>
      </p:cxnSp>
      <p:sp>
        <p:nvSpPr>
          <p:cNvPr id="23" name="workflow-28"/>
          <p:cNvSpPr>
            <a:spLocks noGrp="1"/>
          </p:cNvSpPr>
          <p:nvPr/>
        </p:nvSpPr>
        <p:spPr>
          <a:xfrm>
            <a:off x="3333750" y="4486275"/>
            <a:ext cx="2238375" cy="714375"/>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Find final peaks</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Spacing + peak height</a:t>
            </a:r>
          </a:p>
        </p:txBody>
      </p:sp>
      <p:sp>
        <p:nvSpPr>
          <p:cNvPr id="24" name="workflow-29"/>
          <p:cNvSpPr>
            <a:spLocks noGrp="1"/>
          </p:cNvSpPr>
          <p:nvPr/>
        </p:nvSpPr>
        <p:spPr>
          <a:xfrm>
            <a:off x="571500" y="4486275"/>
            <a:ext cx="2190750" cy="714375"/>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Merge blocks</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Check pulse intervals</a:t>
            </a:r>
          </a:p>
        </p:txBody>
      </p:sp>
      <p:cxnSp>
        <p:nvCxnSpPr>
          <p:cNvPr id="55" name="直接箭头连接符 54"/>
          <p:cNvCxnSpPr>
            <a:stCxn id="5" idx="2"/>
            <a:endCxn id="23" idx="0"/>
          </p:cNvCxnSpPr>
          <p:nvPr/>
        </p:nvCxnSpPr>
        <p:spPr>
          <a:xfrm>
            <a:off x="4452938" y="2352675"/>
            <a:ext cx="0" cy="2133600"/>
          </a:xfrm>
          <a:prstGeom prst="straightConnector1">
            <a:avLst/>
          </a:prstGeom>
          <a:ln w="19050">
            <a:solidFill>
              <a:srgbClr val="506577"/>
            </a:solidFill>
            <a:tailEnd type="triangle" w="sm" len="sm"/>
          </a:ln>
        </p:spPr>
      </p:cxnSp>
      <p:cxnSp>
        <p:nvCxnSpPr>
          <p:cNvPr id="56" name="直接箭头连接符 55"/>
          <p:cNvCxnSpPr>
            <a:stCxn id="20" idx="1"/>
            <a:endCxn id="23" idx="3"/>
          </p:cNvCxnSpPr>
          <p:nvPr/>
        </p:nvCxnSpPr>
        <p:spPr>
          <a:xfrm flipH="1">
            <a:off x="5572125" y="4843463"/>
            <a:ext cx="571500" cy="0"/>
          </a:xfrm>
          <a:prstGeom prst="straightConnector1">
            <a:avLst/>
          </a:prstGeom>
          <a:ln w="19050">
            <a:solidFill>
              <a:srgbClr val="7056A8"/>
            </a:solidFill>
            <a:tailEnd type="triangle" w="sm" len="sm"/>
          </a:ln>
        </p:spPr>
      </p:cxnSp>
      <p:cxnSp>
        <p:nvCxnSpPr>
          <p:cNvPr id="57" name="直接箭头连接符 56"/>
          <p:cNvCxnSpPr>
            <a:stCxn id="23" idx="1"/>
            <a:endCxn id="24" idx="3"/>
          </p:cNvCxnSpPr>
          <p:nvPr/>
        </p:nvCxnSpPr>
        <p:spPr>
          <a:xfrm flipH="1">
            <a:off x="2762250" y="4843463"/>
            <a:ext cx="571500" cy="0"/>
          </a:xfrm>
          <a:prstGeom prst="straightConnector1">
            <a:avLst/>
          </a:prstGeom>
          <a:ln w="19050">
            <a:solidFill>
              <a:srgbClr val="506577"/>
            </a:solidFill>
            <a:tailEnd type="triangle" w="sm" len="sm"/>
          </a:ln>
        </p:spPr>
      </p:cxnSp>
      <p:sp>
        <p:nvSpPr>
          <p:cNvPr id="28" name="text-30"/>
          <p:cNvSpPr>
            <a:spLocks noGrp="1"/>
          </p:cNvSpPr>
          <p:nvPr/>
        </p:nvSpPr>
        <p:spPr>
          <a:xfrm>
            <a:off x="552450" y="5286375"/>
            <a:ext cx="10839450" cy="295275"/>
          </a:xfrm>
          <a:prstGeom prst="rect">
            <a:avLst/>
          </a:prstGeom>
          <a:noFill/>
          <a:ln w="0">
            <a:noFill/>
          </a:ln>
        </p:spPr>
        <p:txBody>
          <a:bodyPr wrap="square" lIns="0" tIns="0" rIns="0" bIns="0" anchor="t">
            <a:noAutofit/>
          </a:bodyPr>
          <a:lstStyle/>
          <a:p>
            <a:pPr algn="l">
              <a:defRPr sz="1425" b="0">
                <a:solidFill>
                  <a:srgbClr val="152C3F"/>
                </a:solidFill>
                <a:latin typeface="DejaVu Sans" panose="020B0603030804020204"/>
                <a:ea typeface="DejaVu Sans" panose="020B0603030804020204"/>
                <a:cs typeface="DejaVu Sans" panose="020B0603030804020204"/>
              </a:defRPr>
            </a:pPr>
            <a:r>
              <a:rPr sz="1425" b="0">
                <a:solidFill>
                  <a:srgbClr val="152C3F"/>
                </a:solidFill>
                <a:latin typeface="DejaVu Sans" panose="020B0603030804020204"/>
                <a:ea typeface="DejaVu Sans" panose="020B0603030804020204"/>
                <a:cs typeface="DejaVu Sans" panose="020B0603030804020204"/>
              </a:rPr>
              <a:t>Heart-rate index (HRi): HRwin = Fs / [3(1 + HRi)]    Minimum spacing ≥ 2HRwin</a:t>
            </a:r>
          </a:p>
        </p:txBody>
      </p:sp>
      <p:sp>
        <p:nvSpPr>
          <p:cNvPr id="29" name="text-31"/>
          <p:cNvSpPr>
            <a:spLocks noGrp="1"/>
          </p:cNvSpPr>
          <p:nvPr/>
        </p:nvSpPr>
        <p:spPr>
          <a:xfrm>
            <a:off x="552450" y="5629275"/>
            <a:ext cx="10839450" cy="295275"/>
          </a:xfrm>
          <a:prstGeom prst="rect">
            <a:avLst/>
          </a:prstGeom>
          <a:noFill/>
          <a:ln w="0">
            <a:noFill/>
          </a:ln>
        </p:spPr>
        <p:txBody>
          <a:bodyPr wrap="square" lIns="0" tIns="0" rIns="0" bIns="0" anchor="t">
            <a:noAutofit/>
          </a:bodyPr>
          <a:lstStyle/>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Peak height = height above surrounding valleys. Carry HRi into the next 10 s block.</a:t>
            </a:r>
          </a:p>
        </p:txBody>
      </p:sp>
      <p:sp>
        <p:nvSpPr>
          <p:cNvPr id="30" name="text-32"/>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PPIs are pulse-to-pulse intervals. Repeated independently for RED and IR. Thesis §3.4.1.1.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14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MSPTDfast v2: maxima across temporal scales</a:t>
            </a:r>
          </a:p>
        </p:txBody>
      </p:sp>
      <p:sp>
        <p:nvSpPr>
          <p:cNvPr id="2" name="text-14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PEAK DETECTION</a:t>
            </a:r>
          </a:p>
        </p:txBody>
      </p:sp>
      <p:sp>
        <p:nvSpPr>
          <p:cNvPr id="3" name="text-14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25</a:t>
            </a:r>
          </a:p>
        </p:txBody>
      </p:sp>
      <p:sp>
        <p:nvSpPr>
          <p:cNvPr id="4" name="text-146"/>
          <p:cNvSpPr>
            <a:spLocks noGrp="1"/>
          </p:cNvSpPr>
          <p:nvPr/>
        </p:nvSpPr>
        <p:spPr>
          <a:xfrm>
            <a:off x="571500" y="1352550"/>
            <a:ext cx="7134225" cy="323850"/>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20 Hz detector samples within a 6 s window</a:t>
            </a:r>
          </a:p>
        </p:txBody>
      </p:sp>
      <p:sp>
        <p:nvSpPr>
          <p:cNvPr id="6" name="text-147"/>
          <p:cNvSpPr>
            <a:spLocks noGrp="1"/>
          </p:cNvSpPr>
          <p:nvPr/>
        </p:nvSpPr>
        <p:spPr>
          <a:xfrm>
            <a:off x="8096250" y="1352550"/>
            <a:ext cx="3524250" cy="590550"/>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Refine on the 400 Hz signal</a:t>
            </a:r>
          </a:p>
        </p:txBody>
      </p:sp>
      <p:sp>
        <p:nvSpPr>
          <p:cNvPr id="9" name="text-149"/>
          <p:cNvSpPr>
            <a:spLocks noGrp="1"/>
          </p:cNvSpPr>
          <p:nvPr/>
        </p:nvSpPr>
        <p:spPr>
          <a:xfrm>
            <a:off x="571500" y="4086225"/>
            <a:ext cx="10477500" cy="333375"/>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Same sample must remain a maximum across scales</a:t>
            </a:r>
          </a:p>
        </p:txBody>
      </p:sp>
      <p:sp>
        <p:nvSpPr>
          <p:cNvPr id="11" name="text-150"/>
          <p:cNvSpPr>
            <a:spLocks noGrp="1"/>
          </p:cNvSpPr>
          <p:nvPr/>
        </p:nvSpPr>
        <p:spPr>
          <a:xfrm>
            <a:off x="7943850" y="4562475"/>
            <a:ext cx="3743325" cy="581025"/>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Teal: higher than both neighbours</a:t>
            </a:r>
          </a:p>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at distance k samples.</a:t>
            </a:r>
          </a:p>
        </p:txBody>
      </p:sp>
      <p:sp>
        <p:nvSpPr>
          <p:cNvPr id="12" name="text-151"/>
          <p:cNvSpPr>
            <a:spLocks noGrp="1"/>
          </p:cNvSpPr>
          <p:nvPr/>
        </p:nvSpPr>
        <p:spPr>
          <a:xfrm>
            <a:off x="7943850" y="5305425"/>
            <a:ext cx="3743325" cy="609600"/>
          </a:xfrm>
          <a:prstGeom prst="rect">
            <a:avLst/>
          </a:prstGeom>
          <a:noFill/>
          <a:ln w="0">
            <a:noFill/>
          </a:ln>
        </p:spPr>
        <p:txBody>
          <a:bodyPr wrap="square" lIns="0" tIns="0" rIns="0" bIns="0" anchor="t">
            <a:noAutofit/>
          </a:bodyPr>
          <a:lstStyle/>
          <a:p>
            <a:pPr algn="l">
              <a:defRPr sz="1425" b="1">
                <a:solidFill>
                  <a:srgbClr val="7056A8"/>
                </a:solidFill>
                <a:latin typeface="DejaVu Sans" panose="020B0603030804020204"/>
                <a:ea typeface="DejaVu Sans" panose="020B0603030804020204"/>
                <a:cs typeface="DejaVu Sans" panose="020B0603030804020204"/>
              </a:defRPr>
            </a:pPr>
            <a:r>
              <a:rPr sz="1425" b="1">
                <a:solidFill>
                  <a:srgbClr val="7056A8"/>
                </a:solidFill>
                <a:latin typeface="DejaVu Sans" panose="020B0603030804020204"/>
                <a:ea typeface="DejaVu Sans" panose="020B0603030804020204"/>
                <a:cs typeface="DejaVu Sans" panose="020B0603030804020204"/>
              </a:rPr>
              <a:t>Pulse peaks persist across scales.</a:t>
            </a:r>
          </a:p>
          <a:p>
            <a:pPr algn="l">
              <a:defRPr sz="1425" b="1">
                <a:solidFill>
                  <a:srgbClr val="7056A8"/>
                </a:solidFill>
                <a:latin typeface="DejaVu Sans" panose="020B0603030804020204"/>
                <a:ea typeface="DejaVu Sans" panose="020B0603030804020204"/>
                <a:cs typeface="DejaVu Sans" panose="020B0603030804020204"/>
              </a:defRPr>
            </a:pPr>
            <a:r>
              <a:rPr sz="1425" b="1">
                <a:solidFill>
                  <a:srgbClr val="7056A8"/>
                </a:solidFill>
                <a:latin typeface="DejaVu Sans" panose="020B0603030804020204"/>
                <a:ea typeface="DejaVu Sans" panose="020B0603030804020204"/>
                <a:cs typeface="DejaVu Sans" panose="020B0603030804020204"/>
              </a:rPr>
              <a:t>Purple guides mark candidate columns.</a:t>
            </a:r>
          </a:p>
        </p:txBody>
      </p:sp>
      <p:sp>
        <p:nvSpPr>
          <p:cNvPr id="13" name="text-152"/>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Project peak-only MSPTDfast v2 port. Illustrative signal; six-second detector windows overlap by 20%.</a:t>
            </a:r>
          </a:p>
        </p:txBody>
      </p:sp>
      <p:pic>
        <p:nvPicPr>
          <p:cNvPr id="5" name="图片 4"/>
          <p:cNvPicPr>
            <a:picLocks noChangeAspect="1"/>
          </p:cNvPicPr>
          <p:nvPr/>
        </p:nvPicPr>
        <p:blipFill>
          <a:blip r:embed="rId3"/>
          <a:stretch>
            <a:fillRect/>
          </a:stretch>
        </p:blipFill>
        <p:spPr>
          <a:xfrm>
            <a:off x="407670" y="1772920"/>
            <a:ext cx="7213600" cy="2171065"/>
          </a:xfrm>
          <a:prstGeom prst="rect">
            <a:avLst/>
          </a:prstGeom>
        </p:spPr>
      </p:pic>
      <p:pic>
        <p:nvPicPr>
          <p:cNvPr id="7" name="图片 6"/>
          <p:cNvPicPr>
            <a:picLocks noChangeAspect="1"/>
          </p:cNvPicPr>
          <p:nvPr/>
        </p:nvPicPr>
        <p:blipFill>
          <a:blip r:embed="rId4"/>
          <a:stretch>
            <a:fillRect/>
          </a:stretch>
        </p:blipFill>
        <p:spPr>
          <a:xfrm>
            <a:off x="479425" y="4490085"/>
            <a:ext cx="6623050" cy="1367790"/>
          </a:xfrm>
          <a:prstGeom prst="rect">
            <a:avLst/>
          </a:prstGeom>
        </p:spPr>
      </p:pic>
      <p:pic>
        <p:nvPicPr>
          <p:cNvPr id="10" name="图片 9"/>
          <p:cNvPicPr>
            <a:picLocks noChangeAspect="1"/>
          </p:cNvPicPr>
          <p:nvPr/>
        </p:nvPicPr>
        <p:blipFill>
          <a:blip r:embed="rId5"/>
          <a:stretch>
            <a:fillRect/>
          </a:stretch>
        </p:blipFill>
        <p:spPr>
          <a:xfrm>
            <a:off x="7969885" y="2091055"/>
            <a:ext cx="4064635" cy="20694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text-15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MSPTDfast v2: parallel scales and peak refinement</a:t>
            </a:r>
          </a:p>
        </p:txBody>
      </p:sp>
      <p:sp>
        <p:nvSpPr>
          <p:cNvPr id="2" name="text-15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PEAK DETECTION</a:t>
            </a:r>
          </a:p>
        </p:txBody>
      </p:sp>
      <p:sp>
        <p:nvSpPr>
          <p:cNvPr id="3" name="text-15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26</a:t>
            </a:r>
          </a:p>
        </p:txBody>
      </p:sp>
      <p:sp>
        <p:nvSpPr>
          <p:cNvPr id="4" name="workflow-156"/>
          <p:cNvSpPr>
            <a:spLocks noGrp="1"/>
          </p:cNvSpPr>
          <p:nvPr/>
        </p:nvSpPr>
        <p:spPr>
          <a:xfrm>
            <a:off x="571500" y="1495425"/>
            <a:ext cx="2190750" cy="800100"/>
          </a:xfrm>
          <a:prstGeom prst="rect">
            <a:avLst/>
          </a:prstGeom>
          <a:solidFill>
            <a:srgbClr val="ECF4F6"/>
          </a:solidFill>
          <a:ln w="16193">
            <a:solidFill>
              <a:srgbClr val="087E8B"/>
            </a:solidFill>
          </a:ln>
        </p:spPr>
        <p:txBody>
          <a:bodyPr lIns="95250" tIns="76200" rIns="95250" bIns="76200" anchor="ctr">
            <a:noAutofit/>
          </a:bodyPr>
          <a:lstStyle/>
          <a:p>
            <a:pPr algn="ctr">
              <a:defRPr sz="1650">
                <a:solidFill>
                  <a:srgbClr val="087E8B"/>
                </a:solidFill>
                <a:latin typeface="DejaVu Sans" panose="020B0603030804020204"/>
                <a:ea typeface="DejaVu Sans" panose="020B0603030804020204"/>
                <a:cs typeface="DejaVu Sans" panose="020B0603030804020204"/>
              </a:defRPr>
            </a:pPr>
            <a:r>
              <a:rPr sz="1650">
                <a:solidFill>
                  <a:srgbClr val="087E8B"/>
                </a:solidFill>
                <a:latin typeface="DejaVu Sans" panose="020B0603030804020204"/>
                <a:ea typeface="DejaVu Sans" panose="020B0603030804020204"/>
                <a:cs typeface="DejaVu Sans" panose="020B0603030804020204"/>
              </a:rPr>
              <a:t>Native PPG</a:t>
            </a:r>
          </a:p>
          <a:p>
            <a:pPr algn="ctr">
              <a:defRPr sz="1650">
                <a:solidFill>
                  <a:srgbClr val="087E8B"/>
                </a:solidFill>
                <a:latin typeface="DejaVu Sans" panose="020B0603030804020204"/>
                <a:ea typeface="DejaVu Sans" panose="020B0603030804020204"/>
                <a:cs typeface="DejaVu Sans" panose="020B0603030804020204"/>
              </a:defRPr>
            </a:pPr>
            <a:r>
              <a:rPr sz="1650">
                <a:solidFill>
                  <a:srgbClr val="087E8B"/>
                </a:solidFill>
                <a:latin typeface="DejaVu Sans" panose="020B0603030804020204"/>
                <a:ea typeface="DejaVu Sans" panose="020B0603030804020204"/>
                <a:cs typeface="DejaVu Sans" panose="020B0603030804020204"/>
              </a:rPr>
              <a:t>400 Hz</a:t>
            </a:r>
          </a:p>
        </p:txBody>
      </p:sp>
      <p:sp>
        <p:nvSpPr>
          <p:cNvPr id="5" name="workflow-157"/>
          <p:cNvSpPr>
            <a:spLocks noGrp="1"/>
          </p:cNvSpPr>
          <p:nvPr/>
        </p:nvSpPr>
        <p:spPr>
          <a:xfrm>
            <a:off x="3333750" y="1495425"/>
            <a:ext cx="2238375" cy="800100"/>
          </a:xfrm>
          <a:prstGeom prst="rect">
            <a:avLst/>
          </a:prstGeom>
          <a:solidFill>
            <a:srgbClr val="ECF4F6"/>
          </a:solidFill>
          <a:ln w="16193">
            <a:solidFill>
              <a:srgbClr val="087E8B"/>
            </a:solidFill>
          </a:ln>
        </p:spPr>
        <p:txBody>
          <a:bodyPr lIns="95250" tIns="76200" rIns="95250" bIns="76200" anchor="ctr">
            <a:noAutofit/>
          </a:bodyPr>
          <a:lstStyle/>
          <a:p>
            <a:pPr algn="ctr">
              <a:defRPr sz="1650">
                <a:solidFill>
                  <a:srgbClr val="087E8B"/>
                </a:solidFill>
                <a:latin typeface="DejaVu Sans" panose="020B0603030804020204"/>
                <a:ea typeface="DejaVu Sans" panose="020B0603030804020204"/>
                <a:cs typeface="DejaVu Sans" panose="020B0603030804020204"/>
              </a:defRPr>
            </a:pPr>
            <a:r>
              <a:rPr sz="1650">
                <a:solidFill>
                  <a:srgbClr val="087E8B"/>
                </a:solidFill>
                <a:latin typeface="DejaVu Sans" panose="020B0603030804020204"/>
                <a:ea typeface="DejaVu Sans" panose="020B0603030804020204"/>
                <a:cs typeface="DejaVu Sans" panose="020B0603030804020204"/>
              </a:rPr>
              <a:t>6 s windows</a:t>
            </a:r>
          </a:p>
          <a:p>
            <a:pPr algn="ctr">
              <a:defRPr sz="1650">
                <a:solidFill>
                  <a:srgbClr val="087E8B"/>
                </a:solidFill>
                <a:latin typeface="DejaVu Sans" panose="020B0603030804020204"/>
                <a:ea typeface="DejaVu Sans" panose="020B0603030804020204"/>
                <a:cs typeface="DejaVu Sans" panose="020B0603030804020204"/>
              </a:defRPr>
            </a:pPr>
            <a:r>
              <a:rPr sz="1650">
                <a:solidFill>
                  <a:srgbClr val="087E8B"/>
                </a:solidFill>
                <a:latin typeface="DejaVu Sans" panose="020B0603030804020204"/>
                <a:ea typeface="DejaVu Sans" panose="020B0603030804020204"/>
                <a:cs typeface="DejaVu Sans" panose="020B0603030804020204"/>
              </a:rPr>
              <a:t>20% overlap</a:t>
            </a:r>
          </a:p>
        </p:txBody>
      </p:sp>
      <p:sp>
        <p:nvSpPr>
          <p:cNvPr id="6" name="workflow-158"/>
          <p:cNvSpPr>
            <a:spLocks noGrp="1"/>
          </p:cNvSpPr>
          <p:nvPr/>
        </p:nvSpPr>
        <p:spPr>
          <a:xfrm>
            <a:off x="6238875" y="1495425"/>
            <a:ext cx="2333625" cy="800100"/>
          </a:xfrm>
          <a:prstGeom prst="rect">
            <a:avLst/>
          </a:prstGeom>
          <a:solidFill>
            <a:srgbClr val="ECF4F6"/>
          </a:solidFill>
          <a:ln w="16193">
            <a:solidFill>
              <a:srgbClr val="087E8B"/>
            </a:solidFill>
          </a:ln>
        </p:spPr>
        <p:txBody>
          <a:bodyPr lIns="95250" tIns="76200" rIns="95250" bIns="76200" anchor="ctr">
            <a:noAutofit/>
          </a:bodyPr>
          <a:lstStyle/>
          <a:p>
            <a:pPr algn="ctr">
              <a:defRPr sz="1575">
                <a:solidFill>
                  <a:srgbClr val="087E8B"/>
                </a:solidFill>
                <a:latin typeface="DejaVu Sans" panose="020B0603030804020204"/>
                <a:ea typeface="DejaVu Sans" panose="020B0603030804020204"/>
                <a:cs typeface="DejaVu Sans" panose="020B0603030804020204"/>
              </a:defRPr>
            </a:pPr>
            <a:r>
              <a:rPr sz="1575">
                <a:solidFill>
                  <a:srgbClr val="087E8B"/>
                </a:solidFill>
                <a:latin typeface="DejaVu Sans" panose="020B0603030804020204"/>
                <a:ea typeface="DejaVu Sans" panose="020B0603030804020204"/>
                <a:cs typeface="DejaVu Sans" panose="020B0603030804020204"/>
              </a:rPr>
              <a:t>400 / 20 = 20 Hz</a:t>
            </a:r>
          </a:p>
          <a:p>
            <a:pPr algn="ctr">
              <a:defRPr sz="1575">
                <a:solidFill>
                  <a:srgbClr val="087E8B"/>
                </a:solidFill>
                <a:latin typeface="DejaVu Sans" panose="020B0603030804020204"/>
                <a:ea typeface="DejaVu Sans" panose="020B0603030804020204"/>
                <a:cs typeface="DejaVu Sans" panose="020B0603030804020204"/>
              </a:defRPr>
            </a:pPr>
            <a:r>
              <a:rPr sz="1575">
                <a:solidFill>
                  <a:srgbClr val="087E8B"/>
                </a:solidFill>
                <a:latin typeface="DejaVu Sans" panose="020B0603030804020204"/>
                <a:ea typeface="DejaVu Sans" panose="020B0603030804020204"/>
                <a:cs typeface="DejaVu Sans" panose="020B0603030804020204"/>
              </a:rPr>
              <a:t>Linear detrending</a:t>
            </a:r>
          </a:p>
        </p:txBody>
      </p:sp>
      <p:sp>
        <p:nvSpPr>
          <p:cNvPr id="7" name="workflow-159"/>
          <p:cNvSpPr>
            <a:spLocks noGrp="1"/>
          </p:cNvSpPr>
          <p:nvPr/>
        </p:nvSpPr>
        <p:spPr>
          <a:xfrm>
            <a:off x="9144000" y="1495425"/>
            <a:ext cx="2476500" cy="800100"/>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Restrict scales</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Lower HR bound: 30 bpm</a:t>
            </a:r>
          </a:p>
        </p:txBody>
      </p:sp>
      <p:cxnSp>
        <p:nvCxnSpPr>
          <p:cNvPr id="42" name="直接箭头连接符 41"/>
          <p:cNvCxnSpPr>
            <a:stCxn id="4" idx="3"/>
            <a:endCxn id="5" idx="1"/>
          </p:cNvCxnSpPr>
          <p:nvPr/>
        </p:nvCxnSpPr>
        <p:spPr>
          <a:xfrm>
            <a:off x="2762250" y="1895475"/>
            <a:ext cx="571500" cy="0"/>
          </a:xfrm>
          <a:prstGeom prst="straightConnector1">
            <a:avLst/>
          </a:prstGeom>
          <a:ln w="19050">
            <a:solidFill>
              <a:srgbClr val="506577"/>
            </a:solidFill>
            <a:tailEnd type="triangle" w="sm" len="sm"/>
          </a:ln>
        </p:spPr>
      </p:cxnSp>
      <p:cxnSp>
        <p:nvCxnSpPr>
          <p:cNvPr id="43" name="直接箭头连接符 42"/>
          <p:cNvCxnSpPr>
            <a:stCxn id="5" idx="3"/>
            <a:endCxn id="6" idx="1"/>
          </p:cNvCxnSpPr>
          <p:nvPr/>
        </p:nvCxnSpPr>
        <p:spPr>
          <a:xfrm>
            <a:off x="5572125" y="1895475"/>
            <a:ext cx="666750" cy="0"/>
          </a:xfrm>
          <a:prstGeom prst="straightConnector1">
            <a:avLst/>
          </a:prstGeom>
          <a:ln w="19050">
            <a:solidFill>
              <a:srgbClr val="506577"/>
            </a:solidFill>
            <a:tailEnd type="triangle" w="sm" len="sm"/>
          </a:ln>
        </p:spPr>
      </p:cxnSp>
      <p:cxnSp>
        <p:nvCxnSpPr>
          <p:cNvPr id="44" name="直接箭头连接符 43"/>
          <p:cNvCxnSpPr>
            <a:stCxn id="6" idx="3"/>
            <a:endCxn id="7" idx="1"/>
          </p:cNvCxnSpPr>
          <p:nvPr/>
        </p:nvCxnSpPr>
        <p:spPr>
          <a:xfrm>
            <a:off x="8572500" y="1895475"/>
            <a:ext cx="571500" cy="0"/>
          </a:xfrm>
          <a:prstGeom prst="straightConnector1">
            <a:avLst/>
          </a:prstGeom>
          <a:ln w="19050">
            <a:solidFill>
              <a:srgbClr val="506577"/>
            </a:solidFill>
            <a:tailEnd type="triangle" w="sm" len="sm"/>
          </a:ln>
        </p:spPr>
      </p:cxnSp>
      <p:sp>
        <p:nvSpPr>
          <p:cNvPr id="11" name="workflow-160"/>
          <p:cNvSpPr>
            <a:spLocks noGrp="1"/>
          </p:cNvSpPr>
          <p:nvPr/>
        </p:nvSpPr>
        <p:spPr>
          <a:xfrm>
            <a:off x="3333750" y="3114675"/>
            <a:ext cx="2238375" cy="838200"/>
          </a:xfrm>
          <a:prstGeom prst="rect">
            <a:avLst/>
          </a:prstGeom>
          <a:solidFill>
            <a:srgbClr val="F2EFF7"/>
          </a:solidFill>
          <a:ln w="16193">
            <a:solidFill>
              <a:srgbClr val="7056A8"/>
            </a:solidFill>
          </a:ln>
        </p:spPr>
        <p:txBody>
          <a:bodyPr lIns="95250" tIns="76200" rIns="95250" bIns="76200" anchor="ctr">
            <a:noAutofit/>
          </a:bodyPr>
          <a:lstStyle/>
          <a:p>
            <a:pPr algn="ctr">
              <a:defRPr sz="1425">
                <a:solidFill>
                  <a:srgbClr val="7056A8"/>
                </a:solidFill>
                <a:latin typeface="DejaVu Sans" panose="020B0603030804020204"/>
                <a:ea typeface="DejaVu Sans" panose="020B0603030804020204"/>
                <a:cs typeface="DejaVu Sans" panose="020B0603030804020204"/>
              </a:defRPr>
            </a:pPr>
            <a:r>
              <a:rPr sz="1425">
                <a:solidFill>
                  <a:srgbClr val="7056A8"/>
                </a:solidFill>
                <a:latin typeface="DejaVu Sans" panose="020B0603030804020204"/>
                <a:ea typeface="DejaVu Sans" panose="020B0603030804020204"/>
                <a:cs typeface="DejaVu Sans" panose="020B0603030804020204"/>
              </a:rPr>
              <a:t>Scale k = 1</a:t>
            </a:r>
          </a:p>
          <a:p>
            <a:pPr algn="ctr">
              <a:defRPr sz="1425">
                <a:solidFill>
                  <a:srgbClr val="7056A8"/>
                </a:solidFill>
                <a:latin typeface="DejaVu Sans" panose="020B0603030804020204"/>
                <a:ea typeface="DejaVu Sans" panose="020B0603030804020204"/>
                <a:cs typeface="DejaVu Sans" panose="020B0603030804020204"/>
              </a:defRPr>
            </a:pPr>
            <a:r>
              <a:rPr sz="1425">
                <a:solidFill>
                  <a:srgbClr val="7056A8"/>
                </a:solidFill>
                <a:latin typeface="DejaVu Sans" panose="020B0603030804020204"/>
                <a:ea typeface="DejaVu Sans" panose="020B0603030804020204"/>
                <a:cs typeface="DejaVu Sans" panose="020B0603030804020204"/>
              </a:rPr>
              <a:t>x[i] &gt; x[i−1], x[i+1]</a:t>
            </a:r>
          </a:p>
        </p:txBody>
      </p:sp>
      <p:sp>
        <p:nvSpPr>
          <p:cNvPr id="12" name="workflow-161"/>
          <p:cNvSpPr>
            <a:spLocks noGrp="1"/>
          </p:cNvSpPr>
          <p:nvPr/>
        </p:nvSpPr>
        <p:spPr>
          <a:xfrm>
            <a:off x="6238875" y="3114675"/>
            <a:ext cx="2333625" cy="838200"/>
          </a:xfrm>
          <a:prstGeom prst="rect">
            <a:avLst/>
          </a:prstGeom>
          <a:solidFill>
            <a:srgbClr val="F2EFF7"/>
          </a:solidFill>
          <a:ln w="16193">
            <a:solidFill>
              <a:srgbClr val="7056A8"/>
            </a:solidFill>
          </a:ln>
        </p:spPr>
        <p:txBody>
          <a:bodyPr lIns="95250" tIns="76200" rIns="95250" bIns="76200" anchor="ctr">
            <a:noAutofit/>
          </a:bodyPr>
          <a:lstStyle/>
          <a:p>
            <a:pPr algn="ctr">
              <a:defRPr sz="1425">
                <a:solidFill>
                  <a:srgbClr val="7056A8"/>
                </a:solidFill>
                <a:latin typeface="DejaVu Sans" panose="020B0603030804020204"/>
                <a:ea typeface="DejaVu Sans" panose="020B0603030804020204"/>
                <a:cs typeface="DejaVu Sans" panose="020B0603030804020204"/>
              </a:defRPr>
            </a:pPr>
            <a:r>
              <a:rPr sz="1425">
                <a:solidFill>
                  <a:srgbClr val="7056A8"/>
                </a:solidFill>
                <a:latin typeface="DejaVu Sans" panose="020B0603030804020204"/>
                <a:ea typeface="DejaVu Sans" panose="020B0603030804020204"/>
                <a:cs typeface="DejaVu Sans" panose="020B0603030804020204"/>
              </a:rPr>
              <a:t>Scale k = 2</a:t>
            </a:r>
          </a:p>
          <a:p>
            <a:pPr algn="ctr">
              <a:defRPr sz="1425">
                <a:solidFill>
                  <a:srgbClr val="7056A8"/>
                </a:solidFill>
                <a:latin typeface="DejaVu Sans" panose="020B0603030804020204"/>
                <a:ea typeface="DejaVu Sans" panose="020B0603030804020204"/>
                <a:cs typeface="DejaVu Sans" panose="020B0603030804020204"/>
              </a:defRPr>
            </a:pPr>
            <a:r>
              <a:rPr sz="1425">
                <a:solidFill>
                  <a:srgbClr val="7056A8"/>
                </a:solidFill>
                <a:latin typeface="DejaVu Sans" panose="020B0603030804020204"/>
                <a:ea typeface="DejaVu Sans" panose="020B0603030804020204"/>
                <a:cs typeface="DejaVu Sans" panose="020B0603030804020204"/>
              </a:rPr>
              <a:t>x[i] &gt; x[i−2], x[i+2]</a:t>
            </a:r>
          </a:p>
        </p:txBody>
      </p:sp>
      <p:sp>
        <p:nvSpPr>
          <p:cNvPr id="13" name="workflow-162"/>
          <p:cNvSpPr>
            <a:spLocks noGrp="1"/>
          </p:cNvSpPr>
          <p:nvPr/>
        </p:nvSpPr>
        <p:spPr>
          <a:xfrm>
            <a:off x="9144000" y="3114675"/>
            <a:ext cx="2476500" cy="838200"/>
          </a:xfrm>
          <a:prstGeom prst="rect">
            <a:avLst/>
          </a:prstGeom>
          <a:solidFill>
            <a:srgbClr val="F2EFF7"/>
          </a:solidFill>
          <a:ln w="16193">
            <a:solidFill>
              <a:srgbClr val="7056A8"/>
            </a:solidFill>
          </a:ln>
        </p:spPr>
        <p:txBody>
          <a:bodyPr lIns="95250" tIns="76200" rIns="95250" bIns="76200" anchor="ctr">
            <a:noAutofit/>
          </a:bodyPr>
          <a:lstStyle/>
          <a:p>
            <a:pPr algn="ctr">
              <a:defRPr sz="1425">
                <a:solidFill>
                  <a:srgbClr val="7056A8"/>
                </a:solidFill>
                <a:latin typeface="DejaVu Sans" panose="020B0603030804020204"/>
                <a:ea typeface="DejaVu Sans" panose="020B0603030804020204"/>
                <a:cs typeface="DejaVu Sans" panose="020B0603030804020204"/>
              </a:defRPr>
            </a:pPr>
            <a:r>
              <a:rPr sz="1425">
                <a:solidFill>
                  <a:srgbClr val="7056A8"/>
                </a:solidFill>
                <a:latin typeface="DejaVu Sans" panose="020B0603030804020204"/>
                <a:ea typeface="DejaVu Sans" panose="020B0603030804020204"/>
                <a:cs typeface="DejaVu Sans" panose="020B0603030804020204"/>
              </a:rPr>
              <a:t>Scale k = K</a:t>
            </a:r>
          </a:p>
          <a:p>
            <a:pPr algn="ctr">
              <a:defRPr sz="1425">
                <a:solidFill>
                  <a:srgbClr val="7056A8"/>
                </a:solidFill>
                <a:latin typeface="DejaVu Sans" panose="020B0603030804020204"/>
                <a:ea typeface="DejaVu Sans" panose="020B0603030804020204"/>
                <a:cs typeface="DejaVu Sans" panose="020B0603030804020204"/>
              </a:defRPr>
            </a:pPr>
            <a:r>
              <a:rPr sz="1425">
                <a:solidFill>
                  <a:srgbClr val="7056A8"/>
                </a:solidFill>
                <a:latin typeface="DejaVu Sans" panose="020B0603030804020204"/>
                <a:ea typeface="DejaVu Sans" panose="020B0603030804020204"/>
                <a:cs typeface="DejaVu Sans" panose="020B0603030804020204"/>
              </a:rPr>
              <a:t>x[i] &gt; x[i−k], x[i+k]</a:t>
            </a:r>
          </a:p>
        </p:txBody>
      </p:sp>
      <p:sp>
        <p:nvSpPr>
          <p:cNvPr id="14" name="任意多边形 13"/>
          <p:cNvSpPr>
            <a:spLocks noGrp="1"/>
          </p:cNvSpPr>
          <p:nvPr/>
        </p:nvSpPr>
        <p:spPr>
          <a:xfrm>
            <a:off x="4448175" y="2295525"/>
            <a:ext cx="5934075" cy="819150"/>
          </a:xfrm>
          <a:custGeom>
            <a:avLst/>
            <a:gdLst/>
            <a:ahLst/>
            <a:cxnLst/>
            <a:rect l="0" t="0" r="0" b="0"/>
            <a:pathLst>
              <a:path w="5934075" h="819150">
                <a:moveTo>
                  <a:pt x="5934075" y="0"/>
                </a:moveTo>
                <a:lnTo>
                  <a:pt x="5934075" y="381000"/>
                </a:lnTo>
                <a:lnTo>
                  <a:pt x="0" y="381000"/>
                </a:lnTo>
                <a:lnTo>
                  <a:pt x="0" y="819150"/>
                </a:lnTo>
              </a:path>
            </a:pathLst>
          </a:custGeom>
          <a:noFill/>
          <a:ln w="19050">
            <a:solidFill>
              <a:srgbClr val="7056A8"/>
            </a:solidFill>
          </a:ln>
        </p:spPr>
        <p:txBody>
          <a:bodyPr/>
          <a:lstStyle/>
          <a:p>
            <a:endParaRPr lang="zh-CN" altLang="en-US"/>
          </a:p>
        </p:txBody>
      </p:sp>
      <p:sp>
        <p:nvSpPr>
          <p:cNvPr id="15" name="任意多边形 14"/>
          <p:cNvSpPr>
            <a:spLocks noGrp="1"/>
          </p:cNvSpPr>
          <p:nvPr/>
        </p:nvSpPr>
        <p:spPr>
          <a:xfrm>
            <a:off x="4410075" y="3028950"/>
            <a:ext cx="76200" cy="85725"/>
          </a:xfrm>
          <a:custGeom>
            <a:avLst/>
            <a:gdLst/>
            <a:ahLst/>
            <a:cxnLst/>
            <a:rect l="0" t="0" r="0" b="0"/>
            <a:pathLst>
              <a:path w="76200" h="85725">
                <a:moveTo>
                  <a:pt x="38100" y="85725"/>
                </a:moveTo>
                <a:lnTo>
                  <a:pt x="0" y="0"/>
                </a:lnTo>
                <a:lnTo>
                  <a:pt x="76200" y="0"/>
                </a:lnTo>
                <a:close/>
              </a:path>
            </a:pathLst>
          </a:custGeom>
          <a:solidFill>
            <a:srgbClr val="7056A8"/>
          </a:solidFill>
          <a:ln w="4763">
            <a:solidFill>
              <a:srgbClr val="7056A8"/>
            </a:solidFill>
          </a:ln>
        </p:spPr>
        <p:txBody>
          <a:bodyPr/>
          <a:lstStyle/>
          <a:p>
            <a:endParaRPr lang="zh-CN" altLang="en-US"/>
          </a:p>
        </p:txBody>
      </p:sp>
      <p:sp>
        <p:nvSpPr>
          <p:cNvPr id="16" name="任意多边形 15"/>
          <p:cNvSpPr>
            <a:spLocks noGrp="1"/>
          </p:cNvSpPr>
          <p:nvPr/>
        </p:nvSpPr>
        <p:spPr>
          <a:xfrm>
            <a:off x="7400925" y="2676525"/>
            <a:ext cx="9525" cy="438150"/>
          </a:xfrm>
          <a:custGeom>
            <a:avLst/>
            <a:gdLst/>
            <a:ahLst/>
            <a:cxnLst/>
            <a:rect l="0" t="0" r="0" b="0"/>
            <a:pathLst>
              <a:path w="9525" h="438150">
                <a:moveTo>
                  <a:pt x="0" y="0"/>
                </a:moveTo>
                <a:lnTo>
                  <a:pt x="0" y="438150"/>
                </a:lnTo>
              </a:path>
            </a:pathLst>
          </a:custGeom>
          <a:noFill/>
          <a:ln w="19050">
            <a:solidFill>
              <a:srgbClr val="7056A8"/>
            </a:solidFill>
          </a:ln>
        </p:spPr>
        <p:txBody>
          <a:bodyPr/>
          <a:lstStyle/>
          <a:p>
            <a:endParaRPr lang="zh-CN" altLang="en-US"/>
          </a:p>
        </p:txBody>
      </p:sp>
      <p:sp>
        <p:nvSpPr>
          <p:cNvPr id="17" name="任意多边形 16"/>
          <p:cNvSpPr>
            <a:spLocks noGrp="1"/>
          </p:cNvSpPr>
          <p:nvPr/>
        </p:nvSpPr>
        <p:spPr>
          <a:xfrm>
            <a:off x="7362825" y="3028950"/>
            <a:ext cx="76200" cy="85725"/>
          </a:xfrm>
          <a:custGeom>
            <a:avLst/>
            <a:gdLst/>
            <a:ahLst/>
            <a:cxnLst/>
            <a:rect l="0" t="0" r="0" b="0"/>
            <a:pathLst>
              <a:path w="76200" h="85725">
                <a:moveTo>
                  <a:pt x="38100" y="85725"/>
                </a:moveTo>
                <a:lnTo>
                  <a:pt x="0" y="0"/>
                </a:lnTo>
                <a:lnTo>
                  <a:pt x="76200" y="0"/>
                </a:lnTo>
                <a:close/>
              </a:path>
            </a:pathLst>
          </a:custGeom>
          <a:solidFill>
            <a:srgbClr val="7056A8"/>
          </a:solidFill>
          <a:ln w="4763">
            <a:solidFill>
              <a:srgbClr val="7056A8"/>
            </a:solidFill>
          </a:ln>
        </p:spPr>
        <p:txBody>
          <a:bodyPr/>
          <a:lstStyle/>
          <a:p>
            <a:endParaRPr lang="zh-CN" altLang="en-US"/>
          </a:p>
        </p:txBody>
      </p:sp>
      <p:sp>
        <p:nvSpPr>
          <p:cNvPr id="18" name="任意多边形 17"/>
          <p:cNvSpPr>
            <a:spLocks noGrp="1"/>
          </p:cNvSpPr>
          <p:nvPr/>
        </p:nvSpPr>
        <p:spPr>
          <a:xfrm>
            <a:off x="10382250" y="2676525"/>
            <a:ext cx="9525" cy="438150"/>
          </a:xfrm>
          <a:custGeom>
            <a:avLst/>
            <a:gdLst/>
            <a:ahLst/>
            <a:cxnLst/>
            <a:rect l="0" t="0" r="0" b="0"/>
            <a:pathLst>
              <a:path w="9525" h="438150">
                <a:moveTo>
                  <a:pt x="0" y="0"/>
                </a:moveTo>
                <a:lnTo>
                  <a:pt x="0" y="438150"/>
                </a:lnTo>
              </a:path>
            </a:pathLst>
          </a:custGeom>
          <a:noFill/>
          <a:ln w="19050">
            <a:solidFill>
              <a:srgbClr val="7056A8"/>
            </a:solidFill>
          </a:ln>
        </p:spPr>
        <p:txBody>
          <a:bodyPr/>
          <a:lstStyle/>
          <a:p>
            <a:endParaRPr lang="zh-CN" altLang="en-US"/>
          </a:p>
        </p:txBody>
      </p:sp>
      <p:sp>
        <p:nvSpPr>
          <p:cNvPr id="19" name="任意多边形 18"/>
          <p:cNvSpPr>
            <a:spLocks noGrp="1"/>
          </p:cNvSpPr>
          <p:nvPr/>
        </p:nvSpPr>
        <p:spPr>
          <a:xfrm>
            <a:off x="10344150" y="3028950"/>
            <a:ext cx="76200" cy="85725"/>
          </a:xfrm>
          <a:custGeom>
            <a:avLst/>
            <a:gdLst/>
            <a:ahLst/>
            <a:cxnLst/>
            <a:rect l="0" t="0" r="0" b="0"/>
            <a:pathLst>
              <a:path w="76200" h="85725">
                <a:moveTo>
                  <a:pt x="38100" y="85725"/>
                </a:moveTo>
                <a:lnTo>
                  <a:pt x="0" y="0"/>
                </a:lnTo>
                <a:lnTo>
                  <a:pt x="76200" y="0"/>
                </a:lnTo>
                <a:close/>
              </a:path>
            </a:pathLst>
          </a:custGeom>
          <a:solidFill>
            <a:srgbClr val="7056A8"/>
          </a:solidFill>
          <a:ln w="4763">
            <a:solidFill>
              <a:srgbClr val="7056A8"/>
            </a:solidFill>
          </a:ln>
        </p:spPr>
        <p:txBody>
          <a:bodyPr/>
          <a:lstStyle/>
          <a:p>
            <a:endParaRPr lang="zh-CN" altLang="en-US"/>
          </a:p>
        </p:txBody>
      </p:sp>
      <p:sp>
        <p:nvSpPr>
          <p:cNvPr id="20" name="text-163"/>
          <p:cNvSpPr>
            <a:spLocks noGrp="1"/>
          </p:cNvSpPr>
          <p:nvPr/>
        </p:nvSpPr>
        <p:spPr>
          <a:xfrm>
            <a:off x="571500" y="2647950"/>
            <a:ext cx="2228850" cy="514350"/>
          </a:xfrm>
          <a:prstGeom prst="rect">
            <a:avLst/>
          </a:prstGeom>
          <a:noFill/>
          <a:ln w="0">
            <a:noFill/>
          </a:ln>
        </p:spPr>
        <p:txBody>
          <a:bodyPr wrap="square" lIns="0" tIns="0" rIns="0" bIns="0" anchor="t">
            <a:noAutofit/>
          </a:bodyPr>
          <a:lstStyle/>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Parallel comparisons</a:t>
            </a:r>
          </a:p>
        </p:txBody>
      </p:sp>
      <p:sp>
        <p:nvSpPr>
          <p:cNvPr id="21" name="text-164"/>
          <p:cNvSpPr>
            <a:spLocks noGrp="1"/>
          </p:cNvSpPr>
          <p:nvPr/>
        </p:nvSpPr>
        <p:spPr>
          <a:xfrm>
            <a:off x="571500" y="3324225"/>
            <a:ext cx="2333625" cy="866775"/>
          </a:xfrm>
          <a:prstGeom prst="rect">
            <a:avLst/>
          </a:prstGeom>
          <a:noFill/>
          <a:ln w="0">
            <a:noFill/>
          </a:ln>
        </p:spPr>
        <p:txBody>
          <a:bodyPr wrap="square" lIns="0" tIns="0" rIns="0" bIns="0" anchor="t">
            <a:noAutofit/>
          </a:bodyPr>
          <a:lstStyle/>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Binary scalogram</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M(k, i) = 1 for a</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local maximum</a:t>
            </a:r>
          </a:p>
        </p:txBody>
      </p:sp>
      <p:sp>
        <p:nvSpPr>
          <p:cNvPr id="22" name="text-165"/>
          <p:cNvSpPr>
            <a:spLocks noGrp="1"/>
          </p:cNvSpPr>
          <p:nvPr/>
        </p:nvSpPr>
        <p:spPr>
          <a:xfrm>
            <a:off x="8667750" y="3333750"/>
            <a:ext cx="371475" cy="352425"/>
          </a:xfrm>
          <a:prstGeom prst="rect">
            <a:avLst/>
          </a:prstGeom>
          <a:noFill/>
          <a:ln w="0">
            <a:noFill/>
          </a:ln>
        </p:spPr>
        <p:txBody>
          <a:bodyPr wrap="square" lIns="0" tIns="0" rIns="0" bIns="0" anchor="t">
            <a:noAutofit/>
          </a:bodyPr>
          <a:lstStyle/>
          <a:p>
            <a:pPr algn="ctr">
              <a:defRPr sz="2100" b="1">
                <a:solidFill>
                  <a:srgbClr val="7056A8"/>
                </a:solidFill>
                <a:latin typeface="DejaVu Sans" panose="020B0603030804020204"/>
                <a:ea typeface="DejaVu Sans" panose="020B0603030804020204"/>
                <a:cs typeface="DejaVu Sans" panose="020B0603030804020204"/>
              </a:defRPr>
            </a:pPr>
            <a:r>
              <a:rPr sz="2100" b="1">
                <a:solidFill>
                  <a:srgbClr val="7056A8"/>
                </a:solidFill>
                <a:latin typeface="DejaVu Sans" panose="020B0603030804020204"/>
                <a:ea typeface="DejaVu Sans" panose="020B0603030804020204"/>
                <a:cs typeface="DejaVu Sans" panose="020B0603030804020204"/>
              </a:rPr>
              <a:t>…</a:t>
            </a:r>
          </a:p>
        </p:txBody>
      </p:sp>
      <p:sp>
        <p:nvSpPr>
          <p:cNvPr id="23" name="workflow-166"/>
          <p:cNvSpPr>
            <a:spLocks noGrp="1"/>
          </p:cNvSpPr>
          <p:nvPr/>
        </p:nvSpPr>
        <p:spPr>
          <a:xfrm>
            <a:off x="3333750" y="4752975"/>
            <a:ext cx="2238375" cy="838200"/>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Characteristic scale λ</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λ = arg maxₖ Σᵢ M(k,i)</a:t>
            </a:r>
          </a:p>
        </p:txBody>
      </p:sp>
      <p:sp>
        <p:nvSpPr>
          <p:cNvPr id="24" name="workflow-167"/>
          <p:cNvSpPr>
            <a:spLocks noGrp="1"/>
          </p:cNvSpPr>
          <p:nvPr/>
        </p:nvSpPr>
        <p:spPr>
          <a:xfrm>
            <a:off x="6238875" y="4752975"/>
            <a:ext cx="2333625" cy="838200"/>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Candidate pulse peak</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M(k,i) = 1 for all k ≤ λ</a:t>
            </a:r>
          </a:p>
        </p:txBody>
      </p:sp>
      <p:sp>
        <p:nvSpPr>
          <p:cNvPr id="25" name="workflow-168"/>
          <p:cNvSpPr>
            <a:spLocks noGrp="1"/>
          </p:cNvSpPr>
          <p:nvPr/>
        </p:nvSpPr>
        <p:spPr>
          <a:xfrm>
            <a:off x="9144000" y="4752975"/>
            <a:ext cx="2476500" cy="838200"/>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Refine at 400 Hz</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Maximum within ±50 ms</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Merge duplicate peaks</a:t>
            </a:r>
          </a:p>
        </p:txBody>
      </p:sp>
      <p:sp>
        <p:nvSpPr>
          <p:cNvPr id="26" name="任意多边形 25"/>
          <p:cNvSpPr>
            <a:spLocks noGrp="1"/>
          </p:cNvSpPr>
          <p:nvPr/>
        </p:nvSpPr>
        <p:spPr>
          <a:xfrm>
            <a:off x="4448175" y="3952875"/>
            <a:ext cx="5934075" cy="381000"/>
          </a:xfrm>
          <a:custGeom>
            <a:avLst/>
            <a:gdLst/>
            <a:ahLst/>
            <a:cxnLst/>
            <a:rect l="0" t="0" r="0" b="0"/>
            <a:pathLst>
              <a:path w="5934075" h="381000">
                <a:moveTo>
                  <a:pt x="0" y="0"/>
                </a:moveTo>
                <a:lnTo>
                  <a:pt x="0" y="381000"/>
                </a:lnTo>
                <a:lnTo>
                  <a:pt x="5934075" y="381000"/>
                </a:lnTo>
              </a:path>
            </a:pathLst>
          </a:custGeom>
          <a:noFill/>
          <a:ln w="19050">
            <a:solidFill>
              <a:srgbClr val="7056A8"/>
            </a:solidFill>
          </a:ln>
        </p:spPr>
        <p:txBody>
          <a:bodyPr/>
          <a:lstStyle/>
          <a:p>
            <a:endParaRPr lang="zh-CN" altLang="en-US"/>
          </a:p>
        </p:txBody>
      </p:sp>
      <p:sp>
        <p:nvSpPr>
          <p:cNvPr id="27" name="任意多边形 26"/>
          <p:cNvSpPr>
            <a:spLocks noGrp="1"/>
          </p:cNvSpPr>
          <p:nvPr/>
        </p:nvSpPr>
        <p:spPr>
          <a:xfrm>
            <a:off x="7400925" y="3952875"/>
            <a:ext cx="9525" cy="381000"/>
          </a:xfrm>
          <a:custGeom>
            <a:avLst/>
            <a:gdLst/>
            <a:ahLst/>
            <a:cxnLst/>
            <a:rect l="0" t="0" r="0" b="0"/>
            <a:pathLst>
              <a:path w="9525" h="381000">
                <a:moveTo>
                  <a:pt x="0" y="0"/>
                </a:moveTo>
                <a:lnTo>
                  <a:pt x="0" y="381000"/>
                </a:lnTo>
              </a:path>
            </a:pathLst>
          </a:custGeom>
          <a:noFill/>
          <a:ln w="19050">
            <a:solidFill>
              <a:srgbClr val="7056A8"/>
            </a:solidFill>
          </a:ln>
        </p:spPr>
        <p:txBody>
          <a:bodyPr/>
          <a:lstStyle/>
          <a:p>
            <a:endParaRPr lang="zh-CN" altLang="en-US"/>
          </a:p>
        </p:txBody>
      </p:sp>
      <p:sp>
        <p:nvSpPr>
          <p:cNvPr id="28" name="任意多边形 27"/>
          <p:cNvSpPr>
            <a:spLocks noGrp="1"/>
          </p:cNvSpPr>
          <p:nvPr/>
        </p:nvSpPr>
        <p:spPr>
          <a:xfrm>
            <a:off x="10382250" y="3952875"/>
            <a:ext cx="9525" cy="381000"/>
          </a:xfrm>
          <a:custGeom>
            <a:avLst/>
            <a:gdLst/>
            <a:ahLst/>
            <a:cxnLst/>
            <a:rect l="0" t="0" r="0" b="0"/>
            <a:pathLst>
              <a:path w="9525" h="381000">
                <a:moveTo>
                  <a:pt x="0" y="0"/>
                </a:moveTo>
                <a:lnTo>
                  <a:pt x="0" y="381000"/>
                </a:lnTo>
              </a:path>
            </a:pathLst>
          </a:custGeom>
          <a:noFill/>
          <a:ln w="19050">
            <a:solidFill>
              <a:srgbClr val="7056A8"/>
            </a:solidFill>
          </a:ln>
        </p:spPr>
        <p:txBody>
          <a:bodyPr/>
          <a:lstStyle/>
          <a:p>
            <a:endParaRPr lang="zh-CN" altLang="en-US"/>
          </a:p>
        </p:txBody>
      </p:sp>
      <p:sp>
        <p:nvSpPr>
          <p:cNvPr id="29" name="任意多边形 28"/>
          <p:cNvSpPr>
            <a:spLocks noGrp="1"/>
          </p:cNvSpPr>
          <p:nvPr/>
        </p:nvSpPr>
        <p:spPr>
          <a:xfrm>
            <a:off x="4448175" y="4333875"/>
            <a:ext cx="9525" cy="419100"/>
          </a:xfrm>
          <a:custGeom>
            <a:avLst/>
            <a:gdLst/>
            <a:ahLst/>
            <a:cxnLst/>
            <a:rect l="0" t="0" r="0" b="0"/>
            <a:pathLst>
              <a:path w="9525" h="419100">
                <a:moveTo>
                  <a:pt x="0" y="0"/>
                </a:moveTo>
                <a:lnTo>
                  <a:pt x="0" y="419100"/>
                </a:lnTo>
              </a:path>
            </a:pathLst>
          </a:custGeom>
          <a:noFill/>
          <a:ln w="19050">
            <a:solidFill>
              <a:srgbClr val="7056A8"/>
            </a:solidFill>
          </a:ln>
        </p:spPr>
        <p:txBody>
          <a:bodyPr/>
          <a:lstStyle/>
          <a:p>
            <a:endParaRPr lang="zh-CN" altLang="en-US"/>
          </a:p>
        </p:txBody>
      </p:sp>
      <p:sp>
        <p:nvSpPr>
          <p:cNvPr id="30" name="任意多边形 29"/>
          <p:cNvSpPr>
            <a:spLocks noGrp="1"/>
          </p:cNvSpPr>
          <p:nvPr/>
        </p:nvSpPr>
        <p:spPr>
          <a:xfrm>
            <a:off x="4410075" y="4667250"/>
            <a:ext cx="76200" cy="85725"/>
          </a:xfrm>
          <a:custGeom>
            <a:avLst/>
            <a:gdLst/>
            <a:ahLst/>
            <a:cxnLst/>
            <a:rect l="0" t="0" r="0" b="0"/>
            <a:pathLst>
              <a:path w="76200" h="85725">
                <a:moveTo>
                  <a:pt x="38100" y="85725"/>
                </a:moveTo>
                <a:lnTo>
                  <a:pt x="0" y="0"/>
                </a:lnTo>
                <a:lnTo>
                  <a:pt x="76200" y="0"/>
                </a:lnTo>
                <a:close/>
              </a:path>
            </a:pathLst>
          </a:custGeom>
          <a:solidFill>
            <a:srgbClr val="7056A8"/>
          </a:solidFill>
          <a:ln w="4763">
            <a:solidFill>
              <a:srgbClr val="7056A8"/>
            </a:solidFill>
          </a:ln>
        </p:spPr>
        <p:txBody>
          <a:bodyPr/>
          <a:lstStyle/>
          <a:p>
            <a:endParaRPr lang="zh-CN" altLang="en-US"/>
          </a:p>
        </p:txBody>
      </p:sp>
      <p:cxnSp>
        <p:nvCxnSpPr>
          <p:cNvPr id="65" name="直接箭头连接符 64"/>
          <p:cNvCxnSpPr>
            <a:stCxn id="23" idx="3"/>
            <a:endCxn id="24" idx="1"/>
          </p:cNvCxnSpPr>
          <p:nvPr/>
        </p:nvCxnSpPr>
        <p:spPr>
          <a:xfrm>
            <a:off x="5572125" y="5172075"/>
            <a:ext cx="666750" cy="0"/>
          </a:xfrm>
          <a:prstGeom prst="straightConnector1">
            <a:avLst/>
          </a:prstGeom>
          <a:ln w="19050">
            <a:solidFill>
              <a:srgbClr val="506577"/>
            </a:solidFill>
            <a:tailEnd type="triangle" w="sm" len="sm"/>
          </a:ln>
        </p:spPr>
      </p:cxnSp>
      <p:cxnSp>
        <p:nvCxnSpPr>
          <p:cNvPr id="66" name="直接箭头连接符 65"/>
          <p:cNvCxnSpPr>
            <a:stCxn id="24" idx="3"/>
            <a:endCxn id="25" idx="1"/>
          </p:cNvCxnSpPr>
          <p:nvPr/>
        </p:nvCxnSpPr>
        <p:spPr>
          <a:xfrm>
            <a:off x="8572500" y="5172075"/>
            <a:ext cx="571500" cy="0"/>
          </a:xfrm>
          <a:prstGeom prst="straightConnector1">
            <a:avLst/>
          </a:prstGeom>
          <a:ln w="19050">
            <a:solidFill>
              <a:srgbClr val="506577"/>
            </a:solidFill>
            <a:tailEnd type="triangle" w="sm" len="sm"/>
          </a:ln>
        </p:spPr>
      </p:cxnSp>
      <p:sp>
        <p:nvSpPr>
          <p:cNvPr id="33" name="text-169"/>
          <p:cNvSpPr>
            <a:spLocks noGrp="1"/>
          </p:cNvSpPr>
          <p:nvPr/>
        </p:nvSpPr>
        <p:spPr>
          <a:xfrm>
            <a:off x="571500" y="4800600"/>
            <a:ext cx="2447925" cy="752475"/>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Overlapping windows protect</a:t>
            </a:r>
          </a:p>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peaks near window boundaries.</a:t>
            </a:r>
          </a:p>
        </p:txBody>
      </p:sp>
      <p:sp>
        <p:nvSpPr>
          <p:cNvPr id="34" name="text-170"/>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Project MSPTDfast v2 port outputs pulse peaks. Coarse detection reduces computation; native refinement preserves timing.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11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Peak timing and execution speed</a:t>
            </a:r>
          </a:p>
        </p:txBody>
      </p:sp>
      <p:sp>
        <p:nvSpPr>
          <p:cNvPr id="2" name="text-12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EXTERNAL STATIC BENCHMARK</a:t>
            </a:r>
          </a:p>
        </p:txBody>
      </p:sp>
      <p:sp>
        <p:nvSpPr>
          <p:cNvPr id="3" name="text-12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27</a:t>
            </a:r>
          </a:p>
        </p:txBody>
      </p:sp>
      <p:sp>
        <p:nvSpPr>
          <p:cNvPr id="4" name="text-122"/>
          <p:cNvSpPr>
            <a:spLocks noGrp="1"/>
          </p:cNvSpPr>
          <p:nvPr/>
        </p:nvSpPr>
        <p:spPr>
          <a:xfrm>
            <a:off x="619125" y="1428750"/>
            <a:ext cx="5191125" cy="409575"/>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Timing error on IR</a:t>
            </a:r>
          </a:p>
        </p:txBody>
      </p:sp>
      <p:sp>
        <p:nvSpPr>
          <p:cNvPr id="5" name="text-123"/>
          <p:cNvSpPr>
            <a:spLocks noGrp="1"/>
          </p:cNvSpPr>
          <p:nvPr/>
        </p:nvSpPr>
        <p:spPr>
          <a:xfrm>
            <a:off x="6505575" y="1428750"/>
            <a:ext cx="4953000" cy="409575"/>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Execution time on IR</a:t>
            </a:r>
          </a:p>
        </p:txBody>
      </p:sp>
      <p:graphicFrame>
        <p:nvGraphicFramePr>
          <p:cNvPr id="18" name="Chart"/>
          <p:cNvGraphicFramePr/>
          <p:nvPr/>
        </p:nvGraphicFramePr>
        <p:xfrm>
          <a:off x="514350" y="2019300"/>
          <a:ext cx="5334000" cy="31051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p:cNvGraphicFramePr/>
          <p:nvPr/>
        </p:nvGraphicFramePr>
        <p:xfrm>
          <a:off x="6400800" y="2019300"/>
          <a:ext cx="5248275" cy="310515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124"/>
          <p:cNvSpPr>
            <a:spLocks noGrp="1"/>
          </p:cNvSpPr>
          <p:nvPr/>
        </p:nvSpPr>
        <p:spPr>
          <a:xfrm>
            <a:off x="7677150" y="2362200"/>
            <a:ext cx="1371600" cy="323850"/>
          </a:xfrm>
          <a:prstGeom prst="rect">
            <a:avLst/>
          </a:prstGeom>
          <a:noFill/>
          <a:ln w="0">
            <a:noFill/>
          </a:ln>
        </p:spPr>
        <p:txBody>
          <a:bodyPr wrap="square" lIns="0" tIns="0" rIns="0" bIns="0" anchor="t">
            <a:noAutofit/>
          </a:bodyPr>
          <a:lstStyle/>
          <a:p>
            <a:pPr algn="ctr">
              <a:defRPr sz="1725" b="1">
                <a:solidFill>
                  <a:srgbClr val="152C3F"/>
                </a:solidFill>
                <a:latin typeface="DejaVu Sans" panose="020B0603030804020204"/>
                <a:ea typeface="DejaVu Sans" panose="020B0603030804020204"/>
                <a:cs typeface="DejaVu Sans" panose="020B0603030804020204"/>
              </a:defRPr>
            </a:pPr>
            <a:r>
              <a:rPr sz="1725" b="1">
                <a:solidFill>
                  <a:srgbClr val="152C3F"/>
                </a:solidFill>
                <a:latin typeface="DejaVu Sans" panose="020B0603030804020204"/>
                <a:ea typeface="DejaVu Sans" panose="020B0603030804020204"/>
                <a:cs typeface="DejaVu Sans" panose="020B0603030804020204"/>
              </a:rPr>
              <a:t>0.031%</a:t>
            </a:r>
          </a:p>
        </p:txBody>
      </p:sp>
      <p:sp>
        <p:nvSpPr>
          <p:cNvPr id="9" name="text-125"/>
          <p:cNvSpPr>
            <a:spLocks noGrp="1"/>
          </p:cNvSpPr>
          <p:nvPr/>
        </p:nvSpPr>
        <p:spPr>
          <a:xfrm>
            <a:off x="9791700" y="4105275"/>
            <a:ext cx="1371600" cy="323850"/>
          </a:xfrm>
          <a:prstGeom prst="rect">
            <a:avLst/>
          </a:prstGeom>
          <a:noFill/>
          <a:ln w="0">
            <a:noFill/>
          </a:ln>
        </p:spPr>
        <p:txBody>
          <a:bodyPr wrap="square" lIns="0" tIns="0" rIns="0" bIns="0" anchor="t">
            <a:noAutofit/>
          </a:bodyPr>
          <a:lstStyle/>
          <a:p>
            <a:pPr algn="ctr">
              <a:defRPr sz="1725" b="1">
                <a:solidFill>
                  <a:srgbClr val="152C3F"/>
                </a:solidFill>
                <a:latin typeface="DejaVu Sans" panose="020B0603030804020204"/>
                <a:ea typeface="DejaVu Sans" panose="020B0603030804020204"/>
                <a:cs typeface="DejaVu Sans" panose="020B0603030804020204"/>
              </a:defRPr>
            </a:pPr>
            <a:r>
              <a:rPr sz="1725" b="1">
                <a:solidFill>
                  <a:srgbClr val="152C3F"/>
                </a:solidFill>
                <a:latin typeface="DejaVu Sans" panose="020B0603030804020204"/>
                <a:ea typeface="DejaVu Sans" panose="020B0603030804020204"/>
                <a:cs typeface="DejaVu Sans" panose="020B0603030804020204"/>
              </a:rPr>
              <a:t>0.006%</a:t>
            </a:r>
          </a:p>
        </p:txBody>
      </p:sp>
      <p:sp>
        <p:nvSpPr>
          <p:cNvPr id="10" name="text-126"/>
          <p:cNvSpPr>
            <a:spLocks noGrp="1"/>
          </p:cNvSpPr>
          <p:nvPr/>
        </p:nvSpPr>
        <p:spPr>
          <a:xfrm>
            <a:off x="819150" y="5486400"/>
            <a:ext cx="5162550" cy="400050"/>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Beat F1: 97.8% → 99.7%</a:t>
            </a:r>
          </a:p>
        </p:txBody>
      </p:sp>
      <p:sp>
        <p:nvSpPr>
          <p:cNvPr id="11" name="text-127"/>
          <p:cNvSpPr>
            <a:spLocks noGrp="1"/>
          </p:cNvSpPr>
          <p:nvPr/>
        </p:nvSpPr>
        <p:spPr>
          <a:xfrm>
            <a:off x="6800850" y="5486400"/>
            <a:ext cx="4743450" cy="400050"/>
          </a:xfrm>
          <a:prstGeom prst="rect">
            <a:avLst/>
          </a:prstGeom>
          <a:noFill/>
          <a:ln w="0">
            <a:noFill/>
          </a:ln>
        </p:spPr>
        <p:txBody>
          <a:bodyPr wrap="square" lIns="0" tIns="0" rIns="0" bIns="0" anchor="t">
            <a:noAutofit/>
          </a:bodyPr>
          <a:lstStyle/>
          <a:p>
            <a:pPr algn="l">
              <a:defRPr sz="2100" b="1">
                <a:solidFill>
                  <a:srgbClr val="7056A8"/>
                </a:solidFill>
                <a:latin typeface="DejaVu Sans" panose="020B0603030804020204"/>
                <a:ea typeface="DejaVu Sans" panose="020B0603030804020204"/>
                <a:cs typeface="DejaVu Sans" panose="020B0603030804020204"/>
              </a:defRPr>
            </a:pPr>
            <a:r>
              <a:rPr sz="2100" b="1">
                <a:solidFill>
                  <a:srgbClr val="7056A8"/>
                </a:solidFill>
                <a:latin typeface="DejaVu Sans" panose="020B0603030804020204"/>
                <a:ea typeface="DejaVu Sans" panose="020B0603030804020204"/>
                <a:cs typeface="DejaVu Sans" panose="020B0603030804020204"/>
              </a:rPr>
              <a:t>Approximately 5× faster</a:t>
            </a:r>
          </a:p>
        </p:txBody>
      </p:sp>
      <p:sp>
        <p:nvSpPr>
          <p:cNvPr id="12" name="text-128"/>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RMSE = root mean square error of pulse intervals against ECG. Static sample: 22 participants; runtime as % of duration.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17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Workflow: feature engineering</a:t>
            </a:r>
          </a:p>
        </p:txBody>
      </p:sp>
      <p:sp>
        <p:nvSpPr>
          <p:cNvPr id="2" name="text-17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PIPELINE WORKFLOW</a:t>
            </a:r>
          </a:p>
        </p:txBody>
      </p:sp>
      <p:sp>
        <p:nvSpPr>
          <p:cNvPr id="3" name="text-17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28</a:t>
            </a:r>
          </a:p>
        </p:txBody>
      </p:sp>
      <p:sp>
        <p:nvSpPr>
          <p:cNvPr id="4" name="workflow-176"/>
          <p:cNvSpPr>
            <a:spLocks noGrp="1"/>
          </p:cNvSpPr>
          <p:nvPr/>
        </p:nvSpPr>
        <p:spPr>
          <a:xfrm>
            <a:off x="571500" y="1724025"/>
            <a:ext cx="209550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PPG + IMU</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recordings</a:t>
            </a:r>
          </a:p>
        </p:txBody>
      </p:sp>
      <p:sp>
        <p:nvSpPr>
          <p:cNvPr id="5" name="workflow-177"/>
          <p:cNvSpPr>
            <a:spLocks noGrp="1"/>
          </p:cNvSpPr>
          <p:nvPr/>
        </p:nvSpPr>
        <p:spPr>
          <a:xfrm>
            <a:off x="3286125" y="172402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Preprocessing</a:t>
            </a:r>
          </a:p>
        </p:txBody>
      </p:sp>
      <p:sp>
        <p:nvSpPr>
          <p:cNvPr id="6" name="workflow-178"/>
          <p:cNvSpPr>
            <a:spLocks noGrp="1"/>
          </p:cNvSpPr>
          <p:nvPr/>
        </p:nvSpPr>
        <p:spPr>
          <a:xfrm>
            <a:off x="6143625" y="172402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Windowing</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 resample</a:t>
            </a:r>
          </a:p>
        </p:txBody>
      </p:sp>
      <p:sp>
        <p:nvSpPr>
          <p:cNvPr id="7" name="workflow-179"/>
          <p:cNvSpPr>
            <a:spLocks noGrp="1"/>
          </p:cNvSpPr>
          <p:nvPr/>
        </p:nvSpPr>
        <p:spPr>
          <a:xfrm>
            <a:off x="9239250" y="172402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Models &amp;</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classification</a:t>
            </a:r>
          </a:p>
        </p:txBody>
      </p:sp>
      <p:sp>
        <p:nvSpPr>
          <p:cNvPr id="8" name="workflow-180"/>
          <p:cNvSpPr>
            <a:spLocks noGrp="1"/>
          </p:cNvSpPr>
          <p:nvPr/>
        </p:nvSpPr>
        <p:spPr>
          <a:xfrm>
            <a:off x="3286125" y="368617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Motion detection</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&amp; denoising</a:t>
            </a:r>
          </a:p>
        </p:txBody>
      </p:sp>
      <p:sp>
        <p:nvSpPr>
          <p:cNvPr id="9" name="workflow-181"/>
          <p:cNvSpPr>
            <a:spLocks noGrp="1"/>
          </p:cNvSpPr>
          <p:nvPr/>
        </p:nvSpPr>
        <p:spPr>
          <a:xfrm>
            <a:off x="6143625" y="368617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Peak detection</a:t>
            </a:r>
          </a:p>
        </p:txBody>
      </p:sp>
      <p:sp>
        <p:nvSpPr>
          <p:cNvPr id="10" name="workflow-182"/>
          <p:cNvSpPr>
            <a:spLocks noGrp="1"/>
          </p:cNvSpPr>
          <p:nvPr/>
        </p:nvSpPr>
        <p:spPr>
          <a:xfrm>
            <a:off x="9239250" y="3686175"/>
            <a:ext cx="2381250"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Feature</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engineering</a:t>
            </a:r>
          </a:p>
        </p:txBody>
      </p:sp>
      <p:cxnSp>
        <p:nvCxnSpPr>
          <p:cNvPr id="34" name="直接箭头连接符 33"/>
          <p:cNvCxnSpPr>
            <a:stCxn id="4" idx="3"/>
            <a:endCxn id="5" idx="1"/>
          </p:cNvCxnSpPr>
          <p:nvPr/>
        </p:nvCxnSpPr>
        <p:spPr>
          <a:xfrm>
            <a:off x="2667000" y="2143125"/>
            <a:ext cx="619125" cy="0"/>
          </a:xfrm>
          <a:prstGeom prst="straightConnector1">
            <a:avLst/>
          </a:prstGeom>
          <a:ln w="19050">
            <a:solidFill>
              <a:srgbClr val="506577"/>
            </a:solidFill>
            <a:tailEnd type="triangle" w="sm" len="sm"/>
          </a:ln>
        </p:spPr>
      </p:cxnSp>
      <p:cxnSp>
        <p:nvCxnSpPr>
          <p:cNvPr id="35" name="直接箭头连接符 34"/>
          <p:cNvCxnSpPr>
            <a:stCxn id="5" idx="3"/>
            <a:endCxn id="6" idx="1"/>
          </p:cNvCxnSpPr>
          <p:nvPr/>
        </p:nvCxnSpPr>
        <p:spPr>
          <a:xfrm>
            <a:off x="5524500" y="2143125"/>
            <a:ext cx="619125" cy="0"/>
          </a:xfrm>
          <a:prstGeom prst="straightConnector1">
            <a:avLst/>
          </a:prstGeom>
          <a:ln w="19050">
            <a:solidFill>
              <a:srgbClr val="506577"/>
            </a:solidFill>
            <a:tailEnd type="triangle" w="sm" len="sm"/>
          </a:ln>
        </p:spPr>
      </p:cxnSp>
      <p:cxnSp>
        <p:nvCxnSpPr>
          <p:cNvPr id="36" name="直接箭头连接符 35"/>
          <p:cNvCxnSpPr>
            <a:stCxn id="6" idx="3"/>
            <a:endCxn id="7" idx="1"/>
          </p:cNvCxnSpPr>
          <p:nvPr/>
        </p:nvCxnSpPr>
        <p:spPr>
          <a:xfrm>
            <a:off x="8572500" y="2143125"/>
            <a:ext cx="666750" cy="0"/>
          </a:xfrm>
          <a:prstGeom prst="straightConnector1">
            <a:avLst/>
          </a:prstGeom>
          <a:ln w="19050">
            <a:solidFill>
              <a:srgbClr val="506577"/>
            </a:solidFill>
            <a:tailEnd type="triangle" w="sm" len="sm"/>
          </a:ln>
        </p:spPr>
      </p:cxnSp>
      <p:cxnSp>
        <p:nvCxnSpPr>
          <p:cNvPr id="37" name="直接箭头连接符 36"/>
          <p:cNvCxnSpPr>
            <a:stCxn id="5" idx="2"/>
            <a:endCxn id="8" idx="0"/>
          </p:cNvCxnSpPr>
          <p:nvPr/>
        </p:nvCxnSpPr>
        <p:spPr>
          <a:xfrm>
            <a:off x="4405313" y="2562225"/>
            <a:ext cx="0" cy="1123950"/>
          </a:xfrm>
          <a:prstGeom prst="straightConnector1">
            <a:avLst/>
          </a:prstGeom>
          <a:ln w="19050">
            <a:solidFill>
              <a:srgbClr val="506577"/>
            </a:solidFill>
            <a:tailEnd type="triangle" w="sm" len="sm"/>
          </a:ln>
        </p:spPr>
      </p:cxnSp>
      <p:cxnSp>
        <p:nvCxnSpPr>
          <p:cNvPr id="38" name="直接箭头连接符 37"/>
          <p:cNvCxnSpPr>
            <a:stCxn id="8" idx="3"/>
            <a:endCxn id="9" idx="1"/>
          </p:cNvCxnSpPr>
          <p:nvPr/>
        </p:nvCxnSpPr>
        <p:spPr>
          <a:xfrm>
            <a:off x="5524500" y="4105275"/>
            <a:ext cx="619125" cy="0"/>
          </a:xfrm>
          <a:prstGeom prst="straightConnector1">
            <a:avLst/>
          </a:prstGeom>
          <a:ln w="19050">
            <a:solidFill>
              <a:srgbClr val="506577"/>
            </a:solidFill>
            <a:tailEnd type="triangle" w="sm" len="sm"/>
          </a:ln>
        </p:spPr>
      </p:cxnSp>
      <p:cxnSp>
        <p:nvCxnSpPr>
          <p:cNvPr id="39" name="直接箭头连接符 38"/>
          <p:cNvCxnSpPr>
            <a:stCxn id="9" idx="3"/>
            <a:endCxn id="10" idx="1"/>
          </p:cNvCxnSpPr>
          <p:nvPr/>
        </p:nvCxnSpPr>
        <p:spPr>
          <a:xfrm>
            <a:off x="8572500" y="4105275"/>
            <a:ext cx="666750" cy="0"/>
          </a:xfrm>
          <a:prstGeom prst="straightConnector1">
            <a:avLst/>
          </a:prstGeom>
          <a:ln w="19050">
            <a:solidFill>
              <a:srgbClr val="506577"/>
            </a:solidFill>
            <a:tailEnd type="triangle" w="sm" len="sm"/>
          </a:ln>
        </p:spPr>
      </p:cxnSp>
      <p:cxnSp>
        <p:nvCxnSpPr>
          <p:cNvPr id="40" name="直接箭头连接符 39"/>
          <p:cNvCxnSpPr>
            <a:stCxn id="10" idx="0"/>
            <a:endCxn id="7" idx="2"/>
          </p:cNvCxnSpPr>
          <p:nvPr/>
        </p:nvCxnSpPr>
        <p:spPr>
          <a:xfrm flipV="1">
            <a:off x="10429875" y="2562225"/>
            <a:ext cx="0" cy="1123950"/>
          </a:xfrm>
          <a:prstGeom prst="straightConnector1">
            <a:avLst/>
          </a:prstGeom>
          <a:ln w="19050">
            <a:solidFill>
              <a:srgbClr val="506577"/>
            </a:solidFill>
            <a:tailEnd type="triangle" w="sm" len="sm"/>
          </a:ln>
        </p:spPr>
      </p:cxnSp>
      <p:sp>
        <p:nvSpPr>
          <p:cNvPr id="18" name="text-183"/>
          <p:cNvSpPr>
            <a:spLocks noGrp="1"/>
          </p:cNvSpPr>
          <p:nvPr/>
        </p:nvSpPr>
        <p:spPr>
          <a:xfrm>
            <a:off x="6191250" y="1371600"/>
            <a:ext cx="2543175" cy="266700"/>
          </a:xfrm>
          <a:prstGeom prst="rect">
            <a:avLst/>
          </a:prstGeom>
          <a:noFill/>
          <a:ln w="0">
            <a:noFill/>
          </a:ln>
        </p:spPr>
        <p:txBody>
          <a:bodyPr wrap="square" lIns="0" tIns="0" rIns="0" bIns="0" anchor="t">
            <a:noAutofit/>
          </a:bodyPr>
          <a:lstStyle/>
          <a:p>
            <a:pPr algn="l">
              <a:defRPr sz="1575" b="1">
                <a:solidFill>
                  <a:srgbClr val="506577"/>
                </a:solidFill>
                <a:latin typeface="DejaVu Sans" panose="020B0603030804020204"/>
                <a:ea typeface="DejaVu Sans" panose="020B0603030804020204"/>
                <a:cs typeface="DejaVu Sans" panose="020B0603030804020204"/>
              </a:defRPr>
            </a:pPr>
            <a:r>
              <a:rPr sz="1575" b="1">
                <a:solidFill>
                  <a:srgbClr val="506577"/>
                </a:solidFill>
                <a:latin typeface="DejaVu Sans" panose="020B0603030804020204"/>
                <a:ea typeface="DejaVu Sans" panose="020B0603030804020204"/>
                <a:cs typeface="DejaVu Sans" panose="020B0603030804020204"/>
              </a:rPr>
              <a:t>Waveform branch</a:t>
            </a:r>
          </a:p>
        </p:txBody>
      </p:sp>
      <p:sp>
        <p:nvSpPr>
          <p:cNvPr id="19" name="text-184"/>
          <p:cNvSpPr>
            <a:spLocks noGrp="1"/>
          </p:cNvSpPr>
          <p:nvPr/>
        </p:nvSpPr>
        <p:spPr>
          <a:xfrm>
            <a:off x="9277350" y="1371600"/>
            <a:ext cx="2343150" cy="266700"/>
          </a:xfrm>
          <a:prstGeom prst="rect">
            <a:avLst/>
          </a:prstGeom>
          <a:noFill/>
          <a:ln w="0">
            <a:noFill/>
          </a:ln>
        </p:spPr>
        <p:txBody>
          <a:bodyPr wrap="square" lIns="0" tIns="0" rIns="0" bIns="0" anchor="t">
            <a:noAutofit/>
          </a:bodyPr>
          <a:lstStyle/>
          <a:p>
            <a:pPr algn="ctr">
              <a:defRPr sz="1425" b="1">
                <a:solidFill>
                  <a:srgbClr val="506577"/>
                </a:solidFill>
                <a:latin typeface="DejaVu Sans" panose="020B0603030804020204"/>
                <a:ea typeface="DejaVu Sans" panose="020B0603030804020204"/>
                <a:cs typeface="DejaVu Sans" panose="020B0603030804020204"/>
              </a:defRPr>
            </a:pPr>
            <a:r>
              <a:rPr sz="1425" b="1">
                <a:solidFill>
                  <a:srgbClr val="506577"/>
                </a:solidFill>
                <a:latin typeface="DejaVu Sans" panose="020B0603030804020204"/>
                <a:ea typeface="DejaVu Sans" panose="020B0603030804020204"/>
                <a:cs typeface="DejaVu Sans" panose="020B0603030804020204"/>
              </a:rPr>
              <a:t>Alternative inputs</a:t>
            </a:r>
          </a:p>
        </p:txBody>
      </p:sp>
      <p:sp>
        <p:nvSpPr>
          <p:cNvPr id="20" name="text-185"/>
          <p:cNvSpPr>
            <a:spLocks noGrp="1"/>
          </p:cNvSpPr>
          <p:nvPr/>
        </p:nvSpPr>
        <p:spPr>
          <a:xfrm>
            <a:off x="571500" y="3781425"/>
            <a:ext cx="2190750" cy="742950"/>
          </a:xfrm>
          <a:prstGeom prst="rect">
            <a:avLst/>
          </a:prstGeom>
          <a:noFill/>
          <a:ln w="0">
            <a:noFill/>
          </a:ln>
        </p:spPr>
        <p:txBody>
          <a:bodyPr wrap="square" lIns="0" tIns="0" rIns="0" bIns="0" anchor="t">
            <a:noAutofit/>
          </a:bodyPr>
          <a:lstStyle/>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Physiological</a:t>
            </a:r>
          </a:p>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analysis branch</a:t>
            </a:r>
          </a:p>
        </p:txBody>
      </p:sp>
      <p:sp>
        <p:nvSpPr>
          <p:cNvPr id="21" name="text-186"/>
          <p:cNvSpPr>
            <a:spLocks noGrp="1"/>
          </p:cNvSpPr>
          <p:nvPr/>
        </p:nvSpPr>
        <p:spPr>
          <a:xfrm>
            <a:off x="3390900" y="4610100"/>
            <a:ext cx="2257425"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Optional / identity</a:t>
            </a:r>
          </a:p>
        </p:txBody>
      </p:sp>
      <p:sp>
        <p:nvSpPr>
          <p:cNvPr id="22" name="text-187"/>
          <p:cNvSpPr>
            <a:spLocks noGrp="1"/>
          </p:cNvSpPr>
          <p:nvPr/>
        </p:nvSpPr>
        <p:spPr>
          <a:xfrm>
            <a:off x="9210675" y="4610100"/>
            <a:ext cx="2438400" cy="476250"/>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Shape / baseline use original optical data</a:t>
            </a:r>
          </a:p>
        </p:txBody>
      </p:sp>
      <p:sp>
        <p:nvSpPr>
          <p:cNvPr id="23" name="text-188"/>
          <p:cNvSpPr>
            <a:spLocks noGrp="1"/>
          </p:cNvSpPr>
          <p:nvPr/>
        </p:nvSpPr>
        <p:spPr>
          <a:xfrm>
            <a:off x="571500" y="5391150"/>
            <a:ext cx="11049000" cy="7048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Turn pulse timing, optical shape and movement into interpretable numerical descriptions.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12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Pulse intervals and pulse rate variability</a:t>
            </a:r>
          </a:p>
        </p:txBody>
      </p:sp>
      <p:sp>
        <p:nvSpPr>
          <p:cNvPr id="2" name="text-13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FEATURE ENGINEERING</a:t>
            </a:r>
          </a:p>
        </p:txBody>
      </p:sp>
      <p:sp>
        <p:nvSpPr>
          <p:cNvPr id="3" name="text-13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29</a:t>
            </a:r>
          </a:p>
        </p:txBody>
      </p:sp>
      <p:sp>
        <p:nvSpPr>
          <p:cNvPr id="8" name="text-135"/>
          <p:cNvSpPr>
            <a:spLocks noGrp="1"/>
          </p:cNvSpPr>
          <p:nvPr/>
        </p:nvSpPr>
        <p:spPr>
          <a:xfrm>
            <a:off x="8696325" y="1828800"/>
            <a:ext cx="2857500" cy="8953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Peak spacing becomes</a:t>
            </a:r>
          </a:p>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one interval value</a:t>
            </a:r>
          </a:p>
        </p:txBody>
      </p:sp>
      <p:sp>
        <p:nvSpPr>
          <p:cNvPr id="9" name="text-136"/>
          <p:cNvSpPr>
            <a:spLocks noGrp="1"/>
          </p:cNvSpPr>
          <p:nvPr/>
        </p:nvSpPr>
        <p:spPr>
          <a:xfrm>
            <a:off x="8696325" y="2971800"/>
            <a:ext cx="2905125" cy="809625"/>
          </a:xfrm>
          <a:prstGeom prst="rect">
            <a:avLst/>
          </a:prstGeom>
          <a:noFill/>
          <a:ln w="0">
            <a:noFill/>
          </a:ln>
        </p:spPr>
        <p:txBody>
          <a:bodyPr wrap="square" lIns="0" tIns="0" rIns="0" bIns="0" anchor="t">
            <a:noAutofit/>
          </a:bodyPr>
          <a:lstStyle/>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PPIᵢ = tᵢ₊₁ − tᵢ</a:t>
            </a:r>
          </a:p>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PRᵢ = 60 / PPIᵢ</a:t>
            </a:r>
          </a:p>
        </p:txBody>
      </p:sp>
      <p:graphicFrame>
        <p:nvGraphicFramePr>
          <p:cNvPr id="23" name="Chart"/>
          <p:cNvGraphicFramePr/>
          <p:nvPr/>
        </p:nvGraphicFramePr>
        <p:xfrm>
          <a:off x="552450" y="4152900"/>
          <a:ext cx="7762875" cy="17526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137"/>
          <p:cNvSpPr>
            <a:spLocks noGrp="1"/>
          </p:cNvSpPr>
          <p:nvPr/>
        </p:nvSpPr>
        <p:spPr>
          <a:xfrm>
            <a:off x="8696325" y="4257675"/>
            <a:ext cx="2952750" cy="590550"/>
          </a:xfrm>
          <a:prstGeom prst="rect">
            <a:avLst/>
          </a:prstGeom>
          <a:noFill/>
          <a:ln w="0">
            <a:noFill/>
          </a:ln>
        </p:spPr>
        <p:txBody>
          <a:bodyPr wrap="square" lIns="0" tIns="0" rIns="0" bIns="0" anchor="t">
            <a:noAutofit/>
          </a:bodyPr>
          <a:lstStyle/>
          <a:p>
            <a:pPr algn="l">
              <a:defRPr sz="1950" b="1">
                <a:solidFill>
                  <a:srgbClr val="7056A8"/>
                </a:solidFill>
                <a:latin typeface="DejaVu Sans" panose="020B0603030804020204"/>
                <a:ea typeface="DejaVu Sans" panose="020B0603030804020204"/>
                <a:cs typeface="DejaVu Sans" panose="020B0603030804020204"/>
              </a:defRPr>
            </a:pPr>
            <a:r>
              <a:rPr sz="1950" b="1">
                <a:solidFill>
                  <a:srgbClr val="7056A8"/>
                </a:solidFill>
                <a:latin typeface="DejaVu Sans" panose="020B0603030804020204"/>
                <a:ea typeface="DejaVu Sans" panose="020B0603030804020204"/>
                <a:cs typeface="DejaVu Sans" panose="020B0603030804020204"/>
              </a:rPr>
              <a:t>PRV describes variation</a:t>
            </a:r>
          </a:p>
        </p:txBody>
      </p:sp>
      <p:sp>
        <p:nvSpPr>
          <p:cNvPr id="12" name="text-138"/>
          <p:cNvSpPr>
            <a:spLocks noGrp="1"/>
          </p:cNvSpPr>
          <p:nvPr/>
        </p:nvSpPr>
        <p:spPr>
          <a:xfrm>
            <a:off x="8696325" y="4981575"/>
            <a:ext cx="2952750" cy="809625"/>
          </a:xfrm>
          <a:prstGeom prst="rect">
            <a:avLst/>
          </a:prstGeom>
          <a:noFill/>
          <a:ln w="0">
            <a:noFill/>
          </a:ln>
        </p:spPr>
        <p:txBody>
          <a:bodyPr wrap="square" lIns="0" tIns="0" rIns="0" bIns="0" anchor="t">
            <a:noAutofit/>
          </a:bodyPr>
          <a:lstStyle/>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SDNN: interval spread</a:t>
            </a:r>
          </a:p>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RMSSD: successive changes</a:t>
            </a:r>
          </a:p>
        </p:txBody>
      </p:sp>
      <p:sp>
        <p:nvSpPr>
          <p:cNvPr id="13" name="text-139"/>
          <p:cNvSpPr>
            <a:spLocks noGrp="1"/>
          </p:cNvSpPr>
          <p:nvPr/>
        </p:nvSpPr>
        <p:spPr>
          <a:xfrm>
            <a:off x="571500" y="5915025"/>
            <a:ext cx="10953750" cy="42862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20" b="0">
                <a:solidFill>
                  <a:srgbClr val="506577"/>
                </a:solidFill>
                <a:latin typeface="DejaVu Sans" panose="020B0603030804020204"/>
                <a:ea typeface="DejaVu Sans" panose="020B0603030804020204"/>
                <a:cs typeface="DejaVu Sans" panose="020B0603030804020204"/>
              </a:rPr>
              <a:t>PPI = pulse-to-pulse interval; PR = pulse rate; PRV = pulse rate variability.</a:t>
            </a:r>
          </a:p>
          <a:p>
            <a:pPr algn="l">
              <a:defRPr sz="1275" b="0">
                <a:solidFill>
                  <a:srgbClr val="506577"/>
                </a:solidFill>
                <a:latin typeface="DejaVu Sans" panose="020B0603030804020204"/>
                <a:ea typeface="DejaVu Sans" panose="020B0603030804020204"/>
                <a:cs typeface="DejaVu Sans" panose="020B0603030804020204"/>
              </a:defRPr>
            </a:pPr>
            <a:r>
              <a:rPr sz="1220" b="0">
                <a:solidFill>
                  <a:srgbClr val="506577"/>
                </a:solidFill>
                <a:latin typeface="DejaVu Sans" panose="020B0603030804020204"/>
                <a:ea typeface="DejaVu Sans" panose="020B0603030804020204"/>
                <a:cs typeface="DejaVu Sans" panose="020B0603030804020204"/>
              </a:rPr>
              <a:t>SDNN = standard deviation of intervals; RMSSD = root mean square of successive differences. Thesis §3.4.2.</a:t>
            </a:r>
          </a:p>
        </p:txBody>
      </p:sp>
      <p:pic>
        <p:nvPicPr>
          <p:cNvPr id="4" name="图片 3"/>
          <p:cNvPicPr>
            <a:picLocks noChangeAspect="1"/>
          </p:cNvPicPr>
          <p:nvPr/>
        </p:nvPicPr>
        <p:blipFill>
          <a:blip r:embed="rId4"/>
          <a:stretch>
            <a:fillRect/>
          </a:stretch>
        </p:blipFill>
        <p:spPr>
          <a:xfrm>
            <a:off x="499745" y="1052830"/>
            <a:ext cx="7888605" cy="259461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ext-6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Pulse morphology, AC and DC</a:t>
            </a:r>
          </a:p>
        </p:txBody>
      </p:sp>
      <p:sp>
        <p:nvSpPr>
          <p:cNvPr id="2" name="text-6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FEATURE ENGINEERING</a:t>
            </a:r>
          </a:p>
        </p:txBody>
      </p:sp>
      <p:sp>
        <p:nvSpPr>
          <p:cNvPr id="3" name="text-6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30</a:t>
            </a:r>
          </a:p>
        </p:txBody>
      </p:sp>
      <p:sp>
        <p:nvSpPr>
          <p:cNvPr id="16" name="text-74"/>
          <p:cNvSpPr>
            <a:spLocks noGrp="1"/>
          </p:cNvSpPr>
          <p:nvPr/>
        </p:nvSpPr>
        <p:spPr>
          <a:xfrm>
            <a:off x="8724900" y="1581150"/>
            <a:ext cx="2867025" cy="647700"/>
          </a:xfrm>
          <a:prstGeom prst="rect">
            <a:avLst/>
          </a:prstGeom>
          <a:noFill/>
          <a:ln w="0">
            <a:noFill/>
          </a:ln>
        </p:spPr>
        <p:txBody>
          <a:bodyPr wrap="square" lIns="0" tIns="0" rIns="0" bIns="0" anchor="t">
            <a:noAutofit/>
          </a:bodyPr>
          <a:lstStyle/>
          <a:p>
            <a:pPr algn="l">
              <a:defRPr sz="1875" b="1">
                <a:solidFill>
                  <a:srgbClr val="152C3F"/>
                </a:solidFill>
                <a:latin typeface="DejaVu Sans" panose="020B0603030804020204"/>
                <a:ea typeface="DejaVu Sans" panose="020B0603030804020204"/>
                <a:cs typeface="DejaVu Sans" panose="020B0603030804020204"/>
              </a:defRPr>
            </a:pPr>
            <a:r>
              <a:rPr sz="1875" b="1">
                <a:solidFill>
                  <a:srgbClr val="152C3F"/>
                </a:solidFill>
                <a:latin typeface="DejaVu Sans" panose="020B0603030804020204"/>
                <a:ea typeface="DejaVu Sans" panose="020B0603030804020204"/>
                <a:cs typeface="DejaVu Sans" panose="020B0603030804020204"/>
              </a:rPr>
              <a:t>Seven shape descriptors</a:t>
            </a:r>
          </a:p>
        </p:txBody>
      </p:sp>
      <p:sp>
        <p:nvSpPr>
          <p:cNvPr id="17" name="text-75"/>
          <p:cNvSpPr>
            <a:spLocks noGrp="1"/>
          </p:cNvSpPr>
          <p:nvPr/>
        </p:nvSpPr>
        <p:spPr>
          <a:xfrm>
            <a:off x="8724900" y="2324100"/>
            <a:ext cx="2867025" cy="571500"/>
          </a:xfrm>
          <a:prstGeom prst="rect">
            <a:avLst/>
          </a:prstGeom>
          <a:noFill/>
          <a:ln w="0">
            <a:noFill/>
          </a:ln>
        </p:spPr>
        <p:txBody>
          <a:bodyPr wrap="square" lIns="0" tIns="0" rIns="0" bIns="0" anchor="t">
            <a:noAutofit/>
          </a:bodyPr>
          <a:lstStyle/>
          <a:p>
            <a:pPr algn="l">
              <a:defRPr sz="1500" b="0">
                <a:solidFill>
                  <a:srgbClr val="152C3F"/>
                </a:solidFill>
                <a:latin typeface="DejaVu Sans" panose="020B0603030804020204"/>
                <a:ea typeface="DejaVu Sans" panose="020B0603030804020204"/>
                <a:cs typeface="DejaVu Sans" panose="020B0603030804020204"/>
              </a:defRPr>
            </a:pPr>
            <a:r>
              <a:rPr sz="1500" b="0">
                <a:solidFill>
                  <a:srgbClr val="152C3F"/>
                </a:solidFill>
                <a:latin typeface="DejaVu Sans" panose="020B0603030804020204"/>
                <a:ea typeface="DejaVu Sans" panose="020B0603030804020204"/>
                <a:cs typeface="DejaVu Sans" panose="020B0603030804020204"/>
              </a:rPr>
              <a:t>Amplitude and width</a:t>
            </a:r>
          </a:p>
          <a:p>
            <a:pPr algn="l">
              <a:defRPr sz="1500" b="0">
                <a:solidFill>
                  <a:srgbClr val="152C3F"/>
                </a:solidFill>
                <a:latin typeface="DejaVu Sans" panose="020B0603030804020204"/>
                <a:ea typeface="DejaVu Sans" panose="020B0603030804020204"/>
                <a:cs typeface="DejaVu Sans" panose="020B0603030804020204"/>
              </a:defRPr>
            </a:pPr>
            <a:r>
              <a:rPr sz="1500" b="0">
                <a:solidFill>
                  <a:srgbClr val="152C3F"/>
                </a:solidFill>
                <a:latin typeface="DejaVu Sans" panose="020B0603030804020204"/>
                <a:ea typeface="DejaVu Sans" panose="020B0603030804020204"/>
                <a:cs typeface="DejaVu Sans" panose="020B0603030804020204"/>
              </a:rPr>
              <a:t>at half height</a:t>
            </a:r>
          </a:p>
        </p:txBody>
      </p:sp>
      <p:sp>
        <p:nvSpPr>
          <p:cNvPr id="18" name="text-76"/>
          <p:cNvSpPr>
            <a:spLocks noGrp="1"/>
          </p:cNvSpPr>
          <p:nvPr/>
        </p:nvSpPr>
        <p:spPr>
          <a:xfrm>
            <a:off x="8724900" y="2952750"/>
            <a:ext cx="2867025" cy="571500"/>
          </a:xfrm>
          <a:prstGeom prst="rect">
            <a:avLst/>
          </a:prstGeom>
          <a:noFill/>
          <a:ln w="0">
            <a:noFill/>
          </a:ln>
        </p:spPr>
        <p:txBody>
          <a:bodyPr wrap="square" lIns="0" tIns="0" rIns="0" bIns="0" anchor="t">
            <a:noAutofit/>
          </a:bodyPr>
          <a:lstStyle/>
          <a:p>
            <a:pPr algn="l">
              <a:defRPr sz="1500" b="1">
                <a:solidFill>
                  <a:srgbClr val="B96D20"/>
                </a:solidFill>
                <a:latin typeface="DejaVu Sans" panose="020B0603030804020204"/>
                <a:ea typeface="DejaVu Sans" panose="020B0603030804020204"/>
                <a:cs typeface="DejaVu Sans" panose="020B0603030804020204"/>
              </a:defRPr>
            </a:pPr>
            <a:r>
              <a:rPr sz="1500" b="1">
                <a:solidFill>
                  <a:srgbClr val="B96D20"/>
                </a:solidFill>
                <a:latin typeface="DejaVu Sans" panose="020B0603030804020204"/>
                <a:ea typeface="DejaVu Sans" panose="020B0603030804020204"/>
                <a:cs typeface="DejaVu Sans" panose="020B0603030804020204"/>
              </a:rPr>
              <a:t>Rise slope = A /</a:t>
            </a:r>
          </a:p>
          <a:p>
            <a:pPr algn="l">
              <a:defRPr sz="1500" b="1">
                <a:solidFill>
                  <a:srgbClr val="B96D20"/>
                </a:solidFill>
                <a:latin typeface="DejaVu Sans" panose="020B0603030804020204"/>
                <a:ea typeface="DejaVu Sans" panose="020B0603030804020204"/>
                <a:cs typeface="DejaVu Sans" panose="020B0603030804020204"/>
              </a:defRPr>
            </a:pPr>
            <a:r>
              <a:rPr sz="1500" b="1">
                <a:solidFill>
                  <a:srgbClr val="B96D20"/>
                </a:solidFill>
                <a:latin typeface="DejaVu Sans" panose="020B0603030804020204"/>
                <a:ea typeface="DejaVu Sans" panose="020B0603030804020204"/>
                <a:cs typeface="DejaVu Sans" panose="020B0603030804020204"/>
              </a:rPr>
              <a:t>rise time</a:t>
            </a:r>
          </a:p>
        </p:txBody>
      </p:sp>
      <p:sp>
        <p:nvSpPr>
          <p:cNvPr id="19" name="text-77"/>
          <p:cNvSpPr>
            <a:spLocks noGrp="1"/>
          </p:cNvSpPr>
          <p:nvPr/>
        </p:nvSpPr>
        <p:spPr>
          <a:xfrm>
            <a:off x="8724900" y="3581400"/>
            <a:ext cx="2867025" cy="571500"/>
          </a:xfrm>
          <a:prstGeom prst="rect">
            <a:avLst/>
          </a:prstGeom>
          <a:noFill/>
          <a:ln w="0">
            <a:noFill/>
          </a:ln>
        </p:spPr>
        <p:txBody>
          <a:bodyPr wrap="square" lIns="0" tIns="0" rIns="0" bIns="0" anchor="t">
            <a:noAutofit/>
          </a:bodyPr>
          <a:lstStyle/>
          <a:p>
            <a:pPr algn="l">
              <a:defRPr sz="1500" b="1">
                <a:solidFill>
                  <a:srgbClr val="7056A8"/>
                </a:solidFill>
                <a:latin typeface="DejaVu Sans" panose="020B0603030804020204"/>
                <a:ea typeface="DejaVu Sans" panose="020B0603030804020204"/>
                <a:cs typeface="DejaVu Sans" panose="020B0603030804020204"/>
              </a:defRPr>
            </a:pPr>
            <a:r>
              <a:rPr sz="1500" b="1">
                <a:solidFill>
                  <a:srgbClr val="7056A8"/>
                </a:solidFill>
                <a:latin typeface="DejaVu Sans" panose="020B0603030804020204"/>
                <a:ea typeface="DejaVu Sans" panose="020B0603030804020204"/>
                <a:cs typeface="DejaVu Sans" panose="020B0603030804020204"/>
              </a:rPr>
              <a:t>Decay slope = −A /</a:t>
            </a:r>
          </a:p>
          <a:p>
            <a:pPr algn="l">
              <a:defRPr sz="1500" b="1">
                <a:solidFill>
                  <a:srgbClr val="7056A8"/>
                </a:solidFill>
                <a:latin typeface="DejaVu Sans" panose="020B0603030804020204"/>
                <a:ea typeface="DejaVu Sans" panose="020B0603030804020204"/>
                <a:cs typeface="DejaVu Sans" panose="020B0603030804020204"/>
              </a:defRPr>
            </a:pPr>
            <a:r>
              <a:rPr sz="1500" b="1">
                <a:solidFill>
                  <a:srgbClr val="7056A8"/>
                </a:solidFill>
                <a:latin typeface="DejaVu Sans" panose="020B0603030804020204"/>
                <a:ea typeface="DejaVu Sans" panose="020B0603030804020204"/>
                <a:cs typeface="DejaVu Sans" panose="020B0603030804020204"/>
              </a:rPr>
              <a:t>decay time</a:t>
            </a:r>
          </a:p>
        </p:txBody>
      </p:sp>
      <p:sp>
        <p:nvSpPr>
          <p:cNvPr id="20" name="text-78"/>
          <p:cNvSpPr>
            <a:spLocks noGrp="1"/>
          </p:cNvSpPr>
          <p:nvPr/>
        </p:nvSpPr>
        <p:spPr>
          <a:xfrm>
            <a:off x="8724900" y="4210050"/>
            <a:ext cx="2867025" cy="571500"/>
          </a:xfrm>
          <a:prstGeom prst="rect">
            <a:avLst/>
          </a:prstGeom>
          <a:noFill/>
          <a:ln w="0">
            <a:noFill/>
          </a:ln>
        </p:spPr>
        <p:txBody>
          <a:bodyPr wrap="square" lIns="0" tIns="0" rIns="0" bIns="0" anchor="t">
            <a:noAutofit/>
          </a:bodyPr>
          <a:lstStyle/>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Area above baseline</a:t>
            </a:r>
          </a:p>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 max(y − DC, 0) dt</a:t>
            </a:r>
          </a:p>
        </p:txBody>
      </p:sp>
      <p:sp>
        <p:nvSpPr>
          <p:cNvPr id="21" name="text-79"/>
          <p:cNvSpPr>
            <a:spLocks noGrp="1"/>
          </p:cNvSpPr>
          <p:nvPr/>
        </p:nvSpPr>
        <p:spPr>
          <a:xfrm>
            <a:off x="8724900" y="4838700"/>
            <a:ext cx="2867025" cy="1009650"/>
          </a:xfrm>
          <a:prstGeom prst="rect">
            <a:avLst/>
          </a:prstGeom>
          <a:noFill/>
          <a:ln w="0">
            <a:noFill/>
          </a:ln>
        </p:spPr>
        <p:txBody>
          <a:bodyPr wrap="square" lIns="0" tIns="0" rIns="0" bIns="0" anchor="t">
            <a:noAutofit/>
          </a:bodyPr>
          <a:lstStyle/>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AC: alternating</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(pulsatile) component</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DC: direct</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(slowly varying) component</a:t>
            </a:r>
          </a:p>
        </p:txBody>
      </p:sp>
      <p:sp>
        <p:nvSpPr>
          <p:cNvPr id="22" name="text-80"/>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AC is filtered pulse height; DC is the native local baseline. Both optical views are aligned in this schematic.</a:t>
            </a:r>
          </a:p>
        </p:txBody>
      </p:sp>
      <p:pic>
        <p:nvPicPr>
          <p:cNvPr id="4" name="图片 3"/>
          <p:cNvPicPr>
            <a:picLocks noChangeAspect="1"/>
          </p:cNvPicPr>
          <p:nvPr/>
        </p:nvPicPr>
        <p:blipFill>
          <a:blip r:embed="rId3"/>
          <a:stretch>
            <a:fillRect/>
          </a:stretch>
        </p:blipFill>
        <p:spPr>
          <a:xfrm>
            <a:off x="191135" y="1268730"/>
            <a:ext cx="8385175" cy="4678680"/>
          </a:xfrm>
          <a:prstGeom prst="rect">
            <a:avLst/>
          </a:prstGeom>
        </p:spPr>
      </p:pic>
      <p:graphicFrame>
        <p:nvGraphicFramePr>
          <p:cNvPr id="25" name="Chart"/>
          <p:cNvGraphicFramePr/>
          <p:nvPr/>
        </p:nvGraphicFramePr>
        <p:xfrm>
          <a:off x="513080" y="1335405"/>
          <a:ext cx="7667625" cy="406209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ext-6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Pulse morphology, AC and DC</a:t>
            </a:r>
          </a:p>
        </p:txBody>
      </p:sp>
      <p:sp>
        <p:nvSpPr>
          <p:cNvPr id="2" name="text-6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FEATURE ENGINEERING</a:t>
            </a:r>
          </a:p>
        </p:txBody>
      </p:sp>
      <p:sp>
        <p:nvSpPr>
          <p:cNvPr id="3" name="text-6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30</a:t>
            </a:r>
          </a:p>
        </p:txBody>
      </p:sp>
      <p:sp>
        <p:nvSpPr>
          <p:cNvPr id="16" name="text-74"/>
          <p:cNvSpPr>
            <a:spLocks noGrp="1"/>
          </p:cNvSpPr>
          <p:nvPr/>
        </p:nvSpPr>
        <p:spPr>
          <a:xfrm>
            <a:off x="8724900" y="1581150"/>
            <a:ext cx="2867025" cy="647700"/>
          </a:xfrm>
          <a:prstGeom prst="rect">
            <a:avLst/>
          </a:prstGeom>
          <a:noFill/>
          <a:ln w="0">
            <a:noFill/>
          </a:ln>
        </p:spPr>
        <p:txBody>
          <a:bodyPr wrap="square" lIns="0" tIns="0" rIns="0" bIns="0" anchor="t">
            <a:noAutofit/>
          </a:bodyPr>
          <a:lstStyle/>
          <a:p>
            <a:pPr algn="l">
              <a:defRPr sz="1875" b="1">
                <a:solidFill>
                  <a:srgbClr val="152C3F"/>
                </a:solidFill>
                <a:latin typeface="DejaVu Sans" panose="020B0603030804020204"/>
                <a:ea typeface="DejaVu Sans" panose="020B0603030804020204"/>
                <a:cs typeface="DejaVu Sans" panose="020B0603030804020204"/>
              </a:defRPr>
            </a:pPr>
            <a:r>
              <a:rPr sz="1875" b="1">
                <a:solidFill>
                  <a:srgbClr val="152C3F"/>
                </a:solidFill>
                <a:latin typeface="DejaVu Sans" panose="020B0603030804020204"/>
                <a:ea typeface="DejaVu Sans" panose="020B0603030804020204"/>
                <a:cs typeface="DejaVu Sans" panose="020B0603030804020204"/>
              </a:rPr>
              <a:t>Seven shape descriptors</a:t>
            </a:r>
          </a:p>
        </p:txBody>
      </p:sp>
      <p:sp>
        <p:nvSpPr>
          <p:cNvPr id="17" name="text-75"/>
          <p:cNvSpPr>
            <a:spLocks noGrp="1"/>
          </p:cNvSpPr>
          <p:nvPr/>
        </p:nvSpPr>
        <p:spPr>
          <a:xfrm>
            <a:off x="8724900" y="2324100"/>
            <a:ext cx="2867025" cy="571500"/>
          </a:xfrm>
          <a:prstGeom prst="rect">
            <a:avLst/>
          </a:prstGeom>
          <a:noFill/>
          <a:ln w="0">
            <a:noFill/>
          </a:ln>
        </p:spPr>
        <p:txBody>
          <a:bodyPr wrap="square" lIns="0" tIns="0" rIns="0" bIns="0" anchor="t">
            <a:noAutofit/>
          </a:bodyPr>
          <a:lstStyle/>
          <a:p>
            <a:pPr algn="l">
              <a:defRPr sz="1500" b="0">
                <a:solidFill>
                  <a:srgbClr val="152C3F"/>
                </a:solidFill>
                <a:latin typeface="DejaVu Sans" panose="020B0603030804020204"/>
                <a:ea typeface="DejaVu Sans" panose="020B0603030804020204"/>
                <a:cs typeface="DejaVu Sans" panose="020B0603030804020204"/>
              </a:defRPr>
            </a:pPr>
            <a:r>
              <a:rPr sz="1500" b="0">
                <a:solidFill>
                  <a:srgbClr val="152C3F"/>
                </a:solidFill>
                <a:latin typeface="DejaVu Sans" panose="020B0603030804020204"/>
                <a:ea typeface="DejaVu Sans" panose="020B0603030804020204"/>
                <a:cs typeface="DejaVu Sans" panose="020B0603030804020204"/>
              </a:rPr>
              <a:t>Amplitude and width</a:t>
            </a:r>
          </a:p>
          <a:p>
            <a:pPr algn="l">
              <a:defRPr sz="1500" b="0">
                <a:solidFill>
                  <a:srgbClr val="152C3F"/>
                </a:solidFill>
                <a:latin typeface="DejaVu Sans" panose="020B0603030804020204"/>
                <a:ea typeface="DejaVu Sans" panose="020B0603030804020204"/>
                <a:cs typeface="DejaVu Sans" panose="020B0603030804020204"/>
              </a:defRPr>
            </a:pPr>
            <a:r>
              <a:rPr sz="1500" b="0">
                <a:solidFill>
                  <a:srgbClr val="152C3F"/>
                </a:solidFill>
                <a:latin typeface="DejaVu Sans" panose="020B0603030804020204"/>
                <a:ea typeface="DejaVu Sans" panose="020B0603030804020204"/>
                <a:cs typeface="DejaVu Sans" panose="020B0603030804020204"/>
              </a:rPr>
              <a:t>at half height</a:t>
            </a:r>
          </a:p>
        </p:txBody>
      </p:sp>
      <p:sp>
        <p:nvSpPr>
          <p:cNvPr id="18" name="text-76"/>
          <p:cNvSpPr>
            <a:spLocks noGrp="1"/>
          </p:cNvSpPr>
          <p:nvPr/>
        </p:nvSpPr>
        <p:spPr>
          <a:xfrm>
            <a:off x="8724900" y="2952750"/>
            <a:ext cx="2867025" cy="571500"/>
          </a:xfrm>
          <a:prstGeom prst="rect">
            <a:avLst/>
          </a:prstGeom>
          <a:noFill/>
          <a:ln w="0">
            <a:noFill/>
          </a:ln>
        </p:spPr>
        <p:txBody>
          <a:bodyPr wrap="square" lIns="0" tIns="0" rIns="0" bIns="0" anchor="t">
            <a:noAutofit/>
          </a:bodyPr>
          <a:lstStyle/>
          <a:p>
            <a:pPr algn="l">
              <a:defRPr sz="1500" b="1">
                <a:solidFill>
                  <a:srgbClr val="B96D20"/>
                </a:solidFill>
                <a:latin typeface="DejaVu Sans" panose="020B0603030804020204"/>
                <a:ea typeface="DejaVu Sans" panose="020B0603030804020204"/>
                <a:cs typeface="DejaVu Sans" panose="020B0603030804020204"/>
              </a:defRPr>
            </a:pPr>
            <a:r>
              <a:rPr sz="1500" b="1">
                <a:solidFill>
                  <a:srgbClr val="B96D20"/>
                </a:solidFill>
                <a:latin typeface="DejaVu Sans" panose="020B0603030804020204"/>
                <a:ea typeface="DejaVu Sans" panose="020B0603030804020204"/>
                <a:cs typeface="DejaVu Sans" panose="020B0603030804020204"/>
              </a:rPr>
              <a:t>Rise slope = A /</a:t>
            </a:r>
          </a:p>
          <a:p>
            <a:pPr algn="l">
              <a:defRPr sz="1500" b="1">
                <a:solidFill>
                  <a:srgbClr val="B96D20"/>
                </a:solidFill>
                <a:latin typeface="DejaVu Sans" panose="020B0603030804020204"/>
                <a:ea typeface="DejaVu Sans" panose="020B0603030804020204"/>
                <a:cs typeface="DejaVu Sans" panose="020B0603030804020204"/>
              </a:defRPr>
            </a:pPr>
            <a:r>
              <a:rPr sz="1500" b="1">
                <a:solidFill>
                  <a:srgbClr val="B96D20"/>
                </a:solidFill>
                <a:latin typeface="DejaVu Sans" panose="020B0603030804020204"/>
                <a:ea typeface="DejaVu Sans" panose="020B0603030804020204"/>
                <a:cs typeface="DejaVu Sans" panose="020B0603030804020204"/>
              </a:rPr>
              <a:t>rise time</a:t>
            </a:r>
          </a:p>
        </p:txBody>
      </p:sp>
      <p:sp>
        <p:nvSpPr>
          <p:cNvPr id="19" name="text-77"/>
          <p:cNvSpPr>
            <a:spLocks noGrp="1"/>
          </p:cNvSpPr>
          <p:nvPr/>
        </p:nvSpPr>
        <p:spPr>
          <a:xfrm>
            <a:off x="8724900" y="3581400"/>
            <a:ext cx="2867025" cy="571500"/>
          </a:xfrm>
          <a:prstGeom prst="rect">
            <a:avLst/>
          </a:prstGeom>
          <a:noFill/>
          <a:ln w="0">
            <a:noFill/>
          </a:ln>
        </p:spPr>
        <p:txBody>
          <a:bodyPr wrap="square" lIns="0" tIns="0" rIns="0" bIns="0" anchor="t">
            <a:noAutofit/>
          </a:bodyPr>
          <a:lstStyle/>
          <a:p>
            <a:pPr algn="l">
              <a:defRPr sz="1500" b="1">
                <a:solidFill>
                  <a:srgbClr val="7056A8"/>
                </a:solidFill>
                <a:latin typeface="DejaVu Sans" panose="020B0603030804020204"/>
                <a:ea typeface="DejaVu Sans" panose="020B0603030804020204"/>
                <a:cs typeface="DejaVu Sans" panose="020B0603030804020204"/>
              </a:defRPr>
            </a:pPr>
            <a:r>
              <a:rPr sz="1500" b="1">
                <a:solidFill>
                  <a:srgbClr val="7056A8"/>
                </a:solidFill>
                <a:latin typeface="DejaVu Sans" panose="020B0603030804020204"/>
                <a:ea typeface="DejaVu Sans" panose="020B0603030804020204"/>
                <a:cs typeface="DejaVu Sans" panose="020B0603030804020204"/>
              </a:rPr>
              <a:t>Decay slope = −A /</a:t>
            </a:r>
          </a:p>
          <a:p>
            <a:pPr algn="l">
              <a:defRPr sz="1500" b="1">
                <a:solidFill>
                  <a:srgbClr val="7056A8"/>
                </a:solidFill>
                <a:latin typeface="DejaVu Sans" panose="020B0603030804020204"/>
                <a:ea typeface="DejaVu Sans" panose="020B0603030804020204"/>
                <a:cs typeface="DejaVu Sans" panose="020B0603030804020204"/>
              </a:defRPr>
            </a:pPr>
            <a:r>
              <a:rPr sz="1500" b="1">
                <a:solidFill>
                  <a:srgbClr val="7056A8"/>
                </a:solidFill>
                <a:latin typeface="DejaVu Sans" panose="020B0603030804020204"/>
                <a:ea typeface="DejaVu Sans" panose="020B0603030804020204"/>
                <a:cs typeface="DejaVu Sans" panose="020B0603030804020204"/>
              </a:rPr>
              <a:t>decay time</a:t>
            </a:r>
          </a:p>
        </p:txBody>
      </p:sp>
      <p:sp>
        <p:nvSpPr>
          <p:cNvPr id="20" name="text-78"/>
          <p:cNvSpPr>
            <a:spLocks noGrp="1"/>
          </p:cNvSpPr>
          <p:nvPr/>
        </p:nvSpPr>
        <p:spPr>
          <a:xfrm>
            <a:off x="8724900" y="4210050"/>
            <a:ext cx="2867025" cy="571500"/>
          </a:xfrm>
          <a:prstGeom prst="rect">
            <a:avLst/>
          </a:prstGeom>
          <a:noFill/>
          <a:ln w="0">
            <a:noFill/>
          </a:ln>
        </p:spPr>
        <p:txBody>
          <a:bodyPr wrap="square" lIns="0" tIns="0" rIns="0" bIns="0" anchor="t">
            <a:noAutofit/>
          </a:bodyPr>
          <a:lstStyle/>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Area above baseline</a:t>
            </a:r>
          </a:p>
          <a:p>
            <a:pPr algn="l">
              <a:defRPr sz="1500" b="1">
                <a:solidFill>
                  <a:srgbClr val="087E8B"/>
                </a:solidFill>
                <a:latin typeface="DejaVu Sans" panose="020B0603030804020204"/>
                <a:ea typeface="DejaVu Sans" panose="020B0603030804020204"/>
                <a:cs typeface="DejaVu Sans" panose="020B0603030804020204"/>
              </a:defRPr>
            </a:pPr>
            <a:r>
              <a:rPr sz="1500" b="1">
                <a:solidFill>
                  <a:srgbClr val="087E8B"/>
                </a:solidFill>
                <a:latin typeface="DejaVu Sans" panose="020B0603030804020204"/>
                <a:ea typeface="DejaVu Sans" panose="020B0603030804020204"/>
                <a:cs typeface="DejaVu Sans" panose="020B0603030804020204"/>
              </a:rPr>
              <a:t>∫ max(y − DC, 0) dt</a:t>
            </a:r>
          </a:p>
        </p:txBody>
      </p:sp>
      <p:sp>
        <p:nvSpPr>
          <p:cNvPr id="21" name="text-79"/>
          <p:cNvSpPr>
            <a:spLocks noGrp="1"/>
          </p:cNvSpPr>
          <p:nvPr/>
        </p:nvSpPr>
        <p:spPr>
          <a:xfrm>
            <a:off x="8724900" y="4838700"/>
            <a:ext cx="2867025" cy="1009650"/>
          </a:xfrm>
          <a:prstGeom prst="rect">
            <a:avLst/>
          </a:prstGeom>
          <a:noFill/>
          <a:ln w="0">
            <a:noFill/>
          </a:ln>
        </p:spPr>
        <p:txBody>
          <a:bodyPr wrap="square" lIns="0" tIns="0" rIns="0" bIns="0" anchor="t">
            <a:noAutofit/>
          </a:bodyPr>
          <a:lstStyle/>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AC: alternating</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(pulsatile) component</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DC: direct</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(slowly varying) component</a:t>
            </a:r>
          </a:p>
        </p:txBody>
      </p:sp>
      <p:sp>
        <p:nvSpPr>
          <p:cNvPr id="22" name="text-80"/>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AC is filtered pulse height; DC is the native local baseline. Both optical views are aligned in this schematic.</a:t>
            </a:r>
          </a:p>
        </p:txBody>
      </p:sp>
      <p:pic>
        <p:nvPicPr>
          <p:cNvPr id="4" name="图片 3"/>
          <p:cNvPicPr>
            <a:picLocks noChangeAspect="1"/>
          </p:cNvPicPr>
          <p:nvPr/>
        </p:nvPicPr>
        <p:blipFill>
          <a:blip r:embed="rId3"/>
          <a:stretch>
            <a:fillRect/>
          </a:stretch>
        </p:blipFill>
        <p:spPr>
          <a:xfrm>
            <a:off x="191135" y="1268730"/>
            <a:ext cx="8385175" cy="467868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15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Recording features matrix</a:t>
            </a:r>
          </a:p>
        </p:txBody>
      </p:sp>
      <p:sp>
        <p:nvSpPr>
          <p:cNvPr id="2" name="text-15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FEATURE REPRESENTATIONS</a:t>
            </a:r>
          </a:p>
        </p:txBody>
      </p:sp>
      <p:sp>
        <p:nvSpPr>
          <p:cNvPr id="3" name="text-15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31</a:t>
            </a:r>
          </a:p>
        </p:txBody>
      </p:sp>
      <p:graphicFrame>
        <p:nvGraphicFramePr>
          <p:cNvPr id="14" name="表格 13"/>
          <p:cNvGraphicFramePr/>
          <p:nvPr/>
        </p:nvGraphicFramePr>
        <p:xfrm>
          <a:off x="619125" y="1497330"/>
          <a:ext cx="5286375" cy="2438400"/>
        </p:xfrm>
        <a:graphic>
          <a:graphicData uri="http://schemas.openxmlformats.org/drawingml/2006/table">
            <a:tbl>
              <a:tblPr/>
              <a:tblGrid>
                <a:gridCol w="3857625">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tblGrid>
              <a:tr h="609600">
                <a:tc>
                  <a:txBody>
                    <a:bodyPr/>
                    <a:lstStyle/>
                    <a:p>
                      <a:pPr algn="l"/>
                      <a:r>
                        <a:rPr sz="1725" b="1">
                          <a:solidFill>
                            <a:srgbClr val="FFFFFF"/>
                          </a:solidFill>
                          <a:latin typeface="DejaVu Sans" panose="020B0603030804020204"/>
                          <a:ea typeface="DejaVu Sans" panose="020B0603030804020204"/>
                          <a:cs typeface="DejaVu Sans" panose="020B0603030804020204"/>
                        </a:rPr>
                        <a:t>Group</a:t>
                      </a:r>
                    </a:p>
                  </a:txBody>
                  <a:tcPr marL="114300" marR="114300" marT="95250" marB="95250" anchor="ctr">
                    <a:solidFill>
                      <a:srgbClr val="152C3F"/>
                    </a:solidFill>
                  </a:tcPr>
                </a:tc>
                <a:tc>
                  <a:txBody>
                    <a:bodyPr/>
                    <a:lstStyle/>
                    <a:p>
                      <a:pPr algn="ctr"/>
                      <a:r>
                        <a:rPr sz="1725" b="1">
                          <a:solidFill>
                            <a:srgbClr val="FFFFFF"/>
                          </a:solidFill>
                          <a:latin typeface="DejaVu Sans" panose="020B0603030804020204"/>
                          <a:ea typeface="DejaVu Sans" panose="020B0603030804020204"/>
                          <a:cs typeface="DejaVu Sans" panose="020B0603030804020204"/>
                        </a:rPr>
                        <a:t>Count</a:t>
                      </a:r>
                    </a:p>
                  </a:txBody>
                  <a:tcPr marL="114300" marR="114300" marT="95250" marB="95250" anchor="ctr">
                    <a:solidFill>
                      <a:srgbClr val="152C3F"/>
                    </a:solidFill>
                  </a:tcPr>
                </a:tc>
                <a:extLst>
                  <a:ext uri="{0D108BD9-81ED-4DB2-BD59-A6C34878D82A}">
                    <a16:rowId xmlns:a16="http://schemas.microsoft.com/office/drawing/2014/main" val="10000"/>
                  </a:ext>
                </a:extLst>
              </a:tr>
              <a:tr h="609600">
                <a:tc>
                  <a:txBody>
                    <a:bodyPr/>
                    <a:lstStyle/>
                    <a:p>
                      <a:pPr algn="l"/>
                      <a:r>
                        <a:rPr sz="1725" b="0">
                          <a:solidFill>
                            <a:srgbClr val="152C3F"/>
                          </a:solidFill>
                          <a:latin typeface="DejaVu Sans" panose="020B0603030804020204"/>
                          <a:ea typeface="DejaVu Sans" panose="020B0603030804020204"/>
                          <a:cs typeface="DejaVu Sans" panose="020B0603030804020204"/>
                        </a:rPr>
                        <a:t>Rate and PRV</a:t>
                      </a:r>
                    </a:p>
                  </a:txBody>
                  <a:tcPr marL="114300" marR="114300" marT="95250" marB="95250" anchor="ctr">
                    <a:solidFill>
                      <a:srgbClr val="FFFFFF"/>
                    </a:solidFill>
                  </a:tcPr>
                </a:tc>
                <a:tc>
                  <a:txBody>
                    <a:bodyPr/>
                    <a:lstStyle/>
                    <a:p>
                      <a:pPr algn="ctr"/>
                      <a:r>
                        <a:rPr lang="en-US" sz="1725" b="0">
                          <a:solidFill>
                            <a:srgbClr val="152C3F"/>
                          </a:solidFill>
                          <a:latin typeface="DejaVu Sans" panose="020B0603030804020204"/>
                          <a:ea typeface="DejaVu Sans" panose="020B0603030804020204"/>
                          <a:cs typeface="DejaVu Sans" panose="020B0603030804020204"/>
                        </a:rPr>
                        <a:t>17</a:t>
                      </a:r>
                    </a:p>
                  </a:txBody>
                  <a:tcPr marL="114300" marR="114300" marT="95250" marB="95250" anchor="ctr">
                    <a:solidFill>
                      <a:srgbClr val="FFFFFF"/>
                    </a:solidFill>
                  </a:tcPr>
                </a:tc>
                <a:extLst>
                  <a:ext uri="{0D108BD9-81ED-4DB2-BD59-A6C34878D82A}">
                    <a16:rowId xmlns:a16="http://schemas.microsoft.com/office/drawing/2014/main" val="10001"/>
                  </a:ext>
                </a:extLst>
              </a:tr>
              <a:tr h="609600">
                <a:tc>
                  <a:txBody>
                    <a:bodyPr/>
                    <a:lstStyle/>
                    <a:p>
                      <a:pPr algn="l"/>
                      <a:r>
                        <a:rPr sz="1725" b="0">
                          <a:solidFill>
                            <a:srgbClr val="152C3F"/>
                          </a:solidFill>
                          <a:latin typeface="DejaVu Sans" panose="020B0603030804020204"/>
                          <a:ea typeface="DejaVu Sans" panose="020B0603030804020204"/>
                          <a:cs typeface="DejaVu Sans" panose="020B0603030804020204"/>
                        </a:rPr>
                        <a:t>Morphology</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14</a:t>
                      </a:r>
                    </a:p>
                  </a:txBody>
                  <a:tcPr marL="114300" marR="114300" marT="95250" marB="95250" anchor="ctr">
                    <a:solidFill>
                      <a:srgbClr val="F4F6F8"/>
                    </a:solidFill>
                  </a:tcPr>
                </a:tc>
                <a:extLst>
                  <a:ext uri="{0D108BD9-81ED-4DB2-BD59-A6C34878D82A}">
                    <a16:rowId xmlns:a16="http://schemas.microsoft.com/office/drawing/2014/main" val="10002"/>
                  </a:ext>
                </a:extLst>
              </a:tr>
              <a:tr h="609600">
                <a:tc>
                  <a:txBody>
                    <a:bodyPr/>
                    <a:lstStyle/>
                    <a:p>
                      <a:pPr algn="l"/>
                      <a:r>
                        <a:rPr sz="1725" b="0">
                          <a:solidFill>
                            <a:srgbClr val="152C3F"/>
                          </a:solidFill>
                          <a:latin typeface="DejaVu Sans" panose="020B0603030804020204"/>
                          <a:ea typeface="DejaVu Sans" panose="020B0603030804020204"/>
                          <a:cs typeface="DejaVu Sans" panose="020B0603030804020204"/>
                        </a:rPr>
                        <a:t>Engineering mean / SD</a:t>
                      </a:r>
                    </a:p>
                  </a:txBody>
                  <a:tcPr marL="114300" marR="114300" marT="95250" marB="95250" anchor="ctr">
                    <a:solidFill>
                      <a:srgbClr val="F4F6F8"/>
                    </a:solidFill>
                  </a:tcPr>
                </a:tc>
                <a:tc>
                  <a:txBody>
                    <a:bodyPr/>
                    <a:lstStyle/>
                    <a:p>
                      <a:pPr algn="ctr"/>
                      <a:r>
                        <a:rPr lang="en-US" sz="1725" b="0">
                          <a:solidFill>
                            <a:srgbClr val="152C3F"/>
                          </a:solidFill>
                          <a:latin typeface="DejaVu Sans" panose="020B0603030804020204"/>
                          <a:ea typeface="DejaVu Sans" panose="020B0603030804020204"/>
                          <a:cs typeface="DejaVu Sans" panose="020B0603030804020204"/>
                        </a:rPr>
                        <a:t>115</a:t>
                      </a:r>
                    </a:p>
                  </a:txBody>
                  <a:tcPr marL="114300" marR="114300" marT="95250" marB="95250" anchor="ctr">
                    <a:solidFill>
                      <a:srgbClr val="F4F6F8"/>
                    </a:solidFill>
                  </a:tcPr>
                </a:tc>
                <a:extLst>
                  <a:ext uri="{0D108BD9-81ED-4DB2-BD59-A6C34878D82A}">
                    <a16:rowId xmlns:a16="http://schemas.microsoft.com/office/drawing/2014/main" val="10003"/>
                  </a:ext>
                </a:extLst>
              </a:tr>
            </a:tbl>
          </a:graphicData>
        </a:graphic>
      </p:graphicFrame>
      <p:sp>
        <p:nvSpPr>
          <p:cNvPr id="6" name="text-157"/>
          <p:cNvSpPr>
            <a:spLocks noGrp="1"/>
          </p:cNvSpPr>
          <p:nvPr/>
        </p:nvSpPr>
        <p:spPr>
          <a:xfrm>
            <a:off x="6715125" y="1457325"/>
            <a:ext cx="4857750" cy="485775"/>
          </a:xfrm>
          <a:prstGeom prst="rect">
            <a:avLst/>
          </a:prstGeom>
          <a:noFill/>
          <a:ln w="0">
            <a:noFill/>
          </a:ln>
        </p:spPr>
        <p:txBody>
          <a:bodyPr wrap="square" lIns="0" tIns="0" rIns="0" bIns="0" anchor="t">
            <a:noAutofit/>
          </a:bodyPr>
          <a:lstStyle/>
          <a:p>
            <a:pPr algn="l">
              <a:defRPr sz="2475" b="1">
                <a:solidFill>
                  <a:srgbClr val="7056A8"/>
                </a:solidFill>
                <a:latin typeface="DejaVu Sans" panose="020B0603030804020204"/>
                <a:ea typeface="DejaVu Sans" panose="020B0603030804020204"/>
                <a:cs typeface="DejaVu Sans" panose="020B0603030804020204"/>
              </a:defRPr>
            </a:pPr>
            <a:r>
              <a:rPr sz="2475" b="1">
                <a:solidFill>
                  <a:srgbClr val="7056A8"/>
                </a:solidFill>
                <a:latin typeface="DejaVu Sans" panose="020B0603030804020204"/>
                <a:ea typeface="DejaVu Sans" panose="020B0603030804020204"/>
                <a:cs typeface="DejaVu Sans" panose="020B0603030804020204"/>
              </a:rPr>
              <a:t>K × 146 </a:t>
            </a:r>
          </a:p>
          <a:p>
            <a:pPr algn="l">
              <a:defRPr sz="2475" b="1">
                <a:solidFill>
                  <a:srgbClr val="7056A8"/>
                </a:solidFill>
                <a:latin typeface="DejaVu Sans" panose="020B0603030804020204"/>
                <a:ea typeface="DejaVu Sans" panose="020B0603030804020204"/>
                <a:cs typeface="DejaVu Sans" panose="020B0603030804020204"/>
              </a:defRPr>
            </a:pPr>
            <a:r>
              <a:rPr>
                <a:sym typeface="+mn-ea"/>
              </a:rPr>
              <a:t>chronological </a:t>
            </a:r>
            <a:r>
              <a:rPr sz="2475" b="1">
                <a:solidFill>
                  <a:srgbClr val="7056A8"/>
                </a:solidFill>
                <a:latin typeface="DejaVu Sans" panose="020B0603030804020204"/>
                <a:ea typeface="DejaVu Sans" panose="020B0603030804020204"/>
                <a:cs typeface="DejaVu Sans" panose="020B0603030804020204"/>
              </a:rPr>
              <a:t> matrix</a:t>
            </a:r>
          </a:p>
        </p:txBody>
      </p:sp>
      <p:sp>
        <p:nvSpPr>
          <p:cNvPr id="7" name="text-158"/>
          <p:cNvSpPr>
            <a:spLocks noGrp="1"/>
          </p:cNvSpPr>
          <p:nvPr/>
        </p:nvSpPr>
        <p:spPr>
          <a:xfrm>
            <a:off x="6743700" y="2941955"/>
            <a:ext cx="4638675" cy="866775"/>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10 s windows, 2 s hop</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K = number of complete windows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12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Workflow: windowing</a:t>
            </a:r>
          </a:p>
        </p:txBody>
      </p:sp>
      <p:sp>
        <p:nvSpPr>
          <p:cNvPr id="2" name="text-12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PIPELINE WORKFLOW</a:t>
            </a:r>
          </a:p>
        </p:txBody>
      </p:sp>
      <p:sp>
        <p:nvSpPr>
          <p:cNvPr id="3" name="text-12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10</a:t>
            </a:r>
          </a:p>
        </p:txBody>
      </p:sp>
      <p:sp>
        <p:nvSpPr>
          <p:cNvPr id="4" name="workflow-128"/>
          <p:cNvSpPr>
            <a:spLocks noGrp="1"/>
          </p:cNvSpPr>
          <p:nvPr/>
        </p:nvSpPr>
        <p:spPr>
          <a:xfrm>
            <a:off x="571500" y="1724025"/>
            <a:ext cx="209550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PPG + IMU</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recordings</a:t>
            </a:r>
          </a:p>
        </p:txBody>
      </p:sp>
      <p:sp>
        <p:nvSpPr>
          <p:cNvPr id="5" name="workflow-129"/>
          <p:cNvSpPr>
            <a:spLocks noGrp="1"/>
          </p:cNvSpPr>
          <p:nvPr/>
        </p:nvSpPr>
        <p:spPr>
          <a:xfrm>
            <a:off x="3286125" y="172402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Preprocessing</a:t>
            </a:r>
          </a:p>
        </p:txBody>
      </p:sp>
      <p:sp>
        <p:nvSpPr>
          <p:cNvPr id="6" name="workflow-130"/>
          <p:cNvSpPr>
            <a:spLocks noGrp="1"/>
          </p:cNvSpPr>
          <p:nvPr/>
        </p:nvSpPr>
        <p:spPr>
          <a:xfrm>
            <a:off x="6143625" y="1724025"/>
            <a:ext cx="2428875"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Windowing</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 resample</a:t>
            </a:r>
          </a:p>
        </p:txBody>
      </p:sp>
      <p:sp>
        <p:nvSpPr>
          <p:cNvPr id="7" name="workflow-131"/>
          <p:cNvSpPr>
            <a:spLocks noGrp="1"/>
          </p:cNvSpPr>
          <p:nvPr/>
        </p:nvSpPr>
        <p:spPr>
          <a:xfrm>
            <a:off x="9239250" y="172402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Models &amp;</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classification</a:t>
            </a:r>
          </a:p>
        </p:txBody>
      </p:sp>
      <p:sp>
        <p:nvSpPr>
          <p:cNvPr id="8" name="workflow-132"/>
          <p:cNvSpPr>
            <a:spLocks noGrp="1"/>
          </p:cNvSpPr>
          <p:nvPr/>
        </p:nvSpPr>
        <p:spPr>
          <a:xfrm>
            <a:off x="3286125" y="368617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Motion detection</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&amp; denoising</a:t>
            </a:r>
          </a:p>
        </p:txBody>
      </p:sp>
      <p:sp>
        <p:nvSpPr>
          <p:cNvPr id="9" name="workflow-133"/>
          <p:cNvSpPr>
            <a:spLocks noGrp="1"/>
          </p:cNvSpPr>
          <p:nvPr/>
        </p:nvSpPr>
        <p:spPr>
          <a:xfrm>
            <a:off x="6143625" y="368617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Peak detection</a:t>
            </a:r>
          </a:p>
        </p:txBody>
      </p:sp>
      <p:sp>
        <p:nvSpPr>
          <p:cNvPr id="10" name="workflow-134"/>
          <p:cNvSpPr>
            <a:spLocks noGrp="1"/>
          </p:cNvSpPr>
          <p:nvPr/>
        </p:nvSpPr>
        <p:spPr>
          <a:xfrm>
            <a:off x="9239250" y="368617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Feature</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engineering</a:t>
            </a:r>
          </a:p>
        </p:txBody>
      </p:sp>
      <p:cxnSp>
        <p:nvCxnSpPr>
          <p:cNvPr id="34" name="直接箭头连接符 33"/>
          <p:cNvCxnSpPr>
            <a:stCxn id="4" idx="3"/>
            <a:endCxn id="5" idx="1"/>
          </p:cNvCxnSpPr>
          <p:nvPr/>
        </p:nvCxnSpPr>
        <p:spPr>
          <a:xfrm>
            <a:off x="2667000" y="2143125"/>
            <a:ext cx="619125" cy="0"/>
          </a:xfrm>
          <a:prstGeom prst="straightConnector1">
            <a:avLst/>
          </a:prstGeom>
          <a:ln w="19050">
            <a:solidFill>
              <a:srgbClr val="506577"/>
            </a:solidFill>
            <a:tailEnd type="triangle" w="sm" len="sm"/>
          </a:ln>
        </p:spPr>
      </p:cxnSp>
      <p:cxnSp>
        <p:nvCxnSpPr>
          <p:cNvPr id="35" name="直接箭头连接符 34"/>
          <p:cNvCxnSpPr>
            <a:stCxn id="5" idx="3"/>
            <a:endCxn id="6" idx="1"/>
          </p:cNvCxnSpPr>
          <p:nvPr/>
        </p:nvCxnSpPr>
        <p:spPr>
          <a:xfrm>
            <a:off x="5524500" y="2143125"/>
            <a:ext cx="619125" cy="0"/>
          </a:xfrm>
          <a:prstGeom prst="straightConnector1">
            <a:avLst/>
          </a:prstGeom>
          <a:ln w="19050">
            <a:solidFill>
              <a:srgbClr val="506577"/>
            </a:solidFill>
            <a:tailEnd type="triangle" w="sm" len="sm"/>
          </a:ln>
        </p:spPr>
      </p:cxnSp>
      <p:cxnSp>
        <p:nvCxnSpPr>
          <p:cNvPr id="36" name="直接箭头连接符 35"/>
          <p:cNvCxnSpPr>
            <a:stCxn id="6" idx="3"/>
            <a:endCxn id="7" idx="1"/>
          </p:cNvCxnSpPr>
          <p:nvPr/>
        </p:nvCxnSpPr>
        <p:spPr>
          <a:xfrm>
            <a:off x="8572500" y="2143125"/>
            <a:ext cx="666750" cy="0"/>
          </a:xfrm>
          <a:prstGeom prst="straightConnector1">
            <a:avLst/>
          </a:prstGeom>
          <a:ln w="19050">
            <a:solidFill>
              <a:srgbClr val="506577"/>
            </a:solidFill>
            <a:tailEnd type="triangle" w="sm" len="sm"/>
          </a:ln>
        </p:spPr>
      </p:cxnSp>
      <p:cxnSp>
        <p:nvCxnSpPr>
          <p:cNvPr id="37" name="直接箭头连接符 36"/>
          <p:cNvCxnSpPr>
            <a:stCxn id="5" idx="2"/>
            <a:endCxn id="8" idx="0"/>
          </p:cNvCxnSpPr>
          <p:nvPr/>
        </p:nvCxnSpPr>
        <p:spPr>
          <a:xfrm>
            <a:off x="4405313" y="2562225"/>
            <a:ext cx="0" cy="1123950"/>
          </a:xfrm>
          <a:prstGeom prst="straightConnector1">
            <a:avLst/>
          </a:prstGeom>
          <a:ln w="19050">
            <a:solidFill>
              <a:srgbClr val="506577"/>
            </a:solidFill>
            <a:tailEnd type="triangle" w="sm" len="sm"/>
          </a:ln>
        </p:spPr>
      </p:cxnSp>
      <p:cxnSp>
        <p:nvCxnSpPr>
          <p:cNvPr id="38" name="直接箭头连接符 37"/>
          <p:cNvCxnSpPr>
            <a:stCxn id="8" idx="3"/>
            <a:endCxn id="9" idx="1"/>
          </p:cNvCxnSpPr>
          <p:nvPr/>
        </p:nvCxnSpPr>
        <p:spPr>
          <a:xfrm>
            <a:off x="5524500" y="4105275"/>
            <a:ext cx="619125" cy="0"/>
          </a:xfrm>
          <a:prstGeom prst="straightConnector1">
            <a:avLst/>
          </a:prstGeom>
          <a:ln w="19050">
            <a:solidFill>
              <a:srgbClr val="506577"/>
            </a:solidFill>
            <a:tailEnd type="triangle" w="sm" len="sm"/>
          </a:ln>
        </p:spPr>
      </p:cxnSp>
      <p:cxnSp>
        <p:nvCxnSpPr>
          <p:cNvPr id="39" name="直接箭头连接符 38"/>
          <p:cNvCxnSpPr>
            <a:stCxn id="9" idx="3"/>
            <a:endCxn id="10" idx="1"/>
          </p:cNvCxnSpPr>
          <p:nvPr/>
        </p:nvCxnSpPr>
        <p:spPr>
          <a:xfrm>
            <a:off x="8572500" y="4105275"/>
            <a:ext cx="666750" cy="0"/>
          </a:xfrm>
          <a:prstGeom prst="straightConnector1">
            <a:avLst/>
          </a:prstGeom>
          <a:ln w="19050">
            <a:solidFill>
              <a:srgbClr val="506577"/>
            </a:solidFill>
            <a:tailEnd type="triangle" w="sm" len="sm"/>
          </a:ln>
        </p:spPr>
      </p:cxnSp>
      <p:cxnSp>
        <p:nvCxnSpPr>
          <p:cNvPr id="40" name="直接箭头连接符 39"/>
          <p:cNvCxnSpPr>
            <a:stCxn id="10" idx="0"/>
            <a:endCxn id="7" idx="2"/>
          </p:cNvCxnSpPr>
          <p:nvPr/>
        </p:nvCxnSpPr>
        <p:spPr>
          <a:xfrm flipV="1">
            <a:off x="10429875" y="2562225"/>
            <a:ext cx="0" cy="1123950"/>
          </a:xfrm>
          <a:prstGeom prst="straightConnector1">
            <a:avLst/>
          </a:prstGeom>
          <a:ln w="19050">
            <a:solidFill>
              <a:srgbClr val="506577"/>
            </a:solidFill>
            <a:tailEnd type="triangle" w="sm" len="sm"/>
          </a:ln>
        </p:spPr>
      </p:cxnSp>
      <p:sp>
        <p:nvSpPr>
          <p:cNvPr id="18" name="text-135"/>
          <p:cNvSpPr>
            <a:spLocks noGrp="1"/>
          </p:cNvSpPr>
          <p:nvPr/>
        </p:nvSpPr>
        <p:spPr>
          <a:xfrm>
            <a:off x="6191250" y="1371600"/>
            <a:ext cx="2543175" cy="266700"/>
          </a:xfrm>
          <a:prstGeom prst="rect">
            <a:avLst/>
          </a:prstGeom>
          <a:noFill/>
          <a:ln w="0">
            <a:noFill/>
          </a:ln>
        </p:spPr>
        <p:txBody>
          <a:bodyPr wrap="square" lIns="0" tIns="0" rIns="0" bIns="0" anchor="t">
            <a:noAutofit/>
          </a:bodyPr>
          <a:lstStyle/>
          <a:p>
            <a:pPr algn="l">
              <a:defRPr sz="1575" b="1">
                <a:solidFill>
                  <a:srgbClr val="506577"/>
                </a:solidFill>
                <a:latin typeface="DejaVu Sans" panose="020B0603030804020204"/>
                <a:ea typeface="DejaVu Sans" panose="020B0603030804020204"/>
                <a:cs typeface="DejaVu Sans" panose="020B0603030804020204"/>
              </a:defRPr>
            </a:pPr>
            <a:r>
              <a:rPr sz="1575" b="1">
                <a:solidFill>
                  <a:srgbClr val="506577"/>
                </a:solidFill>
                <a:latin typeface="DejaVu Sans" panose="020B0603030804020204"/>
                <a:ea typeface="DejaVu Sans" panose="020B0603030804020204"/>
                <a:cs typeface="DejaVu Sans" panose="020B0603030804020204"/>
              </a:rPr>
              <a:t>Waveform branch</a:t>
            </a:r>
          </a:p>
        </p:txBody>
      </p:sp>
      <p:sp>
        <p:nvSpPr>
          <p:cNvPr id="19" name="text-136"/>
          <p:cNvSpPr>
            <a:spLocks noGrp="1"/>
          </p:cNvSpPr>
          <p:nvPr/>
        </p:nvSpPr>
        <p:spPr>
          <a:xfrm>
            <a:off x="9277350" y="1371600"/>
            <a:ext cx="2343150" cy="266700"/>
          </a:xfrm>
          <a:prstGeom prst="rect">
            <a:avLst/>
          </a:prstGeom>
          <a:noFill/>
          <a:ln w="0">
            <a:noFill/>
          </a:ln>
        </p:spPr>
        <p:txBody>
          <a:bodyPr wrap="square" lIns="0" tIns="0" rIns="0" bIns="0" anchor="t">
            <a:noAutofit/>
          </a:bodyPr>
          <a:lstStyle/>
          <a:p>
            <a:pPr algn="ctr">
              <a:defRPr sz="1425" b="1">
                <a:solidFill>
                  <a:srgbClr val="506577"/>
                </a:solidFill>
                <a:latin typeface="DejaVu Sans" panose="020B0603030804020204"/>
                <a:ea typeface="DejaVu Sans" panose="020B0603030804020204"/>
                <a:cs typeface="DejaVu Sans" panose="020B0603030804020204"/>
              </a:defRPr>
            </a:pPr>
            <a:r>
              <a:rPr sz="1425" b="1">
                <a:solidFill>
                  <a:srgbClr val="506577"/>
                </a:solidFill>
                <a:latin typeface="DejaVu Sans" panose="020B0603030804020204"/>
                <a:ea typeface="DejaVu Sans" panose="020B0603030804020204"/>
                <a:cs typeface="DejaVu Sans" panose="020B0603030804020204"/>
              </a:rPr>
              <a:t>Alternative inputs</a:t>
            </a:r>
          </a:p>
        </p:txBody>
      </p:sp>
      <p:sp>
        <p:nvSpPr>
          <p:cNvPr id="20" name="text-137"/>
          <p:cNvSpPr>
            <a:spLocks noGrp="1"/>
          </p:cNvSpPr>
          <p:nvPr/>
        </p:nvSpPr>
        <p:spPr>
          <a:xfrm>
            <a:off x="571500" y="3781425"/>
            <a:ext cx="2190750" cy="742950"/>
          </a:xfrm>
          <a:prstGeom prst="rect">
            <a:avLst/>
          </a:prstGeom>
          <a:noFill/>
          <a:ln w="0">
            <a:noFill/>
          </a:ln>
        </p:spPr>
        <p:txBody>
          <a:bodyPr wrap="square" lIns="0" tIns="0" rIns="0" bIns="0" anchor="t">
            <a:noAutofit/>
          </a:bodyPr>
          <a:lstStyle/>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Physiological</a:t>
            </a:r>
          </a:p>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analysis branch</a:t>
            </a:r>
          </a:p>
        </p:txBody>
      </p:sp>
      <p:sp>
        <p:nvSpPr>
          <p:cNvPr id="21" name="text-138"/>
          <p:cNvSpPr>
            <a:spLocks noGrp="1"/>
          </p:cNvSpPr>
          <p:nvPr/>
        </p:nvSpPr>
        <p:spPr>
          <a:xfrm>
            <a:off x="3390900" y="4610100"/>
            <a:ext cx="2257425"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Optional / identity</a:t>
            </a:r>
          </a:p>
        </p:txBody>
      </p:sp>
      <p:sp>
        <p:nvSpPr>
          <p:cNvPr id="22" name="text-139"/>
          <p:cNvSpPr>
            <a:spLocks noGrp="1"/>
          </p:cNvSpPr>
          <p:nvPr/>
        </p:nvSpPr>
        <p:spPr>
          <a:xfrm>
            <a:off x="9210675" y="4610100"/>
            <a:ext cx="2438400" cy="476250"/>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Shape / baseline use original optical data</a:t>
            </a:r>
          </a:p>
        </p:txBody>
      </p:sp>
      <p:sp>
        <p:nvSpPr>
          <p:cNvPr id="23" name="text-140"/>
          <p:cNvSpPr>
            <a:spLocks noGrp="1"/>
          </p:cNvSpPr>
          <p:nvPr/>
        </p:nvSpPr>
        <p:spPr>
          <a:xfrm>
            <a:off x="571500" y="5391150"/>
            <a:ext cx="11049000" cy="7048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Duration, overlap, normalization and resampling define the waveform model’s input.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5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Windowing, resampling and normalization</a:t>
            </a:r>
          </a:p>
        </p:txBody>
      </p:sp>
      <p:sp>
        <p:nvSpPr>
          <p:cNvPr id="2" name="text-6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PREPROCESSING</a:t>
            </a:r>
          </a:p>
        </p:txBody>
      </p:sp>
      <p:sp>
        <p:nvSpPr>
          <p:cNvPr id="3" name="text-6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32</a:t>
            </a:r>
          </a:p>
        </p:txBody>
      </p:sp>
      <p:sp>
        <p:nvSpPr>
          <p:cNvPr id="4" name="workflow-62"/>
          <p:cNvSpPr>
            <a:spLocks noGrp="1"/>
          </p:cNvSpPr>
          <p:nvPr/>
        </p:nvSpPr>
        <p:spPr>
          <a:xfrm>
            <a:off x="571500" y="1438275"/>
            <a:ext cx="2190750" cy="8953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5 s windows</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2.5 s hop</a:t>
            </a:r>
          </a:p>
        </p:txBody>
      </p:sp>
      <p:sp>
        <p:nvSpPr>
          <p:cNvPr id="5" name="workflow-63"/>
          <p:cNvSpPr>
            <a:spLocks noGrp="1"/>
          </p:cNvSpPr>
          <p:nvPr/>
        </p:nvSpPr>
        <p:spPr>
          <a:xfrm>
            <a:off x="3429000" y="1438275"/>
            <a:ext cx="2381250" cy="8953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Robust scale</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all 8 channels</a:t>
            </a:r>
          </a:p>
        </p:txBody>
      </p:sp>
      <p:sp>
        <p:nvSpPr>
          <p:cNvPr id="6" name="workflow-64"/>
          <p:cNvSpPr>
            <a:spLocks noGrp="1"/>
          </p:cNvSpPr>
          <p:nvPr/>
        </p:nvSpPr>
        <p:spPr>
          <a:xfrm>
            <a:off x="6477000" y="1438275"/>
            <a:ext cx="2381250" cy="8953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Anti-alias resampling</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64 Hz</a:t>
            </a:r>
          </a:p>
        </p:txBody>
      </p:sp>
      <p:sp>
        <p:nvSpPr>
          <p:cNvPr id="7" name="workflow-65"/>
          <p:cNvSpPr>
            <a:spLocks noGrp="1"/>
          </p:cNvSpPr>
          <p:nvPr/>
        </p:nvSpPr>
        <p:spPr>
          <a:xfrm>
            <a:off x="9525000" y="1438275"/>
            <a:ext cx="2095500" cy="8953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8 × 320</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samples</a:t>
            </a:r>
          </a:p>
        </p:txBody>
      </p:sp>
      <p:cxnSp>
        <p:nvCxnSpPr>
          <p:cNvPr id="25" name="直接箭头连接符 24"/>
          <p:cNvCxnSpPr>
            <a:stCxn id="4" idx="3"/>
            <a:endCxn id="5" idx="1"/>
          </p:cNvCxnSpPr>
          <p:nvPr/>
        </p:nvCxnSpPr>
        <p:spPr>
          <a:xfrm>
            <a:off x="2762250" y="1885950"/>
            <a:ext cx="666750" cy="0"/>
          </a:xfrm>
          <a:prstGeom prst="straightConnector1">
            <a:avLst/>
          </a:prstGeom>
          <a:ln w="19050">
            <a:solidFill>
              <a:srgbClr val="506577"/>
            </a:solidFill>
            <a:tailEnd type="triangle" w="sm" len="sm"/>
          </a:ln>
        </p:spPr>
      </p:cxnSp>
      <p:cxnSp>
        <p:nvCxnSpPr>
          <p:cNvPr id="26" name="直接箭头连接符 25"/>
          <p:cNvCxnSpPr>
            <a:stCxn id="5" idx="3"/>
            <a:endCxn id="6" idx="1"/>
          </p:cNvCxnSpPr>
          <p:nvPr/>
        </p:nvCxnSpPr>
        <p:spPr>
          <a:xfrm>
            <a:off x="5810250" y="1885950"/>
            <a:ext cx="666750" cy="0"/>
          </a:xfrm>
          <a:prstGeom prst="straightConnector1">
            <a:avLst/>
          </a:prstGeom>
          <a:ln w="19050">
            <a:solidFill>
              <a:srgbClr val="506577"/>
            </a:solidFill>
            <a:tailEnd type="triangle" w="sm" len="sm"/>
          </a:ln>
        </p:spPr>
      </p:cxnSp>
      <p:cxnSp>
        <p:nvCxnSpPr>
          <p:cNvPr id="27" name="直接箭头连接符 26"/>
          <p:cNvCxnSpPr>
            <a:stCxn id="6" idx="3"/>
            <a:endCxn id="7" idx="1"/>
          </p:cNvCxnSpPr>
          <p:nvPr/>
        </p:nvCxnSpPr>
        <p:spPr>
          <a:xfrm>
            <a:off x="8858250" y="1885950"/>
            <a:ext cx="666750" cy="0"/>
          </a:xfrm>
          <a:prstGeom prst="straightConnector1">
            <a:avLst/>
          </a:prstGeom>
          <a:ln w="19050">
            <a:solidFill>
              <a:srgbClr val="506577"/>
            </a:solidFill>
            <a:tailEnd type="triangle" w="sm" len="sm"/>
          </a:ln>
        </p:spPr>
      </p:cxnSp>
      <p:graphicFrame>
        <p:nvGraphicFramePr>
          <p:cNvPr id="28" name="Chart"/>
          <p:cNvGraphicFramePr/>
          <p:nvPr/>
        </p:nvGraphicFramePr>
        <p:xfrm>
          <a:off x="571500" y="2895600"/>
          <a:ext cx="6191250" cy="2124075"/>
        </p:xfrm>
        <a:graphic>
          <a:graphicData uri="http://schemas.openxmlformats.org/drawingml/2006/chart">
            <c:chart xmlns:c="http://schemas.openxmlformats.org/drawingml/2006/chart" xmlns:r="http://schemas.openxmlformats.org/officeDocument/2006/relationships" r:id="rId3"/>
          </a:graphicData>
        </a:graphic>
      </p:graphicFrame>
      <p:sp>
        <p:nvSpPr>
          <p:cNvPr id="12" name="workflow-66"/>
          <p:cNvSpPr>
            <a:spLocks noGrp="1"/>
          </p:cNvSpPr>
          <p:nvPr/>
        </p:nvSpPr>
        <p:spPr>
          <a:xfrm>
            <a:off x="1228725" y="5219700"/>
            <a:ext cx="2552700" cy="457200"/>
          </a:xfrm>
          <a:prstGeom prst="rect">
            <a:avLst/>
          </a:prstGeom>
          <a:solidFill>
            <a:srgbClr val="ECF4F6"/>
          </a:solidFill>
          <a:ln w="16193">
            <a:solidFill>
              <a:srgbClr val="087E8B"/>
            </a:solidFill>
          </a:ln>
        </p:spPr>
        <p:txBody>
          <a:bodyPr lIns="114300" tIns="76200" rIns="114300" bIns="76200" anchor="ctr">
            <a:noAutofit/>
          </a:bodyPr>
          <a:lstStyle/>
          <a:p>
            <a:pPr algn="ctr">
              <a:defRPr sz="1500" b="0">
                <a:solidFill>
                  <a:srgbClr val="087E8B"/>
                </a:solidFill>
                <a:latin typeface="DejaVu Sans" panose="020B0603030804020204"/>
                <a:ea typeface="DejaVu Sans" panose="020B0603030804020204"/>
                <a:cs typeface="DejaVu Sans" panose="020B0603030804020204"/>
              </a:defRPr>
            </a:pPr>
            <a:r>
              <a:rPr sz="1500" b="0">
                <a:solidFill>
                  <a:srgbClr val="087E8B"/>
                </a:solidFill>
                <a:latin typeface="DejaVu Sans" panose="020B0603030804020204"/>
                <a:ea typeface="DejaVu Sans" panose="020B0603030804020204"/>
                <a:cs typeface="DejaVu Sans" panose="020B0603030804020204"/>
              </a:rPr>
              <a:t>Window 1: 0–5 s</a:t>
            </a:r>
          </a:p>
        </p:txBody>
      </p:sp>
      <p:sp>
        <p:nvSpPr>
          <p:cNvPr id="13" name="workflow-67"/>
          <p:cNvSpPr>
            <a:spLocks noGrp="1"/>
          </p:cNvSpPr>
          <p:nvPr/>
        </p:nvSpPr>
        <p:spPr>
          <a:xfrm>
            <a:off x="2514600" y="5724525"/>
            <a:ext cx="2571750" cy="457200"/>
          </a:xfrm>
          <a:prstGeom prst="rect">
            <a:avLst/>
          </a:prstGeom>
          <a:solidFill>
            <a:srgbClr val="ECF4F6"/>
          </a:solidFill>
          <a:ln w="16193">
            <a:solidFill>
              <a:srgbClr val="087E8B"/>
            </a:solidFill>
          </a:ln>
        </p:spPr>
        <p:txBody>
          <a:bodyPr lIns="114300" tIns="76200" rIns="114300" bIns="76200" anchor="ctr">
            <a:noAutofit/>
          </a:bodyPr>
          <a:lstStyle/>
          <a:p>
            <a:pPr algn="ctr">
              <a:defRPr sz="1500" b="0">
                <a:solidFill>
                  <a:srgbClr val="087E8B"/>
                </a:solidFill>
                <a:latin typeface="DejaVu Sans" panose="020B0603030804020204"/>
                <a:ea typeface="DejaVu Sans" panose="020B0603030804020204"/>
                <a:cs typeface="DejaVu Sans" panose="020B0603030804020204"/>
              </a:defRPr>
            </a:pPr>
            <a:r>
              <a:rPr sz="1500" b="0">
                <a:solidFill>
                  <a:srgbClr val="087E8B"/>
                </a:solidFill>
                <a:latin typeface="DejaVu Sans" panose="020B0603030804020204"/>
                <a:ea typeface="DejaVu Sans" panose="020B0603030804020204"/>
                <a:cs typeface="DejaVu Sans" panose="020B0603030804020204"/>
              </a:rPr>
              <a:t>Window 2: 2.5–7.5 s</a:t>
            </a:r>
          </a:p>
        </p:txBody>
      </p:sp>
      <p:sp>
        <p:nvSpPr>
          <p:cNvPr id="14" name="text-68"/>
          <p:cNvSpPr>
            <a:spLocks noGrp="1"/>
          </p:cNvSpPr>
          <p:nvPr/>
        </p:nvSpPr>
        <p:spPr>
          <a:xfrm>
            <a:off x="7477125" y="2924175"/>
            <a:ext cx="4038600" cy="409575"/>
          </a:xfrm>
          <a:prstGeom prst="rect">
            <a:avLst/>
          </a:prstGeom>
          <a:noFill/>
          <a:ln w="0">
            <a:noFill/>
          </a:ln>
        </p:spPr>
        <p:txBody>
          <a:bodyPr wrap="square" lIns="0" tIns="0" rIns="0" bIns="0" anchor="t">
            <a:noAutofit/>
          </a:bodyPr>
          <a:lstStyle/>
          <a:p>
            <a:pPr algn="l">
              <a:defRPr sz="2100" b="1">
                <a:solidFill>
                  <a:srgbClr val="152C3F"/>
                </a:solidFill>
                <a:latin typeface="DejaVu Sans" panose="020B0603030804020204"/>
                <a:ea typeface="DejaVu Sans" panose="020B0603030804020204"/>
                <a:cs typeface="DejaVu Sans" panose="020B0603030804020204"/>
              </a:defRPr>
            </a:pPr>
            <a:r>
              <a:rPr sz="2100" b="1">
                <a:solidFill>
                  <a:srgbClr val="152C3F"/>
                </a:solidFill>
                <a:latin typeface="DejaVu Sans" panose="020B0603030804020204"/>
                <a:ea typeface="DejaVu Sans" panose="020B0603030804020204"/>
                <a:cs typeface="DejaVu Sans" panose="020B0603030804020204"/>
              </a:rPr>
              <a:t>Interquartile range (IQR)</a:t>
            </a:r>
          </a:p>
        </p:txBody>
      </p:sp>
      <p:sp>
        <p:nvSpPr>
          <p:cNvPr id="15" name="text-69"/>
          <p:cNvSpPr>
            <a:spLocks noGrp="1"/>
          </p:cNvSpPr>
          <p:nvPr/>
        </p:nvSpPr>
        <p:spPr>
          <a:xfrm>
            <a:off x="7477125" y="3486150"/>
            <a:ext cx="4048125" cy="933450"/>
          </a:xfrm>
          <a:prstGeom prst="rect">
            <a:avLst/>
          </a:prstGeom>
          <a:noFill/>
          <a:ln w="0">
            <a:noFill/>
          </a:ln>
        </p:spPr>
        <p:txBody>
          <a:bodyPr wrap="square" lIns="0" tIns="0" rIns="0" bIns="0" anchor="t">
            <a:noAutofit/>
          </a:bodyPr>
          <a:lstStyle/>
          <a:p>
            <a:pPr algn="l">
              <a:defRPr sz="2100" b="0">
                <a:solidFill>
                  <a:srgbClr val="087E8B"/>
                </a:solidFill>
                <a:latin typeface="DejaVu Sans" panose="020B0603030804020204"/>
                <a:ea typeface="DejaVu Sans" panose="020B0603030804020204"/>
                <a:cs typeface="DejaVu Sans" panose="020B0603030804020204"/>
              </a:defRPr>
            </a:pPr>
            <a:r>
              <a:rPr sz="2100" b="0">
                <a:solidFill>
                  <a:srgbClr val="087E8B"/>
                </a:solidFill>
                <a:latin typeface="DejaVu Sans" panose="020B0603030804020204"/>
                <a:ea typeface="DejaVu Sans" panose="020B0603030804020204"/>
                <a:cs typeface="DejaVu Sans" panose="020B0603030804020204"/>
              </a:rPr>
              <a:t>s = IQR / 1.349</a:t>
            </a:r>
          </a:p>
          <a:p>
            <a:pPr algn="l">
              <a:defRPr sz="2100" b="0">
                <a:solidFill>
                  <a:srgbClr val="087E8B"/>
                </a:solidFill>
                <a:latin typeface="DejaVu Sans" panose="020B0603030804020204"/>
                <a:ea typeface="DejaVu Sans" panose="020B0603030804020204"/>
                <a:cs typeface="DejaVu Sans" panose="020B0603030804020204"/>
              </a:defRPr>
            </a:pPr>
            <a:r>
              <a:rPr sz="2100" b="0">
                <a:solidFill>
                  <a:srgbClr val="087E8B"/>
                </a:solidFill>
                <a:latin typeface="DejaVu Sans" panose="020B0603030804020204"/>
                <a:ea typeface="DejaVu Sans" panose="020B0603030804020204"/>
                <a:cs typeface="DejaVu Sans" panose="020B0603030804020204"/>
              </a:rPr>
              <a:t>z = (x − median) / s</a:t>
            </a:r>
          </a:p>
        </p:txBody>
      </p:sp>
      <p:sp>
        <p:nvSpPr>
          <p:cNvPr id="16" name="text-70"/>
          <p:cNvSpPr>
            <a:spLocks noGrp="1"/>
          </p:cNvSpPr>
          <p:nvPr/>
        </p:nvSpPr>
        <p:spPr>
          <a:xfrm>
            <a:off x="7477125" y="4438650"/>
            <a:ext cx="4000500" cy="1190625"/>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Clip to [−8, 8]</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Apply to all 8 model input channels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Keep feature views unnormalized</a:t>
            </a:r>
          </a:p>
        </p:txBody>
      </p:sp>
      <p:sp>
        <p:nvSpPr>
          <p:cNvPr id="17" name="text-71"/>
          <p:cNvSpPr>
            <a:spLocks noGrp="1"/>
          </p:cNvSpPr>
          <p:nvPr/>
        </p:nvSpPr>
        <p:spPr>
          <a:xfrm>
            <a:off x="6000750" y="6067425"/>
            <a:ext cx="6191250" cy="2190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Schematic; complete windows only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180"/>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Participant grouping and balanced aggregation</a:t>
            </a:r>
          </a:p>
        </p:txBody>
      </p:sp>
      <p:sp>
        <p:nvSpPr>
          <p:cNvPr id="2" name="text-181"/>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MODELS AND CLASSIFICATION · EVALUATION</a:t>
            </a:r>
          </a:p>
        </p:txBody>
      </p:sp>
      <p:sp>
        <p:nvSpPr>
          <p:cNvPr id="3" name="text-182"/>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33</a:t>
            </a:r>
          </a:p>
        </p:txBody>
      </p:sp>
      <p:sp>
        <p:nvSpPr>
          <p:cNvPr id="4" name="text-183"/>
          <p:cNvSpPr>
            <a:spLocks noGrp="1"/>
          </p:cNvSpPr>
          <p:nvPr/>
        </p:nvSpPr>
        <p:spPr>
          <a:xfrm>
            <a:off x="571500" y="1438275"/>
            <a:ext cx="10953750" cy="485775"/>
          </a:xfrm>
          <a:prstGeom prst="rect">
            <a:avLst/>
          </a:prstGeom>
          <a:noFill/>
          <a:ln w="0">
            <a:noFill/>
          </a:ln>
        </p:spPr>
        <p:txBody>
          <a:bodyPr wrap="square" lIns="0" tIns="0" rIns="0" bIns="0" anchor="t">
            <a:noAutofit/>
          </a:bodyPr>
          <a:lstStyle/>
          <a:p>
            <a:pPr algn="l">
              <a:defRPr sz="2400" b="1">
                <a:solidFill>
                  <a:srgbClr val="152C3F"/>
                </a:solidFill>
                <a:latin typeface="DejaVu Sans" panose="020B0603030804020204"/>
                <a:ea typeface="DejaVu Sans" panose="020B0603030804020204"/>
                <a:cs typeface="DejaVu Sans" panose="020B0603030804020204"/>
              </a:defRPr>
            </a:pPr>
            <a:r>
              <a:rPr sz="2400" b="1">
                <a:solidFill>
                  <a:srgbClr val="152C3F"/>
                </a:solidFill>
                <a:latin typeface="DejaVu Sans" panose="020B0603030804020204"/>
                <a:ea typeface="DejaVu Sans" panose="020B0603030804020204"/>
                <a:cs typeface="DejaVu Sans" panose="020B0603030804020204"/>
              </a:rPr>
              <a:t>StratifiedGroupKFold: 5 grouped folds × 5 repeats</a:t>
            </a:r>
          </a:p>
        </p:txBody>
      </p:sp>
      <p:sp>
        <p:nvSpPr>
          <p:cNvPr id="5" name="text-184"/>
          <p:cNvSpPr>
            <a:spLocks noGrp="1"/>
          </p:cNvSpPr>
          <p:nvPr/>
        </p:nvSpPr>
        <p:spPr>
          <a:xfrm>
            <a:off x="571500" y="2019300"/>
            <a:ext cx="10953750" cy="457200"/>
          </a:xfrm>
          <a:prstGeom prst="rect">
            <a:avLst/>
          </a:prstGeom>
          <a:noFill/>
          <a:ln w="0">
            <a:noFill/>
          </a:ln>
        </p:spPr>
        <p:txBody>
          <a:bodyPr wrap="square" lIns="0" tIns="0" rIns="0" bIns="0" anchor="t">
            <a:noAutofit/>
          </a:bodyPr>
          <a:lstStyle/>
          <a:p>
            <a:pPr algn="l">
              <a:defRPr sz="1875" b="0">
                <a:solidFill>
                  <a:srgbClr val="506577"/>
                </a:solidFill>
                <a:latin typeface="DejaVu Sans" panose="020B0603030804020204"/>
                <a:ea typeface="DejaVu Sans" panose="020B0603030804020204"/>
                <a:cs typeface="DejaVu Sans" panose="020B0603030804020204"/>
              </a:defRPr>
            </a:pPr>
            <a:r>
              <a:rPr sz="1875" b="0">
                <a:solidFill>
                  <a:srgbClr val="506577"/>
                </a:solidFill>
                <a:latin typeface="DejaVu Sans" panose="020B0603030804020204"/>
                <a:ea typeface="DejaVu Sans" panose="020B0603030804020204"/>
                <a:cs typeface="DejaVu Sans" panose="020B0603030804020204"/>
              </a:rPr>
              <a:t>All files and windows from one participant remain in one fold</a:t>
            </a:r>
          </a:p>
        </p:txBody>
      </p:sp>
      <p:sp>
        <p:nvSpPr>
          <p:cNvPr id="6" name="workflow-185"/>
          <p:cNvSpPr>
            <a:spLocks noGrp="1"/>
          </p:cNvSpPr>
          <p:nvPr/>
        </p:nvSpPr>
        <p:spPr>
          <a:xfrm>
            <a:off x="571500" y="3009900"/>
            <a:ext cx="2190750" cy="83820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Window</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probabilities</a:t>
            </a:r>
          </a:p>
        </p:txBody>
      </p:sp>
      <p:sp>
        <p:nvSpPr>
          <p:cNvPr id="7" name="workflow-186"/>
          <p:cNvSpPr>
            <a:spLocks noGrp="1"/>
          </p:cNvSpPr>
          <p:nvPr/>
        </p:nvSpPr>
        <p:spPr>
          <a:xfrm>
            <a:off x="3429000" y="3009900"/>
            <a:ext cx="2095500" cy="83820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File mean</a:t>
            </a:r>
          </a:p>
        </p:txBody>
      </p:sp>
      <p:sp>
        <p:nvSpPr>
          <p:cNvPr id="8" name="workflow-187"/>
          <p:cNvSpPr>
            <a:spLocks noGrp="1"/>
          </p:cNvSpPr>
          <p:nvPr/>
        </p:nvSpPr>
        <p:spPr>
          <a:xfrm>
            <a:off x="6191250" y="3009900"/>
            <a:ext cx="2571750" cy="83820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Role-family mean</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B / R / S / W</a:t>
            </a:r>
          </a:p>
        </p:txBody>
      </p:sp>
      <p:sp>
        <p:nvSpPr>
          <p:cNvPr id="9" name="workflow-188"/>
          <p:cNvSpPr>
            <a:spLocks noGrp="1"/>
          </p:cNvSpPr>
          <p:nvPr/>
        </p:nvSpPr>
        <p:spPr>
          <a:xfrm>
            <a:off x="9382125" y="3009900"/>
            <a:ext cx="2238375" cy="83820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Participant</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probabilities</a:t>
            </a:r>
          </a:p>
        </p:txBody>
      </p:sp>
      <p:cxnSp>
        <p:nvCxnSpPr>
          <p:cNvPr id="24" name="直接箭头连接符 23"/>
          <p:cNvCxnSpPr>
            <a:stCxn id="6" idx="3"/>
            <a:endCxn id="7" idx="1"/>
          </p:cNvCxnSpPr>
          <p:nvPr/>
        </p:nvCxnSpPr>
        <p:spPr>
          <a:xfrm>
            <a:off x="2762250" y="3429000"/>
            <a:ext cx="666750" cy="0"/>
          </a:xfrm>
          <a:prstGeom prst="straightConnector1">
            <a:avLst/>
          </a:prstGeom>
          <a:ln w="19050">
            <a:solidFill>
              <a:srgbClr val="506577"/>
            </a:solidFill>
            <a:tailEnd type="triangle" w="sm" len="sm"/>
          </a:ln>
        </p:spPr>
      </p:cxnSp>
      <p:cxnSp>
        <p:nvCxnSpPr>
          <p:cNvPr id="25" name="直接箭头连接符 24"/>
          <p:cNvCxnSpPr>
            <a:stCxn id="7" idx="3"/>
            <a:endCxn id="8" idx="1"/>
          </p:cNvCxnSpPr>
          <p:nvPr/>
        </p:nvCxnSpPr>
        <p:spPr>
          <a:xfrm>
            <a:off x="5524500" y="3429000"/>
            <a:ext cx="666750" cy="0"/>
          </a:xfrm>
          <a:prstGeom prst="straightConnector1">
            <a:avLst/>
          </a:prstGeom>
          <a:ln w="19050">
            <a:solidFill>
              <a:srgbClr val="506577"/>
            </a:solidFill>
            <a:tailEnd type="triangle" w="sm" len="sm"/>
          </a:ln>
        </p:spPr>
      </p:cxnSp>
      <p:cxnSp>
        <p:nvCxnSpPr>
          <p:cNvPr id="26" name="直接箭头连接符 25"/>
          <p:cNvCxnSpPr>
            <a:stCxn id="8" idx="3"/>
            <a:endCxn id="9" idx="1"/>
          </p:cNvCxnSpPr>
          <p:nvPr/>
        </p:nvCxnSpPr>
        <p:spPr>
          <a:xfrm>
            <a:off x="8763000" y="3429000"/>
            <a:ext cx="619125" cy="0"/>
          </a:xfrm>
          <a:prstGeom prst="straightConnector1">
            <a:avLst/>
          </a:prstGeom>
          <a:ln w="19050">
            <a:solidFill>
              <a:srgbClr val="506577"/>
            </a:solidFill>
            <a:tailEnd type="triangle" w="sm" len="sm"/>
          </a:ln>
        </p:spPr>
      </p:cxnSp>
      <p:graphicFrame>
        <p:nvGraphicFramePr>
          <p:cNvPr id="27" name="表格 26"/>
          <p:cNvGraphicFramePr/>
          <p:nvPr/>
        </p:nvGraphicFramePr>
        <p:xfrm>
          <a:off x="571500" y="4543425"/>
          <a:ext cx="11049000" cy="962026"/>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481013">
                <a:tc>
                  <a:txBody>
                    <a:bodyPr/>
                    <a:lstStyle/>
                    <a:p>
                      <a:pPr algn="l"/>
                      <a:r>
                        <a:rPr sz="1800" b="1">
                          <a:solidFill>
                            <a:srgbClr val="FFFFFF"/>
                          </a:solidFill>
                          <a:latin typeface="DejaVu Sans" panose="020B0603030804020204"/>
                          <a:ea typeface="DejaVu Sans" panose="020B0603030804020204"/>
                          <a:cs typeface="DejaVu Sans" panose="020B0603030804020204"/>
                        </a:rPr>
                        <a:t>Baseline</a:t>
                      </a:r>
                    </a:p>
                  </a:txBody>
                  <a:tcPr marL="114300" marR="114300" marT="95250" marB="95250" anchor="ctr">
                    <a:solidFill>
                      <a:srgbClr val="152C3F"/>
                    </a:solidFill>
                  </a:tcPr>
                </a:tc>
                <a:tc>
                  <a:txBody>
                    <a:bodyPr/>
                    <a:lstStyle/>
                    <a:p>
                      <a:pPr algn="ctr"/>
                      <a:r>
                        <a:rPr sz="1800" b="1">
                          <a:solidFill>
                            <a:srgbClr val="FFFFFF"/>
                          </a:solidFill>
                          <a:latin typeface="DejaVu Sans" panose="020B0603030804020204"/>
                          <a:ea typeface="DejaVu Sans" panose="020B0603030804020204"/>
                          <a:cs typeface="DejaVu Sans" panose="020B0603030804020204"/>
                        </a:rPr>
                        <a:t>Recovery</a:t>
                      </a:r>
                    </a:p>
                  </a:txBody>
                  <a:tcPr marL="114300" marR="114300" marT="95250" marB="95250" anchor="ctr">
                    <a:solidFill>
                      <a:srgbClr val="152C3F"/>
                    </a:solidFill>
                  </a:tcPr>
                </a:tc>
                <a:tc>
                  <a:txBody>
                    <a:bodyPr/>
                    <a:lstStyle/>
                    <a:p>
                      <a:pPr algn="ctr"/>
                      <a:r>
                        <a:rPr sz="1800" b="1">
                          <a:solidFill>
                            <a:srgbClr val="FFFFFF"/>
                          </a:solidFill>
                          <a:latin typeface="DejaVu Sans" panose="020B0603030804020204"/>
                          <a:ea typeface="DejaVu Sans" panose="020B0603030804020204"/>
                          <a:cs typeface="DejaVu Sans" panose="020B0603030804020204"/>
                        </a:rPr>
                        <a:t>Sit-to-stand</a:t>
                      </a:r>
                    </a:p>
                  </a:txBody>
                  <a:tcPr marL="114300" marR="114300" marT="95250" marB="95250" anchor="ctr">
                    <a:solidFill>
                      <a:srgbClr val="152C3F"/>
                    </a:solidFill>
                  </a:tcPr>
                </a:tc>
                <a:tc>
                  <a:txBody>
                    <a:bodyPr/>
                    <a:lstStyle/>
                    <a:p>
                      <a:pPr algn="ctr"/>
                      <a:r>
                        <a:rPr sz="1800" b="1">
                          <a:solidFill>
                            <a:srgbClr val="FFFFFF"/>
                          </a:solidFill>
                          <a:latin typeface="DejaVu Sans" panose="020B0603030804020204"/>
                          <a:ea typeface="DejaVu Sans" panose="020B0603030804020204"/>
                          <a:cs typeface="DejaVu Sans" panose="020B0603030804020204"/>
                        </a:rPr>
                        <a:t>Walking</a:t>
                      </a:r>
                    </a:p>
                  </a:txBody>
                  <a:tcPr marL="114300" marR="114300" marT="95250" marB="95250" anchor="ctr">
                    <a:solidFill>
                      <a:srgbClr val="152C3F"/>
                    </a:solidFill>
                  </a:tcPr>
                </a:tc>
                <a:extLst>
                  <a:ext uri="{0D108BD9-81ED-4DB2-BD59-A6C34878D82A}">
                    <a16:rowId xmlns:a16="http://schemas.microsoft.com/office/drawing/2014/main" val="10000"/>
                  </a:ext>
                </a:extLst>
              </a:tr>
              <a:tr h="481013">
                <a:tc>
                  <a:txBody>
                    <a:bodyPr/>
                    <a:lstStyle/>
                    <a:p>
                      <a:pPr algn="l"/>
                      <a:r>
                        <a:rPr sz="1800" b="0">
                          <a:solidFill>
                            <a:srgbClr val="152C3F"/>
                          </a:solidFill>
                          <a:latin typeface="DejaVu Sans" panose="020B0603030804020204"/>
                          <a:ea typeface="DejaVu Sans" panose="020B0603030804020204"/>
                          <a:cs typeface="DejaVu Sans" panose="020B0603030804020204"/>
                        </a:rPr>
                        <a:t>25%</a:t>
                      </a:r>
                    </a:p>
                  </a:txBody>
                  <a:tcPr marL="114300" marR="114300" marT="95250" marB="9525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25%</a:t>
                      </a:r>
                    </a:p>
                  </a:txBody>
                  <a:tcPr marL="114300" marR="114300" marT="95250" marB="9525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25%</a:t>
                      </a:r>
                    </a:p>
                  </a:txBody>
                  <a:tcPr marL="114300" marR="114300" marT="95250" marB="9525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25%</a:t>
                      </a:r>
                    </a:p>
                  </a:txBody>
                  <a:tcPr marL="114300" marR="114300" marT="95250" marB="95250" anchor="ctr">
                    <a:solidFill>
                      <a:srgbClr val="FFFFFF"/>
                    </a:solidFill>
                  </a:tcPr>
                </a:tc>
                <a:extLst>
                  <a:ext uri="{0D108BD9-81ED-4DB2-BD59-A6C34878D82A}">
                    <a16:rowId xmlns:a16="http://schemas.microsoft.com/office/drawing/2014/main" val="10001"/>
                  </a:ext>
                </a:extLst>
              </a:tr>
            </a:tbl>
          </a:graphicData>
        </a:graphic>
      </p:graphicFrame>
      <p:sp>
        <p:nvSpPr>
          <p:cNvPr id="14" name="text-189"/>
          <p:cNvSpPr>
            <a:spLocks noGrp="1"/>
          </p:cNvSpPr>
          <p:nvPr/>
        </p:nvSpPr>
        <p:spPr>
          <a:xfrm>
            <a:off x="571500" y="5829300"/>
            <a:ext cx="10953750" cy="457200"/>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Internal out-of-fold evaluation. Repeated predictions do not create new independent participants.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18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Workflow: models and classification</a:t>
            </a:r>
          </a:p>
        </p:txBody>
      </p:sp>
      <p:sp>
        <p:nvSpPr>
          <p:cNvPr id="2" name="text-19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PIPELINE WORKFLOW</a:t>
            </a:r>
          </a:p>
        </p:txBody>
      </p:sp>
      <p:sp>
        <p:nvSpPr>
          <p:cNvPr id="3" name="text-19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34</a:t>
            </a:r>
          </a:p>
        </p:txBody>
      </p:sp>
      <p:sp>
        <p:nvSpPr>
          <p:cNvPr id="4" name="workflow-192"/>
          <p:cNvSpPr>
            <a:spLocks noGrp="1"/>
          </p:cNvSpPr>
          <p:nvPr/>
        </p:nvSpPr>
        <p:spPr>
          <a:xfrm>
            <a:off x="571500" y="1724025"/>
            <a:ext cx="209550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PPG + IMU</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recordings</a:t>
            </a:r>
          </a:p>
        </p:txBody>
      </p:sp>
      <p:sp>
        <p:nvSpPr>
          <p:cNvPr id="5" name="workflow-193"/>
          <p:cNvSpPr>
            <a:spLocks noGrp="1"/>
          </p:cNvSpPr>
          <p:nvPr/>
        </p:nvSpPr>
        <p:spPr>
          <a:xfrm>
            <a:off x="3286125" y="172402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Preprocessing</a:t>
            </a:r>
          </a:p>
        </p:txBody>
      </p:sp>
      <p:sp>
        <p:nvSpPr>
          <p:cNvPr id="6" name="workflow-194"/>
          <p:cNvSpPr>
            <a:spLocks noGrp="1"/>
          </p:cNvSpPr>
          <p:nvPr/>
        </p:nvSpPr>
        <p:spPr>
          <a:xfrm>
            <a:off x="6143625" y="172402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Windowing</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 resample</a:t>
            </a:r>
          </a:p>
        </p:txBody>
      </p:sp>
      <p:sp>
        <p:nvSpPr>
          <p:cNvPr id="7" name="workflow-195"/>
          <p:cNvSpPr>
            <a:spLocks noGrp="1"/>
          </p:cNvSpPr>
          <p:nvPr/>
        </p:nvSpPr>
        <p:spPr>
          <a:xfrm>
            <a:off x="9239250" y="1724025"/>
            <a:ext cx="2381250" cy="838200"/>
          </a:xfrm>
          <a:prstGeom prst="rect">
            <a:avLst/>
          </a:prstGeom>
          <a:solidFill>
            <a:srgbClr val="D7EEEF"/>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Models &amp;</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classification</a:t>
            </a:r>
          </a:p>
        </p:txBody>
      </p:sp>
      <p:sp>
        <p:nvSpPr>
          <p:cNvPr id="8" name="workflow-196"/>
          <p:cNvSpPr>
            <a:spLocks noGrp="1"/>
          </p:cNvSpPr>
          <p:nvPr/>
        </p:nvSpPr>
        <p:spPr>
          <a:xfrm>
            <a:off x="3286125" y="3686175"/>
            <a:ext cx="22383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Motion detection</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&amp; denoising</a:t>
            </a:r>
          </a:p>
        </p:txBody>
      </p:sp>
      <p:sp>
        <p:nvSpPr>
          <p:cNvPr id="9" name="workflow-197"/>
          <p:cNvSpPr>
            <a:spLocks noGrp="1"/>
          </p:cNvSpPr>
          <p:nvPr/>
        </p:nvSpPr>
        <p:spPr>
          <a:xfrm>
            <a:off x="6143625" y="3686175"/>
            <a:ext cx="2428875"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Peak detection</a:t>
            </a:r>
          </a:p>
        </p:txBody>
      </p:sp>
      <p:sp>
        <p:nvSpPr>
          <p:cNvPr id="10" name="workflow-198"/>
          <p:cNvSpPr>
            <a:spLocks noGrp="1"/>
          </p:cNvSpPr>
          <p:nvPr/>
        </p:nvSpPr>
        <p:spPr>
          <a:xfrm>
            <a:off x="9239250" y="3686175"/>
            <a:ext cx="2381250" cy="838200"/>
          </a:xfrm>
          <a:prstGeom prst="rect">
            <a:avLst/>
          </a:prstGeom>
          <a:solidFill>
            <a:srgbClr val="F4F6F8"/>
          </a:solidFill>
          <a:ln w="16193">
            <a:solidFill>
              <a:srgbClr val="8395A2"/>
            </a:solidFill>
          </a:ln>
        </p:spPr>
        <p:txBody>
          <a:bodyPr lIns="95250" tIns="76200" rIns="95250" bIns="76200" anchor="ctr">
            <a:noAutofit/>
          </a:bodyPr>
          <a:lstStyle/>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Feature</a:t>
            </a:r>
          </a:p>
          <a:p>
            <a:pPr algn="ctr">
              <a:defRPr sz="1725">
                <a:solidFill>
                  <a:srgbClr val="8395A2"/>
                </a:solidFill>
                <a:latin typeface="DejaVu Sans" panose="020B0603030804020204"/>
                <a:ea typeface="DejaVu Sans" panose="020B0603030804020204"/>
                <a:cs typeface="DejaVu Sans" panose="020B0603030804020204"/>
              </a:defRPr>
            </a:pPr>
            <a:r>
              <a:rPr sz="1725">
                <a:solidFill>
                  <a:srgbClr val="8395A2"/>
                </a:solidFill>
                <a:latin typeface="DejaVu Sans" panose="020B0603030804020204"/>
                <a:ea typeface="DejaVu Sans" panose="020B0603030804020204"/>
                <a:cs typeface="DejaVu Sans" panose="020B0603030804020204"/>
              </a:rPr>
              <a:t>engineering</a:t>
            </a:r>
          </a:p>
        </p:txBody>
      </p:sp>
      <p:cxnSp>
        <p:nvCxnSpPr>
          <p:cNvPr id="34" name="直接箭头连接符 33"/>
          <p:cNvCxnSpPr>
            <a:stCxn id="4" idx="3"/>
            <a:endCxn id="5" idx="1"/>
          </p:cNvCxnSpPr>
          <p:nvPr/>
        </p:nvCxnSpPr>
        <p:spPr>
          <a:xfrm>
            <a:off x="2667000" y="2143125"/>
            <a:ext cx="619125" cy="0"/>
          </a:xfrm>
          <a:prstGeom prst="straightConnector1">
            <a:avLst/>
          </a:prstGeom>
          <a:ln w="19050">
            <a:solidFill>
              <a:srgbClr val="506577"/>
            </a:solidFill>
            <a:tailEnd type="triangle" w="sm" len="sm"/>
          </a:ln>
        </p:spPr>
      </p:cxnSp>
      <p:cxnSp>
        <p:nvCxnSpPr>
          <p:cNvPr id="35" name="直接箭头连接符 34"/>
          <p:cNvCxnSpPr>
            <a:stCxn id="5" idx="3"/>
            <a:endCxn id="6" idx="1"/>
          </p:cNvCxnSpPr>
          <p:nvPr/>
        </p:nvCxnSpPr>
        <p:spPr>
          <a:xfrm>
            <a:off x="5524500" y="2143125"/>
            <a:ext cx="619125" cy="0"/>
          </a:xfrm>
          <a:prstGeom prst="straightConnector1">
            <a:avLst/>
          </a:prstGeom>
          <a:ln w="19050">
            <a:solidFill>
              <a:srgbClr val="506577"/>
            </a:solidFill>
            <a:tailEnd type="triangle" w="sm" len="sm"/>
          </a:ln>
        </p:spPr>
      </p:cxnSp>
      <p:cxnSp>
        <p:nvCxnSpPr>
          <p:cNvPr id="36" name="直接箭头连接符 35"/>
          <p:cNvCxnSpPr>
            <a:stCxn id="6" idx="3"/>
            <a:endCxn id="7" idx="1"/>
          </p:cNvCxnSpPr>
          <p:nvPr/>
        </p:nvCxnSpPr>
        <p:spPr>
          <a:xfrm>
            <a:off x="8572500" y="2143125"/>
            <a:ext cx="666750" cy="0"/>
          </a:xfrm>
          <a:prstGeom prst="straightConnector1">
            <a:avLst/>
          </a:prstGeom>
          <a:ln w="19050">
            <a:solidFill>
              <a:srgbClr val="506577"/>
            </a:solidFill>
            <a:tailEnd type="triangle" w="sm" len="sm"/>
          </a:ln>
        </p:spPr>
      </p:cxnSp>
      <p:cxnSp>
        <p:nvCxnSpPr>
          <p:cNvPr id="37" name="直接箭头连接符 36"/>
          <p:cNvCxnSpPr>
            <a:stCxn id="5" idx="2"/>
            <a:endCxn id="8" idx="0"/>
          </p:cNvCxnSpPr>
          <p:nvPr/>
        </p:nvCxnSpPr>
        <p:spPr>
          <a:xfrm>
            <a:off x="4405313" y="2562225"/>
            <a:ext cx="0" cy="1123950"/>
          </a:xfrm>
          <a:prstGeom prst="straightConnector1">
            <a:avLst/>
          </a:prstGeom>
          <a:ln w="19050">
            <a:solidFill>
              <a:srgbClr val="506577"/>
            </a:solidFill>
            <a:tailEnd type="triangle" w="sm" len="sm"/>
          </a:ln>
        </p:spPr>
      </p:cxnSp>
      <p:cxnSp>
        <p:nvCxnSpPr>
          <p:cNvPr id="38" name="直接箭头连接符 37"/>
          <p:cNvCxnSpPr>
            <a:stCxn id="8" idx="3"/>
            <a:endCxn id="9" idx="1"/>
          </p:cNvCxnSpPr>
          <p:nvPr/>
        </p:nvCxnSpPr>
        <p:spPr>
          <a:xfrm>
            <a:off x="5524500" y="4105275"/>
            <a:ext cx="619125" cy="0"/>
          </a:xfrm>
          <a:prstGeom prst="straightConnector1">
            <a:avLst/>
          </a:prstGeom>
          <a:ln w="19050">
            <a:solidFill>
              <a:srgbClr val="506577"/>
            </a:solidFill>
            <a:tailEnd type="triangle" w="sm" len="sm"/>
          </a:ln>
        </p:spPr>
      </p:cxnSp>
      <p:cxnSp>
        <p:nvCxnSpPr>
          <p:cNvPr id="39" name="直接箭头连接符 38"/>
          <p:cNvCxnSpPr>
            <a:stCxn id="9" idx="3"/>
            <a:endCxn id="10" idx="1"/>
          </p:cNvCxnSpPr>
          <p:nvPr/>
        </p:nvCxnSpPr>
        <p:spPr>
          <a:xfrm>
            <a:off x="8572500" y="4105275"/>
            <a:ext cx="666750" cy="0"/>
          </a:xfrm>
          <a:prstGeom prst="straightConnector1">
            <a:avLst/>
          </a:prstGeom>
          <a:ln w="19050">
            <a:solidFill>
              <a:srgbClr val="506577"/>
            </a:solidFill>
            <a:tailEnd type="triangle" w="sm" len="sm"/>
          </a:ln>
        </p:spPr>
      </p:cxnSp>
      <p:cxnSp>
        <p:nvCxnSpPr>
          <p:cNvPr id="40" name="直接箭头连接符 39"/>
          <p:cNvCxnSpPr>
            <a:stCxn id="10" idx="0"/>
            <a:endCxn id="7" idx="2"/>
          </p:cNvCxnSpPr>
          <p:nvPr/>
        </p:nvCxnSpPr>
        <p:spPr>
          <a:xfrm flipV="1">
            <a:off x="10429875" y="2562225"/>
            <a:ext cx="0" cy="1123950"/>
          </a:xfrm>
          <a:prstGeom prst="straightConnector1">
            <a:avLst/>
          </a:prstGeom>
          <a:ln w="19050">
            <a:solidFill>
              <a:srgbClr val="506577"/>
            </a:solidFill>
            <a:tailEnd type="triangle" w="sm" len="sm"/>
          </a:ln>
        </p:spPr>
      </p:cxnSp>
      <p:sp>
        <p:nvSpPr>
          <p:cNvPr id="18" name="text-199"/>
          <p:cNvSpPr>
            <a:spLocks noGrp="1"/>
          </p:cNvSpPr>
          <p:nvPr/>
        </p:nvSpPr>
        <p:spPr>
          <a:xfrm>
            <a:off x="6191250" y="1371600"/>
            <a:ext cx="2543175" cy="266700"/>
          </a:xfrm>
          <a:prstGeom prst="rect">
            <a:avLst/>
          </a:prstGeom>
          <a:noFill/>
          <a:ln w="0">
            <a:noFill/>
          </a:ln>
        </p:spPr>
        <p:txBody>
          <a:bodyPr wrap="square" lIns="0" tIns="0" rIns="0" bIns="0" anchor="t">
            <a:noAutofit/>
          </a:bodyPr>
          <a:lstStyle/>
          <a:p>
            <a:pPr algn="l">
              <a:defRPr sz="1575" b="1">
                <a:solidFill>
                  <a:srgbClr val="506577"/>
                </a:solidFill>
                <a:latin typeface="DejaVu Sans" panose="020B0603030804020204"/>
                <a:ea typeface="DejaVu Sans" panose="020B0603030804020204"/>
                <a:cs typeface="DejaVu Sans" panose="020B0603030804020204"/>
              </a:defRPr>
            </a:pPr>
            <a:r>
              <a:rPr sz="1575" b="1">
                <a:solidFill>
                  <a:srgbClr val="506577"/>
                </a:solidFill>
                <a:latin typeface="DejaVu Sans" panose="020B0603030804020204"/>
                <a:ea typeface="DejaVu Sans" panose="020B0603030804020204"/>
                <a:cs typeface="DejaVu Sans" panose="020B0603030804020204"/>
              </a:rPr>
              <a:t>Waveform branch</a:t>
            </a:r>
          </a:p>
        </p:txBody>
      </p:sp>
      <p:sp>
        <p:nvSpPr>
          <p:cNvPr id="19" name="text-200"/>
          <p:cNvSpPr>
            <a:spLocks noGrp="1"/>
          </p:cNvSpPr>
          <p:nvPr/>
        </p:nvSpPr>
        <p:spPr>
          <a:xfrm>
            <a:off x="9277350" y="1371600"/>
            <a:ext cx="2343150" cy="266700"/>
          </a:xfrm>
          <a:prstGeom prst="rect">
            <a:avLst/>
          </a:prstGeom>
          <a:noFill/>
          <a:ln w="0">
            <a:noFill/>
          </a:ln>
        </p:spPr>
        <p:txBody>
          <a:bodyPr wrap="square" lIns="0" tIns="0" rIns="0" bIns="0" anchor="t">
            <a:noAutofit/>
          </a:bodyPr>
          <a:lstStyle/>
          <a:p>
            <a:pPr algn="ctr">
              <a:defRPr sz="1425" b="1">
                <a:solidFill>
                  <a:srgbClr val="506577"/>
                </a:solidFill>
                <a:latin typeface="DejaVu Sans" panose="020B0603030804020204"/>
                <a:ea typeface="DejaVu Sans" panose="020B0603030804020204"/>
                <a:cs typeface="DejaVu Sans" panose="020B0603030804020204"/>
              </a:defRPr>
            </a:pPr>
            <a:r>
              <a:rPr sz="1425" b="1">
                <a:solidFill>
                  <a:srgbClr val="506577"/>
                </a:solidFill>
                <a:latin typeface="DejaVu Sans" panose="020B0603030804020204"/>
                <a:ea typeface="DejaVu Sans" panose="020B0603030804020204"/>
                <a:cs typeface="DejaVu Sans" panose="020B0603030804020204"/>
              </a:rPr>
              <a:t>Alternative inputs</a:t>
            </a:r>
          </a:p>
        </p:txBody>
      </p:sp>
      <p:sp>
        <p:nvSpPr>
          <p:cNvPr id="20" name="text-201"/>
          <p:cNvSpPr>
            <a:spLocks noGrp="1"/>
          </p:cNvSpPr>
          <p:nvPr/>
        </p:nvSpPr>
        <p:spPr>
          <a:xfrm>
            <a:off x="571500" y="3781425"/>
            <a:ext cx="2190750" cy="742950"/>
          </a:xfrm>
          <a:prstGeom prst="rect">
            <a:avLst/>
          </a:prstGeom>
          <a:noFill/>
          <a:ln w="0">
            <a:noFill/>
          </a:ln>
        </p:spPr>
        <p:txBody>
          <a:bodyPr wrap="square" lIns="0" tIns="0" rIns="0" bIns="0" anchor="t">
            <a:noAutofit/>
          </a:bodyPr>
          <a:lstStyle/>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Physiological</a:t>
            </a:r>
          </a:p>
          <a:p>
            <a:pPr algn="l">
              <a:defRPr sz="1800" b="1">
                <a:solidFill>
                  <a:srgbClr val="506577"/>
                </a:solidFill>
                <a:latin typeface="DejaVu Sans" panose="020B0603030804020204"/>
                <a:ea typeface="DejaVu Sans" panose="020B0603030804020204"/>
                <a:cs typeface="DejaVu Sans" panose="020B0603030804020204"/>
              </a:defRPr>
            </a:pPr>
            <a:r>
              <a:rPr sz="1800" b="1">
                <a:solidFill>
                  <a:srgbClr val="506577"/>
                </a:solidFill>
                <a:latin typeface="DejaVu Sans" panose="020B0603030804020204"/>
                <a:ea typeface="DejaVu Sans" panose="020B0603030804020204"/>
                <a:cs typeface="DejaVu Sans" panose="020B0603030804020204"/>
              </a:rPr>
              <a:t>analysis branch</a:t>
            </a:r>
          </a:p>
        </p:txBody>
      </p:sp>
      <p:sp>
        <p:nvSpPr>
          <p:cNvPr id="21" name="text-202"/>
          <p:cNvSpPr>
            <a:spLocks noGrp="1"/>
          </p:cNvSpPr>
          <p:nvPr/>
        </p:nvSpPr>
        <p:spPr>
          <a:xfrm>
            <a:off x="3390900" y="4610100"/>
            <a:ext cx="2257425" cy="276225"/>
          </a:xfrm>
          <a:prstGeom prst="rect">
            <a:avLst/>
          </a:prstGeom>
          <a:noFill/>
          <a:ln w="0">
            <a:noFill/>
          </a:ln>
        </p:spPr>
        <p:txBody>
          <a:bodyPr wrap="square" lIns="0" tIns="0" rIns="0" bIns="0" anchor="t">
            <a:noAutofit/>
          </a:bodyPr>
          <a:lstStyle/>
          <a:p>
            <a:pPr algn="l">
              <a:defRPr sz="1350" b="0">
                <a:solidFill>
                  <a:srgbClr val="506577"/>
                </a:solidFill>
                <a:latin typeface="DejaVu Sans" panose="020B0603030804020204"/>
                <a:ea typeface="DejaVu Sans" panose="020B0603030804020204"/>
                <a:cs typeface="DejaVu Sans" panose="020B0603030804020204"/>
              </a:defRPr>
            </a:pPr>
            <a:r>
              <a:rPr sz="1350" b="0">
                <a:solidFill>
                  <a:srgbClr val="506577"/>
                </a:solidFill>
                <a:latin typeface="DejaVu Sans" panose="020B0603030804020204"/>
                <a:ea typeface="DejaVu Sans" panose="020B0603030804020204"/>
                <a:cs typeface="DejaVu Sans" panose="020B0603030804020204"/>
              </a:rPr>
              <a:t>Optional / identity</a:t>
            </a:r>
          </a:p>
        </p:txBody>
      </p:sp>
      <p:sp>
        <p:nvSpPr>
          <p:cNvPr id="22" name="text-203"/>
          <p:cNvSpPr>
            <a:spLocks noGrp="1"/>
          </p:cNvSpPr>
          <p:nvPr/>
        </p:nvSpPr>
        <p:spPr>
          <a:xfrm>
            <a:off x="9210675" y="4610100"/>
            <a:ext cx="2438400" cy="476250"/>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Shape / baseline use original optical data</a:t>
            </a:r>
          </a:p>
        </p:txBody>
      </p:sp>
      <p:sp>
        <p:nvSpPr>
          <p:cNvPr id="23" name="text-204"/>
          <p:cNvSpPr>
            <a:spLocks noGrp="1"/>
          </p:cNvSpPr>
          <p:nvPr/>
        </p:nvSpPr>
        <p:spPr>
          <a:xfrm>
            <a:off x="571500" y="5391150"/>
            <a:ext cx="11049000" cy="70485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Link the selected representation to a model and aggregate predictions by participant.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17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Screening the input representations</a:t>
            </a:r>
          </a:p>
        </p:txBody>
      </p:sp>
      <p:sp>
        <p:nvSpPr>
          <p:cNvPr id="2" name="text-17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MODELS AND CLASSIFICATION</a:t>
            </a:r>
          </a:p>
        </p:txBody>
      </p:sp>
      <p:sp>
        <p:nvSpPr>
          <p:cNvPr id="3" name="text-17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35</a:t>
            </a:r>
          </a:p>
        </p:txBody>
      </p:sp>
      <p:sp>
        <p:nvSpPr>
          <p:cNvPr id="4" name="text-174"/>
          <p:cNvSpPr>
            <a:spLocks noGrp="1"/>
          </p:cNvSpPr>
          <p:nvPr/>
        </p:nvSpPr>
        <p:spPr>
          <a:xfrm>
            <a:off x="571500" y="1409700"/>
            <a:ext cx="10858500" cy="381000"/>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Participant-level performance across five repeats</a:t>
            </a:r>
          </a:p>
        </p:txBody>
      </p:sp>
      <p:graphicFrame>
        <p:nvGraphicFramePr>
          <p:cNvPr id="13" name="表格 12"/>
          <p:cNvGraphicFramePr/>
          <p:nvPr/>
        </p:nvGraphicFramePr>
        <p:xfrm>
          <a:off x="571500" y="2000250"/>
          <a:ext cx="11029950" cy="2514600"/>
        </p:xfrm>
        <a:graphic>
          <a:graphicData uri="http://schemas.openxmlformats.org/drawingml/2006/table">
            <a:tbl>
              <a:tblPr/>
              <a:tblGrid>
                <a:gridCol w="41148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533650">
                  <a:extLst>
                    <a:ext uri="{9D8B030D-6E8A-4147-A177-3AD203B41FA5}">
                      <a16:colId xmlns:a16="http://schemas.microsoft.com/office/drawing/2014/main" val="20003"/>
                    </a:ext>
                  </a:extLst>
                </a:gridCol>
              </a:tblGrid>
              <a:tr h="628650">
                <a:tc>
                  <a:txBody>
                    <a:bodyPr/>
                    <a:lstStyle/>
                    <a:p>
                      <a:pPr algn="l"/>
                      <a:r>
                        <a:rPr sz="1650" b="1">
                          <a:solidFill>
                            <a:srgbClr val="FFFFFF"/>
                          </a:solidFill>
                          <a:latin typeface="DejaVu Sans" panose="020B0603030804020204"/>
                          <a:ea typeface="DejaVu Sans" panose="020B0603030804020204"/>
                          <a:cs typeface="DejaVu Sans" panose="020B0603030804020204"/>
                        </a:rPr>
                        <a:t>Representation and model</a:t>
                      </a:r>
                    </a:p>
                  </a:txBody>
                  <a:tcPr marL="95250" marR="95250" marT="76200" marB="76200" anchor="ctr">
                    <a:solidFill>
                      <a:srgbClr val="152C3F"/>
                    </a:solidFill>
                  </a:tcPr>
                </a:tc>
                <a:tc>
                  <a:txBody>
                    <a:bodyPr/>
                    <a:lstStyle/>
                    <a:p>
                      <a:pPr algn="ctr"/>
                      <a:r>
                        <a:rPr sz="1650" b="1">
                          <a:solidFill>
                            <a:srgbClr val="FFFFFF"/>
                          </a:solidFill>
                          <a:latin typeface="DejaVu Sans" panose="020B0603030804020204"/>
                          <a:ea typeface="DejaVu Sans" panose="020B0603030804020204"/>
                          <a:cs typeface="DejaVu Sans" panose="020B0603030804020204"/>
                        </a:rPr>
                        <a:t>BA (%)</a:t>
                      </a:r>
                    </a:p>
                  </a:txBody>
                  <a:tcPr marL="95250" marR="95250" marT="76200" marB="76200" anchor="ctr">
                    <a:solidFill>
                      <a:srgbClr val="152C3F"/>
                    </a:solidFill>
                  </a:tcPr>
                </a:tc>
                <a:tc>
                  <a:txBody>
                    <a:bodyPr/>
                    <a:lstStyle/>
                    <a:p>
                      <a:pPr algn="ctr"/>
                      <a:r>
                        <a:rPr sz="1650" b="1">
                          <a:solidFill>
                            <a:srgbClr val="FFFFFF"/>
                          </a:solidFill>
                          <a:latin typeface="DejaVu Sans" panose="020B0603030804020204"/>
                          <a:ea typeface="DejaVu Sans" panose="020B0603030804020204"/>
                          <a:cs typeface="DejaVu Sans" panose="020B0603030804020204"/>
                        </a:rPr>
                        <a:t>Macro-F1 (%)</a:t>
                      </a:r>
                    </a:p>
                  </a:txBody>
                  <a:tcPr marL="95250" marR="95250" marT="76200" marB="76200" anchor="ctr">
                    <a:solidFill>
                      <a:srgbClr val="152C3F"/>
                    </a:solidFill>
                  </a:tcPr>
                </a:tc>
                <a:tc>
                  <a:txBody>
                    <a:bodyPr/>
                    <a:lstStyle/>
                    <a:p>
                      <a:pPr algn="ctr"/>
                      <a:r>
                        <a:rPr sz="1650" b="1">
                          <a:solidFill>
                            <a:srgbClr val="FFFFFF"/>
                          </a:solidFill>
                          <a:latin typeface="DejaVu Sans" panose="020B0603030804020204"/>
                          <a:ea typeface="DejaVu Sans" panose="020B0603030804020204"/>
                          <a:cs typeface="DejaVu Sans" panose="020B0603030804020204"/>
                        </a:rPr>
                        <a:t>F1 Holm p</a:t>
                      </a:r>
                    </a:p>
                  </a:txBody>
                  <a:tcPr marL="95250" marR="95250" marT="76200" marB="76200" anchor="ctr">
                    <a:solidFill>
                      <a:srgbClr val="152C3F"/>
                    </a:solidFill>
                  </a:tcPr>
                </a:tc>
                <a:extLst>
                  <a:ext uri="{0D108BD9-81ED-4DB2-BD59-A6C34878D82A}">
                    <a16:rowId xmlns:a16="http://schemas.microsoft.com/office/drawing/2014/main" val="10000"/>
                  </a:ext>
                </a:extLst>
              </a:tr>
              <a:tr h="942975">
                <a:tc>
                  <a:txBody>
                    <a:bodyPr/>
                    <a:lstStyle/>
                    <a:p>
                      <a:pPr algn="l"/>
                      <a:r>
                        <a:rPr sz="1650" b="0">
                          <a:solidFill>
                            <a:srgbClr val="152C3F"/>
                          </a:solidFill>
                          <a:latin typeface="DejaVu Sans" panose="020B0603030804020204"/>
                          <a:ea typeface="DejaVu Sans" panose="020B0603030804020204"/>
                          <a:cs typeface="DejaVu Sans" panose="020B0603030804020204"/>
                        </a:rPr>
                        <a:t>Raw signals + 1-D CNN</a:t>
                      </a:r>
                    </a:p>
                  </a:txBody>
                  <a:tcPr marL="95250" marR="95250" marT="76200" marB="7620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51.5 ± 3.9</a:t>
                      </a:r>
                    </a:p>
                  </a:txBody>
                  <a:tcPr marL="95250" marR="95250" marT="76200" marB="7620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50.4 ± 3.9</a:t>
                      </a:r>
                    </a:p>
                  </a:txBody>
                  <a:tcPr marL="95250" marR="95250" marT="76200" marB="7620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Reference</a:t>
                      </a:r>
                    </a:p>
                  </a:txBody>
                  <a:tcPr marL="95250" marR="95250" marT="76200" marB="76200" anchor="ctr">
                    <a:solidFill>
                      <a:srgbClr val="FFFFFF"/>
                    </a:solidFill>
                  </a:tcPr>
                </a:tc>
                <a:extLst>
                  <a:ext uri="{0D108BD9-81ED-4DB2-BD59-A6C34878D82A}">
                    <a16:rowId xmlns:a16="http://schemas.microsoft.com/office/drawing/2014/main" val="10001"/>
                  </a:ext>
                </a:extLst>
              </a:tr>
              <a:tr h="942975">
                <a:tc>
                  <a:txBody>
                    <a:bodyPr/>
                    <a:lstStyle/>
                    <a:p>
                      <a:pPr algn="l"/>
                      <a:r>
                        <a:rPr sz="1650" b="0">
                          <a:solidFill>
                            <a:srgbClr val="152C3F"/>
                          </a:solidFill>
                          <a:latin typeface="DejaVu Sans" panose="020B0603030804020204"/>
                          <a:ea typeface="DejaVu Sans" panose="020B0603030804020204"/>
                          <a:cs typeface="DejaVu Sans" panose="020B0603030804020204"/>
                        </a:rPr>
                        <a:t>Feature matrix +</a:t>
                      </a:r>
                    </a:p>
                    <a:p>
                      <a:pPr algn="l"/>
                      <a:r>
                        <a:rPr sz="1650" b="0">
                          <a:solidFill>
                            <a:srgbClr val="152C3F"/>
                          </a:solidFill>
                          <a:latin typeface="DejaVu Sans" panose="020B0603030804020204"/>
                          <a:ea typeface="DejaVu Sans" panose="020B0603030804020204"/>
                          <a:cs typeface="DejaVu Sans" panose="020B0603030804020204"/>
                        </a:rPr>
                        <a:t>Small InceptionTime</a:t>
                      </a:r>
                    </a:p>
                  </a:txBody>
                  <a:tcPr marL="95250" marR="95250" marT="76200" marB="7620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44.7 ± 4.3</a:t>
                      </a:r>
                    </a:p>
                  </a:txBody>
                  <a:tcPr marL="95250" marR="95250" marT="76200" marB="7620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35.8 ± 3.7</a:t>
                      </a:r>
                    </a:p>
                  </a:txBody>
                  <a:tcPr marL="95250" marR="95250" marT="76200" marB="7620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0.5635</a:t>
                      </a:r>
                    </a:p>
                  </a:txBody>
                  <a:tcPr marL="95250" marR="95250" marT="76200" marB="76200" anchor="ctr">
                    <a:solidFill>
                      <a:srgbClr val="FFFFFF"/>
                    </a:solidFill>
                  </a:tcPr>
                </a:tc>
                <a:extLst>
                  <a:ext uri="{0D108BD9-81ED-4DB2-BD59-A6C34878D82A}">
                    <a16:rowId xmlns:a16="http://schemas.microsoft.com/office/drawing/2014/main" val="10002"/>
                  </a:ext>
                </a:extLst>
              </a:tr>
            </a:tbl>
          </a:graphicData>
        </a:graphic>
      </p:graphicFrame>
      <p:sp>
        <p:nvSpPr>
          <p:cNvPr id="6" name="text-175"/>
          <p:cNvSpPr>
            <a:spLocks noGrp="1"/>
          </p:cNvSpPr>
          <p:nvPr/>
        </p:nvSpPr>
        <p:spPr>
          <a:xfrm>
            <a:off x="571500" y="4867275"/>
            <a:ext cx="11029950" cy="647700"/>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The screening did not establish a significant difference between routes.</a:t>
            </a:r>
          </a:p>
        </p:txBody>
      </p:sp>
      <p:sp>
        <p:nvSpPr>
          <p:cNvPr id="7" name="text-176"/>
          <p:cNvSpPr>
            <a:spLocks noGrp="1"/>
          </p:cNvSpPr>
          <p:nvPr/>
        </p:nvSpPr>
        <p:spPr>
          <a:xfrm>
            <a:off x="571500" y="5353050"/>
            <a:ext cx="11029950" cy="59055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Raw-signal input was selected for deeper investigation within the thesis scope.</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Feature-matrix input remained an exploratory comparison.</a:t>
            </a:r>
          </a:p>
        </p:txBody>
      </p:sp>
      <p:sp>
        <p:nvSpPr>
          <p:cNvPr id="8" name="text-177"/>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BA = balanced accuracy; CNN = convolutional neural network; 1-D = one-dimensional. Thesis Table 24.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8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Architectures make different assumptions</a:t>
            </a:r>
          </a:p>
        </p:txBody>
      </p:sp>
      <p:sp>
        <p:nvSpPr>
          <p:cNvPr id="2" name="text-8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MODEL ARCHITECTURES</a:t>
            </a:r>
          </a:p>
        </p:txBody>
      </p:sp>
      <p:sp>
        <p:nvSpPr>
          <p:cNvPr id="3" name="text-8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36</a:t>
            </a:r>
          </a:p>
        </p:txBody>
      </p:sp>
      <p:graphicFrame>
        <p:nvGraphicFramePr>
          <p:cNvPr id="11" name="表格 10"/>
          <p:cNvGraphicFramePr/>
          <p:nvPr/>
        </p:nvGraphicFramePr>
        <p:xfrm>
          <a:off x="571500" y="1457325"/>
          <a:ext cx="11049000" cy="3452495"/>
        </p:xfrm>
        <a:graphic>
          <a:graphicData uri="http://schemas.openxmlformats.org/drawingml/2006/table">
            <a:tbl>
              <a:tblPr/>
              <a:tblGrid>
                <a:gridCol w="2419350">
                  <a:extLst>
                    <a:ext uri="{9D8B030D-6E8A-4147-A177-3AD203B41FA5}">
                      <a16:colId xmlns:a16="http://schemas.microsoft.com/office/drawing/2014/main" val="20000"/>
                    </a:ext>
                  </a:extLst>
                </a:gridCol>
                <a:gridCol w="57816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tblGrid>
              <a:tr h="683895">
                <a:tc>
                  <a:txBody>
                    <a:bodyPr/>
                    <a:lstStyle/>
                    <a:p>
                      <a:pPr algn="l"/>
                      <a:r>
                        <a:rPr sz="1650" b="1">
                          <a:solidFill>
                            <a:srgbClr val="FFFFFF"/>
                          </a:solidFill>
                          <a:latin typeface="DejaVu Sans" panose="020B0603030804020204"/>
                          <a:ea typeface="DejaVu Sans" panose="020B0603030804020204"/>
                          <a:cs typeface="DejaVu Sans" panose="020B0603030804020204"/>
                        </a:rPr>
                        <a:t>Model</a:t>
                      </a:r>
                    </a:p>
                  </a:txBody>
                  <a:tcPr marL="114300" marR="114300" marT="95250" marB="95250" anchor="ctr">
                    <a:solidFill>
                      <a:srgbClr val="152C3F"/>
                    </a:solidFill>
                  </a:tcPr>
                </a:tc>
                <a:tc>
                  <a:txBody>
                    <a:bodyPr/>
                    <a:lstStyle/>
                    <a:p>
                      <a:pPr algn="ctr"/>
                      <a:r>
                        <a:rPr sz="1650" b="1">
                          <a:solidFill>
                            <a:srgbClr val="FFFFFF"/>
                          </a:solidFill>
                          <a:latin typeface="DejaVu Sans" panose="020B0603030804020204"/>
                          <a:ea typeface="DejaVu Sans" panose="020B0603030804020204"/>
                          <a:cs typeface="DejaVu Sans" panose="020B0603030804020204"/>
                        </a:rPr>
                        <a:t>Core architecture</a:t>
                      </a:r>
                    </a:p>
                  </a:txBody>
                  <a:tcPr marL="114300" marR="114300" marT="95250" marB="95250" anchor="ctr">
                    <a:solidFill>
                      <a:srgbClr val="152C3F"/>
                    </a:solidFill>
                  </a:tcPr>
                </a:tc>
                <a:tc>
                  <a:txBody>
                    <a:bodyPr/>
                    <a:lstStyle/>
                    <a:p>
                      <a:pPr algn="ctr"/>
                      <a:r>
                        <a:rPr sz="1650" b="1">
                          <a:solidFill>
                            <a:srgbClr val="FFFFFF"/>
                          </a:solidFill>
                          <a:latin typeface="DejaVu Sans" panose="020B0603030804020204"/>
                          <a:ea typeface="DejaVu Sans" panose="020B0603030804020204"/>
                          <a:cs typeface="DejaVu Sans" panose="020B0603030804020204"/>
                        </a:rPr>
                        <a:t>Before 3-class output</a:t>
                      </a:r>
                    </a:p>
                  </a:txBody>
                  <a:tcPr marL="114300" marR="114300" marT="95250" marB="95250" anchor="ctr">
                    <a:solidFill>
                      <a:srgbClr val="152C3F"/>
                    </a:solidFill>
                  </a:tcPr>
                </a:tc>
                <a:extLst>
                  <a:ext uri="{0D108BD9-81ED-4DB2-BD59-A6C34878D82A}">
                    <a16:rowId xmlns:a16="http://schemas.microsoft.com/office/drawing/2014/main" val="10000"/>
                  </a:ext>
                </a:extLst>
              </a:tr>
              <a:tr h="911860">
                <a:tc>
                  <a:txBody>
                    <a:bodyPr/>
                    <a:lstStyle/>
                    <a:p>
                      <a:pPr algn="l"/>
                      <a:r>
                        <a:rPr sz="1650" b="0">
                          <a:solidFill>
                            <a:srgbClr val="152C3F"/>
                          </a:solidFill>
                          <a:latin typeface="DejaVu Sans" panose="020B0603030804020204"/>
                          <a:ea typeface="DejaVu Sans" panose="020B0603030804020204"/>
                          <a:cs typeface="DejaVu Sans" panose="020B0603030804020204"/>
                        </a:rPr>
                        <a:t>Compact CNN</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Conv9/32 → Pool4 → Conv9/64 → Pool4</a:t>
                      </a:r>
                    </a:p>
                    <a:p>
                      <a:pPr algn="ctr"/>
                      <a:r>
                        <a:rPr sz="1650" b="0">
                          <a:solidFill>
                            <a:srgbClr val="152C3F"/>
                          </a:solidFill>
                          <a:latin typeface="DejaVu Sans" panose="020B0603030804020204"/>
                          <a:ea typeface="DejaVu Sans" panose="020B0603030804020204"/>
                          <a:cs typeface="DejaVu Sans" panose="020B0603030804020204"/>
                        </a:rPr>
                        <a:t>→ Conv7/128 → global average</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128 features</a:t>
                      </a:r>
                    </a:p>
                    <a:p>
                      <a:pPr algn="ctr"/>
                      <a:r>
                        <a:rPr sz="1650" b="0">
                          <a:solidFill>
                            <a:srgbClr val="152C3F"/>
                          </a:solidFill>
                          <a:latin typeface="DejaVu Sans" panose="020B0603030804020204"/>
                          <a:ea typeface="DejaVu Sans" panose="020B0603030804020204"/>
                          <a:cs typeface="DejaVu Sans" panose="020B0603030804020204"/>
                        </a:rPr>
                        <a:t>→ dropout → linear</a:t>
                      </a:r>
                    </a:p>
                  </a:txBody>
                  <a:tcPr marL="114300" marR="114300" marT="95250" marB="95250" anchor="ctr">
                    <a:solidFill>
                      <a:srgbClr val="FFFFFF"/>
                    </a:solidFill>
                  </a:tcPr>
                </a:tc>
                <a:extLst>
                  <a:ext uri="{0D108BD9-81ED-4DB2-BD59-A6C34878D82A}">
                    <a16:rowId xmlns:a16="http://schemas.microsoft.com/office/drawing/2014/main" val="10001"/>
                  </a:ext>
                </a:extLst>
              </a:tr>
              <a:tr h="911860">
                <a:tc>
                  <a:txBody>
                    <a:bodyPr/>
                    <a:lstStyle/>
                    <a:p>
                      <a:pPr algn="l"/>
                      <a:r>
                        <a:rPr sz="1650" b="0">
                          <a:solidFill>
                            <a:srgbClr val="152C3F"/>
                          </a:solidFill>
                          <a:latin typeface="DejaVu Sans" panose="020B0603030804020204"/>
                          <a:ea typeface="DejaVu Sans" panose="020B0603030804020204"/>
                          <a:cs typeface="DejaVu Sans" panose="020B0603030804020204"/>
                        </a:rPr>
                        <a:t>Inception Small / Full</a:t>
                      </a:r>
                    </a:p>
                  </a:txBody>
                  <a:tcPr marL="114300" marR="114300" marT="95250" marB="95250" anchor="ctr">
                    <a:solidFill>
                      <a:srgbClr val="F4F6F8"/>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Parallel Conv39/19/9 + Pool3/Conv1</a:t>
                      </a:r>
                    </a:p>
                    <a:p>
                      <a:pPr algn="ctr"/>
                      <a:r>
                        <a:rPr sz="1650" b="0">
                          <a:solidFill>
                            <a:srgbClr val="152C3F"/>
                          </a:solidFill>
                          <a:latin typeface="DejaVu Sans" panose="020B0603030804020204"/>
                          <a:ea typeface="DejaVu Sans" panose="020B0603030804020204"/>
                          <a:cs typeface="DejaVu Sans" panose="020B0603030804020204"/>
                        </a:rPr>
                        <a:t>3/6 modules; 16/32 filters per branch</a:t>
                      </a:r>
                    </a:p>
                  </a:txBody>
                  <a:tcPr marL="114300" marR="114300" marT="95250" marB="95250" anchor="ctr">
                    <a:solidFill>
                      <a:srgbClr val="F4F6F8"/>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64 / 128 features</a:t>
                      </a:r>
                    </a:p>
                    <a:p>
                      <a:pPr algn="ctr"/>
                      <a:r>
                        <a:rPr sz="1650" b="0">
                          <a:solidFill>
                            <a:srgbClr val="152C3F"/>
                          </a:solidFill>
                          <a:latin typeface="DejaVu Sans" panose="020B0603030804020204"/>
                          <a:ea typeface="DejaVu Sans" panose="020B0603030804020204"/>
                          <a:cs typeface="DejaVu Sans" panose="020B0603030804020204"/>
                        </a:rPr>
                        <a:t>→ global average → linear</a:t>
                      </a:r>
                    </a:p>
                  </a:txBody>
                  <a:tcPr marL="114300" marR="114300" marT="95250" marB="95250" anchor="ctr">
                    <a:solidFill>
                      <a:srgbClr val="F4F6F8"/>
                    </a:solidFill>
                  </a:tcPr>
                </a:tc>
                <a:extLst>
                  <a:ext uri="{0D108BD9-81ED-4DB2-BD59-A6C34878D82A}">
                    <a16:rowId xmlns:a16="http://schemas.microsoft.com/office/drawing/2014/main" val="10002"/>
                  </a:ext>
                </a:extLst>
              </a:tr>
              <a:tr h="911860">
                <a:tc>
                  <a:txBody>
                    <a:bodyPr/>
                    <a:lstStyle/>
                    <a:p>
                      <a:pPr algn="l"/>
                      <a:r>
                        <a:rPr sz="1650" b="0">
                          <a:solidFill>
                            <a:srgbClr val="152C3F"/>
                          </a:solidFill>
                          <a:latin typeface="DejaVu Sans" panose="020B0603030804020204"/>
                          <a:ea typeface="DejaVu Sans" panose="020B0603030804020204"/>
                          <a:cs typeface="DejaVu Sans" panose="020B0603030804020204"/>
                        </a:rPr>
                        <a:t>ShapeFormer</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Generic convolution + global attention</a:t>
                      </a:r>
                    </a:p>
                    <a:p>
                      <a:pPr algn="ctr"/>
                      <a:r>
                        <a:rPr sz="1650" b="0">
                          <a:solidFill>
                            <a:srgbClr val="152C3F"/>
                          </a:solidFill>
                          <a:latin typeface="DejaVu Sans" panose="020B0603030804020204"/>
                          <a:ea typeface="DejaVu Sans" panose="020B0603030804020204"/>
                          <a:cs typeface="DejaVu Sans" panose="020B0603030804020204"/>
                        </a:rPr>
                        <a:t>Training-derived shapelets + attention</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48 + 128 = 176</a:t>
                      </a:r>
                    </a:p>
                    <a:p>
                      <a:pPr algn="ctr"/>
                      <a:r>
                        <a:rPr sz="1650" b="0">
                          <a:solidFill>
                            <a:srgbClr val="152C3F"/>
                          </a:solidFill>
                          <a:latin typeface="DejaVu Sans" panose="020B0603030804020204"/>
                          <a:ea typeface="DejaVu Sans" panose="020B0603030804020204"/>
                          <a:cs typeface="DejaVu Sans" panose="020B0603030804020204"/>
                        </a:rPr>
                        <a:t>→ linear</a:t>
                      </a:r>
                    </a:p>
                  </a:txBody>
                  <a:tcPr marL="11430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5" name="text-84"/>
          <p:cNvSpPr>
            <a:spLocks noGrp="1"/>
          </p:cNvSpPr>
          <p:nvPr/>
        </p:nvSpPr>
        <p:spPr>
          <a:xfrm>
            <a:off x="571500" y="5219700"/>
            <a:ext cx="10953750" cy="371475"/>
          </a:xfrm>
          <a:prstGeom prst="rect">
            <a:avLst/>
          </a:prstGeom>
          <a:noFill/>
          <a:ln w="0">
            <a:noFill/>
          </a:ln>
        </p:spPr>
        <p:txBody>
          <a:bodyPr wrap="square" lIns="0" tIns="0" rIns="0" bIns="0" anchor="t">
            <a:noAutofit/>
          </a:bodyPr>
          <a:lstStyle/>
          <a:p>
            <a:pPr algn="l">
              <a:defRPr sz="1950" b="1">
                <a:solidFill>
                  <a:srgbClr val="7056A8"/>
                </a:solidFill>
                <a:latin typeface="DejaVu Sans" panose="020B0603030804020204"/>
                <a:ea typeface="DejaVu Sans" panose="020B0603030804020204"/>
                <a:cs typeface="DejaVu Sans" panose="020B0603030804020204"/>
              </a:defRPr>
            </a:pPr>
            <a:r>
              <a:rPr sz="1950" b="1">
                <a:solidFill>
                  <a:srgbClr val="7056A8"/>
                </a:solidFill>
                <a:latin typeface="DejaVu Sans" panose="020B0603030804020204"/>
                <a:ea typeface="DejaVu Sans" panose="020B0603030804020204"/>
                <a:cs typeface="DejaVu Sans" panose="020B0603030804020204"/>
              </a:rPr>
              <a:t>Selected model: Small InceptionTime, 8 × 320 input at 64 Hz.</a:t>
            </a:r>
          </a:p>
        </p:txBody>
      </p:sp>
      <p:sp>
        <p:nvSpPr>
          <p:cNvPr id="6" name="text-85"/>
          <p:cNvSpPr>
            <a:spLocks noGrp="1"/>
          </p:cNvSpPr>
          <p:nvPr/>
        </p:nvSpPr>
        <p:spPr>
          <a:xfrm>
            <a:off x="571500" y="5657850"/>
            <a:ext cx="10953750" cy="361950"/>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Convolution learns local patterns; attention links information across time.</a:t>
            </a:r>
          </a:p>
        </p:txBody>
      </p:sp>
      <p:sp>
        <p:nvSpPr>
          <p:cNvPr id="7" name="text-86"/>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Thesis §3.5.2 and Tables 12–14. Each model outputs probabilities for Pre-Frail, Robust and Young.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187"/>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Single-factor ablation</a:t>
            </a:r>
          </a:p>
        </p:txBody>
      </p:sp>
      <p:sp>
        <p:nvSpPr>
          <p:cNvPr id="2" name="text-188"/>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SELECTION OF THE FINAL CONFIGURATION</a:t>
            </a:r>
          </a:p>
        </p:txBody>
      </p:sp>
      <p:sp>
        <p:nvSpPr>
          <p:cNvPr id="3" name="text-189"/>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40</a:t>
            </a:r>
          </a:p>
        </p:txBody>
      </p:sp>
      <p:sp>
        <p:nvSpPr>
          <p:cNvPr id="4" name="text-190"/>
          <p:cNvSpPr>
            <a:spLocks noGrp="1"/>
          </p:cNvSpPr>
          <p:nvPr/>
        </p:nvSpPr>
        <p:spPr>
          <a:xfrm>
            <a:off x="571500" y="1151255"/>
            <a:ext cx="7620000" cy="352425"/>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Change from the common baseline</a:t>
            </a:r>
          </a:p>
        </p:txBody>
      </p:sp>
      <p:graphicFrame>
        <p:nvGraphicFramePr>
          <p:cNvPr id="16" name="表格 15"/>
          <p:cNvGraphicFramePr/>
          <p:nvPr/>
        </p:nvGraphicFramePr>
        <p:xfrm>
          <a:off x="786765" y="1503045"/>
          <a:ext cx="5572125" cy="4361974"/>
        </p:xfrm>
        <a:graphic>
          <a:graphicData uri="http://schemas.openxmlformats.org/drawingml/2006/table">
            <a:tbl>
              <a:tblPr/>
              <a:tblGrid>
                <a:gridCol w="3638550">
                  <a:extLst>
                    <a:ext uri="{9D8B030D-6E8A-4147-A177-3AD203B41FA5}">
                      <a16:colId xmlns:a16="http://schemas.microsoft.com/office/drawing/2014/main" val="20000"/>
                    </a:ext>
                  </a:extLst>
                </a:gridCol>
                <a:gridCol w="1933575">
                  <a:extLst>
                    <a:ext uri="{9D8B030D-6E8A-4147-A177-3AD203B41FA5}">
                      <a16:colId xmlns:a16="http://schemas.microsoft.com/office/drawing/2014/main" val="20001"/>
                    </a:ext>
                  </a:extLst>
                </a:gridCol>
              </a:tblGrid>
              <a:tr h="489347">
                <a:tc>
                  <a:txBody>
                    <a:bodyPr/>
                    <a:lstStyle/>
                    <a:p>
                      <a:pPr algn="l"/>
                      <a:r>
                        <a:rPr sz="1350" b="1">
                          <a:solidFill>
                            <a:srgbClr val="FFFFFF"/>
                          </a:solidFill>
                          <a:latin typeface="DejaVu Sans" panose="020B0603030804020204"/>
                          <a:ea typeface="DejaVu Sans" panose="020B0603030804020204"/>
                          <a:cs typeface="DejaVu Sans" panose="020B0603030804020204"/>
                        </a:rPr>
                        <a:t>Factor changed</a:t>
                      </a:r>
                    </a:p>
                  </a:txBody>
                  <a:tcPr marL="95250" marR="95250" marT="76200" marB="76200" anchor="ctr">
                    <a:solidFill>
                      <a:srgbClr val="152C3F"/>
                    </a:solidFill>
                  </a:tcPr>
                </a:tc>
                <a:tc>
                  <a:txBody>
                    <a:bodyPr/>
                    <a:lstStyle/>
                    <a:p>
                      <a:pPr algn="ctr"/>
                      <a:r>
                        <a:rPr sz="1350" b="1">
                          <a:solidFill>
                            <a:srgbClr val="FFFFFF"/>
                          </a:solidFill>
                          <a:latin typeface="DejaVu Sans" panose="020B0603030804020204"/>
                          <a:ea typeface="DejaVu Sans" panose="020B0603030804020204"/>
                          <a:cs typeface="DejaVu Sans" panose="020B0603030804020204"/>
                        </a:rPr>
                        <a:t>InceptionTime</a:t>
                      </a:r>
                    </a:p>
                  </a:txBody>
                  <a:tcPr marL="95250" marR="95250" marT="76200" marB="76200" anchor="ctr">
                    <a:solidFill>
                      <a:srgbClr val="152C3F"/>
                    </a:solidFill>
                  </a:tcPr>
                </a:tc>
                <a:extLst>
                  <a:ext uri="{0D108BD9-81ED-4DB2-BD59-A6C34878D82A}">
                    <a16:rowId xmlns:a16="http://schemas.microsoft.com/office/drawing/2014/main" val="10000"/>
                  </a:ext>
                </a:extLst>
              </a:tr>
              <a:tr h="489347">
                <a:tc>
                  <a:txBody>
                    <a:bodyPr/>
                    <a:lstStyle/>
                    <a:p>
                      <a:pPr algn="l"/>
                      <a:r>
                        <a:rPr sz="1350" b="0">
                          <a:solidFill>
                            <a:srgbClr val="152C3F"/>
                          </a:solidFill>
                          <a:latin typeface="DejaVu Sans" panose="020B0603030804020204"/>
                          <a:ea typeface="DejaVu Sans" panose="020B0603030804020204"/>
                          <a:cs typeface="DejaVu Sans" panose="020B0603030804020204"/>
                        </a:rPr>
                        <a:t>64 Hz to 400 Hz</a:t>
                      </a:r>
                    </a:p>
                  </a:txBody>
                  <a:tcPr marL="95250" marR="95250" marT="76200" marB="76200" anchor="ctr">
                    <a:solidFill>
                      <a:srgbClr val="FFFFFF"/>
                    </a:solidFill>
                  </a:tcPr>
                </a:tc>
                <a:tc>
                  <a:txBody>
                    <a:bodyPr/>
                    <a:lstStyle/>
                    <a:p>
                      <a:pPr algn="ctr"/>
                      <a:r>
                        <a:rPr sz="1350" b="0">
                          <a:solidFill>
                            <a:srgbClr val="152C3F"/>
                          </a:solidFill>
                          <a:latin typeface="DejaVu Sans" panose="020B0603030804020204"/>
                          <a:ea typeface="DejaVu Sans" panose="020B0603030804020204"/>
                          <a:cs typeface="DejaVu Sans" panose="020B0603030804020204"/>
                        </a:rPr>
                        <a:t>−6.5 ± 3.5</a:t>
                      </a:r>
                    </a:p>
                  </a:txBody>
                  <a:tcPr marL="95250" marR="95250" marT="76200" marB="76200" anchor="ctr">
                    <a:solidFill>
                      <a:srgbClr val="FFFFFF"/>
                    </a:solidFill>
                  </a:tcPr>
                </a:tc>
                <a:extLst>
                  <a:ext uri="{0D108BD9-81ED-4DB2-BD59-A6C34878D82A}">
                    <a16:rowId xmlns:a16="http://schemas.microsoft.com/office/drawing/2014/main" val="10001"/>
                  </a:ext>
                </a:extLst>
              </a:tr>
              <a:tr h="489347">
                <a:tc>
                  <a:txBody>
                    <a:bodyPr/>
                    <a:lstStyle/>
                    <a:p>
                      <a:pPr algn="l"/>
                      <a:r>
                        <a:rPr sz="1350" b="0">
                          <a:solidFill>
                            <a:srgbClr val="152C3F"/>
                          </a:solidFill>
                          <a:latin typeface="DejaVu Sans" panose="020B0603030804020204"/>
                          <a:ea typeface="DejaVu Sans" panose="020B0603030804020204"/>
                          <a:cs typeface="DejaVu Sans" panose="020B0603030804020204"/>
                        </a:rPr>
                        <a:t>Window / hop:</a:t>
                      </a:r>
                    </a:p>
                    <a:p>
                      <a:pPr algn="l"/>
                      <a:r>
                        <a:rPr sz="1350" b="0">
                          <a:solidFill>
                            <a:srgbClr val="152C3F"/>
                          </a:solidFill>
                          <a:latin typeface="DejaVu Sans" panose="020B0603030804020204"/>
                          <a:ea typeface="DejaVu Sans" panose="020B0603030804020204"/>
                          <a:cs typeface="DejaVu Sans" panose="020B0603030804020204"/>
                        </a:rPr>
                        <a:t>15 / 3 s to 5 / 2.5 s</a:t>
                      </a:r>
                    </a:p>
                  </a:txBody>
                  <a:tcPr marL="95250" marR="95250" marT="76200" marB="76200" anchor="ctr">
                    <a:solidFill>
                      <a:srgbClr val="F4F6F8"/>
                    </a:solidFill>
                  </a:tcPr>
                </a:tc>
                <a:tc>
                  <a:txBody>
                    <a:bodyPr/>
                    <a:lstStyle/>
                    <a:p>
                      <a:pPr algn="ctr"/>
                      <a:r>
                        <a:rPr sz="1350" b="0">
                          <a:solidFill>
                            <a:srgbClr val="152C3F"/>
                          </a:solidFill>
                          <a:latin typeface="DejaVu Sans" panose="020B0603030804020204"/>
                          <a:ea typeface="DejaVu Sans" panose="020B0603030804020204"/>
                          <a:cs typeface="DejaVu Sans" panose="020B0603030804020204"/>
                        </a:rPr>
                        <a:t>−5.8 ± 4.7</a:t>
                      </a:r>
                    </a:p>
                  </a:txBody>
                  <a:tcPr marL="95250" marR="95250" marT="76200" marB="76200" anchor="ctr">
                    <a:solidFill>
                      <a:srgbClr val="F4F6F8"/>
                    </a:solidFill>
                  </a:tcPr>
                </a:tc>
                <a:extLst>
                  <a:ext uri="{0D108BD9-81ED-4DB2-BD59-A6C34878D82A}">
                    <a16:rowId xmlns:a16="http://schemas.microsoft.com/office/drawing/2014/main" val="10002"/>
                  </a:ext>
                </a:extLst>
              </a:tr>
              <a:tr h="489347">
                <a:tc>
                  <a:txBody>
                    <a:bodyPr/>
                    <a:lstStyle/>
                    <a:p>
                      <a:pPr algn="l"/>
                      <a:r>
                        <a:rPr sz="1350" b="0">
                          <a:solidFill>
                            <a:srgbClr val="152C3F"/>
                          </a:solidFill>
                          <a:latin typeface="DejaVu Sans" panose="020B0603030804020204"/>
                          <a:ea typeface="DejaVu Sans" panose="020B0603030804020204"/>
                          <a:cs typeface="DejaVu Sans" panose="020B0603030804020204"/>
                        </a:rPr>
                        <a:t>Low-pass gravity separation</a:t>
                      </a:r>
                    </a:p>
                    <a:p>
                      <a:pPr algn="l"/>
                      <a:r>
                        <a:rPr sz="1350" b="0">
                          <a:solidFill>
                            <a:srgbClr val="152C3F"/>
                          </a:solidFill>
                          <a:latin typeface="DejaVu Sans" panose="020B0603030804020204"/>
                          <a:ea typeface="DejaVu Sans" panose="020B0603030804020204"/>
                          <a:cs typeface="DejaVu Sans" panose="020B0603030804020204"/>
                        </a:rPr>
                        <a:t>to calibrated EKF</a:t>
                      </a:r>
                    </a:p>
                  </a:txBody>
                  <a:tcPr marL="95250" marR="95250" marT="76200" marB="76200" anchor="ctr">
                    <a:solidFill>
                      <a:srgbClr val="FFFFFF"/>
                    </a:solidFill>
                  </a:tcPr>
                </a:tc>
                <a:tc>
                  <a:txBody>
                    <a:bodyPr/>
                    <a:lstStyle/>
                    <a:p>
                      <a:pPr algn="ctr"/>
                      <a:r>
                        <a:rPr sz="1350" b="0">
                          <a:solidFill>
                            <a:srgbClr val="152C3F"/>
                          </a:solidFill>
                          <a:latin typeface="DejaVu Sans" panose="020B0603030804020204"/>
                          <a:ea typeface="DejaVu Sans" panose="020B0603030804020204"/>
                          <a:cs typeface="DejaVu Sans" panose="020B0603030804020204"/>
                        </a:rPr>
                        <a:t>−7.0 ± 5.9</a:t>
                      </a:r>
                    </a:p>
                  </a:txBody>
                  <a:tcPr marL="95250" marR="95250" marT="76200" marB="76200" anchor="ctr">
                    <a:solidFill>
                      <a:srgbClr val="FFFFFF"/>
                    </a:solidFill>
                  </a:tcPr>
                </a:tc>
                <a:extLst>
                  <a:ext uri="{0D108BD9-81ED-4DB2-BD59-A6C34878D82A}">
                    <a16:rowId xmlns:a16="http://schemas.microsoft.com/office/drawing/2014/main" val="10003"/>
                  </a:ext>
                </a:extLst>
              </a:tr>
              <a:tr h="489347">
                <a:tc>
                  <a:txBody>
                    <a:bodyPr/>
                    <a:lstStyle/>
                    <a:p>
                      <a:pPr algn="l"/>
                      <a:r>
                        <a:rPr sz="1350" b="0">
                          <a:solidFill>
                            <a:srgbClr val="152C3F"/>
                          </a:solidFill>
                          <a:latin typeface="DejaVu Sans" panose="020B0603030804020204"/>
                          <a:ea typeface="DejaVu Sans" panose="020B0603030804020204"/>
                          <a:cs typeface="DejaVu Sans" panose="020B0603030804020204"/>
                        </a:rPr>
                        <a:t>Window scaling to</a:t>
                      </a:r>
                    </a:p>
                    <a:p>
                      <a:pPr algn="l"/>
                      <a:r>
                        <a:rPr sz="1350" b="0">
                          <a:solidFill>
                            <a:srgbClr val="152C3F"/>
                          </a:solidFill>
                          <a:latin typeface="DejaVu Sans" panose="020B0603030804020204"/>
                          <a:ea typeface="DejaVu Sans" panose="020B0603030804020204"/>
                          <a:cs typeface="DejaVu Sans" panose="020B0603030804020204"/>
                        </a:rPr>
                        <a:t>PPG-window / IMU-fold scaling</a:t>
                      </a:r>
                    </a:p>
                  </a:txBody>
                  <a:tcPr marL="95250" marR="95250" marT="76200" marB="76200" anchor="ctr">
                    <a:solidFill>
                      <a:srgbClr val="F4F6F8"/>
                    </a:solidFill>
                  </a:tcPr>
                </a:tc>
                <a:tc>
                  <a:txBody>
                    <a:bodyPr/>
                    <a:lstStyle/>
                    <a:p>
                      <a:pPr algn="ctr"/>
                      <a:r>
                        <a:rPr sz="1350" b="0">
                          <a:solidFill>
                            <a:srgbClr val="152C3F"/>
                          </a:solidFill>
                          <a:latin typeface="DejaVu Sans" panose="020B0603030804020204"/>
                          <a:ea typeface="DejaVu Sans" panose="020B0603030804020204"/>
                          <a:cs typeface="DejaVu Sans" panose="020B0603030804020204"/>
                        </a:rPr>
                        <a:t>−13.8 ± 6.3</a:t>
                      </a:r>
                    </a:p>
                  </a:txBody>
                  <a:tcPr marL="95250" marR="95250" marT="76200" marB="76200" anchor="ctr">
                    <a:solidFill>
                      <a:srgbClr val="F4F6F8"/>
                    </a:solidFill>
                  </a:tcPr>
                </a:tc>
                <a:extLst>
                  <a:ext uri="{0D108BD9-81ED-4DB2-BD59-A6C34878D82A}">
                    <a16:rowId xmlns:a16="http://schemas.microsoft.com/office/drawing/2014/main" val="10004"/>
                  </a:ext>
                </a:extLst>
              </a:tr>
              <a:tr h="489347">
                <a:tc>
                  <a:txBody>
                    <a:bodyPr/>
                    <a:lstStyle/>
                    <a:p>
                      <a:pPr algn="l"/>
                      <a:r>
                        <a:rPr sz="1350" b="0">
                          <a:solidFill>
                            <a:srgbClr val="152C3F"/>
                          </a:solidFill>
                          <a:latin typeface="DejaVu Sans" panose="020B0603030804020204"/>
                          <a:ea typeface="DejaVu Sans" panose="020B0603030804020204"/>
                          <a:cs typeface="DejaVu Sans" panose="020B0603030804020204"/>
                        </a:rPr>
                        <a:t>File-weighted to</a:t>
                      </a:r>
                    </a:p>
                    <a:p>
                      <a:pPr algn="l"/>
                      <a:r>
                        <a:rPr sz="1350" b="0">
                          <a:solidFill>
                            <a:srgbClr val="152C3F"/>
                          </a:solidFill>
                          <a:latin typeface="DejaVu Sans" panose="020B0603030804020204"/>
                          <a:ea typeface="DejaVu Sans" panose="020B0603030804020204"/>
                          <a:cs typeface="DejaVu Sans" panose="020B0603030804020204"/>
                        </a:rPr>
                        <a:t>role-equal sampler</a:t>
                      </a:r>
                    </a:p>
                  </a:txBody>
                  <a:tcPr marL="95250" marR="95250" marT="76200" marB="76200" anchor="ctr">
                    <a:solidFill>
                      <a:srgbClr val="FFFFFF"/>
                    </a:solidFill>
                  </a:tcPr>
                </a:tc>
                <a:tc>
                  <a:txBody>
                    <a:bodyPr/>
                    <a:lstStyle/>
                    <a:p>
                      <a:pPr algn="ctr"/>
                      <a:r>
                        <a:rPr sz="1350" b="0">
                          <a:solidFill>
                            <a:srgbClr val="152C3F"/>
                          </a:solidFill>
                          <a:latin typeface="DejaVu Sans" panose="020B0603030804020204"/>
                          <a:ea typeface="DejaVu Sans" panose="020B0603030804020204"/>
                          <a:cs typeface="DejaVu Sans" panose="020B0603030804020204"/>
                        </a:rPr>
                        <a:t>−4.4 ± 2.8</a:t>
                      </a:r>
                    </a:p>
                  </a:txBody>
                  <a:tcPr marL="95250" marR="95250" marT="76200" marB="76200" anchor="ctr">
                    <a:solidFill>
                      <a:srgbClr val="FFFFFF"/>
                    </a:solidFill>
                  </a:tcPr>
                </a:tc>
                <a:extLst>
                  <a:ext uri="{0D108BD9-81ED-4DB2-BD59-A6C34878D82A}">
                    <a16:rowId xmlns:a16="http://schemas.microsoft.com/office/drawing/2014/main" val="10005"/>
                  </a:ext>
                </a:extLst>
              </a:tr>
              <a:tr h="489347">
                <a:tc>
                  <a:txBody>
                    <a:bodyPr/>
                    <a:lstStyle/>
                    <a:p>
                      <a:pPr algn="l"/>
                      <a:r>
                        <a:rPr sz="1350" b="0">
                          <a:solidFill>
                            <a:srgbClr val="152C3F"/>
                          </a:solidFill>
                          <a:latin typeface="DejaVu Sans" panose="020B0603030804020204"/>
                          <a:ea typeface="DejaVu Sans" panose="020B0603030804020204"/>
                          <a:cs typeface="DejaVu Sans" panose="020B0603030804020204"/>
                        </a:rPr>
                        <a:t>AdamW / batch 32</a:t>
                      </a:r>
                    </a:p>
                    <a:p>
                      <a:pPr algn="l"/>
                      <a:r>
                        <a:rPr sz="1350" b="0">
                          <a:solidFill>
                            <a:srgbClr val="152C3F"/>
                          </a:solidFill>
                          <a:latin typeface="DejaVu Sans" panose="020B0603030804020204"/>
                          <a:ea typeface="DejaVu Sans" panose="020B0603030804020204"/>
                          <a:cs typeface="DejaVu Sans" panose="020B0603030804020204"/>
                        </a:rPr>
                        <a:t>to Adam / batch 64</a:t>
                      </a:r>
                    </a:p>
                  </a:txBody>
                  <a:tcPr marL="95250" marR="95250" marT="76200" marB="76200" anchor="ctr">
                    <a:solidFill>
                      <a:srgbClr val="F4F6F8"/>
                    </a:solidFill>
                  </a:tcPr>
                </a:tc>
                <a:tc>
                  <a:txBody>
                    <a:bodyPr/>
                    <a:lstStyle/>
                    <a:p>
                      <a:pPr algn="ctr"/>
                      <a:r>
                        <a:rPr sz="1350" b="0">
                          <a:solidFill>
                            <a:srgbClr val="152C3F"/>
                          </a:solidFill>
                          <a:latin typeface="DejaVu Sans" panose="020B0603030804020204"/>
                          <a:ea typeface="DejaVu Sans" panose="020B0603030804020204"/>
                          <a:cs typeface="DejaVu Sans" panose="020B0603030804020204"/>
                        </a:rPr>
                        <a:t>−0.7 ± 5.0</a:t>
                      </a:r>
                    </a:p>
                  </a:txBody>
                  <a:tcPr marL="95250" marR="95250" marT="76200" marB="76200" anchor="ctr">
                    <a:solidFill>
                      <a:srgbClr val="F4F6F8"/>
                    </a:solidFill>
                  </a:tcPr>
                </a:tc>
                <a:extLst>
                  <a:ext uri="{0D108BD9-81ED-4DB2-BD59-A6C34878D82A}">
                    <a16:rowId xmlns:a16="http://schemas.microsoft.com/office/drawing/2014/main" val="10006"/>
                  </a:ext>
                </a:extLst>
              </a:tr>
              <a:tr h="489347">
                <a:tc>
                  <a:txBody>
                    <a:bodyPr/>
                    <a:lstStyle/>
                    <a:p>
                      <a:pPr algn="l"/>
                      <a:r>
                        <a:rPr sz="1350" b="0">
                          <a:solidFill>
                            <a:srgbClr val="152C3F"/>
                          </a:solidFill>
                          <a:latin typeface="DejaVu Sans" panose="020B0603030804020204"/>
                          <a:ea typeface="DejaVu Sans" panose="020B0603030804020204"/>
                          <a:cs typeface="DejaVu Sans" panose="020B0603030804020204"/>
                        </a:rPr>
                        <a:t>Direct-window to</a:t>
                      </a:r>
                    </a:p>
                    <a:p>
                      <a:pPr algn="l"/>
                      <a:r>
                        <a:rPr sz="1350" b="0">
                          <a:solidFill>
                            <a:srgbClr val="152C3F"/>
                          </a:solidFill>
                          <a:latin typeface="DejaVu Sans" panose="020B0603030804020204"/>
                          <a:ea typeface="DejaVu Sans" panose="020B0603030804020204"/>
                          <a:cs typeface="DejaVu Sans" panose="020B0603030804020204"/>
                        </a:rPr>
                        <a:t>file / role aggregation</a:t>
                      </a:r>
                    </a:p>
                  </a:txBody>
                  <a:tcPr marL="95250" marR="95250" marT="76200" marB="76200" anchor="ctr">
                    <a:solidFill>
                      <a:srgbClr val="FFFFFF"/>
                    </a:solidFill>
                  </a:tcPr>
                </a:tc>
                <a:tc>
                  <a:txBody>
                    <a:bodyPr/>
                    <a:lstStyle/>
                    <a:p>
                      <a:pPr algn="ctr"/>
                      <a:r>
                        <a:rPr sz="1350" b="0">
                          <a:solidFill>
                            <a:srgbClr val="152C3F"/>
                          </a:solidFill>
                          <a:latin typeface="DejaVu Sans" panose="020B0603030804020204"/>
                          <a:ea typeface="DejaVu Sans" panose="020B0603030804020204"/>
                          <a:cs typeface="DejaVu Sans" panose="020B0603030804020204"/>
                        </a:rPr>
                        <a:t>+0.6 ± 1.9</a:t>
                      </a:r>
                    </a:p>
                  </a:txBody>
                  <a:tcPr marL="95250" marR="95250" marT="76200" marB="76200" anchor="ctr">
                    <a:solidFill>
                      <a:srgbClr val="FFFFFF"/>
                    </a:solidFill>
                  </a:tcPr>
                </a:tc>
                <a:extLst>
                  <a:ext uri="{0D108BD9-81ED-4DB2-BD59-A6C34878D82A}">
                    <a16:rowId xmlns:a16="http://schemas.microsoft.com/office/drawing/2014/main" val="10007"/>
                  </a:ext>
                </a:extLst>
              </a:tr>
            </a:tbl>
          </a:graphicData>
        </a:graphic>
      </p:graphicFrame>
      <p:sp>
        <p:nvSpPr>
          <p:cNvPr id="6" name="text-191"/>
          <p:cNvSpPr>
            <a:spLocks noGrp="1"/>
          </p:cNvSpPr>
          <p:nvPr/>
        </p:nvSpPr>
        <p:spPr>
          <a:xfrm>
            <a:off x="7553960" y="1565275"/>
            <a:ext cx="3038475" cy="323850"/>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Normalization</a:t>
            </a:r>
          </a:p>
        </p:txBody>
      </p:sp>
      <p:sp>
        <p:nvSpPr>
          <p:cNvPr id="7" name="text-192"/>
          <p:cNvSpPr>
            <a:spLocks noGrp="1"/>
          </p:cNvSpPr>
          <p:nvPr/>
        </p:nvSpPr>
        <p:spPr>
          <a:xfrm>
            <a:off x="7553960" y="1984375"/>
            <a:ext cx="3057525" cy="80010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Window scaling showed the</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largest consistent mean effect.</a:t>
            </a:r>
          </a:p>
        </p:txBody>
      </p:sp>
      <p:sp>
        <p:nvSpPr>
          <p:cNvPr id="8" name="text-193"/>
          <p:cNvSpPr>
            <a:spLocks noGrp="1"/>
          </p:cNvSpPr>
          <p:nvPr/>
        </p:nvSpPr>
        <p:spPr>
          <a:xfrm>
            <a:off x="7553960" y="2974975"/>
            <a:ext cx="3038475" cy="333375"/>
          </a:xfrm>
          <a:prstGeom prst="rect">
            <a:avLst/>
          </a:prstGeom>
          <a:noFill/>
          <a:ln w="0">
            <a:noFill/>
          </a:ln>
        </p:spPr>
        <p:txBody>
          <a:bodyPr wrap="square" lIns="0" tIns="0" rIns="0" bIns="0" anchor="t">
            <a:noAutofit/>
          </a:bodyPr>
          <a:lstStyle/>
          <a:p>
            <a:pPr algn="l">
              <a:defRPr sz="1875" b="1">
                <a:solidFill>
                  <a:srgbClr val="7056A8"/>
                </a:solidFill>
                <a:latin typeface="DejaVu Sans" panose="020B0603030804020204"/>
                <a:ea typeface="DejaVu Sans" panose="020B0603030804020204"/>
                <a:cs typeface="DejaVu Sans" panose="020B0603030804020204"/>
              </a:defRPr>
            </a:pPr>
            <a:r>
              <a:rPr sz="1875" b="1">
                <a:solidFill>
                  <a:srgbClr val="7056A8"/>
                </a:solidFill>
                <a:latin typeface="DejaVu Sans" panose="020B0603030804020204"/>
                <a:ea typeface="DejaVu Sans" panose="020B0603030804020204"/>
                <a:cs typeface="DejaVu Sans" panose="020B0603030804020204"/>
              </a:rPr>
              <a:t>IMU processing</a:t>
            </a:r>
          </a:p>
        </p:txBody>
      </p:sp>
      <p:sp>
        <p:nvSpPr>
          <p:cNvPr id="9" name="text-194"/>
          <p:cNvSpPr>
            <a:spLocks noGrp="1"/>
          </p:cNvSpPr>
          <p:nvPr/>
        </p:nvSpPr>
        <p:spPr>
          <a:xfrm>
            <a:off x="7553960" y="3403600"/>
            <a:ext cx="3057525" cy="97155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Calibrated EKF processing</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lowered mean balanced accuracy in</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both architectures.</a:t>
            </a:r>
          </a:p>
        </p:txBody>
      </p:sp>
      <p:sp>
        <p:nvSpPr>
          <p:cNvPr id="10" name="text-195"/>
          <p:cNvSpPr>
            <a:spLocks noGrp="1"/>
          </p:cNvSpPr>
          <p:nvPr/>
        </p:nvSpPr>
        <p:spPr>
          <a:xfrm>
            <a:off x="7553960" y="4670425"/>
            <a:ext cx="3067050" cy="800100"/>
          </a:xfrm>
          <a:prstGeom prst="rect">
            <a:avLst/>
          </a:prstGeom>
          <a:noFill/>
          <a:ln w="0">
            <a:noFill/>
          </a:ln>
        </p:spPr>
        <p:txBody>
          <a:bodyPr wrap="square" lIns="0" tIns="0" rIns="0" bIns="0" anchor="t">
            <a:noAutofit/>
          </a:bodyPr>
          <a:lstStyle/>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More detailed IMU processing</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did not guarantee better</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classification in this cohort.</a:t>
            </a:r>
          </a:p>
        </p:txBody>
      </p:sp>
      <p:sp>
        <p:nvSpPr>
          <p:cNvPr id="11" name="text-196"/>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Δ balanced accuracy in percentage points, mean ± SD across repeats. Thesis Tables 28–30.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197"/>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Routing and hyperparameter searches</a:t>
            </a:r>
          </a:p>
        </p:txBody>
      </p:sp>
      <p:sp>
        <p:nvSpPr>
          <p:cNvPr id="2" name="text-198"/>
          <p:cNvSpPr>
            <a:spLocks noGrp="1"/>
          </p:cNvSpPr>
          <p:nvPr/>
        </p:nvSpPr>
        <p:spPr>
          <a:xfrm>
            <a:off x="623570" y="638111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SELECTION OF THE FINAL CONFIGURATION</a:t>
            </a:r>
          </a:p>
        </p:txBody>
      </p:sp>
      <p:sp>
        <p:nvSpPr>
          <p:cNvPr id="3" name="text-199"/>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41</a:t>
            </a:r>
          </a:p>
        </p:txBody>
      </p:sp>
      <p:graphicFrame>
        <p:nvGraphicFramePr>
          <p:cNvPr id="10" name="表格 9"/>
          <p:cNvGraphicFramePr/>
          <p:nvPr/>
        </p:nvGraphicFramePr>
        <p:xfrm>
          <a:off x="571500" y="1533525"/>
          <a:ext cx="11029950" cy="3562350"/>
        </p:xfrm>
        <a:graphic>
          <a:graphicData uri="http://schemas.openxmlformats.org/drawingml/2006/table">
            <a:tbl>
              <a:tblPr/>
              <a:tblGrid>
                <a:gridCol w="3009900">
                  <a:extLst>
                    <a:ext uri="{9D8B030D-6E8A-4147-A177-3AD203B41FA5}">
                      <a16:colId xmlns:a16="http://schemas.microsoft.com/office/drawing/2014/main" val="20000"/>
                    </a:ext>
                  </a:extLst>
                </a:gridCol>
                <a:gridCol w="4619625">
                  <a:extLst>
                    <a:ext uri="{9D8B030D-6E8A-4147-A177-3AD203B41FA5}">
                      <a16:colId xmlns:a16="http://schemas.microsoft.com/office/drawing/2014/main" val="20001"/>
                    </a:ext>
                  </a:extLst>
                </a:gridCol>
                <a:gridCol w="3400425">
                  <a:extLst>
                    <a:ext uri="{9D8B030D-6E8A-4147-A177-3AD203B41FA5}">
                      <a16:colId xmlns:a16="http://schemas.microsoft.com/office/drawing/2014/main" val="20002"/>
                    </a:ext>
                  </a:extLst>
                </a:gridCol>
              </a:tblGrid>
              <a:tr h="712470">
                <a:tc>
                  <a:txBody>
                    <a:bodyPr/>
                    <a:lstStyle/>
                    <a:p>
                      <a:pPr algn="l"/>
                      <a:r>
                        <a:rPr sz="1575" b="1">
                          <a:solidFill>
                            <a:srgbClr val="FFFFFF"/>
                          </a:solidFill>
                          <a:latin typeface="DejaVu Sans" panose="020B0603030804020204"/>
                          <a:ea typeface="DejaVu Sans" panose="020B0603030804020204"/>
                          <a:cs typeface="DejaVu Sans" panose="020B0603030804020204"/>
                        </a:rPr>
                        <a:t>Comparison</a:t>
                      </a:r>
                    </a:p>
                  </a:txBody>
                  <a:tcPr marL="95250" marR="95250" marT="76200" marB="7620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Main observation</a:t>
                      </a:r>
                    </a:p>
                  </a:txBody>
                  <a:tcPr marL="95250" marR="95250" marT="76200" marB="7620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Decision for follow-up</a:t>
                      </a:r>
                    </a:p>
                  </a:txBody>
                  <a:tcPr marL="95250" marR="95250" marT="76200" marB="76200" anchor="ctr">
                    <a:solidFill>
                      <a:srgbClr val="152C3F"/>
                    </a:solidFill>
                  </a:tcPr>
                </a:tc>
                <a:extLst>
                  <a:ext uri="{0D108BD9-81ED-4DB2-BD59-A6C34878D82A}">
                    <a16:rowId xmlns:a16="http://schemas.microsoft.com/office/drawing/2014/main" val="10000"/>
                  </a:ext>
                </a:extLst>
              </a:tr>
              <a:tr h="712470">
                <a:tc>
                  <a:txBody>
                    <a:bodyPr/>
                    <a:lstStyle/>
                    <a:p>
                      <a:pPr algn="l"/>
                      <a:r>
                        <a:rPr sz="1575" b="0">
                          <a:solidFill>
                            <a:srgbClr val="FF0000"/>
                          </a:solidFill>
                          <a:latin typeface="DejaVu Sans" panose="020B0603030804020204"/>
                          <a:ea typeface="DejaVu Sans" panose="020B0603030804020204"/>
                          <a:cs typeface="DejaVu Sans" panose="020B0603030804020204"/>
                        </a:rPr>
                        <a:t>Signal quality index (SQI) and motion gating</a:t>
                      </a:r>
                    </a:p>
                  </a:txBody>
                  <a:tcPr marL="95250" marR="95250" marT="76200" marB="76200" anchor="ctr">
                    <a:solidFill>
                      <a:srgbClr val="FFFFFF"/>
                    </a:solidFill>
                  </a:tcPr>
                </a:tc>
                <a:tc>
                  <a:txBody>
                    <a:bodyPr/>
                    <a:lstStyle/>
                    <a:p>
                      <a:pPr algn="ctr"/>
                      <a:r>
                        <a:rPr sz="1575" b="0">
                          <a:solidFill>
                            <a:srgbClr val="FF0000"/>
                          </a:solidFill>
                          <a:latin typeface="DejaVu Sans" panose="020B0603030804020204"/>
                          <a:ea typeface="DejaVu Sans" panose="020B0603030804020204"/>
                          <a:cs typeface="DejaVu Sans" panose="020B0603030804020204"/>
                        </a:rPr>
                        <a:t>All-role ungated BA 61.9%;</a:t>
                      </a:r>
                    </a:p>
                    <a:p>
                      <a:pPr algn="ctr"/>
                      <a:r>
                        <a:rPr sz="1575" b="0">
                          <a:solidFill>
                            <a:srgbClr val="FF0000"/>
                          </a:solidFill>
                          <a:latin typeface="DejaVu Sans" panose="020B0603030804020204"/>
                          <a:ea typeface="DejaVu Sans" panose="020B0603030804020204"/>
                          <a:cs typeface="DejaVu Sans" panose="020B0603030804020204"/>
                        </a:rPr>
                        <a:t>motion-only gating 50.9%</a:t>
                      </a:r>
                    </a:p>
                  </a:txBody>
                  <a:tcPr marL="95250" marR="95250" marT="76200" marB="76200" anchor="ctr">
                    <a:solidFill>
                      <a:srgbClr val="FFFFFF"/>
                    </a:solidFill>
                  </a:tcPr>
                </a:tc>
                <a:tc>
                  <a:txBody>
                    <a:bodyPr/>
                    <a:lstStyle/>
                    <a:p>
                      <a:pPr algn="ctr"/>
                      <a:r>
                        <a:rPr sz="1575" b="0">
                          <a:solidFill>
                            <a:srgbClr val="FF0000"/>
                          </a:solidFill>
                          <a:latin typeface="DejaVu Sans" panose="020B0603030804020204"/>
                          <a:ea typeface="DejaVu Sans" panose="020B0603030804020204"/>
                          <a:cs typeface="DejaVu Sans" panose="020B0603030804020204"/>
                        </a:rPr>
                        <a:t>Retain all roles;</a:t>
                      </a:r>
                    </a:p>
                    <a:p>
                      <a:pPr algn="ctr"/>
                      <a:r>
                        <a:rPr sz="1575" b="0">
                          <a:solidFill>
                            <a:srgbClr val="FF0000"/>
                          </a:solidFill>
                          <a:latin typeface="DejaVu Sans" panose="020B0603030804020204"/>
                          <a:ea typeface="DejaVu Sans" panose="020B0603030804020204"/>
                          <a:cs typeface="DejaVu Sans" panose="020B0603030804020204"/>
                        </a:rPr>
                        <a:t>disable gating</a:t>
                      </a:r>
                    </a:p>
                  </a:txBody>
                  <a:tcPr marL="95250" marR="95250" marT="76200" marB="76200" anchor="ctr">
                    <a:solidFill>
                      <a:srgbClr val="FFFFFF"/>
                    </a:solidFill>
                  </a:tcPr>
                </a:tc>
                <a:extLst>
                  <a:ext uri="{0D108BD9-81ED-4DB2-BD59-A6C34878D82A}">
                    <a16:rowId xmlns:a16="http://schemas.microsoft.com/office/drawing/2014/main" val="10001"/>
                  </a:ext>
                </a:extLst>
              </a:tr>
              <a:tr h="712470">
                <a:tc>
                  <a:txBody>
                    <a:bodyPr/>
                    <a:lstStyle/>
                    <a:p>
                      <a:pPr algn="l"/>
                      <a:r>
                        <a:rPr sz="1575" b="0">
                          <a:solidFill>
                            <a:srgbClr val="152C3F"/>
                          </a:solidFill>
                          <a:latin typeface="DejaVu Sans" panose="020B0603030804020204"/>
                          <a:ea typeface="DejaVu Sans" panose="020B0603030804020204"/>
                          <a:cs typeface="DejaVu Sans" panose="020B0603030804020204"/>
                        </a:rPr>
                        <a:t>Batch size × learning rate</a:t>
                      </a:r>
                    </a:p>
                    <a:p>
                      <a:pPr algn="l"/>
                      <a:r>
                        <a:rPr sz="1575" b="0">
                          <a:solidFill>
                            <a:srgbClr val="152C3F"/>
                          </a:solidFill>
                          <a:latin typeface="DejaVu Sans" panose="020B0603030804020204"/>
                          <a:ea typeface="DejaVu Sans" panose="020B0603030804020204"/>
                          <a:cs typeface="DejaVu Sans" panose="020B0603030804020204"/>
                        </a:rPr>
                        <a:t>6 settings</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Highest-ranked BA 59.5 ± 6.2%;</a:t>
                      </a:r>
                    </a:p>
                    <a:p>
                      <a:pPr algn="ctr"/>
                      <a:r>
                        <a:rPr sz="1575" b="0">
                          <a:solidFill>
                            <a:srgbClr val="152C3F"/>
                          </a:solidFill>
                          <a:latin typeface="DejaVu Sans" panose="020B0603030804020204"/>
                          <a:ea typeface="DejaVu Sans" panose="020B0603030804020204"/>
                          <a:cs typeface="DejaVu Sans" panose="020B0603030804020204"/>
                        </a:rPr>
                        <a:t>next setting 56.1 ± 6.4%</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Batch 16, learning rate 3 × 10⁻⁴</a:t>
                      </a:r>
                    </a:p>
                  </a:txBody>
                  <a:tcPr marL="95250" marR="95250" marT="76200" marB="76200" anchor="ctr">
                    <a:solidFill>
                      <a:srgbClr val="F4F6F8"/>
                    </a:solidFill>
                  </a:tcPr>
                </a:tc>
                <a:extLst>
                  <a:ext uri="{0D108BD9-81ED-4DB2-BD59-A6C34878D82A}">
                    <a16:rowId xmlns:a16="http://schemas.microsoft.com/office/drawing/2014/main" val="10002"/>
                  </a:ext>
                </a:extLst>
              </a:tr>
              <a:tr h="712470">
                <a:tc>
                  <a:txBody>
                    <a:bodyPr/>
                    <a:lstStyle/>
                    <a:p>
                      <a:pPr algn="l"/>
                      <a:r>
                        <a:rPr sz="1575" b="0">
                          <a:solidFill>
                            <a:srgbClr val="152C3F"/>
                          </a:solidFill>
                          <a:latin typeface="DejaVu Sans" panose="020B0603030804020204"/>
                          <a:ea typeface="DejaVu Sans" panose="020B0603030804020204"/>
                          <a:cs typeface="DejaVu Sans" panose="020B0603030804020204"/>
                        </a:rPr>
                        <a:t>Regularization</a:t>
                      </a:r>
                    </a:p>
                    <a:p>
                      <a:pPr algn="l"/>
                      <a:r>
                        <a:rPr sz="1575" b="0">
                          <a:solidFill>
                            <a:srgbClr val="152C3F"/>
                          </a:solidFill>
                          <a:latin typeface="DejaVu Sans" panose="020B0603030804020204"/>
                          <a:ea typeface="DejaVu Sans" panose="020B0603030804020204"/>
                          <a:cs typeface="DejaVu Sans" panose="020B0603030804020204"/>
                        </a:rPr>
                        <a:t>9 settings</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BA means ranged 55.0–58.9%;</a:t>
                      </a:r>
                    </a:p>
                    <a:p>
                      <a:pPr algn="ctr"/>
                      <a:r>
                        <a:rPr sz="1575" b="0">
                          <a:solidFill>
                            <a:srgbClr val="152C3F"/>
                          </a:solidFill>
                          <a:latin typeface="DejaVu Sans" panose="020B0603030804020204"/>
                          <a:ea typeface="DejaVu Sans" panose="020B0603030804020204"/>
                          <a:cs typeface="DejaVu Sans" panose="020B0603030804020204"/>
                        </a:rPr>
                        <a:t>all ±1 SD intervals overlapped</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No clear advantage</a:t>
                      </a:r>
                    </a:p>
                    <a:p>
                      <a:pPr algn="ctr"/>
                      <a:r>
                        <a:rPr sz="1575" b="0">
                          <a:solidFill>
                            <a:srgbClr val="152C3F"/>
                          </a:solidFill>
                          <a:latin typeface="DejaVu Sans" panose="020B0603030804020204"/>
                          <a:ea typeface="DejaVu Sans" panose="020B0603030804020204"/>
                          <a:cs typeface="DejaVu Sans" panose="020B0603030804020204"/>
                        </a:rPr>
                        <a:t>within the tested grid</a:t>
                      </a:r>
                    </a:p>
                  </a:txBody>
                  <a:tcPr marL="95250" marR="95250" marT="76200" marB="76200" anchor="ctr">
                    <a:solidFill>
                      <a:srgbClr val="FFFFFF"/>
                    </a:solidFill>
                  </a:tcPr>
                </a:tc>
                <a:extLst>
                  <a:ext uri="{0D108BD9-81ED-4DB2-BD59-A6C34878D82A}">
                    <a16:rowId xmlns:a16="http://schemas.microsoft.com/office/drawing/2014/main" val="10003"/>
                  </a:ext>
                </a:extLst>
              </a:tr>
              <a:tr h="712470">
                <a:tc>
                  <a:txBody>
                    <a:bodyPr/>
                    <a:lstStyle/>
                    <a:p>
                      <a:pPr algn="l"/>
                      <a:r>
                        <a:rPr sz="1575" b="0">
                          <a:solidFill>
                            <a:srgbClr val="152C3F"/>
                          </a:solidFill>
                          <a:latin typeface="DejaVu Sans" panose="020B0603030804020204"/>
                          <a:ea typeface="DejaVu Sans" panose="020B0603030804020204"/>
                          <a:cs typeface="DejaVu Sans" panose="020B0603030804020204"/>
                        </a:rPr>
                        <a:t>Additional exploratory tests</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Epochs, window length / overlap,</a:t>
                      </a:r>
                    </a:p>
                    <a:p>
                      <a:pPr algn="ctr"/>
                      <a:r>
                        <a:rPr sz="1575" b="0">
                          <a:solidFill>
                            <a:srgbClr val="152C3F"/>
                          </a:solidFill>
                          <a:latin typeface="DejaVu Sans" panose="020B0603030804020204"/>
                          <a:ea typeface="DejaVu Sans" panose="020B0603030804020204"/>
                          <a:cs typeface="DejaVu Sans" panose="020B0603030804020204"/>
                        </a:rPr>
                        <a:t>retained windows, CNN regularization</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No further change</a:t>
                      </a:r>
                    </a:p>
                    <a:p>
                      <a:pPr algn="ctr"/>
                      <a:r>
                        <a:rPr sz="1575" b="0">
                          <a:solidFill>
                            <a:srgbClr val="152C3F"/>
                          </a:solidFill>
                          <a:latin typeface="DejaVu Sans" panose="020B0603030804020204"/>
                          <a:ea typeface="DejaVu Sans" panose="020B0603030804020204"/>
                          <a:cs typeface="DejaVu Sans" panose="020B0603030804020204"/>
                        </a:rPr>
                        <a:t>to the final configuration</a:t>
                      </a:r>
                    </a:p>
                  </a:txBody>
                  <a:tcPr marL="95250" marR="95250" marT="76200" marB="76200" anchor="ctr">
                    <a:solidFill>
                      <a:srgbClr val="F4F6F8"/>
                    </a:solidFill>
                  </a:tcPr>
                </a:tc>
                <a:extLst>
                  <a:ext uri="{0D108BD9-81ED-4DB2-BD59-A6C34878D82A}">
                    <a16:rowId xmlns:a16="http://schemas.microsoft.com/office/drawing/2014/main" val="10004"/>
                  </a:ext>
                </a:extLst>
              </a:tr>
            </a:tbl>
          </a:graphicData>
        </a:graphic>
      </p:graphicFrame>
      <p:sp>
        <p:nvSpPr>
          <p:cNvPr id="5" name="text-200"/>
          <p:cNvSpPr>
            <a:spLocks noGrp="1"/>
          </p:cNvSpPr>
          <p:nvPr/>
        </p:nvSpPr>
        <p:spPr>
          <a:xfrm>
            <a:off x="571500" y="5419725"/>
            <a:ext cx="10953750" cy="45720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Small grid-search margins did not establish superiority.</a:t>
            </a:r>
          </a:p>
        </p:txBody>
      </p:sp>
      <p:sp>
        <p:nvSpPr>
          <p:cNvPr id="6" name="text-201"/>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Thesis Tables 27, 31–32 and §4.2.4.4. Mean ± SD describes variation between repeats.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202"/>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Final comparison of five configurations</a:t>
            </a:r>
          </a:p>
        </p:txBody>
      </p:sp>
      <p:sp>
        <p:nvSpPr>
          <p:cNvPr id="2" name="text-203"/>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SELECTION OF THE FINAL CONFIGURATION</a:t>
            </a:r>
          </a:p>
        </p:txBody>
      </p:sp>
      <p:sp>
        <p:nvSpPr>
          <p:cNvPr id="3" name="text-204"/>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42</a:t>
            </a:r>
          </a:p>
        </p:txBody>
      </p:sp>
      <p:graphicFrame>
        <p:nvGraphicFramePr>
          <p:cNvPr id="15" name="表格 14"/>
          <p:cNvGraphicFramePr/>
          <p:nvPr/>
        </p:nvGraphicFramePr>
        <p:xfrm>
          <a:off x="571500" y="1524000"/>
          <a:ext cx="11029950" cy="2638428"/>
        </p:xfrm>
        <a:graphic>
          <a:graphicData uri="http://schemas.openxmlformats.org/drawingml/2006/table">
            <a:tbl>
              <a:tblPr/>
              <a:tblGrid>
                <a:gridCol w="6477000">
                  <a:extLst>
                    <a:ext uri="{9D8B030D-6E8A-4147-A177-3AD203B41FA5}">
                      <a16:colId xmlns:a16="http://schemas.microsoft.com/office/drawing/2014/main" val="20000"/>
                    </a:ext>
                  </a:extLst>
                </a:gridCol>
                <a:gridCol w="2276475">
                  <a:extLst>
                    <a:ext uri="{9D8B030D-6E8A-4147-A177-3AD203B41FA5}">
                      <a16:colId xmlns:a16="http://schemas.microsoft.com/office/drawing/2014/main" val="20001"/>
                    </a:ext>
                  </a:extLst>
                </a:gridCol>
                <a:gridCol w="2276475">
                  <a:extLst>
                    <a:ext uri="{9D8B030D-6E8A-4147-A177-3AD203B41FA5}">
                      <a16:colId xmlns:a16="http://schemas.microsoft.com/office/drawing/2014/main" val="20002"/>
                    </a:ext>
                  </a:extLst>
                </a:gridCol>
              </a:tblGrid>
              <a:tr h="439738">
                <a:tc>
                  <a:txBody>
                    <a:bodyPr/>
                    <a:lstStyle/>
                    <a:p>
                      <a:pPr algn="l"/>
                      <a:r>
                        <a:rPr sz="1575" b="1">
                          <a:solidFill>
                            <a:srgbClr val="FFFFFF"/>
                          </a:solidFill>
                          <a:latin typeface="DejaVu Sans" panose="020B0603030804020204"/>
                          <a:ea typeface="DejaVu Sans" panose="020B0603030804020204"/>
                          <a:cs typeface="DejaVu Sans" panose="020B0603030804020204"/>
                        </a:rPr>
                        <a:t>Rank / configuration</a:t>
                      </a:r>
                    </a:p>
                  </a:txBody>
                  <a:tcPr marL="95250" marR="95250" marT="76200" marB="7620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BA (%)</a:t>
                      </a:r>
                    </a:p>
                  </a:txBody>
                  <a:tcPr marL="95250" marR="95250" marT="76200" marB="7620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Macro-F1 (%)</a:t>
                      </a:r>
                    </a:p>
                  </a:txBody>
                  <a:tcPr marL="95250" marR="95250" marT="76200" marB="76200" anchor="ctr">
                    <a:solidFill>
                      <a:srgbClr val="152C3F"/>
                    </a:solidFill>
                  </a:tcPr>
                </a:tc>
                <a:extLst>
                  <a:ext uri="{0D108BD9-81ED-4DB2-BD59-A6C34878D82A}">
                    <a16:rowId xmlns:a16="http://schemas.microsoft.com/office/drawing/2014/main" val="10000"/>
                  </a:ext>
                </a:extLst>
              </a:tr>
              <a:tr h="439738">
                <a:tc>
                  <a:txBody>
                    <a:bodyPr/>
                    <a:lstStyle/>
                    <a:p>
                      <a:pPr algn="l"/>
                      <a:r>
                        <a:rPr sz="1575" b="0">
                          <a:solidFill>
                            <a:srgbClr val="152C3F"/>
                          </a:solidFill>
                          <a:latin typeface="DejaVu Sans" panose="020B0603030804020204"/>
                          <a:ea typeface="DejaVu Sans" panose="020B0603030804020204"/>
                          <a:cs typeface="DejaVu Sans" panose="020B0603030804020204"/>
                        </a:rPr>
                        <a:t>1  Small, all roles, Profile A</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71.9 ± 4.7</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70.4 ± 4.4</a:t>
                      </a:r>
                    </a:p>
                  </a:txBody>
                  <a:tcPr marL="95250" marR="95250" marT="76200" marB="76200" anchor="ctr">
                    <a:solidFill>
                      <a:srgbClr val="FFFFFF"/>
                    </a:solidFill>
                  </a:tcPr>
                </a:tc>
                <a:extLst>
                  <a:ext uri="{0D108BD9-81ED-4DB2-BD59-A6C34878D82A}">
                    <a16:rowId xmlns:a16="http://schemas.microsoft.com/office/drawing/2014/main" val="10001"/>
                  </a:ext>
                </a:extLst>
              </a:tr>
              <a:tr h="439738">
                <a:tc>
                  <a:txBody>
                    <a:bodyPr/>
                    <a:lstStyle/>
                    <a:p>
                      <a:pPr algn="l"/>
                      <a:r>
                        <a:rPr sz="1575" b="0">
                          <a:solidFill>
                            <a:srgbClr val="152C3F"/>
                          </a:solidFill>
                          <a:latin typeface="DejaVu Sans" panose="020B0603030804020204"/>
                          <a:ea typeface="DejaVu Sans" panose="020B0603030804020204"/>
                          <a:cs typeface="DejaVu Sans" panose="020B0603030804020204"/>
                        </a:rPr>
                        <a:t>2  Small, all roles, no gravity removal</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71.4 ± 4.9</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69.3 ± 3.9</a:t>
                      </a:r>
                    </a:p>
                  </a:txBody>
                  <a:tcPr marL="95250" marR="95250" marT="76200" marB="76200" anchor="ctr">
                    <a:solidFill>
                      <a:srgbClr val="F4F6F8"/>
                    </a:solidFill>
                  </a:tcPr>
                </a:tc>
                <a:extLst>
                  <a:ext uri="{0D108BD9-81ED-4DB2-BD59-A6C34878D82A}">
                    <a16:rowId xmlns:a16="http://schemas.microsoft.com/office/drawing/2014/main" val="10002"/>
                  </a:ext>
                </a:extLst>
              </a:tr>
              <a:tr h="439738">
                <a:tc>
                  <a:txBody>
                    <a:bodyPr/>
                    <a:lstStyle/>
                    <a:p>
                      <a:pPr algn="l"/>
                      <a:r>
                        <a:rPr sz="1575" b="0">
                          <a:solidFill>
                            <a:srgbClr val="152C3F"/>
                          </a:solidFill>
                          <a:latin typeface="DejaVu Sans" panose="020B0603030804020204"/>
                          <a:ea typeface="DejaVu Sans" panose="020B0603030804020204"/>
                          <a:cs typeface="DejaVu Sans" panose="020B0603030804020204"/>
                        </a:rPr>
                        <a:t>3  Full, all roles, Profile A</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70.6 ± 5.4</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69.6 ± 5.2</a:t>
                      </a:r>
                    </a:p>
                  </a:txBody>
                  <a:tcPr marL="95250" marR="95250" marT="76200" marB="76200" anchor="ctr">
                    <a:solidFill>
                      <a:srgbClr val="FFFFFF"/>
                    </a:solidFill>
                  </a:tcPr>
                </a:tc>
                <a:extLst>
                  <a:ext uri="{0D108BD9-81ED-4DB2-BD59-A6C34878D82A}">
                    <a16:rowId xmlns:a16="http://schemas.microsoft.com/office/drawing/2014/main" val="10003"/>
                  </a:ext>
                </a:extLst>
              </a:tr>
              <a:tr h="439738">
                <a:tc>
                  <a:txBody>
                    <a:bodyPr/>
                    <a:lstStyle/>
                    <a:p>
                      <a:pPr algn="l"/>
                      <a:r>
                        <a:rPr sz="1575" b="0">
                          <a:solidFill>
                            <a:srgbClr val="152C3F"/>
                          </a:solidFill>
                          <a:latin typeface="DejaVu Sans" panose="020B0603030804020204"/>
                          <a:ea typeface="DejaVu Sans" panose="020B0603030804020204"/>
                          <a:cs typeface="DejaVu Sans" panose="020B0603030804020204"/>
                        </a:rPr>
                        <a:t>4  Full, alternative training settings</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66.3 ± 4.9</a:t>
                      </a:r>
                    </a:p>
                  </a:txBody>
                  <a:tcPr marL="95250" marR="95250" marT="76200" marB="7620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67.6 ± 4.4</a:t>
                      </a:r>
                    </a:p>
                  </a:txBody>
                  <a:tcPr marL="95250" marR="95250" marT="76200" marB="76200" anchor="ctr">
                    <a:solidFill>
                      <a:srgbClr val="F4F6F8"/>
                    </a:solidFill>
                  </a:tcPr>
                </a:tc>
                <a:extLst>
                  <a:ext uri="{0D108BD9-81ED-4DB2-BD59-A6C34878D82A}">
                    <a16:rowId xmlns:a16="http://schemas.microsoft.com/office/drawing/2014/main" val="10004"/>
                  </a:ext>
                </a:extLst>
              </a:tr>
              <a:tr h="439738">
                <a:tc>
                  <a:txBody>
                    <a:bodyPr/>
                    <a:lstStyle/>
                    <a:p>
                      <a:pPr algn="l"/>
                      <a:r>
                        <a:rPr sz="1575" b="0">
                          <a:solidFill>
                            <a:srgbClr val="152C3F"/>
                          </a:solidFill>
                          <a:latin typeface="DejaVu Sans" panose="020B0603030804020204"/>
                          <a:ea typeface="DejaVu Sans" panose="020B0603030804020204"/>
                          <a:cs typeface="DejaVu Sans" panose="020B0603030804020204"/>
                        </a:rPr>
                        <a:t>5  Full, static roles, Profile A</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58.1 ± 3.3</a:t>
                      </a:r>
                    </a:p>
                  </a:txBody>
                  <a:tcPr marL="95250" marR="95250" marT="76200" marB="7620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57.5 ± 4.1</a:t>
                      </a:r>
                    </a:p>
                  </a:txBody>
                  <a:tcPr marL="95250" marR="9525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5" name="text-205"/>
          <p:cNvSpPr>
            <a:spLocks noGrp="1"/>
          </p:cNvSpPr>
          <p:nvPr/>
        </p:nvSpPr>
        <p:spPr>
          <a:xfrm>
            <a:off x="600075" y="4467225"/>
            <a:ext cx="3333750" cy="333375"/>
          </a:xfrm>
          <a:prstGeom prst="rect">
            <a:avLst/>
          </a:prstGeom>
          <a:noFill/>
          <a:ln w="0">
            <a:noFill/>
          </a:ln>
        </p:spPr>
        <p:txBody>
          <a:bodyPr wrap="square" lIns="0" tIns="0" rIns="0" bIns="0" anchor="t">
            <a:noAutofit/>
          </a:bodyPr>
          <a:lstStyle/>
          <a:p>
            <a:pPr algn="l">
              <a:defRPr sz="1800" b="1">
                <a:solidFill>
                  <a:srgbClr val="087E8B"/>
                </a:solidFill>
                <a:latin typeface="DejaVu Sans" panose="020B0603030804020204"/>
                <a:ea typeface="DejaVu Sans" panose="020B0603030804020204"/>
                <a:cs typeface="DejaVu Sans" panose="020B0603030804020204"/>
              </a:defRPr>
            </a:pPr>
            <a:r>
              <a:rPr sz="1800" b="1">
                <a:solidFill>
                  <a:srgbClr val="087E8B"/>
                </a:solidFill>
                <a:latin typeface="DejaVu Sans" panose="020B0603030804020204"/>
                <a:ea typeface="DejaVu Sans" panose="020B0603030804020204"/>
                <a:cs typeface="DejaVu Sans" panose="020B0603030804020204"/>
              </a:rPr>
              <a:t>Recording roles</a:t>
            </a:r>
          </a:p>
        </p:txBody>
      </p:sp>
      <p:sp>
        <p:nvSpPr>
          <p:cNvPr id="6" name="text-206"/>
          <p:cNvSpPr>
            <a:spLocks noGrp="1"/>
          </p:cNvSpPr>
          <p:nvPr/>
        </p:nvSpPr>
        <p:spPr>
          <a:xfrm>
            <a:off x="600075" y="4895850"/>
            <a:ext cx="3333750" cy="866775"/>
          </a:xfrm>
          <a:prstGeom prst="rect">
            <a:avLst/>
          </a:prstGeom>
          <a:noFill/>
          <a:ln w="0">
            <a:noFill/>
          </a:ln>
        </p:spPr>
        <p:txBody>
          <a:bodyPr wrap="square" lIns="0" tIns="0" rIns="0" bIns="0" anchor="t">
            <a:noAutofit/>
          </a:bodyPr>
          <a:lstStyle/>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Ranks 3 vs 5: +12.5 pp BA</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All roles versus static roles.</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Holm p = 0.1255.</a:t>
            </a:r>
          </a:p>
        </p:txBody>
      </p:sp>
      <p:sp>
        <p:nvSpPr>
          <p:cNvPr id="7" name="text-207"/>
          <p:cNvSpPr>
            <a:spLocks noGrp="1"/>
          </p:cNvSpPr>
          <p:nvPr/>
        </p:nvSpPr>
        <p:spPr>
          <a:xfrm>
            <a:off x="4438650" y="4467225"/>
            <a:ext cx="3333750" cy="333375"/>
          </a:xfrm>
          <a:prstGeom prst="rect">
            <a:avLst/>
          </a:prstGeom>
          <a:noFill/>
          <a:ln w="0">
            <a:noFill/>
          </a:ln>
        </p:spPr>
        <p:txBody>
          <a:bodyPr wrap="square" lIns="0" tIns="0" rIns="0" bIns="0" anchor="t">
            <a:noAutofit/>
          </a:bodyPr>
          <a:lstStyle/>
          <a:p>
            <a:pPr algn="l">
              <a:defRPr sz="1800" b="1">
                <a:solidFill>
                  <a:srgbClr val="087E8B"/>
                </a:solidFill>
                <a:latin typeface="DejaVu Sans" panose="020B0603030804020204"/>
                <a:ea typeface="DejaVu Sans" panose="020B0603030804020204"/>
                <a:cs typeface="DejaVu Sans" panose="020B0603030804020204"/>
              </a:defRPr>
            </a:pPr>
            <a:r>
              <a:rPr sz="1800" b="1">
                <a:solidFill>
                  <a:srgbClr val="087E8B"/>
                </a:solidFill>
                <a:latin typeface="DejaVu Sans" panose="020B0603030804020204"/>
                <a:ea typeface="DejaVu Sans" panose="020B0603030804020204"/>
                <a:cs typeface="DejaVu Sans" panose="020B0603030804020204"/>
              </a:rPr>
              <a:t>Network capacity</a:t>
            </a:r>
          </a:p>
        </p:txBody>
      </p:sp>
      <p:sp>
        <p:nvSpPr>
          <p:cNvPr id="8" name="text-208"/>
          <p:cNvSpPr>
            <a:spLocks noGrp="1"/>
          </p:cNvSpPr>
          <p:nvPr/>
        </p:nvSpPr>
        <p:spPr>
          <a:xfrm>
            <a:off x="4438650" y="4895850"/>
            <a:ext cx="3333750" cy="866775"/>
          </a:xfrm>
          <a:prstGeom prst="rect">
            <a:avLst/>
          </a:prstGeom>
          <a:noFill/>
          <a:ln w="0">
            <a:noFill/>
          </a:ln>
        </p:spPr>
        <p:txBody>
          <a:bodyPr wrap="square" lIns="0" tIns="0" rIns="0" bIns="0" anchor="t">
            <a:noAutofit/>
          </a:bodyPr>
          <a:lstStyle/>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Ranks 1 vs 3: +1.3 pp BA.</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Additional capacity showed</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no clear benefit.</a:t>
            </a:r>
          </a:p>
        </p:txBody>
      </p:sp>
      <p:sp>
        <p:nvSpPr>
          <p:cNvPr id="9" name="text-209"/>
          <p:cNvSpPr>
            <a:spLocks noGrp="1"/>
          </p:cNvSpPr>
          <p:nvPr/>
        </p:nvSpPr>
        <p:spPr>
          <a:xfrm>
            <a:off x="8267700" y="4467225"/>
            <a:ext cx="3333750" cy="333375"/>
          </a:xfrm>
          <a:prstGeom prst="rect">
            <a:avLst/>
          </a:prstGeom>
          <a:noFill/>
          <a:ln w="0">
            <a:noFill/>
          </a:ln>
        </p:spPr>
        <p:txBody>
          <a:bodyPr wrap="square" lIns="0" tIns="0" rIns="0" bIns="0" anchor="t">
            <a:noAutofit/>
          </a:bodyPr>
          <a:lstStyle/>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Gravity removal</a:t>
            </a:r>
          </a:p>
        </p:txBody>
      </p:sp>
      <p:sp>
        <p:nvSpPr>
          <p:cNvPr id="10" name="text-210"/>
          <p:cNvSpPr>
            <a:spLocks noGrp="1"/>
          </p:cNvSpPr>
          <p:nvPr/>
        </p:nvSpPr>
        <p:spPr>
          <a:xfrm>
            <a:off x="8267700" y="4895850"/>
            <a:ext cx="3333750" cy="914400"/>
          </a:xfrm>
          <a:prstGeom prst="rect">
            <a:avLst/>
          </a:prstGeom>
          <a:noFill/>
          <a:ln w="0">
            <a:noFill/>
          </a:ln>
        </p:spPr>
        <p:txBody>
          <a:bodyPr wrap="square" lIns="0" tIns="0" rIns="0" bIns="0" anchor="t">
            <a:noAutofit/>
          </a:bodyPr>
          <a:lstStyle/>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Ranks 1 vs 2: +0.5 pp BA.</a:t>
            </a:r>
          </a:p>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The two leading settings were</a:t>
            </a:r>
          </a:p>
          <a:p>
            <a:pPr algn="l">
              <a:defRPr sz="1575" b="0">
                <a:solidFill>
                  <a:srgbClr val="152C3F"/>
                </a:solidFill>
                <a:latin typeface="DejaVu Sans" panose="020B0603030804020204"/>
                <a:ea typeface="DejaVu Sans" panose="020B0603030804020204"/>
                <a:cs typeface="DejaVu Sans" panose="020B0603030804020204"/>
              </a:defRPr>
            </a:pPr>
            <a:r>
              <a:rPr sz="1575" b="0">
                <a:solidFill>
                  <a:srgbClr val="152C3F"/>
                </a:solidFill>
                <a:latin typeface="DejaVu Sans" panose="020B0603030804020204"/>
                <a:ea typeface="DejaVu Sans" panose="020B0603030804020204"/>
                <a:cs typeface="DejaVu Sans" panose="020B0603030804020204"/>
              </a:rPr>
              <a:t>indistinguishable on this evidence.</a:t>
            </a:r>
          </a:p>
        </p:txBody>
      </p:sp>
      <p:sp>
        <p:nvSpPr>
          <p:cNvPr id="11" name="text-211"/>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Thesis Tables 33–34. Rank 1 was selected by the pre-specified ranking; values are mean ± SD across repeats.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212"/>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Final participant-level classification</a:t>
            </a:r>
          </a:p>
        </p:txBody>
      </p:sp>
      <p:sp>
        <p:nvSpPr>
          <p:cNvPr id="2" name="text-213"/>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CLASSIFICATION RESULTS</a:t>
            </a:r>
          </a:p>
        </p:txBody>
      </p:sp>
      <p:sp>
        <p:nvSpPr>
          <p:cNvPr id="3" name="text-214"/>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43</a:t>
            </a:r>
          </a:p>
        </p:txBody>
      </p:sp>
      <p:sp>
        <p:nvSpPr>
          <p:cNvPr id="4" name="text-215"/>
          <p:cNvSpPr>
            <a:spLocks noGrp="1"/>
          </p:cNvSpPr>
          <p:nvPr/>
        </p:nvSpPr>
        <p:spPr>
          <a:xfrm>
            <a:off x="571500" y="1438275"/>
            <a:ext cx="6286500" cy="381000"/>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Selected Small InceptionTime</a:t>
            </a:r>
          </a:p>
        </p:txBody>
      </p:sp>
      <p:graphicFrame>
        <p:nvGraphicFramePr>
          <p:cNvPr id="16" name="表格 15"/>
          <p:cNvGraphicFramePr/>
          <p:nvPr/>
        </p:nvGraphicFramePr>
        <p:xfrm>
          <a:off x="571500" y="2028825"/>
          <a:ext cx="6162675" cy="3048000"/>
        </p:xfrm>
        <a:graphic>
          <a:graphicData uri="http://schemas.openxmlformats.org/drawingml/2006/table">
            <a:tbl>
              <a:tblPr/>
              <a:tblGrid>
                <a:gridCol w="3438525">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tblGrid>
              <a:tr h="609600">
                <a:tc>
                  <a:txBody>
                    <a:bodyPr/>
                    <a:lstStyle/>
                    <a:p>
                      <a:pPr algn="l"/>
                      <a:r>
                        <a:rPr sz="2025" b="1">
                          <a:solidFill>
                            <a:srgbClr val="FFFFFF"/>
                          </a:solidFill>
                          <a:latin typeface="DejaVu Sans" panose="020B0603030804020204"/>
                          <a:ea typeface="DejaVu Sans" panose="020B0603030804020204"/>
                          <a:cs typeface="DejaVu Sans" panose="020B0603030804020204"/>
                        </a:rPr>
                        <a:t>Endpoint</a:t>
                      </a:r>
                    </a:p>
                  </a:txBody>
                  <a:tcPr marL="95250" marR="95250" marT="76200" marB="76200" anchor="ctr">
                    <a:solidFill>
                      <a:srgbClr val="152C3F"/>
                    </a:solidFill>
                  </a:tcPr>
                </a:tc>
                <a:tc>
                  <a:txBody>
                    <a:bodyPr/>
                    <a:lstStyle/>
                    <a:p>
                      <a:pPr algn="ctr"/>
                      <a:r>
                        <a:rPr sz="2025" b="1">
                          <a:solidFill>
                            <a:srgbClr val="FFFFFF"/>
                          </a:solidFill>
                          <a:latin typeface="DejaVu Sans" panose="020B0603030804020204"/>
                          <a:ea typeface="DejaVu Sans" panose="020B0603030804020204"/>
                          <a:cs typeface="DejaVu Sans" panose="020B0603030804020204"/>
                        </a:rPr>
                        <a:t>Mean ± SD (%)</a:t>
                      </a:r>
                    </a:p>
                  </a:txBody>
                  <a:tcPr marL="95250" marR="95250" marT="76200" marB="76200" anchor="ctr">
                    <a:solidFill>
                      <a:srgbClr val="152C3F"/>
                    </a:solidFill>
                  </a:tcPr>
                </a:tc>
                <a:extLst>
                  <a:ext uri="{0D108BD9-81ED-4DB2-BD59-A6C34878D82A}">
                    <a16:rowId xmlns:a16="http://schemas.microsoft.com/office/drawing/2014/main" val="10000"/>
                  </a:ext>
                </a:extLst>
              </a:tr>
              <a:tr h="609600">
                <a:tc>
                  <a:txBody>
                    <a:bodyPr/>
                    <a:lstStyle/>
                    <a:p>
                      <a:pPr algn="l"/>
                      <a:r>
                        <a:rPr sz="2025" b="0">
                          <a:solidFill>
                            <a:srgbClr val="152C3F"/>
                          </a:solidFill>
                          <a:latin typeface="DejaVu Sans" panose="020B0603030804020204"/>
                          <a:ea typeface="DejaVu Sans" panose="020B0603030804020204"/>
                          <a:cs typeface="DejaVu Sans" panose="020B0603030804020204"/>
                        </a:rPr>
                        <a:t>Balanced accuracy</a:t>
                      </a:r>
                    </a:p>
                  </a:txBody>
                  <a:tcPr marL="95250" marR="95250" marT="76200" marB="76200" anchor="ctr">
                    <a:solidFill>
                      <a:srgbClr val="FFFFFF"/>
                    </a:solidFill>
                  </a:tcPr>
                </a:tc>
                <a:tc>
                  <a:txBody>
                    <a:bodyPr/>
                    <a:lstStyle/>
                    <a:p>
                      <a:pPr algn="ctr"/>
                      <a:r>
                        <a:rPr sz="2025" b="0">
                          <a:solidFill>
                            <a:srgbClr val="152C3F"/>
                          </a:solidFill>
                          <a:latin typeface="DejaVu Sans" panose="020B0603030804020204"/>
                          <a:ea typeface="DejaVu Sans" panose="020B0603030804020204"/>
                          <a:cs typeface="DejaVu Sans" panose="020B0603030804020204"/>
                        </a:rPr>
                        <a:t>71.9 ± 4.7</a:t>
                      </a:r>
                    </a:p>
                  </a:txBody>
                  <a:tcPr marL="95250" marR="95250" marT="76200" marB="76200" anchor="ctr">
                    <a:solidFill>
                      <a:srgbClr val="FFFFFF"/>
                    </a:solidFill>
                  </a:tcPr>
                </a:tc>
                <a:extLst>
                  <a:ext uri="{0D108BD9-81ED-4DB2-BD59-A6C34878D82A}">
                    <a16:rowId xmlns:a16="http://schemas.microsoft.com/office/drawing/2014/main" val="10001"/>
                  </a:ext>
                </a:extLst>
              </a:tr>
              <a:tr h="609600">
                <a:tc>
                  <a:txBody>
                    <a:bodyPr/>
                    <a:lstStyle/>
                    <a:p>
                      <a:pPr algn="l"/>
                      <a:r>
                        <a:rPr sz="2025" b="0">
                          <a:solidFill>
                            <a:srgbClr val="152C3F"/>
                          </a:solidFill>
                          <a:latin typeface="DejaVu Sans" panose="020B0603030804020204"/>
                          <a:ea typeface="DejaVu Sans" panose="020B0603030804020204"/>
                          <a:cs typeface="DejaVu Sans" panose="020B0603030804020204"/>
                        </a:rPr>
                        <a:t>Macro-F1</a:t>
                      </a:r>
                    </a:p>
                  </a:txBody>
                  <a:tcPr marL="95250" marR="95250" marT="76200" marB="76200" anchor="ctr">
                    <a:solidFill>
                      <a:srgbClr val="F4F6F8"/>
                    </a:solidFill>
                  </a:tcPr>
                </a:tc>
                <a:tc>
                  <a:txBody>
                    <a:bodyPr/>
                    <a:lstStyle/>
                    <a:p>
                      <a:pPr algn="ctr"/>
                      <a:r>
                        <a:rPr sz="2025" b="0">
                          <a:solidFill>
                            <a:srgbClr val="152C3F"/>
                          </a:solidFill>
                          <a:latin typeface="DejaVu Sans" panose="020B0603030804020204"/>
                          <a:ea typeface="DejaVu Sans" panose="020B0603030804020204"/>
                          <a:cs typeface="DejaVu Sans" panose="020B0603030804020204"/>
                        </a:rPr>
                        <a:t>70.4 ± 4.4</a:t>
                      </a:r>
                    </a:p>
                  </a:txBody>
                  <a:tcPr marL="95250" marR="95250" marT="76200" marB="76200" anchor="ctr">
                    <a:solidFill>
                      <a:srgbClr val="F4F6F8"/>
                    </a:solidFill>
                  </a:tcPr>
                </a:tc>
                <a:extLst>
                  <a:ext uri="{0D108BD9-81ED-4DB2-BD59-A6C34878D82A}">
                    <a16:rowId xmlns:a16="http://schemas.microsoft.com/office/drawing/2014/main" val="10002"/>
                  </a:ext>
                </a:extLst>
              </a:tr>
              <a:tr h="609600">
                <a:tc>
                  <a:txBody>
                    <a:bodyPr/>
                    <a:lstStyle/>
                    <a:p>
                      <a:pPr algn="l"/>
                      <a:r>
                        <a:rPr sz="2025" b="0">
                          <a:solidFill>
                            <a:srgbClr val="152C3F"/>
                          </a:solidFill>
                          <a:latin typeface="DejaVu Sans" panose="020B0603030804020204"/>
                          <a:ea typeface="DejaVu Sans" panose="020B0603030804020204"/>
                          <a:cs typeface="DejaVu Sans" panose="020B0603030804020204"/>
                        </a:rPr>
                        <a:t>Macro ROC-AUC</a:t>
                      </a:r>
                    </a:p>
                  </a:txBody>
                  <a:tcPr marL="95250" marR="95250" marT="76200" marB="76200" anchor="ctr">
                    <a:solidFill>
                      <a:srgbClr val="FFFFFF"/>
                    </a:solidFill>
                  </a:tcPr>
                </a:tc>
                <a:tc>
                  <a:txBody>
                    <a:bodyPr/>
                    <a:lstStyle/>
                    <a:p>
                      <a:pPr algn="ctr"/>
                      <a:r>
                        <a:rPr sz="2025" b="0">
                          <a:solidFill>
                            <a:srgbClr val="152C3F"/>
                          </a:solidFill>
                          <a:latin typeface="DejaVu Sans" panose="020B0603030804020204"/>
                          <a:ea typeface="DejaVu Sans" panose="020B0603030804020204"/>
                          <a:cs typeface="DejaVu Sans" panose="020B0603030804020204"/>
                        </a:rPr>
                        <a:t>84.4 ± 3.1</a:t>
                      </a:r>
                    </a:p>
                  </a:txBody>
                  <a:tcPr marL="95250" marR="95250" marT="76200" marB="76200" anchor="ctr">
                    <a:solidFill>
                      <a:srgbClr val="FFFFFF"/>
                    </a:solidFill>
                  </a:tcPr>
                </a:tc>
                <a:extLst>
                  <a:ext uri="{0D108BD9-81ED-4DB2-BD59-A6C34878D82A}">
                    <a16:rowId xmlns:a16="http://schemas.microsoft.com/office/drawing/2014/main" val="10003"/>
                  </a:ext>
                </a:extLst>
              </a:tr>
              <a:tr h="609600">
                <a:tc>
                  <a:txBody>
                    <a:bodyPr/>
                    <a:lstStyle/>
                    <a:p>
                      <a:pPr algn="l"/>
                      <a:r>
                        <a:rPr sz="2025" b="0">
                          <a:solidFill>
                            <a:srgbClr val="152C3F"/>
                          </a:solidFill>
                          <a:latin typeface="DejaVu Sans" panose="020B0603030804020204"/>
                          <a:ea typeface="DejaVu Sans" panose="020B0603030804020204"/>
                          <a:cs typeface="DejaVu Sans" panose="020B0603030804020204"/>
                        </a:rPr>
                        <a:t>Macro PR-AUC</a:t>
                      </a:r>
                    </a:p>
                  </a:txBody>
                  <a:tcPr marL="95250" marR="95250" marT="76200" marB="76200" anchor="ctr">
                    <a:solidFill>
                      <a:srgbClr val="F4F6F8"/>
                    </a:solidFill>
                  </a:tcPr>
                </a:tc>
                <a:tc>
                  <a:txBody>
                    <a:bodyPr/>
                    <a:lstStyle/>
                    <a:p>
                      <a:pPr algn="ctr"/>
                      <a:r>
                        <a:rPr sz="2025" b="0">
                          <a:solidFill>
                            <a:srgbClr val="152C3F"/>
                          </a:solidFill>
                          <a:latin typeface="DejaVu Sans" panose="020B0603030804020204"/>
                          <a:ea typeface="DejaVu Sans" panose="020B0603030804020204"/>
                          <a:cs typeface="DejaVu Sans" panose="020B0603030804020204"/>
                        </a:rPr>
                        <a:t>77.6 ± 4.2</a:t>
                      </a:r>
                    </a:p>
                  </a:txBody>
                  <a:tcPr marL="95250" marR="95250" marT="76200" marB="76200" anchor="ctr">
                    <a:solidFill>
                      <a:srgbClr val="F4F6F8"/>
                    </a:solidFill>
                  </a:tcPr>
                </a:tc>
                <a:extLst>
                  <a:ext uri="{0D108BD9-81ED-4DB2-BD59-A6C34878D82A}">
                    <a16:rowId xmlns:a16="http://schemas.microsoft.com/office/drawing/2014/main" val="10004"/>
                  </a:ext>
                </a:extLst>
              </a:tr>
            </a:tbl>
          </a:graphicData>
        </a:graphic>
      </p:graphicFrame>
      <p:sp>
        <p:nvSpPr>
          <p:cNvPr id="6" name="text-216"/>
          <p:cNvSpPr>
            <a:spLocks noGrp="1"/>
          </p:cNvSpPr>
          <p:nvPr/>
        </p:nvSpPr>
        <p:spPr>
          <a:xfrm>
            <a:off x="7239000" y="1476375"/>
            <a:ext cx="4238625" cy="333375"/>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Input</a:t>
            </a:r>
          </a:p>
        </p:txBody>
      </p:sp>
      <p:sp>
        <p:nvSpPr>
          <p:cNvPr id="7" name="text-217"/>
          <p:cNvSpPr>
            <a:spLocks noGrp="1"/>
          </p:cNvSpPr>
          <p:nvPr/>
        </p:nvSpPr>
        <p:spPr>
          <a:xfrm>
            <a:off x="7239000" y="1914525"/>
            <a:ext cx="4238625" cy="952500"/>
          </a:xfrm>
          <a:prstGeom prst="rect">
            <a:avLst/>
          </a:prstGeom>
          <a:noFill/>
          <a:ln w="0">
            <a:noFill/>
          </a:ln>
        </p:spPr>
        <p:txBody>
          <a:bodyPr wrap="square" lIns="0" tIns="0" rIns="0" bIns="0" anchor="t">
            <a:noAutofit/>
          </a:bodyPr>
          <a:lstStyle/>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8 channels at 64 Hz</a:t>
            </a:r>
          </a:p>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5 s windows, 2.5 s hop</a:t>
            </a:r>
          </a:p>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All four recording roles</a:t>
            </a:r>
          </a:p>
        </p:txBody>
      </p:sp>
      <p:sp>
        <p:nvSpPr>
          <p:cNvPr id="8" name="text-218"/>
          <p:cNvSpPr>
            <a:spLocks noGrp="1"/>
          </p:cNvSpPr>
          <p:nvPr/>
        </p:nvSpPr>
        <p:spPr>
          <a:xfrm>
            <a:off x="7239000" y="3124200"/>
            <a:ext cx="4238625" cy="323850"/>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Processing and evaluation</a:t>
            </a:r>
          </a:p>
        </p:txBody>
      </p:sp>
      <p:sp>
        <p:nvSpPr>
          <p:cNvPr id="9" name="text-219"/>
          <p:cNvSpPr>
            <a:spLocks noGrp="1"/>
          </p:cNvSpPr>
          <p:nvPr/>
        </p:nvSpPr>
        <p:spPr>
          <a:xfrm>
            <a:off x="7239000" y="3571875"/>
            <a:ext cx="4238625" cy="1266825"/>
          </a:xfrm>
          <a:prstGeom prst="rect">
            <a:avLst/>
          </a:prstGeom>
          <a:noFill/>
          <a:ln w="0">
            <a:noFill/>
          </a:ln>
        </p:spPr>
        <p:txBody>
          <a:bodyPr wrap="square" lIns="0" tIns="0" rIns="0" bIns="0" anchor="t">
            <a:noAutofit/>
          </a:bodyPr>
          <a:lstStyle/>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Window-wise robust scaling</a:t>
            </a:r>
          </a:p>
          <a:p>
            <a:pPr algn="l">
              <a:defRPr sz="1800" b="0">
                <a:solidFill>
                  <a:srgbClr val="152C3F"/>
                </a:solidFill>
                <a:latin typeface="DejaVu Sans" panose="020B0603030804020204"/>
                <a:ea typeface="DejaVu Sans" panose="020B0603030804020204"/>
                <a:cs typeface="DejaVu Sans" panose="020B0603030804020204"/>
              </a:defRPr>
            </a:pPr>
            <a:r>
              <a:rPr lang="en-US" sz="1800" b="0">
                <a:solidFill>
                  <a:srgbClr val="152C3F"/>
                </a:solidFill>
                <a:latin typeface="DejaVu Sans" panose="020B0603030804020204"/>
                <a:ea typeface="DejaVu Sans" panose="020B0603030804020204"/>
                <a:cs typeface="DejaVu Sans" panose="020B0603030804020204"/>
              </a:rPr>
              <a:t>Low-pass filter</a:t>
            </a:r>
            <a:r>
              <a:rPr sz="1800" b="0">
                <a:solidFill>
                  <a:srgbClr val="152C3F"/>
                </a:solidFill>
                <a:latin typeface="DejaVu Sans" panose="020B0603030804020204"/>
                <a:ea typeface="DejaVu Sans" panose="020B0603030804020204"/>
                <a:cs typeface="DejaVu Sans" panose="020B0603030804020204"/>
              </a:rPr>
              <a:t> gravity separation</a:t>
            </a:r>
          </a:p>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No SQI or motion gating</a:t>
            </a:r>
          </a:p>
          <a:p>
            <a:pPr algn="l">
              <a:defRPr sz="1800" b="0">
                <a:solidFill>
                  <a:srgbClr val="152C3F"/>
                </a:solidFill>
                <a:latin typeface="DejaVu Sans" panose="020B0603030804020204"/>
                <a:ea typeface="DejaVu Sans" panose="020B0603030804020204"/>
                <a:cs typeface="DejaVu Sans" panose="020B0603030804020204"/>
              </a:defRPr>
            </a:pPr>
            <a:r>
              <a:rPr sz="1800" b="0">
                <a:solidFill>
                  <a:srgbClr val="152C3F"/>
                </a:solidFill>
                <a:latin typeface="DejaVu Sans" panose="020B0603030804020204"/>
                <a:ea typeface="DejaVu Sans" panose="020B0603030804020204"/>
                <a:cs typeface="DejaVu Sans" panose="020B0603030804020204"/>
              </a:rPr>
              <a:t>5 grouped folds × 5 repeats</a:t>
            </a:r>
          </a:p>
        </p:txBody>
      </p:sp>
      <p:sp>
        <p:nvSpPr>
          <p:cNvPr id="10" name="text-220"/>
          <p:cNvSpPr>
            <a:spLocks noGrp="1"/>
          </p:cNvSpPr>
          <p:nvPr/>
        </p:nvSpPr>
        <p:spPr>
          <a:xfrm>
            <a:off x="600075" y="5448300"/>
            <a:ext cx="10953750" cy="45720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Window probabilities are averaged by file, role and participant.</a:t>
            </a:r>
          </a:p>
        </p:txBody>
      </p:sp>
      <p:sp>
        <p:nvSpPr>
          <p:cNvPr id="11" name="text-221"/>
          <p:cNvSpPr>
            <a:spLocks noGrp="1"/>
          </p:cNvSpPr>
          <p:nvPr/>
        </p:nvSpPr>
        <p:spPr>
          <a:xfrm>
            <a:off x="571500" y="5915025"/>
            <a:ext cx="10953750" cy="42862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0" b="0">
                <a:solidFill>
                  <a:srgbClr val="506577"/>
                </a:solidFill>
                <a:latin typeface="DejaVu Sans" panose="020B0603030804020204"/>
                <a:ea typeface="DejaVu Sans" panose="020B0603030804020204"/>
                <a:cs typeface="DejaVu Sans" panose="020B0603030804020204"/>
              </a:rPr>
              <a:t>ROC-AUC = area under the receiver operating characteristic curve.</a:t>
            </a:r>
          </a:p>
          <a:p>
            <a:pPr algn="l">
              <a:defRPr sz="1275" b="0">
                <a:solidFill>
                  <a:srgbClr val="506577"/>
                </a:solidFill>
                <a:latin typeface="DejaVu Sans" panose="020B0603030804020204"/>
                <a:ea typeface="DejaVu Sans" panose="020B0603030804020204"/>
                <a:cs typeface="DejaVu Sans" panose="020B0603030804020204"/>
              </a:defRPr>
            </a:pPr>
            <a:r>
              <a:rPr sz="1270" b="0">
                <a:solidFill>
                  <a:srgbClr val="506577"/>
                </a:solidFill>
                <a:latin typeface="DejaVu Sans" panose="020B0603030804020204"/>
                <a:ea typeface="DejaVu Sans" panose="020B0603030804020204"/>
                <a:cs typeface="DejaVu Sans" panose="020B0603030804020204"/>
              </a:rPr>
              <a:t>PR-AUC = area under the precision–recall curve. Thesis Tables 33–35.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222"/>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Classification across the three groups</a:t>
            </a:r>
          </a:p>
        </p:txBody>
      </p:sp>
      <p:sp>
        <p:nvSpPr>
          <p:cNvPr id="2" name="text-223"/>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CLASSIFICATION RESULTS</a:t>
            </a:r>
          </a:p>
        </p:txBody>
      </p:sp>
      <p:sp>
        <p:nvSpPr>
          <p:cNvPr id="3" name="text-224"/>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44</a:t>
            </a:r>
          </a:p>
        </p:txBody>
      </p:sp>
      <p:sp>
        <p:nvSpPr>
          <p:cNvPr id="5" name="text-225"/>
          <p:cNvSpPr>
            <a:spLocks noGrp="1"/>
          </p:cNvSpPr>
          <p:nvPr/>
        </p:nvSpPr>
        <p:spPr>
          <a:xfrm>
            <a:off x="581025" y="4362450"/>
            <a:ext cx="10972800" cy="428625"/>
          </a:xfrm>
          <a:prstGeom prst="rect">
            <a:avLst/>
          </a:prstGeom>
          <a:noFill/>
          <a:ln w="0">
            <a:noFill/>
          </a:ln>
        </p:spPr>
        <p:txBody>
          <a:bodyPr wrap="square" lIns="0" tIns="0" rIns="0" bIns="0" anchor="t">
            <a:noAutofit/>
          </a:bodyPr>
          <a:lstStyle/>
          <a:p>
            <a:pPr algn="l">
              <a:defRPr sz="2400" b="1">
                <a:solidFill>
                  <a:srgbClr val="087E8B"/>
                </a:solidFill>
                <a:latin typeface="DejaVu Sans" panose="020B0603030804020204"/>
                <a:ea typeface="DejaVu Sans" panose="020B0603030804020204"/>
                <a:cs typeface="DejaVu Sans" panose="020B0603030804020204"/>
              </a:defRPr>
            </a:pPr>
            <a:r>
              <a:rPr sz="2400" b="1">
                <a:solidFill>
                  <a:srgbClr val="087E8B"/>
                </a:solidFill>
                <a:latin typeface="DejaVu Sans" panose="020B0603030804020204"/>
                <a:ea typeface="DejaVu Sans" panose="020B0603030804020204"/>
                <a:cs typeface="DejaVu Sans" panose="020B0603030804020204"/>
              </a:rPr>
              <a:t>Worst-class F1: 62.1%</a:t>
            </a:r>
          </a:p>
        </p:txBody>
      </p:sp>
      <p:sp>
        <p:nvSpPr>
          <p:cNvPr id="6" name="text-226"/>
          <p:cNvSpPr>
            <a:spLocks noGrp="1"/>
          </p:cNvSpPr>
          <p:nvPr/>
        </p:nvSpPr>
        <p:spPr>
          <a:xfrm>
            <a:off x="581025" y="5067300"/>
            <a:ext cx="10887075" cy="428625"/>
          </a:xfrm>
          <a:prstGeom prst="rect">
            <a:avLst/>
          </a:prstGeom>
          <a:noFill/>
          <a:ln w="0">
            <a:noFill/>
          </a:ln>
        </p:spPr>
        <p:txBody>
          <a:bodyPr wrap="square" lIns="0" tIns="0" rIns="0" bIns="0" anchor="t">
            <a:noAutofit/>
          </a:bodyPr>
          <a:lstStyle/>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The Young group contributes an age-related contrast to the overall result.</a:t>
            </a:r>
          </a:p>
        </p:txBody>
      </p:sp>
      <p:sp>
        <p:nvSpPr>
          <p:cNvPr id="7" name="text-227"/>
          <p:cNvSpPr>
            <a:spLocks noGrp="1"/>
          </p:cNvSpPr>
          <p:nvPr/>
        </p:nvSpPr>
        <p:spPr>
          <a:xfrm>
            <a:off x="581025" y="5553075"/>
            <a:ext cx="10944225" cy="400050"/>
          </a:xfrm>
          <a:prstGeom prst="rect">
            <a:avLst/>
          </a:prstGeom>
          <a:noFill/>
          <a:ln w="0">
            <a:noFill/>
          </a:ln>
        </p:spPr>
        <p:txBody>
          <a:bodyPr wrap="square" lIns="0" tIns="0" rIns="0" bIns="0" anchor="t">
            <a:noAutofit/>
          </a:bodyPr>
          <a:lstStyle/>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Clinical focus: distinguishing Pre-Frail from Robust among older adults.</a:t>
            </a:r>
          </a:p>
        </p:txBody>
      </p:sp>
      <p:sp>
        <p:nvSpPr>
          <p:cNvPr id="8" name="text-228"/>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Thesis Table 34 and Chapter 6. Group counts are independent participants.</a:t>
            </a:r>
          </a:p>
        </p:txBody>
      </p:sp>
      <p:graphicFrame>
        <p:nvGraphicFramePr>
          <p:cNvPr id="15" name="表格 14"/>
          <p:cNvGraphicFramePr/>
          <p:nvPr/>
        </p:nvGraphicFramePr>
        <p:xfrm>
          <a:off x="571500" y="1028700"/>
          <a:ext cx="7477125" cy="3104674"/>
        </p:xfrm>
        <a:graphic>
          <a:graphicData uri="http://schemas.openxmlformats.org/drawingml/2006/table">
            <a:tbl>
              <a:tblPr/>
              <a:tblGrid>
                <a:gridCol w="26193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750094">
                <a:tc>
                  <a:txBody>
                    <a:bodyPr/>
                    <a:lstStyle/>
                    <a:p>
                      <a:pPr algn="l"/>
                      <a:r>
                        <a:rPr sz="1800" b="1">
                          <a:solidFill>
                            <a:srgbClr val="FFFFFF"/>
                          </a:solidFill>
                          <a:latin typeface="DejaVu Sans" panose="020B0603030804020204"/>
                          <a:ea typeface="DejaVu Sans" panose="020B0603030804020204"/>
                          <a:cs typeface="DejaVu Sans" panose="020B0603030804020204"/>
                        </a:rPr>
                        <a:t>Actual / predicted</a:t>
                      </a:r>
                    </a:p>
                  </a:txBody>
                  <a:tcPr marL="114300" marR="114300" marT="95250" marB="95250" anchor="ctr">
                    <a:solidFill>
                      <a:srgbClr val="152C3F"/>
                    </a:solidFill>
                  </a:tcPr>
                </a:tc>
                <a:tc>
                  <a:txBody>
                    <a:bodyPr/>
                    <a:lstStyle/>
                    <a:p>
                      <a:pPr algn="ctr"/>
                      <a:r>
                        <a:rPr sz="1800" b="1">
                          <a:solidFill>
                            <a:srgbClr val="FFFFFF"/>
                          </a:solidFill>
                          <a:latin typeface="DejaVu Sans" panose="020B0603030804020204"/>
                          <a:ea typeface="DejaVu Sans" panose="020B0603030804020204"/>
                          <a:cs typeface="DejaVu Sans" panose="020B0603030804020204"/>
                        </a:rPr>
                        <a:t>Pre-Frail</a:t>
                      </a:r>
                    </a:p>
                  </a:txBody>
                  <a:tcPr marL="114300" marR="114300" marT="95250" marB="95250" anchor="ctr">
                    <a:solidFill>
                      <a:srgbClr val="152C3F"/>
                    </a:solidFill>
                  </a:tcPr>
                </a:tc>
                <a:tc>
                  <a:txBody>
                    <a:bodyPr/>
                    <a:lstStyle/>
                    <a:p>
                      <a:pPr algn="ctr"/>
                      <a:r>
                        <a:rPr sz="1800" b="1">
                          <a:solidFill>
                            <a:srgbClr val="FFFFFF"/>
                          </a:solidFill>
                          <a:latin typeface="DejaVu Sans" panose="020B0603030804020204"/>
                          <a:ea typeface="DejaVu Sans" panose="020B0603030804020204"/>
                          <a:cs typeface="DejaVu Sans" panose="020B0603030804020204"/>
                        </a:rPr>
                        <a:t>Robust</a:t>
                      </a:r>
                    </a:p>
                  </a:txBody>
                  <a:tcPr marL="114300" marR="114300" marT="95250" marB="95250" anchor="ctr">
                    <a:solidFill>
                      <a:srgbClr val="152C3F"/>
                    </a:solidFill>
                  </a:tcPr>
                </a:tc>
                <a:tc>
                  <a:txBody>
                    <a:bodyPr/>
                    <a:lstStyle/>
                    <a:p>
                      <a:pPr algn="ctr"/>
                      <a:r>
                        <a:rPr sz="1800" b="1">
                          <a:solidFill>
                            <a:srgbClr val="FFFFFF"/>
                          </a:solidFill>
                          <a:latin typeface="DejaVu Sans" panose="020B0603030804020204"/>
                          <a:ea typeface="DejaVu Sans" panose="020B0603030804020204"/>
                          <a:cs typeface="DejaVu Sans" panose="020B0603030804020204"/>
                        </a:rPr>
                        <a:t>Young</a:t>
                      </a:r>
                    </a:p>
                  </a:txBody>
                  <a:tcPr marL="114300" marR="114300" marT="95250" marB="95250" anchor="ctr">
                    <a:solidFill>
                      <a:srgbClr val="152C3F"/>
                    </a:solidFill>
                  </a:tcPr>
                </a:tc>
                <a:extLst>
                  <a:ext uri="{0D108BD9-81ED-4DB2-BD59-A6C34878D82A}">
                    <a16:rowId xmlns:a16="http://schemas.microsoft.com/office/drawing/2014/main" val="10000"/>
                  </a:ext>
                </a:extLst>
              </a:tr>
              <a:tr h="750094">
                <a:tc>
                  <a:txBody>
                    <a:bodyPr/>
                    <a:lstStyle/>
                    <a:p>
                      <a:pPr algn="l"/>
                      <a:r>
                        <a:rPr sz="1800" b="0">
                          <a:solidFill>
                            <a:srgbClr val="152C3F"/>
                          </a:solidFill>
                          <a:latin typeface="DejaVu Sans" panose="020B0603030804020204"/>
                          <a:ea typeface="DejaVu Sans" panose="020B0603030804020204"/>
                          <a:cs typeface="DejaVu Sans" panose="020B0603030804020204"/>
                        </a:rPr>
                        <a:t>Pre-Frail</a:t>
                      </a:r>
                    </a:p>
                  </a:txBody>
                  <a:tcPr marL="114300" marR="114300" marT="95250" marB="95250" anchor="ctr">
                    <a:solidFill>
                      <a:srgbClr val="FFFFFF"/>
                    </a:solidFill>
                  </a:tcPr>
                </a:tc>
                <a:tc>
                  <a:txBody>
                    <a:bodyPr/>
                    <a:lstStyle/>
                    <a:p>
                      <a:pPr algn="ctr"/>
                      <a:r>
                        <a:rPr sz="1950" b="1">
                          <a:solidFill>
                            <a:srgbClr val="087E8B"/>
                          </a:solidFill>
                          <a:latin typeface="DejaVu Sans" panose="020B0603030804020204"/>
                          <a:ea typeface="DejaVu Sans" panose="020B0603030804020204"/>
                          <a:cs typeface="DejaVu Sans" panose="020B0603030804020204"/>
                        </a:rPr>
                        <a:t>36</a:t>
                      </a:r>
                    </a:p>
                    <a:p>
                      <a:pPr algn="ctr"/>
                      <a:r>
                        <a:rPr sz="1950" b="1">
                          <a:solidFill>
                            <a:srgbClr val="087E8B"/>
                          </a:solidFill>
                          <a:latin typeface="DejaVu Sans" panose="020B0603030804020204"/>
                          <a:ea typeface="DejaVu Sans" panose="020B0603030804020204"/>
                          <a:cs typeface="DejaVu Sans" panose="020B0603030804020204"/>
                        </a:rPr>
                        <a:t>80.0%</a:t>
                      </a:r>
                    </a:p>
                  </a:txBody>
                  <a:tcPr marL="114300" marR="114300" marT="95250" marB="95250" anchor="ctr">
                    <a:solidFill>
                      <a:srgbClr val="D5EBEA"/>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9</a:t>
                      </a:r>
                    </a:p>
                    <a:p>
                      <a:pPr algn="ctr"/>
                      <a:r>
                        <a:rPr sz="1800" b="0">
                          <a:solidFill>
                            <a:srgbClr val="152C3F"/>
                          </a:solidFill>
                          <a:latin typeface="DejaVu Sans" panose="020B0603030804020204"/>
                          <a:ea typeface="DejaVu Sans" panose="020B0603030804020204"/>
                          <a:cs typeface="DejaVu Sans" panose="020B0603030804020204"/>
                        </a:rPr>
                        <a:t>20.0%</a:t>
                      </a:r>
                    </a:p>
                  </a:txBody>
                  <a:tcPr marL="114300" marR="114300" marT="95250" marB="9525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0</a:t>
                      </a:r>
                    </a:p>
                    <a:p>
                      <a:pPr algn="ctr"/>
                      <a:r>
                        <a:rPr sz="1800" b="0">
                          <a:solidFill>
                            <a:srgbClr val="152C3F"/>
                          </a:solidFill>
                          <a:latin typeface="DejaVu Sans" panose="020B0603030804020204"/>
                          <a:ea typeface="DejaVu Sans" panose="020B0603030804020204"/>
                          <a:cs typeface="DejaVu Sans" panose="020B0603030804020204"/>
                        </a:rPr>
                        <a:t>0.0%</a:t>
                      </a:r>
                    </a:p>
                  </a:txBody>
                  <a:tcPr marL="114300" marR="114300" marT="95250" marB="95250" anchor="ctr">
                    <a:solidFill>
                      <a:srgbClr val="FFFFFF"/>
                    </a:solidFill>
                  </a:tcPr>
                </a:tc>
                <a:extLst>
                  <a:ext uri="{0D108BD9-81ED-4DB2-BD59-A6C34878D82A}">
                    <a16:rowId xmlns:a16="http://schemas.microsoft.com/office/drawing/2014/main" val="10001"/>
                  </a:ext>
                </a:extLst>
              </a:tr>
              <a:tr h="750094">
                <a:tc>
                  <a:txBody>
                    <a:bodyPr/>
                    <a:lstStyle/>
                    <a:p>
                      <a:pPr algn="l"/>
                      <a:r>
                        <a:rPr sz="1800" b="0">
                          <a:solidFill>
                            <a:srgbClr val="152C3F"/>
                          </a:solidFill>
                          <a:latin typeface="DejaVu Sans" panose="020B0603030804020204"/>
                          <a:ea typeface="DejaVu Sans" panose="020B0603030804020204"/>
                          <a:cs typeface="DejaVu Sans" panose="020B0603030804020204"/>
                        </a:rPr>
                        <a:t>Robust</a:t>
                      </a:r>
                    </a:p>
                  </a:txBody>
                  <a:tcPr marL="114300" marR="114300" marT="95250" marB="95250" anchor="ctr">
                    <a:solidFill>
                      <a:srgbClr val="F4F6F8"/>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25</a:t>
                      </a:r>
                    </a:p>
                    <a:p>
                      <a:pPr algn="ctr"/>
                      <a:r>
                        <a:rPr sz="1800" b="0">
                          <a:solidFill>
                            <a:srgbClr val="152C3F"/>
                          </a:solidFill>
                          <a:latin typeface="DejaVu Sans" panose="020B0603030804020204"/>
                          <a:ea typeface="DejaVu Sans" panose="020B0603030804020204"/>
                          <a:cs typeface="DejaVu Sans" panose="020B0603030804020204"/>
                        </a:rPr>
                        <a:t>41.7%</a:t>
                      </a:r>
                    </a:p>
                  </a:txBody>
                  <a:tcPr marL="114300" marR="114300" marT="95250" marB="95250" anchor="ctr">
                    <a:solidFill>
                      <a:srgbClr val="F4F6F8"/>
                    </a:solidFill>
                  </a:tcPr>
                </a:tc>
                <a:tc>
                  <a:txBody>
                    <a:bodyPr/>
                    <a:lstStyle/>
                    <a:p>
                      <a:pPr algn="ctr"/>
                      <a:r>
                        <a:rPr sz="1950" b="1">
                          <a:solidFill>
                            <a:srgbClr val="087E8B"/>
                          </a:solidFill>
                          <a:latin typeface="DejaVu Sans" panose="020B0603030804020204"/>
                          <a:ea typeface="DejaVu Sans" panose="020B0603030804020204"/>
                          <a:cs typeface="DejaVu Sans" panose="020B0603030804020204"/>
                        </a:rPr>
                        <a:t>28</a:t>
                      </a:r>
                    </a:p>
                    <a:p>
                      <a:pPr algn="ctr"/>
                      <a:r>
                        <a:rPr sz="1950" b="1">
                          <a:solidFill>
                            <a:srgbClr val="087E8B"/>
                          </a:solidFill>
                          <a:latin typeface="DejaVu Sans" panose="020B0603030804020204"/>
                          <a:ea typeface="DejaVu Sans" panose="020B0603030804020204"/>
                          <a:cs typeface="DejaVu Sans" panose="020B0603030804020204"/>
                        </a:rPr>
                        <a:t>46.7%</a:t>
                      </a:r>
                    </a:p>
                  </a:txBody>
                  <a:tcPr marL="114300" marR="114300" marT="95250" marB="95250" anchor="ctr">
                    <a:solidFill>
                      <a:srgbClr val="D5EBEA"/>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7</a:t>
                      </a:r>
                    </a:p>
                    <a:p>
                      <a:pPr algn="ctr"/>
                      <a:r>
                        <a:rPr sz="1800" b="0">
                          <a:solidFill>
                            <a:srgbClr val="152C3F"/>
                          </a:solidFill>
                          <a:latin typeface="DejaVu Sans" panose="020B0603030804020204"/>
                          <a:ea typeface="DejaVu Sans" panose="020B0603030804020204"/>
                          <a:cs typeface="DejaVu Sans" panose="020B0603030804020204"/>
                        </a:rPr>
                        <a:t>11.7%</a:t>
                      </a:r>
                    </a:p>
                  </a:txBody>
                  <a:tcPr marL="114300" marR="114300" marT="95250" marB="95250" anchor="ctr">
                    <a:solidFill>
                      <a:srgbClr val="F4F6F8"/>
                    </a:solidFill>
                  </a:tcPr>
                </a:tc>
                <a:extLst>
                  <a:ext uri="{0D108BD9-81ED-4DB2-BD59-A6C34878D82A}">
                    <a16:rowId xmlns:a16="http://schemas.microsoft.com/office/drawing/2014/main" val="10002"/>
                  </a:ext>
                </a:extLst>
              </a:tr>
              <a:tr h="750094">
                <a:tc>
                  <a:txBody>
                    <a:bodyPr/>
                    <a:lstStyle/>
                    <a:p>
                      <a:pPr algn="l"/>
                      <a:r>
                        <a:rPr sz="1800" b="0">
                          <a:solidFill>
                            <a:srgbClr val="152C3F"/>
                          </a:solidFill>
                          <a:latin typeface="DejaVu Sans" panose="020B0603030804020204"/>
                          <a:ea typeface="DejaVu Sans" panose="020B0603030804020204"/>
                          <a:cs typeface="DejaVu Sans" panose="020B0603030804020204"/>
                        </a:rPr>
                        <a:t>Young</a:t>
                      </a:r>
                    </a:p>
                  </a:txBody>
                  <a:tcPr marL="114300" marR="114300" marT="95250" marB="9525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2</a:t>
                      </a:r>
                    </a:p>
                    <a:p>
                      <a:pPr algn="ctr"/>
                      <a:r>
                        <a:rPr sz="1800" b="0">
                          <a:solidFill>
                            <a:srgbClr val="152C3F"/>
                          </a:solidFill>
                          <a:latin typeface="DejaVu Sans" panose="020B0603030804020204"/>
                          <a:ea typeface="DejaVu Sans" panose="020B0603030804020204"/>
                          <a:cs typeface="DejaVu Sans" panose="020B0603030804020204"/>
                        </a:rPr>
                        <a:t>5.0%</a:t>
                      </a:r>
                    </a:p>
                  </a:txBody>
                  <a:tcPr marL="114300" marR="114300" marT="95250" marB="9525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3</a:t>
                      </a:r>
                    </a:p>
                    <a:p>
                      <a:pPr algn="ctr"/>
                      <a:r>
                        <a:rPr sz="1800" b="0">
                          <a:solidFill>
                            <a:srgbClr val="152C3F"/>
                          </a:solidFill>
                          <a:latin typeface="DejaVu Sans" panose="020B0603030804020204"/>
                          <a:ea typeface="DejaVu Sans" panose="020B0603030804020204"/>
                          <a:cs typeface="DejaVu Sans" panose="020B0603030804020204"/>
                        </a:rPr>
                        <a:t>7.5%</a:t>
                      </a:r>
                    </a:p>
                  </a:txBody>
                  <a:tcPr marL="114300" marR="114300" marT="95250" marB="95250" anchor="ctr">
                    <a:solidFill>
                      <a:srgbClr val="FFFFFF"/>
                    </a:solidFill>
                  </a:tcPr>
                </a:tc>
                <a:tc>
                  <a:txBody>
                    <a:bodyPr/>
                    <a:lstStyle/>
                    <a:p>
                      <a:pPr algn="ctr"/>
                      <a:r>
                        <a:rPr sz="1950" b="1">
                          <a:solidFill>
                            <a:srgbClr val="087E8B"/>
                          </a:solidFill>
                          <a:latin typeface="DejaVu Sans" panose="020B0603030804020204"/>
                          <a:ea typeface="DejaVu Sans" panose="020B0603030804020204"/>
                          <a:cs typeface="DejaVu Sans" panose="020B0603030804020204"/>
                        </a:rPr>
                        <a:t>35</a:t>
                      </a:r>
                    </a:p>
                    <a:p>
                      <a:pPr algn="ctr"/>
                      <a:r>
                        <a:rPr sz="1950" b="1">
                          <a:solidFill>
                            <a:srgbClr val="087E8B"/>
                          </a:solidFill>
                          <a:latin typeface="DejaVu Sans" panose="020B0603030804020204"/>
                          <a:ea typeface="DejaVu Sans" panose="020B0603030804020204"/>
                          <a:cs typeface="DejaVu Sans" panose="020B0603030804020204"/>
                        </a:rPr>
                        <a:t>87.5%</a:t>
                      </a:r>
                    </a:p>
                  </a:txBody>
                  <a:tcPr marL="114300" marR="114300" marT="95250" marB="95250" anchor="ctr">
                    <a:solidFill>
                      <a:srgbClr val="D5EBEA"/>
                    </a:solidFill>
                  </a:tcPr>
                </a:tc>
                <a:extLst>
                  <a:ext uri="{0D108BD9-81ED-4DB2-BD59-A6C34878D82A}">
                    <a16:rowId xmlns:a16="http://schemas.microsoft.com/office/drawing/2014/main" val="10003"/>
                  </a:ext>
                </a:extLst>
              </a:tr>
            </a:tbl>
          </a:graphicData>
        </a:graphic>
      </p:graphicFrame>
      <p:sp>
        <p:nvSpPr>
          <p:cNvPr id="10" name="text-199"/>
          <p:cNvSpPr>
            <a:spLocks noGrp="1"/>
          </p:cNvSpPr>
          <p:nvPr/>
        </p:nvSpPr>
        <p:spPr>
          <a:xfrm>
            <a:off x="8620125" y="1267460"/>
            <a:ext cx="2857500" cy="428625"/>
          </a:xfrm>
          <a:prstGeom prst="rect">
            <a:avLst/>
          </a:prstGeom>
          <a:noFill/>
          <a:ln w="0">
            <a:noFill/>
          </a:ln>
        </p:spPr>
        <p:txBody>
          <a:bodyPr wrap="square" lIns="0" tIns="0" rIns="0" bIns="0" anchor="t">
            <a:noAutofit/>
          </a:bodyPr>
          <a:lstStyle/>
          <a:p>
            <a:pPr algn="l">
              <a:defRPr sz="2100" b="1">
                <a:solidFill>
                  <a:srgbClr val="152C3F"/>
                </a:solidFill>
                <a:latin typeface="DejaVu Sans" panose="020B0603030804020204"/>
                <a:ea typeface="DejaVu Sans" panose="020B0603030804020204"/>
                <a:cs typeface="DejaVu Sans" panose="020B0603030804020204"/>
              </a:defRPr>
            </a:pPr>
            <a:r>
              <a:rPr sz="2100" b="1">
                <a:solidFill>
                  <a:srgbClr val="152C3F"/>
                </a:solidFill>
                <a:latin typeface="DejaVu Sans" panose="020B0603030804020204"/>
                <a:ea typeface="DejaVu Sans" panose="020B0603030804020204"/>
                <a:cs typeface="DejaVu Sans" panose="020B0603030804020204"/>
              </a:rPr>
              <a:t>Robust recall</a:t>
            </a:r>
          </a:p>
        </p:txBody>
      </p:sp>
      <p:sp>
        <p:nvSpPr>
          <p:cNvPr id="11" name="text-200"/>
          <p:cNvSpPr>
            <a:spLocks noGrp="1"/>
          </p:cNvSpPr>
          <p:nvPr/>
        </p:nvSpPr>
        <p:spPr>
          <a:xfrm>
            <a:off x="8620125" y="1781810"/>
            <a:ext cx="2952750" cy="790575"/>
          </a:xfrm>
          <a:prstGeom prst="rect">
            <a:avLst/>
          </a:prstGeom>
          <a:noFill/>
          <a:ln w="0">
            <a:noFill/>
          </a:ln>
        </p:spPr>
        <p:txBody>
          <a:bodyPr wrap="square" lIns="0" tIns="0" rIns="0" bIns="0" anchor="t">
            <a:noAutofit/>
          </a:bodyPr>
          <a:lstStyle/>
          <a:p>
            <a:pPr algn="l">
              <a:defRPr sz="3975" b="1">
                <a:solidFill>
                  <a:srgbClr val="B96D20"/>
                </a:solidFill>
                <a:latin typeface="DejaVu Sans" panose="020B0603030804020204"/>
                <a:ea typeface="DejaVu Sans" panose="020B0603030804020204"/>
                <a:cs typeface="DejaVu Sans" panose="020B0603030804020204"/>
              </a:defRPr>
            </a:pPr>
            <a:r>
              <a:rPr sz="3975" b="1">
                <a:solidFill>
                  <a:srgbClr val="B96D20"/>
                </a:solidFill>
                <a:latin typeface="DejaVu Sans" panose="020B0603030804020204"/>
                <a:ea typeface="DejaVu Sans" panose="020B0603030804020204"/>
                <a:cs typeface="DejaVu Sans" panose="020B0603030804020204"/>
              </a:rPr>
              <a:t>46.7%</a:t>
            </a:r>
          </a:p>
        </p:txBody>
      </p:sp>
      <p:sp>
        <p:nvSpPr>
          <p:cNvPr id="13" name="text-201"/>
          <p:cNvSpPr>
            <a:spLocks noGrp="1"/>
          </p:cNvSpPr>
          <p:nvPr/>
        </p:nvSpPr>
        <p:spPr>
          <a:xfrm>
            <a:off x="8620125" y="2848610"/>
            <a:ext cx="2857500" cy="400050"/>
          </a:xfrm>
          <a:prstGeom prst="rect">
            <a:avLst/>
          </a:prstGeom>
          <a:noFill/>
          <a:ln w="0">
            <a:noFill/>
          </a:ln>
        </p:spPr>
        <p:txBody>
          <a:bodyPr wrap="square" lIns="0" tIns="0" rIns="0" bIns="0" anchor="t">
            <a:noAutofit/>
          </a:bodyPr>
          <a:lstStyle/>
          <a:p>
            <a:pPr algn="l">
              <a:defRPr sz="2025" b="1">
                <a:solidFill>
                  <a:srgbClr val="152C3F"/>
                </a:solidFill>
                <a:latin typeface="DejaVu Sans" panose="020B0603030804020204"/>
                <a:ea typeface="DejaVu Sans" panose="020B0603030804020204"/>
                <a:cs typeface="DejaVu Sans" panose="020B0603030804020204"/>
              </a:defRPr>
            </a:pPr>
            <a:r>
              <a:rPr sz="2025" b="1">
                <a:solidFill>
                  <a:srgbClr val="152C3F"/>
                </a:solidFill>
                <a:latin typeface="DejaVu Sans" panose="020B0603030804020204"/>
                <a:ea typeface="DejaVu Sans" panose="020B0603030804020204"/>
                <a:cs typeface="DejaVu Sans" panose="020B0603030804020204"/>
              </a:rPr>
              <a:t>Young recall</a:t>
            </a:r>
          </a:p>
        </p:txBody>
      </p:sp>
      <p:sp>
        <p:nvSpPr>
          <p:cNvPr id="14" name="text-202"/>
          <p:cNvSpPr>
            <a:spLocks noGrp="1"/>
          </p:cNvSpPr>
          <p:nvPr/>
        </p:nvSpPr>
        <p:spPr>
          <a:xfrm>
            <a:off x="8620125" y="3353435"/>
            <a:ext cx="2857500" cy="733425"/>
          </a:xfrm>
          <a:prstGeom prst="rect">
            <a:avLst/>
          </a:prstGeom>
          <a:noFill/>
          <a:ln w="0">
            <a:noFill/>
          </a:ln>
        </p:spPr>
        <p:txBody>
          <a:bodyPr wrap="square" lIns="0" tIns="0" rIns="0" bIns="0" anchor="t">
            <a:noAutofit/>
          </a:bodyPr>
          <a:lstStyle/>
          <a:p>
            <a:pPr algn="l">
              <a:defRPr sz="3600" b="1">
                <a:solidFill>
                  <a:srgbClr val="087E8B"/>
                </a:solidFill>
                <a:latin typeface="DejaVu Sans" panose="020B0603030804020204"/>
                <a:ea typeface="DejaVu Sans" panose="020B0603030804020204"/>
                <a:cs typeface="DejaVu Sans" panose="020B0603030804020204"/>
              </a:defRPr>
            </a:pPr>
            <a:r>
              <a:rPr sz="3600" b="1">
                <a:solidFill>
                  <a:srgbClr val="087E8B"/>
                </a:solidFill>
                <a:latin typeface="DejaVu Sans" panose="020B0603030804020204"/>
                <a:ea typeface="DejaVu Sans" panose="020B0603030804020204"/>
                <a:cs typeface="DejaVu Sans" panose="020B0603030804020204"/>
              </a:rPr>
              <a:t>87.5%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22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Limitations</a:t>
            </a:r>
          </a:p>
        </p:txBody>
      </p:sp>
      <p:sp>
        <p:nvSpPr>
          <p:cNvPr id="2" name="text-23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LIMITATIONS</a:t>
            </a:r>
          </a:p>
        </p:txBody>
      </p:sp>
      <p:sp>
        <p:nvSpPr>
          <p:cNvPr id="3" name="text-23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45</a:t>
            </a:r>
          </a:p>
        </p:txBody>
      </p:sp>
      <p:graphicFrame>
        <p:nvGraphicFramePr>
          <p:cNvPr id="9" name="表格 8"/>
          <p:cNvGraphicFramePr/>
          <p:nvPr/>
        </p:nvGraphicFramePr>
        <p:xfrm>
          <a:off x="571500" y="1476375"/>
          <a:ext cx="11029950" cy="4200525"/>
        </p:xfrm>
        <a:graphic>
          <a:graphicData uri="http://schemas.openxmlformats.org/drawingml/2006/table">
            <a:tbl>
              <a:tblPr/>
              <a:tblGrid>
                <a:gridCol w="2867025">
                  <a:extLst>
                    <a:ext uri="{9D8B030D-6E8A-4147-A177-3AD203B41FA5}">
                      <a16:colId xmlns:a16="http://schemas.microsoft.com/office/drawing/2014/main" val="20000"/>
                    </a:ext>
                  </a:extLst>
                </a:gridCol>
                <a:gridCol w="8162925">
                  <a:extLst>
                    <a:ext uri="{9D8B030D-6E8A-4147-A177-3AD203B41FA5}">
                      <a16:colId xmlns:a16="http://schemas.microsoft.com/office/drawing/2014/main" val="20001"/>
                    </a:ext>
                  </a:extLst>
                </a:gridCol>
              </a:tblGrid>
              <a:tr h="840105">
                <a:tc>
                  <a:txBody>
                    <a:bodyPr/>
                    <a:lstStyle/>
                    <a:p>
                      <a:pPr algn="l"/>
                      <a:r>
                        <a:rPr sz="1800" b="0">
                          <a:solidFill>
                            <a:srgbClr val="152C3F"/>
                          </a:solidFill>
                          <a:latin typeface="DejaVu Sans" panose="020B0603030804020204"/>
                          <a:ea typeface="DejaVu Sans" panose="020B0603030804020204"/>
                          <a:cs typeface="DejaVu Sans" panose="020B0603030804020204"/>
                        </a:rPr>
                        <a:t>Scope of modelling</a:t>
                      </a:r>
                    </a:p>
                  </a:txBody>
                  <a:tcPr marL="95250" marR="95250" marT="76200" marB="76200" anchor="ctr">
                    <a:solidFill>
                      <a:srgbClr val="F4F6F8"/>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Feature-vector and feature-matrix routes were not pursued in depth, although screening did not establish their inferiority.</a:t>
                      </a:r>
                    </a:p>
                  </a:txBody>
                  <a:tcPr marL="95250" marR="95250" marT="76200" marB="76200" anchor="ctr">
                    <a:solidFill>
                      <a:srgbClr val="F4F6F8"/>
                    </a:solidFill>
                  </a:tcPr>
                </a:tc>
                <a:extLst>
                  <a:ext uri="{0D108BD9-81ED-4DB2-BD59-A6C34878D82A}">
                    <a16:rowId xmlns:a16="http://schemas.microsoft.com/office/drawing/2014/main" val="10000"/>
                  </a:ext>
                </a:extLst>
              </a:tr>
              <a:tr h="840105">
                <a:tc>
                  <a:txBody>
                    <a:bodyPr/>
                    <a:lstStyle/>
                    <a:p>
                      <a:pPr algn="l"/>
                      <a:r>
                        <a:rPr sz="1800" b="0">
                          <a:solidFill>
                            <a:srgbClr val="152C3F"/>
                          </a:solidFill>
                          <a:latin typeface="DejaVu Sans" panose="020B0603030804020204"/>
                          <a:ea typeface="DejaVu Sans" panose="020B0603030804020204"/>
                          <a:cs typeface="DejaVu Sans" panose="020B0603030804020204"/>
                        </a:rPr>
                        <a:t>Cohort and validation</a:t>
                      </a:r>
                    </a:p>
                  </a:txBody>
                  <a:tcPr marL="95250" marR="95250" marT="76200" marB="7620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29 participants and no independent frailty-labelled validation cohort. Young is an age-reference group.</a:t>
                      </a:r>
                    </a:p>
                  </a:txBody>
                  <a:tcPr marL="95250" marR="95250" marT="76200" marB="76200" anchor="ctr">
                    <a:solidFill>
                      <a:srgbClr val="FFFFFF"/>
                    </a:solidFill>
                  </a:tcPr>
                </a:tc>
                <a:extLst>
                  <a:ext uri="{0D108BD9-81ED-4DB2-BD59-A6C34878D82A}">
                    <a16:rowId xmlns:a16="http://schemas.microsoft.com/office/drawing/2014/main" val="10001"/>
                  </a:ext>
                </a:extLst>
              </a:tr>
              <a:tr h="840105">
                <a:tc>
                  <a:txBody>
                    <a:bodyPr/>
                    <a:lstStyle/>
                    <a:p>
                      <a:pPr algn="l"/>
                      <a:r>
                        <a:rPr sz="1800" b="0">
                          <a:solidFill>
                            <a:srgbClr val="152C3F"/>
                          </a:solidFill>
                          <a:latin typeface="DejaVu Sans" panose="020B0603030804020204"/>
                          <a:ea typeface="DejaVu Sans" panose="020B0603030804020204"/>
                          <a:cs typeface="DejaVu Sans" panose="020B0603030804020204"/>
                        </a:rPr>
                        <a:t>Repeated model selection</a:t>
                      </a:r>
                    </a:p>
                  </a:txBody>
                  <a:tcPr marL="95250" marR="95250" marT="76200" marB="76200" anchor="ctr">
                    <a:solidFill>
                      <a:srgbClr val="F4F6F8"/>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All selection stages used the same cohort, introducing optimism into the selected performance.</a:t>
                      </a:r>
                    </a:p>
                  </a:txBody>
                  <a:tcPr marL="95250" marR="95250" marT="76200" marB="76200" anchor="ctr">
                    <a:solidFill>
                      <a:srgbClr val="F4F6F8"/>
                    </a:solidFill>
                  </a:tcPr>
                </a:tc>
                <a:extLst>
                  <a:ext uri="{0D108BD9-81ED-4DB2-BD59-A6C34878D82A}">
                    <a16:rowId xmlns:a16="http://schemas.microsoft.com/office/drawing/2014/main" val="10002"/>
                  </a:ext>
                </a:extLst>
              </a:tr>
              <a:tr h="840105">
                <a:tc>
                  <a:txBody>
                    <a:bodyPr/>
                    <a:lstStyle/>
                    <a:p>
                      <a:pPr algn="l"/>
                      <a:r>
                        <a:rPr sz="1800" b="0">
                          <a:solidFill>
                            <a:srgbClr val="152C3F"/>
                          </a:solidFill>
                          <a:latin typeface="DejaVu Sans" panose="020B0603030804020204"/>
                          <a:ea typeface="DejaVu Sans" panose="020B0603030804020204"/>
                          <a:cs typeface="DejaVu Sans" panose="020B0603030804020204"/>
                        </a:rPr>
                        <a:t>Feature representation</a:t>
                      </a:r>
                    </a:p>
                  </a:txBody>
                  <a:tcPr marL="95250" marR="95250" marT="76200" marB="76200" anchor="ctr">
                    <a:solidFill>
                      <a:srgbClr val="FFFFFF"/>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Window summaries reduce the ordering of PPI and morphological changes across successive beats.</a:t>
                      </a:r>
                    </a:p>
                  </a:txBody>
                  <a:tcPr marL="95250" marR="95250" marT="76200" marB="76200" anchor="ctr">
                    <a:solidFill>
                      <a:srgbClr val="FFFFFF"/>
                    </a:solidFill>
                  </a:tcPr>
                </a:tc>
                <a:extLst>
                  <a:ext uri="{0D108BD9-81ED-4DB2-BD59-A6C34878D82A}">
                    <a16:rowId xmlns:a16="http://schemas.microsoft.com/office/drawing/2014/main" val="10003"/>
                  </a:ext>
                </a:extLst>
              </a:tr>
              <a:tr h="840105">
                <a:tc>
                  <a:txBody>
                    <a:bodyPr/>
                    <a:lstStyle/>
                    <a:p>
                      <a:pPr algn="l"/>
                      <a:r>
                        <a:rPr sz="1800" b="0">
                          <a:solidFill>
                            <a:srgbClr val="152C3F"/>
                          </a:solidFill>
                          <a:latin typeface="DejaVu Sans" panose="020B0603030804020204"/>
                          <a:ea typeface="DejaVu Sans" panose="020B0603030804020204"/>
                          <a:cs typeface="DejaVu Sans" panose="020B0603030804020204"/>
                        </a:rPr>
                        <a:t>Short dynamic recordings</a:t>
                      </a:r>
                    </a:p>
                  </a:txBody>
                  <a:tcPr marL="95250" marR="95250" marT="76200" marB="76200" anchor="ctr">
                    <a:solidFill>
                      <a:srgbClr val="F4F6F8"/>
                    </a:solidFill>
                  </a:tcPr>
                </a:tc>
                <a:tc>
                  <a:txBody>
                    <a:bodyPr/>
                    <a:lstStyle/>
                    <a:p>
                      <a:pPr algn="ctr"/>
                      <a:r>
                        <a:rPr sz="1800" b="0">
                          <a:solidFill>
                            <a:srgbClr val="152C3F"/>
                          </a:solidFill>
                          <a:latin typeface="DejaVu Sans" panose="020B0603030804020204"/>
                          <a:ea typeface="DejaVu Sans" panose="020B0603030804020204"/>
                          <a:cs typeface="DejaVu Sans" panose="020B0603030804020204"/>
                        </a:rPr>
                        <a:t>A few short windows can carry substantial weight in role-level aggregation.</a:t>
                      </a:r>
                    </a:p>
                  </a:txBody>
                  <a:tcPr marL="95250" marR="95250" marT="76200" marB="76200" anchor="ctr">
                    <a:solidFill>
                      <a:srgbClr val="F4F6F8"/>
                    </a:solidFill>
                  </a:tcPr>
                </a:tc>
                <a:extLst>
                  <a:ext uri="{0D108BD9-81ED-4DB2-BD59-A6C34878D82A}">
                    <a16:rowId xmlns:a16="http://schemas.microsoft.com/office/drawing/2014/main" val="10004"/>
                  </a:ext>
                </a:extLst>
              </a:tr>
            </a:tbl>
          </a:graphicData>
        </a:graphic>
      </p:graphicFrame>
      <p:sp>
        <p:nvSpPr>
          <p:cNvPr id="5" name="text-232"/>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Thesis §5.2. The results support feasibility within this cohort; clinical validity remains unestablished.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23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Conclusions and future work</a:t>
            </a:r>
          </a:p>
        </p:txBody>
      </p:sp>
      <p:sp>
        <p:nvSpPr>
          <p:cNvPr id="2" name="text-23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CONCLUSIONS</a:t>
            </a:r>
          </a:p>
        </p:txBody>
      </p:sp>
      <p:sp>
        <p:nvSpPr>
          <p:cNvPr id="3" name="text-23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46</a:t>
            </a:r>
          </a:p>
        </p:txBody>
      </p:sp>
      <p:sp>
        <p:nvSpPr>
          <p:cNvPr id="4" name="text-236"/>
          <p:cNvSpPr>
            <a:spLocks noGrp="1"/>
          </p:cNvSpPr>
          <p:nvPr/>
        </p:nvSpPr>
        <p:spPr>
          <a:xfrm>
            <a:off x="571500" y="1457325"/>
            <a:ext cx="5114925" cy="400050"/>
          </a:xfrm>
          <a:prstGeom prst="rect">
            <a:avLst/>
          </a:prstGeom>
          <a:noFill/>
          <a:ln w="0">
            <a:noFill/>
          </a:ln>
        </p:spPr>
        <p:txBody>
          <a:bodyPr wrap="square" lIns="0" tIns="0" rIns="0" bIns="0" anchor="t">
            <a:noAutofit/>
          </a:bodyPr>
          <a:lstStyle/>
          <a:p>
            <a:pPr algn="l">
              <a:defRPr sz="2175" b="1">
                <a:solidFill>
                  <a:srgbClr val="087E8B"/>
                </a:solidFill>
                <a:latin typeface="DejaVu Sans" panose="020B0603030804020204"/>
                <a:ea typeface="DejaVu Sans" panose="020B0603030804020204"/>
                <a:cs typeface="DejaVu Sans" panose="020B0603030804020204"/>
              </a:defRPr>
            </a:pPr>
            <a:r>
              <a:rPr sz="2175" b="1">
                <a:solidFill>
                  <a:srgbClr val="087E8B"/>
                </a:solidFill>
                <a:latin typeface="DejaVu Sans" panose="020B0603030804020204"/>
                <a:ea typeface="DejaVu Sans" panose="020B0603030804020204"/>
                <a:cs typeface="DejaVu Sans" panose="020B0603030804020204"/>
              </a:rPr>
              <a:t>Conclusions</a:t>
            </a:r>
          </a:p>
        </p:txBody>
      </p:sp>
      <p:sp>
        <p:nvSpPr>
          <p:cNvPr id="5" name="text-237"/>
          <p:cNvSpPr>
            <a:spLocks noGrp="1"/>
          </p:cNvSpPr>
          <p:nvPr/>
        </p:nvSpPr>
        <p:spPr>
          <a:xfrm>
            <a:off x="571500" y="2085975"/>
            <a:ext cx="5267325" cy="876300"/>
          </a:xfrm>
          <a:prstGeom prst="rect">
            <a:avLst/>
          </a:prstGeom>
          <a:noFill/>
          <a:ln w="0">
            <a:noFill/>
          </a:ln>
        </p:spPr>
        <p:txBody>
          <a:bodyPr wrap="square" lIns="0" tIns="0" rIns="0" bIns="0" anchor="t">
            <a:noAutofit/>
          </a:bodyPr>
          <a:lstStyle/>
          <a:p>
            <a:pPr algn="l">
              <a:defRPr sz="2100" b="0">
                <a:solidFill>
                  <a:srgbClr val="152C3F"/>
                </a:solidFill>
                <a:latin typeface="DejaVu Sans" panose="020B0603030804020204"/>
                <a:ea typeface="DejaVu Sans" panose="020B0603030804020204"/>
                <a:cs typeface="DejaVu Sans" panose="020B0603030804020204"/>
              </a:defRPr>
            </a:pPr>
            <a:r>
              <a:rPr sz="2100" b="0">
                <a:solidFill>
                  <a:srgbClr val="152C3F"/>
                </a:solidFill>
                <a:latin typeface="DejaVu Sans" panose="020B0603030804020204"/>
                <a:ea typeface="DejaVu Sans" panose="020B0603030804020204"/>
                <a:cs typeface="DejaVu Sans" panose="020B0603030804020204"/>
              </a:rPr>
              <a:t>A modular pipeline processes</a:t>
            </a:r>
          </a:p>
          <a:p>
            <a:pPr algn="l">
              <a:defRPr sz="2100" b="0">
                <a:solidFill>
                  <a:srgbClr val="152C3F"/>
                </a:solidFill>
                <a:latin typeface="DejaVu Sans" panose="020B0603030804020204"/>
                <a:ea typeface="DejaVu Sans" panose="020B0603030804020204"/>
                <a:cs typeface="DejaVu Sans" panose="020B0603030804020204"/>
              </a:defRPr>
            </a:pPr>
            <a:r>
              <a:rPr sz="2100" b="0">
                <a:solidFill>
                  <a:srgbClr val="152C3F"/>
                </a:solidFill>
                <a:latin typeface="DejaVu Sans" panose="020B0603030804020204"/>
                <a:ea typeface="DejaVu Sans" panose="020B0603030804020204"/>
                <a:cs typeface="DejaVu Sans" panose="020B0603030804020204"/>
              </a:rPr>
              <a:t>synchronised PPG and IMU.</a:t>
            </a:r>
          </a:p>
        </p:txBody>
      </p:sp>
      <p:sp>
        <p:nvSpPr>
          <p:cNvPr id="6" name="text-238"/>
          <p:cNvSpPr>
            <a:spLocks noGrp="1"/>
          </p:cNvSpPr>
          <p:nvPr/>
        </p:nvSpPr>
        <p:spPr>
          <a:xfrm>
            <a:off x="571500" y="3343275"/>
            <a:ext cx="5267325" cy="876300"/>
          </a:xfrm>
          <a:prstGeom prst="rect">
            <a:avLst/>
          </a:prstGeom>
          <a:noFill/>
          <a:ln w="0">
            <a:noFill/>
          </a:ln>
        </p:spPr>
        <p:txBody>
          <a:bodyPr wrap="square" lIns="0" tIns="0" rIns="0" bIns="0" anchor="t">
            <a:noAutofit/>
          </a:bodyPr>
          <a:lstStyle/>
          <a:p>
            <a:pPr algn="l">
              <a:defRPr sz="2100" b="0">
                <a:solidFill>
                  <a:srgbClr val="152C3F"/>
                </a:solidFill>
                <a:latin typeface="DejaVu Sans" panose="020B0603030804020204"/>
                <a:ea typeface="DejaVu Sans" panose="020B0603030804020204"/>
                <a:cs typeface="DejaVu Sans" panose="020B0603030804020204"/>
              </a:defRPr>
            </a:pPr>
            <a:r>
              <a:rPr sz="2100" b="0">
                <a:solidFill>
                  <a:srgbClr val="152C3F"/>
                </a:solidFill>
                <a:latin typeface="DejaVu Sans" panose="020B0603030804020204"/>
                <a:ea typeface="DejaVu Sans" panose="020B0603030804020204"/>
                <a:cs typeface="DejaVu Sans" panose="020B0603030804020204"/>
              </a:rPr>
              <a:t>External ECG benchmarking supports</a:t>
            </a:r>
          </a:p>
          <a:p>
            <a:pPr algn="l">
              <a:defRPr sz="2100" b="0">
                <a:solidFill>
                  <a:srgbClr val="152C3F"/>
                </a:solidFill>
                <a:latin typeface="DejaVu Sans" panose="020B0603030804020204"/>
                <a:ea typeface="DejaVu Sans" panose="020B0603030804020204"/>
                <a:cs typeface="DejaVu Sans" panose="020B0603030804020204"/>
              </a:defRPr>
            </a:pPr>
            <a:r>
              <a:rPr sz="2100" b="0">
                <a:solidFill>
                  <a:srgbClr val="152C3F"/>
                </a:solidFill>
                <a:latin typeface="DejaVu Sans" panose="020B0603030804020204"/>
                <a:ea typeface="DejaVu Sans" panose="020B0603030804020204"/>
                <a:cs typeface="DejaVu Sans" panose="020B0603030804020204"/>
              </a:rPr>
              <a:t>reliable pulse-interval extraction.</a:t>
            </a:r>
          </a:p>
        </p:txBody>
      </p:sp>
      <p:sp>
        <p:nvSpPr>
          <p:cNvPr id="7" name="text-239"/>
          <p:cNvSpPr>
            <a:spLocks noGrp="1"/>
          </p:cNvSpPr>
          <p:nvPr/>
        </p:nvSpPr>
        <p:spPr>
          <a:xfrm>
            <a:off x="571500" y="4600575"/>
            <a:ext cx="5267325" cy="876300"/>
          </a:xfrm>
          <a:prstGeom prst="rect">
            <a:avLst/>
          </a:prstGeom>
          <a:noFill/>
          <a:ln w="0">
            <a:noFill/>
          </a:ln>
        </p:spPr>
        <p:txBody>
          <a:bodyPr wrap="square" lIns="0" tIns="0" rIns="0" bIns="0" anchor="t">
            <a:noAutofit/>
          </a:bodyPr>
          <a:lstStyle/>
          <a:p>
            <a:pPr algn="l">
              <a:defRPr sz="2100" b="0">
                <a:solidFill>
                  <a:srgbClr val="152C3F"/>
                </a:solidFill>
                <a:latin typeface="DejaVu Sans" panose="020B0603030804020204"/>
                <a:ea typeface="DejaVu Sans" panose="020B0603030804020204"/>
                <a:cs typeface="DejaVu Sans" panose="020B0603030804020204"/>
              </a:defRPr>
            </a:pPr>
            <a:r>
              <a:rPr sz="2100" b="0">
                <a:solidFill>
                  <a:srgbClr val="152C3F"/>
                </a:solidFill>
                <a:latin typeface="DejaVu Sans" panose="020B0603030804020204"/>
                <a:ea typeface="DejaVu Sans" panose="020B0603030804020204"/>
                <a:cs typeface="DejaVu Sans" panose="020B0603030804020204"/>
              </a:rPr>
              <a:t>Internal classification identified</a:t>
            </a:r>
          </a:p>
          <a:p>
            <a:pPr algn="l">
              <a:defRPr sz="2100" b="0">
                <a:solidFill>
                  <a:srgbClr val="152C3F"/>
                </a:solidFill>
                <a:latin typeface="DejaVu Sans" panose="020B0603030804020204"/>
                <a:ea typeface="DejaVu Sans" panose="020B0603030804020204"/>
                <a:cs typeface="DejaVu Sans" panose="020B0603030804020204"/>
              </a:defRPr>
            </a:pPr>
            <a:r>
              <a:rPr sz="2100" b="0">
                <a:solidFill>
                  <a:srgbClr val="152C3F"/>
                </a:solidFill>
                <a:latin typeface="DejaVu Sans" panose="020B0603030804020204"/>
                <a:ea typeface="DejaVu Sans" panose="020B0603030804020204"/>
                <a:cs typeface="DejaVu Sans" panose="020B0603030804020204"/>
              </a:rPr>
              <a:t>group-related information.</a:t>
            </a:r>
          </a:p>
        </p:txBody>
      </p:sp>
      <p:sp>
        <p:nvSpPr>
          <p:cNvPr id="8" name="text-240"/>
          <p:cNvSpPr>
            <a:spLocks noGrp="1"/>
          </p:cNvSpPr>
          <p:nvPr/>
        </p:nvSpPr>
        <p:spPr>
          <a:xfrm>
            <a:off x="6496050" y="1457325"/>
            <a:ext cx="5067300" cy="400050"/>
          </a:xfrm>
          <a:prstGeom prst="rect">
            <a:avLst/>
          </a:prstGeom>
          <a:noFill/>
          <a:ln w="0">
            <a:noFill/>
          </a:ln>
        </p:spPr>
        <p:txBody>
          <a:bodyPr wrap="square" lIns="0" tIns="0" rIns="0" bIns="0" anchor="t">
            <a:noAutofit/>
          </a:bodyPr>
          <a:lstStyle/>
          <a:p>
            <a:pPr algn="l">
              <a:defRPr sz="2175" b="1">
                <a:solidFill>
                  <a:srgbClr val="7056A8"/>
                </a:solidFill>
                <a:latin typeface="DejaVu Sans" panose="020B0603030804020204"/>
                <a:ea typeface="DejaVu Sans" panose="020B0603030804020204"/>
                <a:cs typeface="DejaVu Sans" panose="020B0603030804020204"/>
              </a:defRPr>
            </a:pPr>
            <a:r>
              <a:rPr sz="2175" b="1">
                <a:solidFill>
                  <a:srgbClr val="7056A8"/>
                </a:solidFill>
                <a:latin typeface="DejaVu Sans" panose="020B0603030804020204"/>
                <a:ea typeface="DejaVu Sans" panose="020B0603030804020204"/>
                <a:cs typeface="DejaVu Sans" panose="020B0603030804020204"/>
              </a:rPr>
              <a:t>Next steps</a:t>
            </a:r>
          </a:p>
        </p:txBody>
      </p:sp>
      <p:sp>
        <p:nvSpPr>
          <p:cNvPr id="9" name="text-241"/>
          <p:cNvSpPr>
            <a:spLocks noGrp="1"/>
          </p:cNvSpPr>
          <p:nvPr/>
        </p:nvSpPr>
        <p:spPr>
          <a:xfrm>
            <a:off x="6496050" y="2085975"/>
            <a:ext cx="5067300" cy="838200"/>
          </a:xfrm>
          <a:prstGeom prst="rect">
            <a:avLst/>
          </a:prstGeom>
          <a:noFill/>
          <a:ln w="0">
            <a:noFill/>
          </a:ln>
        </p:spPr>
        <p:txBody>
          <a:bodyPr wrap="square" lIns="0" tIns="0" rIns="0" bIns="0" anchor="t">
            <a:noAutofit/>
          </a:bodyPr>
          <a:lstStyle/>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Larger cohorts and independent</a:t>
            </a:r>
          </a:p>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participant-level validation</a:t>
            </a:r>
          </a:p>
        </p:txBody>
      </p:sp>
      <p:sp>
        <p:nvSpPr>
          <p:cNvPr id="10" name="text-242"/>
          <p:cNvSpPr>
            <a:spLocks noGrp="1"/>
          </p:cNvSpPr>
          <p:nvPr/>
        </p:nvSpPr>
        <p:spPr>
          <a:xfrm>
            <a:off x="6496050" y="3343275"/>
            <a:ext cx="5067300" cy="838200"/>
          </a:xfrm>
          <a:prstGeom prst="rect">
            <a:avLst/>
          </a:prstGeom>
          <a:noFill/>
          <a:ln w="0">
            <a:noFill/>
          </a:ln>
        </p:spPr>
        <p:txBody>
          <a:bodyPr wrap="square" lIns="0" tIns="0" rIns="0" bIns="0" anchor="t">
            <a:noAutofit/>
          </a:bodyPr>
          <a:lstStyle/>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Beat-indexed feature sequences</a:t>
            </a:r>
          </a:p>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and deeper feature-route evaluation</a:t>
            </a:r>
          </a:p>
        </p:txBody>
      </p:sp>
      <p:sp>
        <p:nvSpPr>
          <p:cNvPr id="11" name="text-243"/>
          <p:cNvSpPr>
            <a:spLocks noGrp="1"/>
          </p:cNvSpPr>
          <p:nvPr/>
        </p:nvSpPr>
        <p:spPr>
          <a:xfrm>
            <a:off x="6496050" y="4600575"/>
            <a:ext cx="5067300" cy="838200"/>
          </a:xfrm>
          <a:prstGeom prst="rect">
            <a:avLst/>
          </a:prstGeom>
          <a:noFill/>
          <a:ln w="0">
            <a:noFill/>
          </a:ln>
        </p:spPr>
        <p:txBody>
          <a:bodyPr wrap="square" lIns="0" tIns="0" rIns="0" bIns="0" anchor="t">
            <a:noAutofit/>
          </a:bodyPr>
          <a:lstStyle/>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Wearable deployment: runtime,</a:t>
            </a:r>
          </a:p>
          <a:p>
            <a:pPr algn="l">
              <a:defRPr sz="2025" b="0">
                <a:solidFill>
                  <a:srgbClr val="152C3F"/>
                </a:solidFill>
                <a:latin typeface="DejaVu Sans" panose="020B0603030804020204"/>
                <a:ea typeface="DejaVu Sans" panose="020B0603030804020204"/>
                <a:cs typeface="DejaVu Sans" panose="020B0603030804020204"/>
              </a:defRPr>
            </a:pPr>
            <a:r>
              <a:rPr sz="2025" b="0">
                <a:solidFill>
                  <a:srgbClr val="152C3F"/>
                </a:solidFill>
                <a:latin typeface="DejaVu Sans" panose="020B0603030804020204"/>
                <a:ea typeface="DejaVu Sans" panose="020B0603030804020204"/>
                <a:cs typeface="DejaVu Sans" panose="020B0603030804020204"/>
              </a:rPr>
              <a:t>memory, latency and energy</a:t>
            </a:r>
          </a:p>
        </p:txBody>
      </p:sp>
      <p:sp>
        <p:nvSpPr>
          <p:cNvPr id="12" name="text-244"/>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Thesis Chapters 5–6. Future evaluation should focus on the distinction between older frailty-related groups.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20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Backup material</a:t>
            </a:r>
          </a:p>
        </p:txBody>
      </p:sp>
      <p:sp>
        <p:nvSpPr>
          <p:cNvPr id="2" name="text-20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DISCUSSION</a:t>
            </a:r>
          </a:p>
        </p:txBody>
      </p:sp>
      <p:sp>
        <p:nvSpPr>
          <p:cNvPr id="3" name="text-20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47</a:t>
            </a:r>
          </a:p>
        </p:txBody>
      </p:sp>
      <p:sp>
        <p:nvSpPr>
          <p:cNvPr id="4" name="text-208"/>
          <p:cNvSpPr>
            <a:spLocks noGrp="1"/>
          </p:cNvSpPr>
          <p:nvPr/>
        </p:nvSpPr>
        <p:spPr>
          <a:xfrm>
            <a:off x="714375" y="1657350"/>
            <a:ext cx="10668000" cy="3248025"/>
          </a:xfrm>
          <a:prstGeom prst="rect">
            <a:avLst/>
          </a:prstGeom>
          <a:noFill/>
          <a:ln w="0">
            <a:noFill/>
          </a:ln>
        </p:spPr>
        <p:txBody>
          <a:bodyPr wrap="square" lIns="0" tIns="0" rIns="0" bIns="0" anchor="t">
            <a:noAutofit/>
          </a:bodyPr>
          <a:lstStyle/>
          <a:p>
            <a:pPr algn="l">
              <a:defRPr sz="2400" b="0">
                <a:solidFill>
                  <a:srgbClr val="152C3F"/>
                </a:solidFill>
                <a:latin typeface="DejaVu Sans" panose="020B0603030804020204"/>
                <a:ea typeface="DejaVu Sans" panose="020B0603030804020204"/>
                <a:cs typeface="DejaVu Sans" panose="020B0603030804020204"/>
              </a:defRPr>
            </a:pPr>
            <a:r>
              <a:rPr sz="2400" b="0">
                <a:solidFill>
                  <a:srgbClr val="152C3F"/>
                </a:solidFill>
                <a:latin typeface="DejaVu Sans" panose="020B0603030804020204"/>
                <a:ea typeface="DejaVu Sans" panose="020B0603030804020204"/>
                <a:cs typeface="DejaVu Sans" panose="020B0603030804020204"/>
              </a:rPr>
              <a:t>Optical representations</a:t>
            </a:r>
          </a:p>
          <a:p>
            <a:pPr algn="l">
              <a:defRPr sz="2400" b="0">
                <a:solidFill>
                  <a:srgbClr val="152C3F"/>
                </a:solidFill>
                <a:latin typeface="DejaVu Sans" panose="020B0603030804020204"/>
                <a:ea typeface="DejaVu Sans" panose="020B0603030804020204"/>
                <a:cs typeface="DejaVu Sans" panose="020B0603030804020204"/>
              </a:defRPr>
            </a:pPr>
            <a:r>
              <a:rPr sz="2400" b="0">
                <a:solidFill>
                  <a:srgbClr val="152C3F"/>
                </a:solidFill>
                <a:latin typeface="DejaVu Sans" panose="020B0603030804020204"/>
                <a:ea typeface="DejaVu Sans" panose="020B0603030804020204"/>
                <a:cs typeface="DejaVu Sans" panose="020B0603030804020204"/>
              </a:rPr>
              <a:t>Motion as information and contamination</a:t>
            </a:r>
          </a:p>
          <a:p>
            <a:pPr algn="l">
              <a:defRPr sz="2400" b="0">
                <a:solidFill>
                  <a:srgbClr val="152C3F"/>
                </a:solidFill>
                <a:latin typeface="DejaVu Sans" panose="020B0603030804020204"/>
                <a:ea typeface="DejaVu Sans" panose="020B0603030804020204"/>
                <a:cs typeface="DejaVu Sans" panose="020B0603030804020204"/>
              </a:defRPr>
            </a:pPr>
            <a:r>
              <a:rPr sz="2400" b="0">
                <a:solidFill>
                  <a:srgbClr val="152C3F"/>
                </a:solidFill>
                <a:latin typeface="DejaVu Sans" panose="020B0603030804020204"/>
                <a:ea typeface="DejaVu Sans" panose="020B0603030804020204"/>
                <a:cs typeface="DejaVu Sans" panose="020B0603030804020204"/>
              </a:rPr>
              <a:t>Signal-quality endpoints</a:t>
            </a:r>
          </a:p>
          <a:p>
            <a:pPr algn="l">
              <a:defRPr sz="2400" b="0">
                <a:solidFill>
                  <a:srgbClr val="152C3F"/>
                </a:solidFill>
                <a:latin typeface="DejaVu Sans" panose="020B0603030804020204"/>
                <a:ea typeface="DejaVu Sans" panose="020B0603030804020204"/>
                <a:cs typeface="DejaVu Sans" panose="020B0603030804020204"/>
              </a:defRPr>
            </a:pPr>
            <a:r>
              <a:rPr sz="2400" b="0">
                <a:solidFill>
                  <a:srgbClr val="152C3F"/>
                </a:solidFill>
                <a:latin typeface="DejaVu Sans" panose="020B0603030804020204"/>
                <a:ea typeface="DejaVu Sans" panose="020B0603030804020204"/>
                <a:cs typeface="DejaVu Sans" panose="020B0603030804020204"/>
              </a:rPr>
              <a:t>Numerical scaling and missing values</a:t>
            </a:r>
          </a:p>
          <a:p>
            <a:pPr algn="l">
              <a:defRPr sz="2400" b="0">
                <a:solidFill>
                  <a:srgbClr val="152C3F"/>
                </a:solidFill>
                <a:latin typeface="DejaVu Sans" panose="020B0603030804020204"/>
                <a:ea typeface="DejaVu Sans" panose="020B0603030804020204"/>
                <a:cs typeface="DejaVu Sans" panose="020B0603030804020204"/>
              </a:defRPr>
            </a:pPr>
            <a:r>
              <a:rPr sz="2400" b="0">
                <a:solidFill>
                  <a:srgbClr val="152C3F"/>
                </a:solidFill>
                <a:latin typeface="DejaVu Sans" panose="020B0603030804020204"/>
                <a:ea typeface="DejaVu Sans" panose="020B0603030804020204"/>
                <a:cs typeface="DejaVu Sans" panose="020B0603030804020204"/>
              </a:rPr>
              <a:t>Model representations and fusion</a:t>
            </a:r>
          </a:p>
          <a:p>
            <a:pPr algn="l">
              <a:defRPr sz="2400" b="0">
                <a:solidFill>
                  <a:srgbClr val="152C3F"/>
                </a:solidFill>
                <a:latin typeface="DejaVu Sans" panose="020B0603030804020204"/>
                <a:ea typeface="DejaVu Sans" panose="020B0603030804020204"/>
                <a:cs typeface="DejaVu Sans" panose="020B0603030804020204"/>
              </a:defRPr>
            </a:pPr>
            <a:r>
              <a:rPr sz="2400" b="0">
                <a:solidFill>
                  <a:srgbClr val="152C3F"/>
                </a:solidFill>
                <a:latin typeface="DejaVu Sans" panose="020B0603030804020204"/>
                <a:ea typeface="DejaVu Sans" panose="020B0603030804020204"/>
                <a:cs typeface="DejaVu Sans" panose="020B0603030804020204"/>
              </a:rPr>
              <a:t>Separate native and filtered optical views</a:t>
            </a:r>
          </a:p>
        </p:txBody>
      </p:sp>
      <p:sp>
        <p:nvSpPr>
          <p:cNvPr id="5" name="text-209"/>
          <p:cNvSpPr>
            <a:spLocks noGrp="1"/>
          </p:cNvSpPr>
          <p:nvPr/>
        </p:nvSpPr>
        <p:spPr>
          <a:xfrm>
            <a:off x="714375" y="5457825"/>
            <a:ext cx="10668000" cy="457200"/>
          </a:xfrm>
          <a:prstGeom prst="rect">
            <a:avLst/>
          </a:prstGeom>
          <a:noFill/>
          <a:ln w="0">
            <a:noFill/>
          </a:ln>
        </p:spPr>
        <p:txBody>
          <a:bodyPr wrap="square" lIns="0" tIns="0" rIns="0" bIns="0" anchor="t">
            <a:noAutofit/>
          </a:bodyPr>
          <a:lstStyle/>
          <a:p>
            <a:pPr algn="l">
              <a:defRPr sz="2100" b="1">
                <a:solidFill>
                  <a:srgbClr val="087E8B"/>
                </a:solidFill>
                <a:latin typeface="DejaVu Sans" panose="020B0603030804020204"/>
                <a:ea typeface="DejaVu Sans" panose="020B0603030804020204"/>
                <a:cs typeface="DejaVu Sans" panose="020B0603030804020204"/>
              </a:defRPr>
            </a:pPr>
            <a:r>
              <a:rPr sz="2100" b="1">
                <a:solidFill>
                  <a:srgbClr val="087E8B"/>
                </a:solidFill>
                <a:latin typeface="DejaVu Sans" panose="020B0603030804020204"/>
                <a:ea typeface="DejaVu Sans" panose="020B0603030804020204"/>
                <a:cs typeface="DejaVu Sans" panose="020B0603030804020204"/>
              </a:rPr>
              <a:t>Additional detail for questions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3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Published EKF: prediction and measurement update</a:t>
            </a:r>
          </a:p>
        </p:txBody>
      </p:sp>
      <p:sp>
        <p:nvSpPr>
          <p:cNvPr id="2" name="text-3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LITERATURE ALGORITHM</a:t>
            </a:r>
          </a:p>
        </p:txBody>
      </p:sp>
      <p:sp>
        <p:nvSpPr>
          <p:cNvPr id="3" name="text-3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48</a:t>
            </a:r>
          </a:p>
        </p:txBody>
      </p:sp>
      <p:pic>
        <p:nvPicPr>
          <p:cNvPr id="15" name="图片 14"/>
          <p:cNvPicPr>
            <a:picLocks noChangeAspect="1"/>
          </p:cNvPicPr>
          <p:nvPr/>
        </p:nvPicPr>
        <p:blipFill>
          <a:blip r:embed="rId3"/>
          <a:stretch>
            <a:fillRect/>
          </a:stretch>
        </p:blipFill>
        <p:spPr>
          <a:xfrm>
            <a:off x="1194135" y="1381125"/>
            <a:ext cx="5546055" cy="4505325"/>
          </a:xfrm>
          <a:prstGeom prst="rect">
            <a:avLst/>
          </a:prstGeom>
        </p:spPr>
      </p:pic>
      <p:sp>
        <p:nvSpPr>
          <p:cNvPr id="5" name="text-38"/>
          <p:cNvSpPr>
            <a:spLocks noGrp="1"/>
          </p:cNvSpPr>
          <p:nvPr/>
        </p:nvSpPr>
        <p:spPr>
          <a:xfrm>
            <a:off x="7867650" y="1476375"/>
            <a:ext cx="3619500" cy="34290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Predict</a:t>
            </a:r>
          </a:p>
        </p:txBody>
      </p:sp>
      <p:sp>
        <p:nvSpPr>
          <p:cNvPr id="6" name="text-39"/>
          <p:cNvSpPr>
            <a:spLocks noGrp="1"/>
          </p:cNvSpPr>
          <p:nvPr/>
        </p:nvSpPr>
        <p:spPr>
          <a:xfrm>
            <a:off x="7867650" y="1933575"/>
            <a:ext cx="3619500" cy="657225"/>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Integrate gyro measurements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and propagate uncertainty.</a:t>
            </a:r>
          </a:p>
        </p:txBody>
      </p:sp>
      <p:sp>
        <p:nvSpPr>
          <p:cNvPr id="7" name="text-40"/>
          <p:cNvSpPr>
            <a:spLocks noGrp="1"/>
          </p:cNvSpPr>
          <p:nvPr/>
        </p:nvSpPr>
        <p:spPr>
          <a:xfrm>
            <a:off x="7867650" y="2886075"/>
            <a:ext cx="3619500" cy="34290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Weight</a:t>
            </a:r>
          </a:p>
        </p:txBody>
      </p:sp>
      <p:sp>
        <p:nvSpPr>
          <p:cNvPr id="8" name="text-41"/>
          <p:cNvSpPr>
            <a:spLocks noGrp="1"/>
          </p:cNvSpPr>
          <p:nvPr/>
        </p:nvSpPr>
        <p:spPr>
          <a:xfrm>
            <a:off x="7867650" y="3343275"/>
            <a:ext cx="3619500" cy="695325"/>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Validate aiding sensors.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Adapt R and calculate the gain.</a:t>
            </a:r>
          </a:p>
        </p:txBody>
      </p:sp>
      <p:sp>
        <p:nvSpPr>
          <p:cNvPr id="9" name="text-42"/>
          <p:cNvSpPr>
            <a:spLocks noGrp="1"/>
          </p:cNvSpPr>
          <p:nvPr/>
        </p:nvSpPr>
        <p:spPr>
          <a:xfrm>
            <a:off x="7867650" y="4343400"/>
            <a:ext cx="3619500" cy="342900"/>
          </a:xfrm>
          <a:prstGeom prst="rect">
            <a:avLst/>
          </a:prstGeom>
          <a:noFill/>
          <a:ln w="0">
            <a:noFill/>
          </a:ln>
        </p:spPr>
        <p:txBody>
          <a:bodyPr wrap="square" lIns="0" tIns="0" rIns="0" bIns="0" anchor="t">
            <a:noAutofit/>
          </a:bodyPr>
          <a:lstStyle/>
          <a:p>
            <a:pPr algn="l">
              <a:defRPr sz="2025" b="1">
                <a:solidFill>
                  <a:srgbClr val="087E8B"/>
                </a:solidFill>
                <a:latin typeface="DejaVu Sans" panose="020B0603030804020204"/>
                <a:ea typeface="DejaVu Sans" panose="020B0603030804020204"/>
                <a:cs typeface="DejaVu Sans" panose="020B0603030804020204"/>
              </a:defRPr>
            </a:pPr>
            <a:r>
              <a:rPr sz="2025" b="1">
                <a:solidFill>
                  <a:srgbClr val="087E8B"/>
                </a:solidFill>
                <a:latin typeface="DejaVu Sans" panose="020B0603030804020204"/>
                <a:ea typeface="DejaVu Sans" panose="020B0603030804020204"/>
                <a:cs typeface="DejaVu Sans" panose="020B0603030804020204"/>
              </a:rPr>
              <a:t>Correct</a:t>
            </a:r>
          </a:p>
        </p:txBody>
      </p:sp>
      <p:sp>
        <p:nvSpPr>
          <p:cNvPr id="10" name="text-43"/>
          <p:cNvSpPr>
            <a:spLocks noGrp="1"/>
          </p:cNvSpPr>
          <p:nvPr/>
        </p:nvSpPr>
        <p:spPr>
          <a:xfrm>
            <a:off x="7867650" y="4800600"/>
            <a:ext cx="3619500" cy="72390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Update state and covariance,</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then repeat at the next sample.</a:t>
            </a:r>
          </a:p>
        </p:txBody>
      </p:sp>
      <p:sp>
        <p:nvSpPr>
          <p:cNvPr id="11" name="text-44"/>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Sabatini, 2011, Fig. 6. Recursive orientation estimation: gyroscope prediction and aiding-sensor correction.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text-92"/>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PCA: component selection and reconstruction</a:t>
            </a:r>
          </a:p>
        </p:txBody>
      </p:sp>
      <p:sp>
        <p:nvSpPr>
          <p:cNvPr id="2" name="text-93"/>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MOTION ARTEFACT REDUCTION</a:t>
            </a:r>
          </a:p>
        </p:txBody>
      </p:sp>
      <p:sp>
        <p:nvSpPr>
          <p:cNvPr id="3" name="text-94"/>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49</a:t>
            </a:r>
          </a:p>
        </p:txBody>
      </p:sp>
      <p:sp>
        <p:nvSpPr>
          <p:cNvPr id="4" name="workflow-95"/>
          <p:cNvSpPr>
            <a:spLocks noGrp="1"/>
          </p:cNvSpPr>
          <p:nvPr/>
        </p:nvSpPr>
        <p:spPr>
          <a:xfrm>
            <a:off x="581025" y="1419225"/>
            <a:ext cx="2409825" cy="733425"/>
          </a:xfrm>
          <a:prstGeom prst="rect">
            <a:avLst/>
          </a:prstGeom>
          <a:solidFill>
            <a:srgbClr val="ECF4F6"/>
          </a:solidFill>
          <a:ln w="16193">
            <a:solidFill>
              <a:srgbClr val="152C3F"/>
            </a:solidFill>
          </a:ln>
        </p:spPr>
        <p:txBody>
          <a:bodyPr lIns="95250" tIns="76200" rIns="95250" bIns="76200" anchor="ctr">
            <a:noAutofit/>
          </a:bodyPr>
          <a:lstStyle/>
          <a:p>
            <a:pPr algn="ctr">
              <a:defRPr sz="1500">
                <a:solidFill>
                  <a:srgbClr val="152C3F"/>
                </a:solidFill>
                <a:latin typeface="DejaVu Sans" panose="020B0603030804020204"/>
                <a:ea typeface="DejaVu Sans" panose="020B0603030804020204"/>
                <a:cs typeface="DejaVu Sans" panose="020B0603030804020204"/>
              </a:defRPr>
            </a:pPr>
            <a:r>
              <a:rPr sz="1500">
                <a:solidFill>
                  <a:srgbClr val="152C3F"/>
                </a:solidFill>
                <a:latin typeface="DejaVu Sans" panose="020B0603030804020204"/>
                <a:ea typeface="DejaVu Sans" panose="020B0603030804020204"/>
                <a:cs typeface="DejaVu Sans" panose="020B0603030804020204"/>
              </a:rPr>
              <a:t>RED + IR observations</a:t>
            </a:r>
          </a:p>
          <a:p>
            <a:pPr algn="ctr">
              <a:defRPr sz="1500">
                <a:solidFill>
                  <a:srgbClr val="152C3F"/>
                </a:solidFill>
                <a:latin typeface="DejaVu Sans" panose="020B0603030804020204"/>
                <a:ea typeface="DejaVu Sans" panose="020B0603030804020204"/>
                <a:cs typeface="DejaVu Sans" panose="020B0603030804020204"/>
              </a:defRPr>
            </a:pPr>
            <a:r>
              <a:rPr sz="1500">
                <a:solidFill>
                  <a:srgbClr val="152C3F"/>
                </a:solidFill>
                <a:latin typeface="DejaVu Sans" panose="020B0603030804020204"/>
                <a:ea typeface="DejaVu Sans" panose="020B0603030804020204"/>
                <a:cs typeface="DejaVu Sans" panose="020B0603030804020204"/>
              </a:rPr>
              <a:t>X ∈ ℝᴺˣ²</a:t>
            </a:r>
          </a:p>
        </p:txBody>
      </p:sp>
      <p:sp>
        <p:nvSpPr>
          <p:cNvPr id="5" name="workflow-96"/>
          <p:cNvSpPr>
            <a:spLocks noGrp="1"/>
          </p:cNvSpPr>
          <p:nvPr/>
        </p:nvSpPr>
        <p:spPr>
          <a:xfrm>
            <a:off x="3905250" y="1419225"/>
            <a:ext cx="3676650" cy="73342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Centre and decompose</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X − mean(X) = SAᵀ</a:t>
            </a:r>
          </a:p>
        </p:txBody>
      </p:sp>
      <p:sp>
        <p:nvSpPr>
          <p:cNvPr id="6" name="workflow-97"/>
          <p:cNvSpPr>
            <a:spLocks noGrp="1"/>
          </p:cNvSpPr>
          <p:nvPr/>
        </p:nvSpPr>
        <p:spPr>
          <a:xfrm>
            <a:off x="9067800" y="1419225"/>
            <a:ext cx="2486025" cy="733425"/>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Candidate components</a:t>
            </a:r>
          </a:p>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s₁[n], s₂[n]</a:t>
            </a:r>
          </a:p>
        </p:txBody>
      </p:sp>
      <p:cxnSp>
        <p:nvCxnSpPr>
          <p:cNvPr id="40" name="直接箭头连接符 39"/>
          <p:cNvCxnSpPr>
            <a:stCxn id="4" idx="3"/>
            <a:endCxn id="5" idx="1"/>
          </p:cNvCxnSpPr>
          <p:nvPr/>
        </p:nvCxnSpPr>
        <p:spPr>
          <a:xfrm>
            <a:off x="2990850" y="1785938"/>
            <a:ext cx="914400" cy="0"/>
          </a:xfrm>
          <a:prstGeom prst="straightConnector1">
            <a:avLst/>
          </a:prstGeom>
          <a:ln w="19050">
            <a:solidFill>
              <a:srgbClr val="506577"/>
            </a:solidFill>
            <a:tailEnd type="triangle" w="sm" len="sm"/>
          </a:ln>
        </p:spPr>
      </p:cxnSp>
      <p:cxnSp>
        <p:nvCxnSpPr>
          <p:cNvPr id="41" name="直接箭头连接符 40"/>
          <p:cNvCxnSpPr>
            <a:stCxn id="5" idx="3"/>
            <a:endCxn id="6" idx="1"/>
          </p:cNvCxnSpPr>
          <p:nvPr/>
        </p:nvCxnSpPr>
        <p:spPr>
          <a:xfrm>
            <a:off x="7581900" y="1785938"/>
            <a:ext cx="1485900" cy="0"/>
          </a:xfrm>
          <a:prstGeom prst="straightConnector1">
            <a:avLst/>
          </a:prstGeom>
          <a:ln w="19050">
            <a:solidFill>
              <a:srgbClr val="506577"/>
            </a:solidFill>
            <a:tailEnd type="triangle" w="sm" len="sm"/>
          </a:ln>
        </p:spPr>
      </p:cxnSp>
      <p:sp>
        <p:nvSpPr>
          <p:cNvPr id="9" name="workflow-98"/>
          <p:cNvSpPr>
            <a:spLocks noGrp="1"/>
          </p:cNvSpPr>
          <p:nvPr/>
        </p:nvSpPr>
        <p:spPr>
          <a:xfrm>
            <a:off x="4191000" y="3209925"/>
            <a:ext cx="3533775" cy="742950"/>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Cardiac concentration Cⱼ</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Pⱼ(0.5–3.5) / Pⱼ(0.2–8)</a:t>
            </a:r>
          </a:p>
        </p:txBody>
      </p:sp>
      <p:sp>
        <p:nvSpPr>
          <p:cNvPr id="10" name="workflow-99"/>
          <p:cNvSpPr>
            <a:spLocks noGrp="1"/>
          </p:cNvSpPr>
          <p:nvPr/>
        </p:nvSpPr>
        <p:spPr>
          <a:xfrm>
            <a:off x="8515350" y="3209925"/>
            <a:ext cx="3048000" cy="742950"/>
          </a:xfrm>
          <a:prstGeom prst="rect">
            <a:avLst/>
          </a:prstGeom>
          <a:solidFill>
            <a:srgbClr val="ECF4F6"/>
          </a:solidFill>
          <a:ln w="16193">
            <a:solidFill>
              <a:srgbClr val="B96D20"/>
            </a:solidFill>
          </a:ln>
        </p:spPr>
        <p:txBody>
          <a:bodyPr lIns="95250" tIns="76200" rIns="95250" bIns="76200" anchor="ctr">
            <a:noAutofit/>
          </a:bodyPr>
          <a:lstStyle/>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Motion association Rⱼ</a:t>
            </a:r>
          </a:p>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maxᵢ |corr(sⱼ, IMUᵢ)|</a:t>
            </a:r>
          </a:p>
        </p:txBody>
      </p:sp>
      <p:sp>
        <p:nvSpPr>
          <p:cNvPr id="11" name="workflow-100"/>
          <p:cNvSpPr>
            <a:spLocks noGrp="1"/>
          </p:cNvSpPr>
          <p:nvPr/>
        </p:nvSpPr>
        <p:spPr>
          <a:xfrm>
            <a:off x="8705850" y="4229100"/>
            <a:ext cx="2857500" cy="485775"/>
          </a:xfrm>
          <a:prstGeom prst="rect">
            <a:avLst/>
          </a:prstGeom>
          <a:solidFill>
            <a:srgbClr val="ECF4F6"/>
          </a:solidFill>
          <a:ln w="16193">
            <a:solidFill>
              <a:srgbClr val="B96D20"/>
            </a:solidFill>
          </a:ln>
        </p:spPr>
        <p:txBody>
          <a:bodyPr lIns="95250" tIns="76200" rIns="95250" bIns="76200" anchor="ctr">
            <a:noAutofit/>
          </a:bodyPr>
          <a:lstStyle/>
          <a:p>
            <a:pPr algn="ctr">
              <a:defRPr sz="1500">
                <a:solidFill>
                  <a:srgbClr val="B96D20"/>
                </a:solidFill>
                <a:latin typeface="DejaVu Sans" panose="020B0603030804020204"/>
                <a:ea typeface="DejaVu Sans" panose="020B0603030804020204"/>
                <a:cs typeface="DejaVu Sans" panose="020B0603030804020204"/>
              </a:defRPr>
            </a:pPr>
            <a:r>
              <a:rPr sz="1500">
                <a:solidFill>
                  <a:srgbClr val="B96D20"/>
                </a:solidFill>
                <a:latin typeface="DejaVu Sans" panose="020B0603030804020204"/>
                <a:ea typeface="DejaVu Sans" panose="020B0603030804020204"/>
                <a:cs typeface="DejaVu Sans" panose="020B0603030804020204"/>
              </a:rPr>
              <a:t>Aligned IMU axes</a:t>
            </a:r>
          </a:p>
        </p:txBody>
      </p:sp>
      <p:sp>
        <p:nvSpPr>
          <p:cNvPr id="12" name="矩形 11"/>
          <p:cNvSpPr>
            <a:spLocks noGrp="1"/>
          </p:cNvSpPr>
          <p:nvPr/>
        </p:nvSpPr>
        <p:spPr>
          <a:xfrm>
            <a:off x="10305574" y="2695099"/>
            <a:ext cx="953" cy="953"/>
          </a:xfrm>
          <a:prstGeom prst="rect">
            <a:avLst/>
          </a:prstGeom>
          <a:noFill/>
          <a:ln w="0">
            <a:noFill/>
          </a:ln>
        </p:spPr>
        <p:txBody>
          <a:bodyPr/>
          <a:lstStyle/>
          <a:p>
            <a:endParaRPr lang="zh-CN" altLang="en-US"/>
          </a:p>
        </p:txBody>
      </p:sp>
      <p:cxnSp>
        <p:nvCxnSpPr>
          <p:cNvPr id="46" name="直接箭头连接符 45"/>
          <p:cNvCxnSpPr>
            <a:stCxn id="6" idx="2"/>
            <a:endCxn id="12" idx="1"/>
          </p:cNvCxnSpPr>
          <p:nvPr/>
        </p:nvCxnSpPr>
        <p:spPr>
          <a:xfrm flipH="1">
            <a:off x="10305574" y="2152650"/>
            <a:ext cx="5238" cy="542926"/>
          </a:xfrm>
          <a:prstGeom prst="straightConnector1">
            <a:avLst/>
          </a:prstGeom>
          <a:ln w="19050">
            <a:solidFill>
              <a:srgbClr val="506577"/>
            </a:solidFill>
          </a:ln>
        </p:spPr>
      </p:cxnSp>
      <p:sp>
        <p:nvSpPr>
          <p:cNvPr id="14" name="矩形 13"/>
          <p:cNvSpPr>
            <a:spLocks noGrp="1"/>
          </p:cNvSpPr>
          <p:nvPr/>
        </p:nvSpPr>
        <p:spPr>
          <a:xfrm>
            <a:off x="5952649" y="2695099"/>
            <a:ext cx="953" cy="953"/>
          </a:xfrm>
          <a:prstGeom prst="rect">
            <a:avLst/>
          </a:prstGeom>
          <a:noFill/>
          <a:ln w="0">
            <a:noFill/>
          </a:ln>
        </p:spPr>
        <p:txBody>
          <a:bodyPr/>
          <a:lstStyle/>
          <a:p>
            <a:endParaRPr lang="zh-CN" altLang="en-US"/>
          </a:p>
        </p:txBody>
      </p:sp>
      <p:cxnSp>
        <p:nvCxnSpPr>
          <p:cNvPr id="48" name="直接箭头连接符 47"/>
          <p:cNvCxnSpPr>
            <a:stCxn id="12" idx="3"/>
            <a:endCxn id="14" idx="1"/>
          </p:cNvCxnSpPr>
          <p:nvPr/>
        </p:nvCxnSpPr>
        <p:spPr>
          <a:xfrm flipH="1">
            <a:off x="5952649" y="2695576"/>
            <a:ext cx="4353878" cy="0"/>
          </a:xfrm>
          <a:prstGeom prst="straightConnector1">
            <a:avLst/>
          </a:prstGeom>
          <a:ln w="19050">
            <a:solidFill>
              <a:srgbClr val="506577"/>
            </a:solidFill>
          </a:ln>
        </p:spPr>
      </p:cxnSp>
      <p:cxnSp>
        <p:nvCxnSpPr>
          <p:cNvPr id="49" name="直接箭头连接符 48"/>
          <p:cNvCxnSpPr>
            <a:stCxn id="14" idx="3"/>
            <a:endCxn id="9" idx="0"/>
          </p:cNvCxnSpPr>
          <p:nvPr/>
        </p:nvCxnSpPr>
        <p:spPr>
          <a:xfrm>
            <a:off x="5953602" y="2695576"/>
            <a:ext cx="4285" cy="514350"/>
          </a:xfrm>
          <a:prstGeom prst="straightConnector1">
            <a:avLst/>
          </a:prstGeom>
          <a:ln w="19050">
            <a:solidFill>
              <a:srgbClr val="506577"/>
            </a:solidFill>
            <a:tailEnd type="triangle" w="sm" len="sm"/>
          </a:ln>
        </p:spPr>
      </p:cxnSp>
      <p:cxnSp>
        <p:nvCxnSpPr>
          <p:cNvPr id="50" name="肘形连接符 49"/>
          <p:cNvCxnSpPr>
            <a:stCxn id="6" idx="2"/>
            <a:endCxn id="10" idx="0"/>
          </p:cNvCxnSpPr>
          <p:nvPr/>
        </p:nvCxnSpPr>
        <p:spPr>
          <a:xfrm flipH="1">
            <a:off x="10039350" y="2152650"/>
            <a:ext cx="271463" cy="1057275"/>
          </a:xfrm>
          <a:prstGeom prst="bentConnector4">
            <a:avLst>
              <a:gd name="adj1" fmla="val 0"/>
              <a:gd name="adj2" fmla="val 21622"/>
            </a:avLst>
          </a:prstGeom>
          <a:ln w="19050">
            <a:solidFill>
              <a:srgbClr val="506577"/>
            </a:solidFill>
            <a:tailEnd type="triangle" w="sm" len="sm"/>
          </a:ln>
        </p:spPr>
      </p:cxnSp>
      <p:cxnSp>
        <p:nvCxnSpPr>
          <p:cNvPr id="51" name="肘形连接符 50"/>
          <p:cNvCxnSpPr>
            <a:stCxn id="11" idx="0"/>
            <a:endCxn id="10" idx="2"/>
          </p:cNvCxnSpPr>
          <p:nvPr/>
        </p:nvCxnSpPr>
        <p:spPr>
          <a:xfrm flipH="1" flipV="1">
            <a:off x="10039350" y="3952875"/>
            <a:ext cx="95250" cy="276225"/>
          </a:xfrm>
          <a:prstGeom prst="bentConnector4">
            <a:avLst>
              <a:gd name="adj1" fmla="val 0"/>
              <a:gd name="adj2" fmla="val 50000"/>
            </a:avLst>
          </a:prstGeom>
          <a:ln w="19050">
            <a:solidFill>
              <a:srgbClr val="B96D20"/>
            </a:solidFill>
            <a:tailEnd type="triangle" w="sm" len="sm"/>
          </a:ln>
        </p:spPr>
      </p:cxnSp>
      <p:sp>
        <p:nvSpPr>
          <p:cNvPr id="19" name="text-101"/>
          <p:cNvSpPr>
            <a:spLocks noGrp="1"/>
          </p:cNvSpPr>
          <p:nvPr/>
        </p:nvSpPr>
        <p:spPr>
          <a:xfrm>
            <a:off x="590550" y="3324225"/>
            <a:ext cx="2857500" cy="952500"/>
          </a:xfrm>
          <a:prstGeom prst="rect">
            <a:avLst/>
          </a:prstGeom>
          <a:noFill/>
          <a:ln w="0">
            <a:noFill/>
          </a:ln>
        </p:spPr>
        <p:txBody>
          <a:bodyPr wrap="square" lIns="0" tIns="0" rIns="0" bIns="0" anchor="t">
            <a:noAutofit/>
          </a:bodyPr>
          <a:lstStyle/>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Evaluate each component</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using pulse periodicity</a:t>
            </a:r>
          </a:p>
          <a:p>
            <a:pPr algn="l">
              <a:defRPr sz="1650" b="0">
                <a:solidFill>
                  <a:srgbClr val="152C3F"/>
                </a:solidFill>
                <a:latin typeface="DejaVu Sans" panose="020B0603030804020204"/>
                <a:ea typeface="DejaVu Sans" panose="020B0603030804020204"/>
                <a:cs typeface="DejaVu Sans" panose="020B0603030804020204"/>
              </a:defRPr>
            </a:pPr>
            <a:r>
              <a:rPr sz="1650" b="0">
                <a:solidFill>
                  <a:srgbClr val="152C3F"/>
                </a:solidFill>
                <a:latin typeface="DejaVu Sans" panose="020B0603030804020204"/>
                <a:ea typeface="DejaVu Sans" panose="020B0603030804020204"/>
                <a:cs typeface="DejaVu Sans" panose="020B0603030804020204"/>
              </a:rPr>
              <a:t>and motion association.</a:t>
            </a:r>
          </a:p>
        </p:txBody>
      </p:sp>
      <p:sp>
        <p:nvSpPr>
          <p:cNvPr id="20" name="workflow-102"/>
          <p:cNvSpPr>
            <a:spLocks noGrp="1"/>
          </p:cNvSpPr>
          <p:nvPr/>
        </p:nvSpPr>
        <p:spPr>
          <a:xfrm>
            <a:off x="4191000" y="4876800"/>
            <a:ext cx="3981450" cy="619125"/>
          </a:xfrm>
          <a:prstGeom prst="rect">
            <a:avLst/>
          </a:prstGeom>
          <a:solidFill>
            <a:srgbClr val="F2EFF7"/>
          </a:solidFill>
          <a:ln w="16193">
            <a:solidFill>
              <a:srgbClr val="7056A8"/>
            </a:solidFill>
          </a:ln>
        </p:spPr>
        <p:txBody>
          <a:bodyPr lIns="95250" tIns="76200" rIns="95250" bIns="76200" anchor="ctr">
            <a:noAutofit/>
          </a:bodyPr>
          <a:lstStyle/>
          <a:p>
            <a:pPr algn="ctr">
              <a:defRPr sz="1500">
                <a:solidFill>
                  <a:srgbClr val="7056A8"/>
                </a:solidFill>
                <a:latin typeface="DejaVu Sans" panose="020B0603030804020204"/>
                <a:ea typeface="DejaVu Sans" panose="020B0603030804020204"/>
                <a:cs typeface="DejaVu Sans" panose="020B0603030804020204"/>
              </a:defRPr>
            </a:pPr>
            <a:r>
              <a:rPr sz="1500">
                <a:solidFill>
                  <a:srgbClr val="7056A8"/>
                </a:solidFill>
                <a:latin typeface="DejaVu Sans" panose="020B0603030804020204"/>
                <a:ea typeface="DejaVu Sans" panose="020B0603030804020204"/>
                <a:cs typeface="DejaVu Sans" panose="020B0603030804020204"/>
              </a:rPr>
              <a:t>Select j* = argmax(Cⱼ −0.25Rⱼ)</a:t>
            </a:r>
          </a:p>
        </p:txBody>
      </p:sp>
      <p:sp>
        <p:nvSpPr>
          <p:cNvPr id="21" name="workflow-103"/>
          <p:cNvSpPr>
            <a:spLocks noGrp="1"/>
          </p:cNvSpPr>
          <p:nvPr/>
        </p:nvSpPr>
        <p:spPr>
          <a:xfrm>
            <a:off x="9029700" y="4876800"/>
            <a:ext cx="2543175" cy="619125"/>
          </a:xfrm>
          <a:prstGeom prst="rect">
            <a:avLst/>
          </a:prstGeom>
          <a:solidFill>
            <a:srgbClr val="ECF4F6"/>
          </a:solidFill>
          <a:ln w="16193">
            <a:solidFill>
              <a:srgbClr val="087E8B"/>
            </a:solidFill>
          </a:ln>
        </p:spPr>
        <p:txBody>
          <a:bodyPr lIns="95250" tIns="76200" rIns="95250" bIns="76200" anchor="ctr">
            <a:noAutofit/>
          </a:bodyPr>
          <a:lstStyle/>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Project back to RED / IR</a:t>
            </a:r>
          </a:p>
          <a:p>
            <a:pPr algn="ctr">
              <a:defRPr sz="1500">
                <a:solidFill>
                  <a:srgbClr val="087E8B"/>
                </a:solidFill>
                <a:latin typeface="DejaVu Sans" panose="020B0603030804020204"/>
                <a:ea typeface="DejaVu Sans" panose="020B0603030804020204"/>
                <a:cs typeface="DejaVu Sans" panose="020B0603030804020204"/>
              </a:defRPr>
            </a:pPr>
            <a:r>
              <a:rPr sz="1500">
                <a:solidFill>
                  <a:srgbClr val="087E8B"/>
                </a:solidFill>
                <a:latin typeface="DejaVu Sans" panose="020B0603030804020204"/>
                <a:ea typeface="DejaVu Sans" panose="020B0603030804020204"/>
                <a:cs typeface="DejaVu Sans" panose="020B0603030804020204"/>
              </a:rPr>
              <a:t>X̂ = sⱼ* aⱼ*ᵀ + mean(X)</a:t>
            </a:r>
          </a:p>
        </p:txBody>
      </p:sp>
      <p:cxnSp>
        <p:nvCxnSpPr>
          <p:cNvPr id="55" name="肘形连接符 54"/>
          <p:cNvCxnSpPr>
            <a:stCxn id="9" idx="2"/>
            <a:endCxn id="20" idx="0"/>
          </p:cNvCxnSpPr>
          <p:nvPr/>
        </p:nvCxnSpPr>
        <p:spPr>
          <a:xfrm>
            <a:off x="5957888" y="3952875"/>
            <a:ext cx="223838" cy="923925"/>
          </a:xfrm>
          <a:prstGeom prst="bentConnector4">
            <a:avLst>
              <a:gd name="adj1" fmla="val 0"/>
              <a:gd name="adj2" fmla="val 50000"/>
            </a:avLst>
          </a:prstGeom>
          <a:ln w="19050">
            <a:solidFill>
              <a:srgbClr val="506577"/>
            </a:solidFill>
            <a:tailEnd type="triangle" w="sm" len="sm"/>
          </a:ln>
        </p:spPr>
      </p:cxnSp>
      <p:sp>
        <p:nvSpPr>
          <p:cNvPr id="23" name="矩形 22"/>
          <p:cNvSpPr>
            <a:spLocks noGrp="1"/>
          </p:cNvSpPr>
          <p:nvPr/>
        </p:nvSpPr>
        <p:spPr>
          <a:xfrm>
            <a:off x="8143399" y="3580924"/>
            <a:ext cx="953" cy="953"/>
          </a:xfrm>
          <a:prstGeom prst="rect">
            <a:avLst/>
          </a:prstGeom>
          <a:noFill/>
          <a:ln w="0">
            <a:noFill/>
          </a:ln>
        </p:spPr>
        <p:txBody>
          <a:bodyPr/>
          <a:lstStyle/>
          <a:p>
            <a:endParaRPr lang="zh-CN" altLang="en-US"/>
          </a:p>
        </p:txBody>
      </p:sp>
      <p:cxnSp>
        <p:nvCxnSpPr>
          <p:cNvPr id="57" name="直接箭头连接符 56"/>
          <p:cNvCxnSpPr>
            <a:stCxn id="10" idx="1"/>
            <a:endCxn id="23" idx="1"/>
          </p:cNvCxnSpPr>
          <p:nvPr/>
        </p:nvCxnSpPr>
        <p:spPr>
          <a:xfrm flipH="1">
            <a:off x="8143399" y="3581400"/>
            <a:ext cx="371951" cy="0"/>
          </a:xfrm>
          <a:prstGeom prst="straightConnector1">
            <a:avLst/>
          </a:prstGeom>
          <a:ln w="19050">
            <a:solidFill>
              <a:srgbClr val="B96D20"/>
            </a:solidFill>
          </a:ln>
        </p:spPr>
      </p:cxnSp>
      <p:sp>
        <p:nvSpPr>
          <p:cNvPr id="25" name="矩形 24"/>
          <p:cNvSpPr>
            <a:spLocks noGrp="1"/>
          </p:cNvSpPr>
          <p:nvPr/>
        </p:nvSpPr>
        <p:spPr>
          <a:xfrm>
            <a:off x="8143399" y="4561999"/>
            <a:ext cx="953" cy="953"/>
          </a:xfrm>
          <a:prstGeom prst="rect">
            <a:avLst/>
          </a:prstGeom>
          <a:noFill/>
          <a:ln w="0">
            <a:noFill/>
          </a:ln>
        </p:spPr>
        <p:txBody>
          <a:bodyPr/>
          <a:lstStyle/>
          <a:p>
            <a:endParaRPr lang="zh-CN" altLang="en-US"/>
          </a:p>
        </p:txBody>
      </p:sp>
      <p:cxnSp>
        <p:nvCxnSpPr>
          <p:cNvPr id="59" name="直接箭头连接符 58"/>
          <p:cNvCxnSpPr>
            <a:stCxn id="23" idx="3"/>
            <a:endCxn id="25" idx="1"/>
          </p:cNvCxnSpPr>
          <p:nvPr/>
        </p:nvCxnSpPr>
        <p:spPr>
          <a:xfrm flipH="1">
            <a:off x="8143399" y="3581401"/>
            <a:ext cx="953" cy="981075"/>
          </a:xfrm>
          <a:prstGeom prst="straightConnector1">
            <a:avLst/>
          </a:prstGeom>
          <a:ln w="19050">
            <a:solidFill>
              <a:srgbClr val="B96D20"/>
            </a:solidFill>
          </a:ln>
        </p:spPr>
      </p:cxnSp>
      <p:sp>
        <p:nvSpPr>
          <p:cNvPr id="27" name="矩形 26"/>
          <p:cNvSpPr>
            <a:spLocks noGrp="1"/>
          </p:cNvSpPr>
          <p:nvPr/>
        </p:nvSpPr>
        <p:spPr>
          <a:xfrm>
            <a:off x="6181249" y="4561999"/>
            <a:ext cx="953" cy="953"/>
          </a:xfrm>
          <a:prstGeom prst="rect">
            <a:avLst/>
          </a:prstGeom>
          <a:noFill/>
          <a:ln w="0">
            <a:noFill/>
          </a:ln>
        </p:spPr>
        <p:txBody>
          <a:bodyPr/>
          <a:lstStyle/>
          <a:p>
            <a:endParaRPr lang="zh-CN" altLang="en-US"/>
          </a:p>
        </p:txBody>
      </p:sp>
      <p:cxnSp>
        <p:nvCxnSpPr>
          <p:cNvPr id="61" name="直接箭头连接符 60"/>
          <p:cNvCxnSpPr>
            <a:stCxn id="25" idx="3"/>
            <a:endCxn id="27" idx="1"/>
          </p:cNvCxnSpPr>
          <p:nvPr/>
        </p:nvCxnSpPr>
        <p:spPr>
          <a:xfrm flipH="1">
            <a:off x="6181249" y="4562476"/>
            <a:ext cx="1963103" cy="0"/>
          </a:xfrm>
          <a:prstGeom prst="straightConnector1">
            <a:avLst/>
          </a:prstGeom>
          <a:ln w="19050">
            <a:solidFill>
              <a:srgbClr val="B96D20"/>
            </a:solidFill>
          </a:ln>
        </p:spPr>
      </p:cxnSp>
      <p:cxnSp>
        <p:nvCxnSpPr>
          <p:cNvPr id="62" name="直接箭头连接符 61"/>
          <p:cNvCxnSpPr>
            <a:stCxn id="27" idx="3"/>
            <a:endCxn id="20" idx="0"/>
          </p:cNvCxnSpPr>
          <p:nvPr/>
        </p:nvCxnSpPr>
        <p:spPr>
          <a:xfrm flipH="1">
            <a:off x="6181725" y="4562476"/>
            <a:ext cx="477" cy="314325"/>
          </a:xfrm>
          <a:prstGeom prst="straightConnector1">
            <a:avLst/>
          </a:prstGeom>
          <a:ln w="19050">
            <a:solidFill>
              <a:srgbClr val="B96D20"/>
            </a:solidFill>
            <a:tailEnd type="triangle" w="sm" len="sm"/>
          </a:ln>
        </p:spPr>
      </p:cxnSp>
      <p:cxnSp>
        <p:nvCxnSpPr>
          <p:cNvPr id="63" name="直接箭头连接符 62"/>
          <p:cNvCxnSpPr>
            <a:stCxn id="20" idx="3"/>
            <a:endCxn id="21" idx="1"/>
          </p:cNvCxnSpPr>
          <p:nvPr/>
        </p:nvCxnSpPr>
        <p:spPr>
          <a:xfrm>
            <a:off x="8172450" y="5186363"/>
            <a:ext cx="857250" cy="0"/>
          </a:xfrm>
          <a:prstGeom prst="straightConnector1">
            <a:avLst/>
          </a:prstGeom>
          <a:ln w="19050">
            <a:solidFill>
              <a:srgbClr val="506577"/>
            </a:solidFill>
            <a:tailEnd type="triangle" w="sm" len="sm"/>
          </a:ln>
        </p:spPr>
      </p:cxnSp>
      <p:sp>
        <p:nvSpPr>
          <p:cNvPr id="31" name="text-104"/>
          <p:cNvSpPr>
            <a:spLocks noGrp="1"/>
          </p:cNvSpPr>
          <p:nvPr/>
        </p:nvSpPr>
        <p:spPr>
          <a:xfrm>
            <a:off x="571500" y="5581650"/>
            <a:ext cx="3695700" cy="323850"/>
          </a:xfrm>
          <a:prstGeom prst="rect">
            <a:avLst/>
          </a:prstGeom>
          <a:noFill/>
          <a:ln w="0">
            <a:noFill/>
          </a:ln>
        </p:spPr>
        <p:txBody>
          <a:bodyPr wrap="square" lIns="0" tIns="0" rIns="0" bIns="0" anchor="t">
            <a:noAutofit/>
          </a:bodyPr>
          <a:lstStyle/>
          <a:p>
            <a:pPr algn="l">
              <a:defRPr sz="1575" b="1">
                <a:solidFill>
                  <a:srgbClr val="152C3F"/>
                </a:solidFill>
                <a:latin typeface="DejaVu Sans" panose="020B0603030804020204"/>
                <a:ea typeface="DejaVu Sans" panose="020B0603030804020204"/>
                <a:cs typeface="DejaVu Sans" panose="020B0603030804020204"/>
              </a:defRPr>
            </a:pPr>
            <a:r>
              <a:rPr sz="1575" b="1">
                <a:solidFill>
                  <a:srgbClr val="152C3F"/>
                </a:solidFill>
                <a:latin typeface="DejaVu Sans" panose="020B0603030804020204"/>
                <a:ea typeface="DejaVu Sans" panose="020B0603030804020204"/>
                <a:cs typeface="DejaVu Sans" panose="020B0603030804020204"/>
              </a:rPr>
              <a:t>Other evaluated BSS methods</a:t>
            </a:r>
          </a:p>
        </p:txBody>
      </p:sp>
      <p:sp>
        <p:nvSpPr>
          <p:cNvPr id="32" name="text-105"/>
          <p:cNvSpPr>
            <a:spLocks noGrp="1"/>
          </p:cNvSpPr>
          <p:nvPr/>
        </p:nvSpPr>
        <p:spPr>
          <a:xfrm>
            <a:off x="4191000" y="5619750"/>
            <a:ext cx="7381875" cy="295275"/>
          </a:xfrm>
          <a:prstGeom prst="rect">
            <a:avLst/>
          </a:prstGeom>
          <a:noFill/>
          <a:ln w="0">
            <a:noFill/>
          </a:ln>
        </p:spPr>
        <p:txBody>
          <a:bodyPr wrap="square" lIns="0" tIns="0" rIns="0" bIns="0" anchor="t">
            <a:noAutofit/>
          </a:bodyPr>
          <a:lstStyle/>
          <a:p>
            <a:pPr algn="l">
              <a:defRPr sz="1425" b="0">
                <a:solidFill>
                  <a:srgbClr val="506577"/>
                </a:solidFill>
                <a:latin typeface="DejaVu Sans" panose="020B0603030804020204"/>
                <a:ea typeface="DejaVu Sans" panose="020B0603030804020204"/>
                <a:cs typeface="DejaVu Sans" panose="020B0603030804020204"/>
              </a:defRPr>
            </a:pPr>
            <a:r>
              <a:rPr sz="1425" b="0">
                <a:solidFill>
                  <a:srgbClr val="506577"/>
                </a:solidFill>
                <a:latin typeface="DejaVu Sans" panose="020B0603030804020204"/>
                <a:ea typeface="DejaVu Sans" panose="020B0603030804020204"/>
                <a:cs typeface="DejaVu Sans" panose="020B0603030804020204"/>
              </a:rPr>
              <a:t>FastICA: independence     Spectral NMF: nonnegative spectral factors</a:t>
            </a:r>
          </a:p>
        </p:txBody>
      </p:sp>
      <p:sp>
        <p:nvSpPr>
          <p:cNvPr id="33" name="text-106"/>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FastICA = fast independent component analysis; NMF = nonnegative matrix factorization. Thesis §3.3.5.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100"/>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Feature-matrix kernels move through time</a:t>
            </a:r>
          </a:p>
        </p:txBody>
      </p:sp>
      <p:sp>
        <p:nvSpPr>
          <p:cNvPr id="2" name="text-101"/>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FEATURE MATRIX · DIMENSIONS AND SUPPORT</a:t>
            </a:r>
          </a:p>
        </p:txBody>
      </p:sp>
      <p:sp>
        <p:nvSpPr>
          <p:cNvPr id="3" name="text-102"/>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50</a:t>
            </a:r>
          </a:p>
        </p:txBody>
      </p:sp>
      <p:sp>
        <p:nvSpPr>
          <p:cNvPr id="4" name="text-103"/>
          <p:cNvSpPr>
            <a:spLocks noGrp="1"/>
          </p:cNvSpPr>
          <p:nvPr/>
        </p:nvSpPr>
        <p:spPr>
          <a:xfrm>
            <a:off x="571500" y="1371600"/>
            <a:ext cx="11049000" cy="476250"/>
          </a:xfrm>
          <a:prstGeom prst="rect">
            <a:avLst/>
          </a:prstGeom>
          <a:noFill/>
          <a:ln w="0">
            <a:noFill/>
          </a:ln>
        </p:spPr>
        <p:txBody>
          <a:bodyPr wrap="square" lIns="0" tIns="0" rIns="0" bIns="0" anchor="t">
            <a:noAutofit/>
          </a:bodyPr>
          <a:lstStyle/>
          <a:p>
            <a:pPr algn="l">
              <a:defRPr sz="2175" b="1">
                <a:solidFill>
                  <a:srgbClr val="087E8B"/>
                </a:solidFill>
                <a:latin typeface="DejaVu Sans" panose="020B0603030804020204"/>
                <a:ea typeface="DejaVu Sans" panose="020B0603030804020204"/>
                <a:cs typeface="DejaVu Sans" panose="020B0603030804020204"/>
              </a:defRPr>
            </a:pPr>
            <a:r>
              <a:rPr sz="2175" b="1">
                <a:solidFill>
                  <a:srgbClr val="087E8B"/>
                </a:solidFill>
                <a:latin typeface="DejaVu Sans" panose="020B0603030804020204"/>
                <a:ea typeface="DejaVu Sans" panose="020B0603030804020204"/>
                <a:cs typeface="DejaVu Sans" panose="020B0603030804020204"/>
              </a:rPr>
              <a:t>Display: K windows × 146 features     →     Network: batch × 146 × K</a:t>
            </a:r>
          </a:p>
        </p:txBody>
      </p:sp>
      <p:graphicFrame>
        <p:nvGraphicFramePr>
          <p:cNvPr id="15" name="表格 14"/>
          <p:cNvGraphicFramePr/>
          <p:nvPr/>
        </p:nvGraphicFramePr>
        <p:xfrm>
          <a:off x="571500" y="2124075"/>
          <a:ext cx="7048500" cy="2659380"/>
        </p:xfrm>
        <a:graphic>
          <a:graphicData uri="http://schemas.openxmlformats.org/drawingml/2006/table">
            <a:tbl>
              <a:tblPr/>
              <a:tblGrid>
                <a:gridCol w="2590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97205">
                <a:tc>
                  <a:txBody>
                    <a:bodyPr/>
                    <a:lstStyle/>
                    <a:p>
                      <a:pPr algn="l"/>
                      <a:r>
                        <a:rPr sz="1575" b="1">
                          <a:solidFill>
                            <a:srgbClr val="FFFFFF"/>
                          </a:solidFill>
                          <a:latin typeface="DejaVu Sans" panose="020B0603030804020204"/>
                          <a:ea typeface="DejaVu Sans" panose="020B0603030804020204"/>
                          <a:cs typeface="DejaVu Sans" panose="020B0603030804020204"/>
                        </a:rPr>
                        <a:t>Feature channel</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Window 1</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Window 2</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Window 3</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a:t>
                      </a:r>
                    </a:p>
                  </a:txBody>
                  <a:tcPr marL="114300" marR="114300" marT="95250" marB="95250" anchor="ctr">
                    <a:solidFill>
                      <a:srgbClr val="152C3F"/>
                    </a:solidFill>
                  </a:tcPr>
                </a:tc>
                <a:extLst>
                  <a:ext uri="{0D108BD9-81ED-4DB2-BD59-A6C34878D82A}">
                    <a16:rowId xmlns:a16="http://schemas.microsoft.com/office/drawing/2014/main" val="10000"/>
                  </a:ext>
                </a:extLst>
              </a:tr>
              <a:tr h="497205">
                <a:tc>
                  <a:txBody>
                    <a:bodyPr/>
                    <a:lstStyle/>
                    <a:p>
                      <a:pPr algn="l"/>
                      <a:r>
                        <a:rPr sz="1575" b="0">
                          <a:solidFill>
                            <a:srgbClr val="152C3F"/>
                          </a:solidFill>
                          <a:latin typeface="DejaVu Sans" panose="020B0603030804020204"/>
                          <a:ea typeface="DejaVu Sans" panose="020B0603030804020204"/>
                          <a:cs typeface="DejaVu Sans" panose="020B0603030804020204"/>
                        </a:rPr>
                        <a:t>PPI descriptor</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x₁,₁</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x₁,₂</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x₁,₃</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a:t>
                      </a:r>
                    </a:p>
                  </a:txBody>
                  <a:tcPr marL="114300" marR="114300" marT="95250" marB="95250" anchor="ctr">
                    <a:solidFill>
                      <a:srgbClr val="FFFFFF"/>
                    </a:solidFill>
                  </a:tcPr>
                </a:tc>
                <a:extLst>
                  <a:ext uri="{0D108BD9-81ED-4DB2-BD59-A6C34878D82A}">
                    <a16:rowId xmlns:a16="http://schemas.microsoft.com/office/drawing/2014/main" val="10001"/>
                  </a:ext>
                </a:extLst>
              </a:tr>
              <a:tr h="497205">
                <a:tc>
                  <a:txBody>
                    <a:bodyPr/>
                    <a:lstStyle/>
                    <a:p>
                      <a:pPr algn="l"/>
                      <a:r>
                        <a:rPr sz="1575" b="0">
                          <a:solidFill>
                            <a:srgbClr val="152C3F"/>
                          </a:solidFill>
                          <a:latin typeface="DejaVu Sans" panose="020B0603030804020204"/>
                          <a:ea typeface="DejaVu Sans" panose="020B0603030804020204"/>
                          <a:cs typeface="DejaVu Sans" panose="020B0603030804020204"/>
                        </a:rPr>
                        <a:t>Pulse-shape descriptor</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x₂,₁</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x₂,₂</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x₂,₃</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a:t>
                      </a:r>
                    </a:p>
                  </a:txBody>
                  <a:tcPr marL="114300" marR="114300" marT="95250" marB="95250" anchor="ctr">
                    <a:solidFill>
                      <a:srgbClr val="F4F6F8"/>
                    </a:solidFill>
                  </a:tcPr>
                </a:tc>
                <a:extLst>
                  <a:ext uri="{0D108BD9-81ED-4DB2-BD59-A6C34878D82A}">
                    <a16:rowId xmlns:a16="http://schemas.microsoft.com/office/drawing/2014/main" val="10002"/>
                  </a:ext>
                </a:extLst>
              </a:tr>
              <a:tr h="497205">
                <a:tc>
                  <a:txBody>
                    <a:bodyPr/>
                    <a:lstStyle/>
                    <a:p>
                      <a:pPr algn="l"/>
                      <a:r>
                        <a:rPr sz="1575" b="0">
                          <a:solidFill>
                            <a:srgbClr val="152C3F"/>
                          </a:solidFill>
                          <a:latin typeface="DejaVu Sans" panose="020B0603030804020204"/>
                          <a:ea typeface="DejaVu Sans" panose="020B0603030804020204"/>
                          <a:cs typeface="DejaVu Sans" panose="020B0603030804020204"/>
                        </a:rPr>
                        <a:t>IMU descriptor</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x₃,₁</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x₃,₂</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x₃,₃</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a:t>
                      </a:r>
                    </a:p>
                  </a:txBody>
                  <a:tcPr marL="114300" marR="114300" marT="95250" marB="95250" anchor="ctr">
                    <a:solidFill>
                      <a:srgbClr val="FFFFFF"/>
                    </a:solidFill>
                  </a:tcPr>
                </a:tc>
                <a:extLst>
                  <a:ext uri="{0D108BD9-81ED-4DB2-BD59-A6C34878D82A}">
                    <a16:rowId xmlns:a16="http://schemas.microsoft.com/office/drawing/2014/main" val="10003"/>
                  </a:ext>
                </a:extLst>
              </a:tr>
              <a:tr h="497205">
                <a:tc>
                  <a:txBody>
                    <a:bodyPr/>
                    <a:lstStyle/>
                    <a:p>
                      <a:pPr algn="l"/>
                      <a:r>
                        <a:rPr sz="1575" b="0">
                          <a:solidFill>
                            <a:srgbClr val="152C3F"/>
                          </a:solidFill>
                          <a:latin typeface="DejaVu Sans" panose="020B0603030804020204"/>
                          <a:ea typeface="DejaVu Sans" panose="020B0603030804020204"/>
                          <a:cs typeface="DejaVu Sans" panose="020B0603030804020204"/>
                        </a:rPr>
                        <a:t>… 146 channels</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a:t>
                      </a:r>
                    </a:p>
                  </a:txBody>
                  <a:tcPr marL="114300" marR="114300" marT="95250" marB="95250" anchor="ctr">
                    <a:solidFill>
                      <a:srgbClr val="F4F6F8"/>
                    </a:solidFill>
                  </a:tcPr>
                </a:tc>
                <a:extLst>
                  <a:ext uri="{0D108BD9-81ED-4DB2-BD59-A6C34878D82A}">
                    <a16:rowId xmlns:a16="http://schemas.microsoft.com/office/drawing/2014/main" val="10004"/>
                  </a:ext>
                </a:extLst>
              </a:tr>
            </a:tbl>
          </a:graphicData>
        </a:graphic>
      </p:graphicFrame>
      <p:sp>
        <p:nvSpPr>
          <p:cNvPr id="6" name="text-104"/>
          <p:cNvSpPr>
            <a:spLocks noGrp="1"/>
          </p:cNvSpPr>
          <p:nvPr/>
        </p:nvSpPr>
        <p:spPr>
          <a:xfrm>
            <a:off x="571500" y="4819650"/>
            <a:ext cx="7096125" cy="609600"/>
          </a:xfrm>
          <a:prstGeom prst="rect">
            <a:avLst/>
          </a:prstGeom>
          <a:noFill/>
          <a:ln w="0">
            <a:noFill/>
          </a:ln>
        </p:spPr>
        <p:txBody>
          <a:bodyPr wrap="square" lIns="0" tIns="0" rIns="0" bIns="0" anchor="t">
            <a:noAutofit/>
          </a:bodyPr>
          <a:lstStyle/>
          <a:p>
            <a:pPr algn="l">
              <a:defRPr sz="1725" b="1">
                <a:solidFill>
                  <a:srgbClr val="087E8B"/>
                </a:solidFill>
                <a:latin typeface="DejaVu Sans" panose="020B0603030804020204"/>
                <a:ea typeface="DejaVu Sans" panose="020B0603030804020204"/>
                <a:cs typeface="DejaVu Sans" panose="020B0603030804020204"/>
              </a:defRPr>
            </a:pPr>
            <a:r>
              <a:rPr sz="1725" b="1">
                <a:solidFill>
                  <a:srgbClr val="087E8B"/>
                </a:solidFill>
                <a:latin typeface="DejaVu Sans" panose="020B0603030804020204"/>
                <a:ea typeface="DejaVu Sans" panose="020B0603030804020204"/>
                <a:cs typeface="DejaVu Sans" panose="020B0603030804020204"/>
              </a:rPr>
              <a:t>Convolution slides along K →</a:t>
            </a:r>
          </a:p>
          <a:p>
            <a:pPr algn="l">
              <a:defRPr sz="1725" b="1">
                <a:solidFill>
                  <a:srgbClr val="087E8B"/>
                </a:solidFill>
                <a:latin typeface="DejaVu Sans" panose="020B0603030804020204"/>
                <a:ea typeface="DejaVu Sans" panose="020B0603030804020204"/>
                <a:cs typeface="DejaVu Sans" panose="020B0603030804020204"/>
              </a:defRPr>
            </a:pPr>
            <a:r>
              <a:rPr sz="1725" b="1">
                <a:solidFill>
                  <a:srgbClr val="087E8B"/>
                </a:solidFill>
                <a:latin typeface="DejaVu Sans" panose="020B0603030804020204"/>
                <a:ea typeface="DejaVu Sans" panose="020B0603030804020204"/>
                <a:cs typeface="DejaVu Sans" panose="020B0603030804020204"/>
              </a:rPr>
              <a:t>Learned weights mix feature channels</a:t>
            </a:r>
          </a:p>
        </p:txBody>
      </p:sp>
      <p:sp>
        <p:nvSpPr>
          <p:cNvPr id="7" name="text-105"/>
          <p:cNvSpPr>
            <a:spLocks noGrp="1"/>
          </p:cNvSpPr>
          <p:nvPr/>
        </p:nvSpPr>
        <p:spPr>
          <a:xfrm>
            <a:off x="8096250" y="2105025"/>
            <a:ext cx="3524250" cy="809625"/>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Window duration: 10 s</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Window step: 2 s</a:t>
            </a:r>
          </a:p>
        </p:txBody>
      </p:sp>
      <p:sp>
        <p:nvSpPr>
          <p:cNvPr id="8" name="text-106"/>
          <p:cNvSpPr>
            <a:spLocks noGrp="1"/>
          </p:cNvSpPr>
          <p:nvPr/>
        </p:nvSpPr>
        <p:spPr>
          <a:xfrm>
            <a:off x="8096250" y="3133725"/>
            <a:ext cx="3524250" cy="1419225"/>
          </a:xfrm>
          <a:prstGeom prst="rect">
            <a:avLst/>
          </a:prstGeom>
          <a:noFill/>
          <a:ln w="0">
            <a:noFill/>
          </a:ln>
        </p:spPr>
        <p:txBody>
          <a:bodyPr wrap="square" lIns="0" tIns="0" rIns="0" bIns="0" anchor="t">
            <a:noAutofit/>
          </a:bodyPr>
          <a:lstStyle/>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For D ≥ 10 s:</a:t>
            </a:r>
          </a:p>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K = ⌊(D − 10)/2⌋ + 1</a:t>
            </a:r>
          </a:p>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60 s → 26 windows</a:t>
            </a:r>
          </a:p>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300 s → 146 windows</a:t>
            </a:r>
          </a:p>
        </p:txBody>
      </p:sp>
      <p:sp>
        <p:nvSpPr>
          <p:cNvPr id="9" name="text-107"/>
          <p:cNvSpPr>
            <a:spLocks noGrp="1"/>
          </p:cNvSpPr>
          <p:nvPr/>
        </p:nvSpPr>
        <p:spPr>
          <a:xfrm>
            <a:off x="8096250" y="4733925"/>
            <a:ext cx="3524250" cy="74295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Conv39: 10 + 38 × 2 = 86 s</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Small maximum: 238 s, if K permits</a:t>
            </a:r>
          </a:p>
        </p:txBody>
      </p:sp>
      <p:sp>
        <p:nvSpPr>
          <p:cNvPr id="10" name="text-108"/>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Illustrative feature matrix. K varies with recording duration; padding is excluded by the sequence mask.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8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Three optical representations</a:t>
            </a:r>
          </a:p>
        </p:txBody>
      </p:sp>
      <p:sp>
        <p:nvSpPr>
          <p:cNvPr id="2" name="text-8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SIGNAL REPRESENTATION</a:t>
            </a:r>
          </a:p>
        </p:txBody>
      </p:sp>
      <p:sp>
        <p:nvSpPr>
          <p:cNvPr id="3" name="text-8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51</a:t>
            </a:r>
          </a:p>
        </p:txBody>
      </p:sp>
      <p:sp>
        <p:nvSpPr>
          <p:cNvPr id="4" name="workflow-84"/>
          <p:cNvSpPr>
            <a:spLocks noGrp="1"/>
          </p:cNvSpPr>
          <p:nvPr/>
        </p:nvSpPr>
        <p:spPr>
          <a:xfrm>
            <a:off x="666750" y="1552575"/>
            <a:ext cx="2105025" cy="95250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Recorded RED / IR</a:t>
            </a:r>
          </a:p>
        </p:txBody>
      </p:sp>
      <p:sp>
        <p:nvSpPr>
          <p:cNvPr id="5" name="workflow-85"/>
          <p:cNvSpPr>
            <a:spLocks noGrp="1"/>
          </p:cNvSpPr>
          <p:nvPr/>
        </p:nvSpPr>
        <p:spPr>
          <a:xfrm>
            <a:off x="3333750" y="1552575"/>
            <a:ext cx="2476500" cy="95250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Repaired native</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optical signal</a:t>
            </a:r>
          </a:p>
        </p:txBody>
      </p:sp>
      <p:sp>
        <p:nvSpPr>
          <p:cNvPr id="6" name="workflow-86"/>
          <p:cNvSpPr>
            <a:spLocks noGrp="1"/>
          </p:cNvSpPr>
          <p:nvPr/>
        </p:nvSpPr>
        <p:spPr>
          <a:xfrm>
            <a:off x="3333750" y="3933825"/>
            <a:ext cx="2476500" cy="952500"/>
          </a:xfrm>
          <a:prstGeom prst="rect">
            <a:avLst/>
          </a:prstGeom>
          <a:solidFill>
            <a:srgbClr val="ECF4F6"/>
          </a:solidFill>
          <a:ln w="16193">
            <a:solidFill>
              <a:srgbClr val="087E8B"/>
            </a:solidFill>
          </a:ln>
        </p:spPr>
        <p:txBody>
          <a:bodyPr lIns="95250" tIns="76200" rIns="95250" bIns="76200" anchor="ctr">
            <a:noAutofit/>
          </a:bodyPr>
          <a:lstStyle/>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Detrended + filtered</a:t>
            </a:r>
          </a:p>
          <a:p>
            <a:pPr algn="ctr">
              <a:defRPr sz="1725">
                <a:solidFill>
                  <a:srgbClr val="087E8B"/>
                </a:solidFill>
                <a:latin typeface="DejaVu Sans" panose="020B0603030804020204"/>
                <a:ea typeface="DejaVu Sans" panose="020B0603030804020204"/>
                <a:cs typeface="DejaVu Sans" panose="020B0603030804020204"/>
              </a:defRPr>
            </a:pPr>
            <a:r>
              <a:rPr sz="1725">
                <a:solidFill>
                  <a:srgbClr val="087E8B"/>
                </a:solidFill>
                <a:latin typeface="DejaVu Sans" panose="020B0603030804020204"/>
                <a:ea typeface="DejaVu Sans" panose="020B0603030804020204"/>
                <a:cs typeface="DejaVu Sans" panose="020B0603030804020204"/>
              </a:rPr>
              <a:t>analysis signal</a:t>
            </a:r>
          </a:p>
        </p:txBody>
      </p:sp>
      <p:sp>
        <p:nvSpPr>
          <p:cNvPr id="7" name="workflow-87"/>
          <p:cNvSpPr>
            <a:spLocks noGrp="1"/>
          </p:cNvSpPr>
          <p:nvPr/>
        </p:nvSpPr>
        <p:spPr>
          <a:xfrm>
            <a:off x="7810500" y="3933825"/>
            <a:ext cx="3286125" cy="952500"/>
          </a:xfrm>
          <a:prstGeom prst="rect">
            <a:avLst/>
          </a:prstGeom>
          <a:solidFill>
            <a:srgbClr val="F2EFF7"/>
          </a:solidFill>
          <a:ln w="16193">
            <a:solidFill>
              <a:srgbClr val="7056A8"/>
            </a:solidFill>
          </a:ln>
        </p:spPr>
        <p:txBody>
          <a:bodyPr lIns="95250" tIns="76200" rIns="95250" bIns="76200" anchor="ctr">
            <a:noAutofit/>
          </a:bodyPr>
          <a:lstStyle/>
          <a:p>
            <a:pPr algn="ctr">
              <a:defRPr sz="1725">
                <a:solidFill>
                  <a:srgbClr val="7056A8"/>
                </a:solidFill>
                <a:latin typeface="DejaVu Sans" panose="020B0603030804020204"/>
                <a:ea typeface="DejaVu Sans" panose="020B0603030804020204"/>
                <a:cs typeface="DejaVu Sans" panose="020B0603030804020204"/>
              </a:defRPr>
            </a:pPr>
            <a:r>
              <a:rPr sz="1725">
                <a:solidFill>
                  <a:srgbClr val="7056A8"/>
                </a:solidFill>
                <a:latin typeface="DejaVu Sans" panose="020B0603030804020204"/>
                <a:ea typeface="DejaVu Sans" panose="020B0603030804020204"/>
                <a:cs typeface="DejaVu Sans" panose="020B0603030804020204"/>
              </a:rPr>
              <a:t>Scaled 5 s</a:t>
            </a:r>
          </a:p>
          <a:p>
            <a:pPr algn="ctr">
              <a:defRPr sz="1725">
                <a:solidFill>
                  <a:srgbClr val="7056A8"/>
                </a:solidFill>
                <a:latin typeface="DejaVu Sans" panose="020B0603030804020204"/>
                <a:ea typeface="DejaVu Sans" panose="020B0603030804020204"/>
                <a:cs typeface="DejaVu Sans" panose="020B0603030804020204"/>
              </a:defRPr>
            </a:pPr>
            <a:r>
              <a:rPr sz="1725">
                <a:solidFill>
                  <a:srgbClr val="7056A8"/>
                </a:solidFill>
                <a:latin typeface="DejaVu Sans" panose="020B0603030804020204"/>
                <a:ea typeface="DejaVu Sans" panose="020B0603030804020204"/>
                <a:cs typeface="DejaVu Sans" panose="020B0603030804020204"/>
              </a:rPr>
              <a:t>model input</a:t>
            </a:r>
          </a:p>
        </p:txBody>
      </p:sp>
      <p:cxnSp>
        <p:nvCxnSpPr>
          <p:cNvPr id="21" name="直接箭头连接符 20"/>
          <p:cNvCxnSpPr>
            <a:stCxn id="4" idx="3"/>
            <a:endCxn id="5" idx="1"/>
          </p:cNvCxnSpPr>
          <p:nvPr/>
        </p:nvCxnSpPr>
        <p:spPr>
          <a:xfrm>
            <a:off x="2771775" y="2028825"/>
            <a:ext cx="561975" cy="0"/>
          </a:xfrm>
          <a:prstGeom prst="straightConnector1">
            <a:avLst/>
          </a:prstGeom>
          <a:ln w="19050">
            <a:solidFill>
              <a:srgbClr val="506577"/>
            </a:solidFill>
            <a:tailEnd type="triangle" w="sm" len="sm"/>
          </a:ln>
        </p:spPr>
      </p:cxnSp>
      <p:cxnSp>
        <p:nvCxnSpPr>
          <p:cNvPr id="22" name="直接箭头连接符 21"/>
          <p:cNvCxnSpPr>
            <a:stCxn id="5" idx="2"/>
            <a:endCxn id="6" idx="0"/>
          </p:cNvCxnSpPr>
          <p:nvPr/>
        </p:nvCxnSpPr>
        <p:spPr>
          <a:xfrm>
            <a:off x="4572000" y="2505075"/>
            <a:ext cx="0" cy="1428750"/>
          </a:xfrm>
          <a:prstGeom prst="straightConnector1">
            <a:avLst/>
          </a:prstGeom>
          <a:ln w="19050">
            <a:solidFill>
              <a:srgbClr val="506577"/>
            </a:solidFill>
            <a:tailEnd type="triangle" w="sm" len="sm"/>
          </a:ln>
        </p:spPr>
      </p:cxnSp>
      <p:cxnSp>
        <p:nvCxnSpPr>
          <p:cNvPr id="23" name="直接箭头连接符 22"/>
          <p:cNvCxnSpPr>
            <a:stCxn id="6" idx="3"/>
            <a:endCxn id="7" idx="1"/>
          </p:cNvCxnSpPr>
          <p:nvPr/>
        </p:nvCxnSpPr>
        <p:spPr>
          <a:xfrm>
            <a:off x="5810250" y="4410075"/>
            <a:ext cx="2000250" cy="0"/>
          </a:xfrm>
          <a:prstGeom prst="straightConnector1">
            <a:avLst/>
          </a:prstGeom>
          <a:ln w="19050">
            <a:solidFill>
              <a:srgbClr val="506577"/>
            </a:solidFill>
            <a:tailEnd type="triangle" w="sm" len="sm"/>
          </a:ln>
        </p:spPr>
      </p:cxnSp>
      <p:sp>
        <p:nvSpPr>
          <p:cNvPr id="11" name="text-88"/>
          <p:cNvSpPr>
            <a:spLocks noGrp="1"/>
          </p:cNvSpPr>
          <p:nvPr/>
        </p:nvSpPr>
        <p:spPr>
          <a:xfrm>
            <a:off x="6477000" y="1676400"/>
            <a:ext cx="5191125" cy="752475"/>
          </a:xfrm>
          <a:prstGeom prst="rect">
            <a:avLst/>
          </a:prstGeom>
          <a:noFill/>
          <a:ln w="0">
            <a:noFill/>
          </a:ln>
        </p:spPr>
        <p:txBody>
          <a:bodyPr wrap="square" lIns="0" tIns="0" rIns="0" bIns="0" anchor="t">
            <a:noAutofit/>
          </a:bodyPr>
          <a:lstStyle/>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Retain acquisition-scale DC</a:t>
            </a:r>
          </a:p>
          <a:p>
            <a:pPr algn="l">
              <a:defRPr sz="1950" b="0">
                <a:solidFill>
                  <a:srgbClr val="152C3F"/>
                </a:solidFill>
                <a:latin typeface="DejaVu Sans" panose="020B0603030804020204"/>
                <a:ea typeface="DejaVu Sans" panose="020B0603030804020204"/>
                <a:cs typeface="DejaVu Sans" panose="020B0603030804020204"/>
              </a:defRPr>
            </a:pPr>
            <a:r>
              <a:rPr sz="1950" b="0">
                <a:solidFill>
                  <a:srgbClr val="152C3F"/>
                </a:solidFill>
                <a:latin typeface="DejaVu Sans" panose="020B0603030804020204"/>
                <a:ea typeface="DejaVu Sans" panose="020B0603030804020204"/>
                <a:cs typeface="DejaVu Sans" panose="020B0603030804020204"/>
              </a:rPr>
              <a:t>Direct-route MSPTDfast input</a:t>
            </a:r>
          </a:p>
        </p:txBody>
      </p:sp>
      <p:sp>
        <p:nvSpPr>
          <p:cNvPr id="12" name="text-89"/>
          <p:cNvSpPr>
            <a:spLocks noGrp="1"/>
          </p:cNvSpPr>
          <p:nvPr/>
        </p:nvSpPr>
        <p:spPr>
          <a:xfrm>
            <a:off x="647700" y="5172075"/>
            <a:ext cx="6191250" cy="695325"/>
          </a:xfrm>
          <a:prstGeom prst="rect">
            <a:avLst/>
          </a:prstGeom>
          <a:noFill/>
          <a:ln w="0">
            <a:noFill/>
          </a:ln>
        </p:spPr>
        <p:txBody>
          <a:bodyPr wrap="square" lIns="0" tIns="0" rIns="0" bIns="0" anchor="t">
            <a:noAutofit/>
          </a:bodyPr>
          <a:lstStyle/>
          <a:p>
            <a:pPr algn="l">
              <a:defRPr sz="1800" b="0">
                <a:solidFill>
                  <a:srgbClr val="087E8B"/>
                </a:solidFill>
                <a:latin typeface="DejaVu Sans" panose="020B0603030804020204"/>
                <a:ea typeface="DejaVu Sans" panose="020B0603030804020204"/>
                <a:cs typeface="DejaVu Sans" panose="020B0603030804020204"/>
              </a:defRPr>
            </a:pPr>
            <a:r>
              <a:rPr sz="1800" b="0">
                <a:solidFill>
                  <a:srgbClr val="087E8B"/>
                </a:solidFill>
                <a:latin typeface="DejaVu Sans" panose="020B0603030804020204"/>
                <a:ea typeface="DejaVu Sans" panose="020B0603030804020204"/>
                <a:cs typeface="DejaVu Sans" panose="020B0603030804020204"/>
              </a:rPr>
              <a:t>Pulse shape and amplitude</a:t>
            </a:r>
          </a:p>
          <a:p>
            <a:pPr algn="l">
              <a:defRPr sz="1800" b="0">
                <a:solidFill>
                  <a:srgbClr val="087E8B"/>
                </a:solidFill>
                <a:latin typeface="DejaVu Sans" panose="020B0603030804020204"/>
                <a:ea typeface="DejaVu Sans" panose="020B0603030804020204"/>
                <a:cs typeface="DejaVu Sans" panose="020B0603030804020204"/>
              </a:defRPr>
            </a:pPr>
            <a:r>
              <a:rPr sz="1800" b="0">
                <a:solidFill>
                  <a:srgbClr val="087E8B"/>
                </a:solidFill>
                <a:latin typeface="DejaVu Sans" panose="020B0603030804020204"/>
                <a:ea typeface="DejaVu Sans" panose="020B0603030804020204"/>
                <a:cs typeface="DejaVu Sans" panose="020B0603030804020204"/>
              </a:rPr>
              <a:t>Engineering signal features</a:t>
            </a:r>
          </a:p>
        </p:txBody>
      </p:sp>
      <p:sp>
        <p:nvSpPr>
          <p:cNvPr id="13" name="text-90"/>
          <p:cNvSpPr>
            <a:spLocks noGrp="1"/>
          </p:cNvSpPr>
          <p:nvPr/>
        </p:nvSpPr>
        <p:spPr>
          <a:xfrm>
            <a:off x="7572375" y="5172075"/>
            <a:ext cx="4095750" cy="762000"/>
          </a:xfrm>
          <a:prstGeom prst="rect">
            <a:avLst/>
          </a:prstGeom>
          <a:noFill/>
          <a:ln w="0">
            <a:noFill/>
          </a:ln>
        </p:spPr>
        <p:txBody>
          <a:bodyPr wrap="square" lIns="0" tIns="0" rIns="0" bIns="0" anchor="t">
            <a:noAutofit/>
          </a:bodyPr>
          <a:lstStyle/>
          <a:p>
            <a:pPr algn="l">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Learn waveform patterns</a:t>
            </a:r>
          </a:p>
          <a:p>
            <a:pPr algn="l">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Scale each channel within each window</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25"/>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Motion has two roles in PPG analysis</a:t>
            </a:r>
          </a:p>
        </p:txBody>
      </p:sp>
      <p:sp>
        <p:nvSpPr>
          <p:cNvPr id="2" name="text-26"/>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WHY ADD IMU?</a:t>
            </a:r>
          </a:p>
        </p:txBody>
      </p:sp>
      <p:sp>
        <p:nvSpPr>
          <p:cNvPr id="3" name="text-27"/>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52</a:t>
            </a:r>
          </a:p>
        </p:txBody>
      </p:sp>
      <p:sp>
        <p:nvSpPr>
          <p:cNvPr id="4" name="workflow-28"/>
          <p:cNvSpPr>
            <a:spLocks noGrp="1"/>
          </p:cNvSpPr>
          <p:nvPr/>
        </p:nvSpPr>
        <p:spPr>
          <a:xfrm>
            <a:off x="571500" y="2752725"/>
            <a:ext cx="2133600" cy="8572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Participant</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movement</a:t>
            </a:r>
          </a:p>
        </p:txBody>
      </p:sp>
      <p:sp>
        <p:nvSpPr>
          <p:cNvPr id="5" name="workflow-29"/>
          <p:cNvSpPr>
            <a:spLocks noGrp="1"/>
          </p:cNvSpPr>
          <p:nvPr/>
        </p:nvSpPr>
        <p:spPr>
          <a:xfrm>
            <a:off x="3524250" y="1504950"/>
            <a:ext cx="3267075" cy="8858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IMU acceleration</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and angular velocity</a:t>
            </a:r>
          </a:p>
        </p:txBody>
      </p:sp>
      <p:sp>
        <p:nvSpPr>
          <p:cNvPr id="6" name="workflow-30"/>
          <p:cNvSpPr>
            <a:spLocks noGrp="1"/>
          </p:cNvSpPr>
          <p:nvPr/>
        </p:nvSpPr>
        <p:spPr>
          <a:xfrm>
            <a:off x="7743825" y="1504950"/>
            <a:ext cx="3876675" cy="8858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Potential group information</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Task execution / movement</a:t>
            </a:r>
          </a:p>
        </p:txBody>
      </p:sp>
      <p:cxnSp>
        <p:nvCxnSpPr>
          <p:cNvPr id="23" name="肘形连接符 22"/>
          <p:cNvCxnSpPr>
            <a:stCxn id="4" idx="3"/>
            <a:endCxn id="5" idx="1"/>
          </p:cNvCxnSpPr>
          <p:nvPr/>
        </p:nvCxnSpPr>
        <p:spPr>
          <a:xfrm flipV="1">
            <a:off x="2705100" y="1947863"/>
            <a:ext cx="819150" cy="1233488"/>
          </a:xfrm>
          <a:prstGeom prst="bentConnector3">
            <a:avLst>
              <a:gd name="adj1" fmla="val 50000"/>
            </a:avLst>
          </a:prstGeom>
          <a:ln w="19050">
            <a:solidFill>
              <a:srgbClr val="506577"/>
            </a:solidFill>
            <a:tailEnd type="triangle" w="sm" len="sm"/>
          </a:ln>
        </p:spPr>
      </p:cxnSp>
      <p:cxnSp>
        <p:nvCxnSpPr>
          <p:cNvPr id="24" name="直接箭头连接符 23"/>
          <p:cNvCxnSpPr>
            <a:stCxn id="5" idx="3"/>
            <a:endCxn id="6" idx="1"/>
          </p:cNvCxnSpPr>
          <p:nvPr/>
        </p:nvCxnSpPr>
        <p:spPr>
          <a:xfrm>
            <a:off x="6791325" y="1947863"/>
            <a:ext cx="952500" cy="0"/>
          </a:xfrm>
          <a:prstGeom prst="straightConnector1">
            <a:avLst/>
          </a:prstGeom>
          <a:ln w="19050">
            <a:solidFill>
              <a:srgbClr val="506577"/>
            </a:solidFill>
            <a:tailEnd type="triangle" w="sm" len="sm"/>
          </a:ln>
        </p:spPr>
      </p:cxnSp>
      <p:sp>
        <p:nvSpPr>
          <p:cNvPr id="9" name="workflow-31"/>
          <p:cNvSpPr>
            <a:spLocks noGrp="1"/>
          </p:cNvSpPr>
          <p:nvPr/>
        </p:nvSpPr>
        <p:spPr>
          <a:xfrm>
            <a:off x="3524250" y="4000500"/>
            <a:ext cx="3267075" cy="885825"/>
          </a:xfrm>
          <a:prstGeom prst="rect">
            <a:avLst/>
          </a:prstGeom>
          <a:solidFill>
            <a:srgbClr val="FAF2E8"/>
          </a:solidFill>
          <a:ln w="16193">
            <a:solidFill>
              <a:srgbClr val="B96D20"/>
            </a:solidFill>
          </a:ln>
        </p:spPr>
        <p:txBody>
          <a:bodyPr lIns="114300" tIns="76200" rIns="114300" bIns="76200" anchor="ctr">
            <a:noAutofit/>
          </a:bodyPr>
          <a:lstStyle/>
          <a:p>
            <a:pPr algn="ctr">
              <a:defRPr sz="1725" b="0">
                <a:solidFill>
                  <a:srgbClr val="B96D20"/>
                </a:solidFill>
                <a:latin typeface="DejaVu Sans" panose="020B0603030804020204"/>
                <a:ea typeface="DejaVu Sans" panose="020B0603030804020204"/>
                <a:cs typeface="DejaVu Sans" panose="020B0603030804020204"/>
              </a:defRPr>
            </a:pPr>
            <a:r>
              <a:rPr sz="1725" b="0">
                <a:solidFill>
                  <a:srgbClr val="B96D20"/>
                </a:solidFill>
                <a:latin typeface="DejaVu Sans" panose="020B0603030804020204"/>
                <a:ea typeface="DejaVu Sans" panose="020B0603030804020204"/>
                <a:cs typeface="DejaVu Sans" panose="020B0603030804020204"/>
              </a:rPr>
              <a:t>Sensor–tissue coupling</a:t>
            </a:r>
          </a:p>
          <a:p>
            <a:pPr algn="ctr">
              <a:defRPr sz="1725" b="0">
                <a:solidFill>
                  <a:srgbClr val="B96D20"/>
                </a:solidFill>
                <a:latin typeface="DejaVu Sans" panose="020B0603030804020204"/>
                <a:ea typeface="DejaVu Sans" panose="020B0603030804020204"/>
                <a:cs typeface="DejaVu Sans" panose="020B0603030804020204"/>
              </a:defRPr>
            </a:pPr>
            <a:r>
              <a:rPr sz="1725" b="0">
                <a:solidFill>
                  <a:srgbClr val="B96D20"/>
                </a:solidFill>
                <a:latin typeface="DejaVu Sans" panose="020B0603030804020204"/>
                <a:ea typeface="DejaVu Sans" panose="020B0603030804020204"/>
                <a:cs typeface="DejaVu Sans" panose="020B0603030804020204"/>
              </a:rPr>
              <a:t>and optical disturbance</a:t>
            </a:r>
          </a:p>
        </p:txBody>
      </p:sp>
      <p:sp>
        <p:nvSpPr>
          <p:cNvPr id="10" name="workflow-32"/>
          <p:cNvSpPr>
            <a:spLocks noGrp="1"/>
          </p:cNvSpPr>
          <p:nvPr/>
        </p:nvSpPr>
        <p:spPr>
          <a:xfrm>
            <a:off x="7743825" y="4000500"/>
            <a:ext cx="3876675" cy="885825"/>
          </a:xfrm>
          <a:prstGeom prst="rect">
            <a:avLst/>
          </a:prstGeom>
          <a:solidFill>
            <a:srgbClr val="FAF2E8"/>
          </a:solidFill>
          <a:ln w="16193">
            <a:solidFill>
              <a:srgbClr val="B96D20"/>
            </a:solidFill>
          </a:ln>
        </p:spPr>
        <p:txBody>
          <a:bodyPr lIns="114300" tIns="76200" rIns="114300" bIns="76200" anchor="ctr">
            <a:noAutofit/>
          </a:bodyPr>
          <a:lstStyle/>
          <a:p>
            <a:pPr algn="ctr">
              <a:defRPr sz="1725" b="0">
                <a:solidFill>
                  <a:srgbClr val="B96D20"/>
                </a:solidFill>
                <a:latin typeface="DejaVu Sans" panose="020B0603030804020204"/>
                <a:ea typeface="DejaVu Sans" panose="020B0603030804020204"/>
                <a:cs typeface="DejaVu Sans" panose="020B0603030804020204"/>
              </a:defRPr>
            </a:pPr>
            <a:r>
              <a:rPr sz="1725" b="0">
                <a:solidFill>
                  <a:srgbClr val="B96D20"/>
                </a:solidFill>
                <a:latin typeface="DejaVu Sans" panose="020B0603030804020204"/>
                <a:ea typeface="DejaVu Sans" panose="020B0603030804020204"/>
                <a:cs typeface="DejaVu Sans" panose="020B0603030804020204"/>
              </a:rPr>
              <a:t>PPG quality</a:t>
            </a:r>
          </a:p>
          <a:p>
            <a:pPr algn="ctr">
              <a:defRPr sz="1725" b="0">
                <a:solidFill>
                  <a:srgbClr val="B96D20"/>
                </a:solidFill>
                <a:latin typeface="DejaVu Sans" panose="020B0603030804020204"/>
                <a:ea typeface="DejaVu Sans" panose="020B0603030804020204"/>
                <a:cs typeface="DejaVu Sans" panose="020B0603030804020204"/>
              </a:defRPr>
            </a:pPr>
            <a:r>
              <a:rPr sz="1725" b="0">
                <a:solidFill>
                  <a:srgbClr val="B96D20"/>
                </a:solidFill>
                <a:latin typeface="DejaVu Sans" panose="020B0603030804020204"/>
                <a:ea typeface="DejaVu Sans" panose="020B0603030804020204"/>
                <a:cs typeface="DejaVu Sans" panose="020B0603030804020204"/>
              </a:rPr>
              <a:t>and motion artefacts</a:t>
            </a:r>
          </a:p>
        </p:txBody>
      </p:sp>
      <p:cxnSp>
        <p:nvCxnSpPr>
          <p:cNvPr id="27" name="肘形连接符 26"/>
          <p:cNvCxnSpPr>
            <a:stCxn id="4" idx="3"/>
            <a:endCxn id="9" idx="1"/>
          </p:cNvCxnSpPr>
          <p:nvPr/>
        </p:nvCxnSpPr>
        <p:spPr>
          <a:xfrm>
            <a:off x="2705100" y="3181350"/>
            <a:ext cx="819150" cy="1262063"/>
          </a:xfrm>
          <a:prstGeom prst="bentConnector3">
            <a:avLst>
              <a:gd name="adj1" fmla="val 50000"/>
            </a:avLst>
          </a:prstGeom>
          <a:ln w="19050">
            <a:solidFill>
              <a:srgbClr val="B96D20"/>
            </a:solidFill>
            <a:tailEnd type="triangle" w="sm" len="sm"/>
          </a:ln>
        </p:spPr>
      </p:cxnSp>
      <p:cxnSp>
        <p:nvCxnSpPr>
          <p:cNvPr id="28" name="直接箭头连接符 27"/>
          <p:cNvCxnSpPr>
            <a:stCxn id="9" idx="3"/>
            <a:endCxn id="10" idx="1"/>
          </p:cNvCxnSpPr>
          <p:nvPr/>
        </p:nvCxnSpPr>
        <p:spPr>
          <a:xfrm>
            <a:off x="6791325" y="4443413"/>
            <a:ext cx="952500" cy="0"/>
          </a:xfrm>
          <a:prstGeom prst="straightConnector1">
            <a:avLst/>
          </a:prstGeom>
          <a:ln w="19050">
            <a:solidFill>
              <a:srgbClr val="B96D20"/>
            </a:solidFill>
            <a:tailEnd type="triangle" w="sm" len="sm"/>
          </a:ln>
        </p:spPr>
      </p:cxnSp>
      <p:cxnSp>
        <p:nvCxnSpPr>
          <p:cNvPr id="29" name="肘形连接符 28"/>
          <p:cNvCxnSpPr>
            <a:stCxn id="5" idx="2"/>
            <a:endCxn id="10" idx="0"/>
          </p:cNvCxnSpPr>
          <p:nvPr/>
        </p:nvCxnSpPr>
        <p:spPr>
          <a:xfrm>
            <a:off x="5157788" y="2390775"/>
            <a:ext cx="4524375" cy="1609725"/>
          </a:xfrm>
          <a:prstGeom prst="bentConnector4">
            <a:avLst>
              <a:gd name="adj1" fmla="val 0"/>
              <a:gd name="adj2" fmla="val 85799"/>
            </a:avLst>
          </a:prstGeom>
          <a:ln w="19050">
            <a:solidFill>
              <a:srgbClr val="B96D20"/>
            </a:solidFill>
            <a:tailEnd type="triangle" w="sm" len="sm"/>
          </a:ln>
        </p:spPr>
      </p:cxnSp>
      <p:sp>
        <p:nvSpPr>
          <p:cNvPr id="14" name="text-33"/>
          <p:cNvSpPr>
            <a:spLocks noGrp="1"/>
          </p:cNvSpPr>
          <p:nvPr/>
        </p:nvSpPr>
        <p:spPr>
          <a:xfrm>
            <a:off x="7067550" y="3009900"/>
            <a:ext cx="4191000" cy="323850"/>
          </a:xfrm>
          <a:prstGeom prst="rect">
            <a:avLst/>
          </a:prstGeom>
          <a:noFill/>
          <a:ln w="0">
            <a:noFill/>
          </a:ln>
        </p:spPr>
        <p:txBody>
          <a:bodyPr wrap="square" lIns="0" tIns="0" rIns="0" bIns="0" anchor="t">
            <a:noAutofit/>
          </a:bodyPr>
          <a:lstStyle/>
          <a:p>
            <a:pPr algn="l">
              <a:defRPr sz="1575" b="0">
                <a:solidFill>
                  <a:srgbClr val="B96D20"/>
                </a:solidFill>
                <a:latin typeface="DejaVu Sans" panose="020B0603030804020204"/>
                <a:ea typeface="DejaVu Sans" panose="020B0603030804020204"/>
                <a:cs typeface="DejaVu Sans" panose="020B0603030804020204"/>
              </a:defRPr>
            </a:pPr>
            <a:r>
              <a:rPr sz="1575" b="0">
                <a:solidFill>
                  <a:srgbClr val="B96D20"/>
                </a:solidFill>
                <a:latin typeface="DejaVu Sans" panose="020B0603030804020204"/>
                <a:ea typeface="DejaVu Sans" panose="020B0603030804020204"/>
                <a:cs typeface="DejaVu Sans" panose="020B0603030804020204"/>
              </a:rPr>
              <a:t>Motion context / reference</a:t>
            </a:r>
          </a:p>
        </p:txBody>
      </p:sp>
      <p:sp>
        <p:nvSpPr>
          <p:cNvPr id="15" name="text-34"/>
          <p:cNvSpPr>
            <a:spLocks noGrp="1"/>
          </p:cNvSpPr>
          <p:nvPr/>
        </p:nvSpPr>
        <p:spPr>
          <a:xfrm>
            <a:off x="571500" y="5276850"/>
            <a:ext cx="10953750" cy="600075"/>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Pulse analysis: assess or suppress contamination.</a:t>
            </a:r>
          </a:p>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Classification: movement may also carry useful information.</a:t>
            </a:r>
          </a:p>
        </p:txBody>
      </p:sp>
      <p:sp>
        <p:nvSpPr>
          <p:cNvPr id="16" name="text-35"/>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Age, task execution and contact can contribute. A joint prediction does not isolate an independent IMU or PPG effect.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72"/>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Quality requirements depend on the endpoint</a:t>
            </a:r>
          </a:p>
        </p:txBody>
      </p:sp>
      <p:sp>
        <p:nvSpPr>
          <p:cNvPr id="2" name="text-73"/>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OPTIONAL SIGNAL ANALYSIS</a:t>
            </a:r>
          </a:p>
        </p:txBody>
      </p:sp>
      <p:sp>
        <p:nvSpPr>
          <p:cNvPr id="3" name="text-74"/>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53</a:t>
            </a:r>
          </a:p>
        </p:txBody>
      </p:sp>
      <p:sp>
        <p:nvSpPr>
          <p:cNvPr id="4" name="workflow-75"/>
          <p:cNvSpPr>
            <a:spLocks noGrp="1"/>
          </p:cNvSpPr>
          <p:nvPr/>
        </p:nvSpPr>
        <p:spPr>
          <a:xfrm>
            <a:off x="666750" y="1428750"/>
            <a:ext cx="5238750" cy="85725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PPG periodicity + RED/IR agreement</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IMU motion information</a:t>
            </a:r>
          </a:p>
        </p:txBody>
      </p:sp>
      <p:sp>
        <p:nvSpPr>
          <p:cNvPr id="5" name="workflow-76"/>
          <p:cNvSpPr>
            <a:spLocks noGrp="1"/>
          </p:cNvSpPr>
          <p:nvPr/>
        </p:nvSpPr>
        <p:spPr>
          <a:xfrm>
            <a:off x="857250" y="2952750"/>
            <a:ext cx="2333625" cy="8096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Rate quality</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Q_rate</a:t>
            </a:r>
          </a:p>
        </p:txBody>
      </p:sp>
      <p:sp>
        <p:nvSpPr>
          <p:cNvPr id="6" name="workflow-77"/>
          <p:cNvSpPr>
            <a:spLocks noGrp="1"/>
          </p:cNvSpPr>
          <p:nvPr/>
        </p:nvSpPr>
        <p:spPr>
          <a:xfrm>
            <a:off x="3667125" y="2952750"/>
            <a:ext cx="2333625" cy="809625"/>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Shape quality</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Q_morph</a:t>
            </a:r>
          </a:p>
        </p:txBody>
      </p:sp>
      <p:cxnSp>
        <p:nvCxnSpPr>
          <p:cNvPr id="23" name="肘形连接符 22"/>
          <p:cNvCxnSpPr>
            <a:stCxn id="4" idx="2"/>
            <a:endCxn id="5" idx="0"/>
          </p:cNvCxnSpPr>
          <p:nvPr/>
        </p:nvCxnSpPr>
        <p:spPr>
          <a:xfrm flipH="1">
            <a:off x="2024063" y="2286000"/>
            <a:ext cx="1262063" cy="666750"/>
          </a:xfrm>
          <a:prstGeom prst="bentConnector4">
            <a:avLst>
              <a:gd name="adj1" fmla="val 0"/>
              <a:gd name="adj2" fmla="val 50000"/>
            </a:avLst>
          </a:prstGeom>
          <a:ln w="19050">
            <a:solidFill>
              <a:srgbClr val="506577"/>
            </a:solidFill>
            <a:tailEnd type="triangle" w="sm" len="sm"/>
          </a:ln>
        </p:spPr>
      </p:cxnSp>
      <p:cxnSp>
        <p:nvCxnSpPr>
          <p:cNvPr id="24" name="肘形连接符 23"/>
          <p:cNvCxnSpPr>
            <a:stCxn id="4" idx="2"/>
            <a:endCxn id="6" idx="0"/>
          </p:cNvCxnSpPr>
          <p:nvPr/>
        </p:nvCxnSpPr>
        <p:spPr>
          <a:xfrm>
            <a:off x="3286125" y="2286000"/>
            <a:ext cx="1547813" cy="666750"/>
          </a:xfrm>
          <a:prstGeom prst="bentConnector4">
            <a:avLst>
              <a:gd name="adj1" fmla="val 0"/>
              <a:gd name="adj2" fmla="val 50000"/>
            </a:avLst>
          </a:prstGeom>
          <a:ln w="19050">
            <a:solidFill>
              <a:srgbClr val="506577"/>
            </a:solidFill>
            <a:tailEnd type="triangle" w="sm" len="sm"/>
          </a:ln>
        </p:spPr>
      </p:cxnSp>
      <p:sp>
        <p:nvSpPr>
          <p:cNvPr id="9" name="workflow-78"/>
          <p:cNvSpPr>
            <a:spLocks noGrp="1"/>
          </p:cNvSpPr>
          <p:nvPr/>
        </p:nvSpPr>
        <p:spPr>
          <a:xfrm>
            <a:off x="857250" y="4562475"/>
            <a:ext cx="2333625" cy="76200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Pulse timing / PRV</a:t>
            </a:r>
          </a:p>
        </p:txBody>
      </p:sp>
      <p:sp>
        <p:nvSpPr>
          <p:cNvPr id="10" name="workflow-79"/>
          <p:cNvSpPr>
            <a:spLocks noGrp="1"/>
          </p:cNvSpPr>
          <p:nvPr/>
        </p:nvSpPr>
        <p:spPr>
          <a:xfrm>
            <a:off x="3667125" y="4562475"/>
            <a:ext cx="2333625" cy="76200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Pulse morphology</a:t>
            </a:r>
          </a:p>
        </p:txBody>
      </p:sp>
      <p:cxnSp>
        <p:nvCxnSpPr>
          <p:cNvPr id="27" name="直接箭头连接符 26"/>
          <p:cNvCxnSpPr>
            <a:stCxn id="5" idx="2"/>
            <a:endCxn id="9" idx="0"/>
          </p:cNvCxnSpPr>
          <p:nvPr/>
        </p:nvCxnSpPr>
        <p:spPr>
          <a:xfrm>
            <a:off x="2024063" y="3762375"/>
            <a:ext cx="0" cy="800100"/>
          </a:xfrm>
          <a:prstGeom prst="straightConnector1">
            <a:avLst/>
          </a:prstGeom>
          <a:ln w="19050">
            <a:solidFill>
              <a:srgbClr val="506577"/>
            </a:solidFill>
            <a:tailEnd type="triangle" w="sm" len="sm"/>
          </a:ln>
        </p:spPr>
      </p:cxnSp>
      <p:cxnSp>
        <p:nvCxnSpPr>
          <p:cNvPr id="28" name="直接箭头连接符 27"/>
          <p:cNvCxnSpPr>
            <a:stCxn id="6" idx="2"/>
            <a:endCxn id="10" idx="0"/>
          </p:cNvCxnSpPr>
          <p:nvPr/>
        </p:nvCxnSpPr>
        <p:spPr>
          <a:xfrm>
            <a:off x="4833938" y="3762375"/>
            <a:ext cx="0" cy="800100"/>
          </a:xfrm>
          <a:prstGeom prst="straightConnector1">
            <a:avLst/>
          </a:prstGeom>
          <a:ln w="19050">
            <a:solidFill>
              <a:srgbClr val="506577"/>
            </a:solidFill>
            <a:tailEnd type="triangle" w="sm" len="sm"/>
          </a:ln>
        </p:spPr>
      </p:cxnSp>
      <p:sp>
        <p:nvSpPr>
          <p:cNvPr id="13" name="text-80"/>
          <p:cNvSpPr>
            <a:spLocks noGrp="1"/>
          </p:cNvSpPr>
          <p:nvPr/>
        </p:nvSpPr>
        <p:spPr>
          <a:xfrm>
            <a:off x="7019925" y="1562100"/>
            <a:ext cx="4476750" cy="428625"/>
          </a:xfrm>
          <a:prstGeom prst="rect">
            <a:avLst/>
          </a:prstGeom>
          <a:noFill/>
          <a:ln w="0">
            <a:noFill/>
          </a:ln>
        </p:spPr>
        <p:txBody>
          <a:bodyPr wrap="square" lIns="0" tIns="0" rIns="0" bIns="0" anchor="t">
            <a:noAutofit/>
          </a:bodyPr>
          <a:lstStyle/>
          <a:p>
            <a:pPr algn="l">
              <a:defRPr sz="2100" b="1">
                <a:solidFill>
                  <a:srgbClr val="B96D20"/>
                </a:solidFill>
                <a:latin typeface="DejaVu Sans" panose="020B0603030804020204"/>
                <a:ea typeface="DejaVu Sans" panose="020B0603030804020204"/>
                <a:cs typeface="DejaVu Sans" panose="020B0603030804020204"/>
              </a:defRPr>
            </a:pPr>
            <a:r>
              <a:rPr sz="2100" b="1">
                <a:solidFill>
                  <a:srgbClr val="B96D20"/>
                </a:solidFill>
                <a:latin typeface="DejaVu Sans" panose="020B0603030804020204"/>
                <a:ea typeface="DejaVu Sans" panose="020B0603030804020204"/>
                <a:cs typeface="DejaVu Sans" panose="020B0603030804020204"/>
              </a:rPr>
              <a:t>Optional motion detector</a:t>
            </a:r>
          </a:p>
        </p:txBody>
      </p:sp>
      <p:sp>
        <p:nvSpPr>
          <p:cNvPr id="14" name="text-81"/>
          <p:cNvSpPr>
            <a:spLocks noGrp="1"/>
          </p:cNvSpPr>
          <p:nvPr/>
        </p:nvSpPr>
        <p:spPr>
          <a:xfrm>
            <a:off x="7048500" y="2190750"/>
            <a:ext cx="4314825" cy="1619250"/>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LightCNN: 8 × 3200 samples</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8 s windows, 2 s stride</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3 convolution blocks</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Motion probability</a:t>
            </a:r>
          </a:p>
        </p:txBody>
      </p:sp>
      <p:sp>
        <p:nvSpPr>
          <p:cNvPr id="15" name="text-82"/>
          <p:cNvSpPr>
            <a:spLocks noGrp="1"/>
          </p:cNvSpPr>
          <p:nvPr/>
        </p:nvSpPr>
        <p:spPr>
          <a:xfrm>
            <a:off x="7048500" y="4305300"/>
            <a:ext cx="4286250" cy="790575"/>
          </a:xfrm>
          <a:prstGeom prst="rect">
            <a:avLst/>
          </a:prstGeom>
          <a:noFill/>
          <a:ln w="0">
            <a:noFill/>
          </a:ln>
        </p:spPr>
        <p:txBody>
          <a:bodyPr wrap="square" lIns="0" tIns="0" rIns="0" bIns="0" anchor="t">
            <a:noAutofit/>
          </a:bodyPr>
          <a:lstStyle/>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Poor segments can enter</a:t>
            </a:r>
          </a:p>
          <a:p>
            <a:pPr algn="l">
              <a:defRPr sz="1875" b="0">
                <a:solidFill>
                  <a:srgbClr val="152C3F"/>
                </a:solidFill>
                <a:latin typeface="DejaVu Sans" panose="020B0603030804020204"/>
                <a:ea typeface="DejaVu Sans" panose="020B0603030804020204"/>
                <a:cs typeface="DejaVu Sans" panose="020B0603030804020204"/>
              </a:defRPr>
            </a:pPr>
            <a:r>
              <a:rPr sz="1875" b="0">
                <a:solidFill>
                  <a:srgbClr val="152C3F"/>
                </a:solidFill>
                <a:latin typeface="DejaVu Sans" panose="020B0603030804020204"/>
                <a:ea typeface="DejaVu Sans" panose="020B0603030804020204"/>
                <a:cs typeface="DejaVu Sans" panose="020B0603030804020204"/>
              </a:rPr>
              <a:t>artefact processing or be excluded</a:t>
            </a:r>
          </a:p>
        </p:txBody>
      </p:sp>
      <p:sp>
        <p:nvSpPr>
          <p:cNvPr id="16" name="text-83"/>
          <p:cNvSpPr>
            <a:spLocks noGrp="1"/>
          </p:cNvSpPr>
          <p:nvPr/>
        </p:nvSpPr>
        <p:spPr>
          <a:xfrm>
            <a:off x="571500" y="5829300"/>
            <a:ext cx="10953750" cy="457200"/>
          </a:xfrm>
          <a:prstGeom prst="rect">
            <a:avLst/>
          </a:prstGeom>
          <a:noFill/>
          <a:ln w="0">
            <a:noFill/>
          </a:ln>
        </p:spPr>
        <p:txBody>
          <a:bodyPr wrap="square" lIns="0" tIns="0" rIns="0" bIns="0" anchor="t">
            <a:noAutofit/>
          </a:bodyPr>
          <a:lstStyle/>
          <a:p>
            <a:pPr algn="l">
              <a:defRPr sz="1575" b="0">
                <a:solidFill>
                  <a:srgbClr val="506577"/>
                </a:solidFill>
                <a:latin typeface="DejaVu Sans" panose="020B0603030804020204"/>
                <a:ea typeface="DejaVu Sans" panose="020B0603030804020204"/>
                <a:cs typeface="DejaVu Sans" panose="020B0603030804020204"/>
              </a:defRPr>
            </a:pPr>
            <a:r>
              <a:rPr sz="1575" b="0">
                <a:solidFill>
                  <a:srgbClr val="506577"/>
                </a:solidFill>
                <a:latin typeface="DejaVu Sans" panose="020B0603030804020204"/>
                <a:ea typeface="DejaVu Sans" panose="020B0603030804020204"/>
                <a:cs typeface="DejaVu Sans" panose="020B0603030804020204"/>
              </a:rPr>
              <a:t>SQI, the motion detector and denoising are all disabled in the final classification preset.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109"/>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Numerical handling depends on the representation</a:t>
            </a:r>
          </a:p>
        </p:txBody>
      </p:sp>
      <p:sp>
        <p:nvSpPr>
          <p:cNvPr id="2" name="text-110"/>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FEATURE VALUES · SCALING AND MISSINGNESS</a:t>
            </a:r>
          </a:p>
        </p:txBody>
      </p:sp>
      <p:sp>
        <p:nvSpPr>
          <p:cNvPr id="3" name="text-111"/>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54</a:t>
            </a:r>
          </a:p>
        </p:txBody>
      </p:sp>
      <p:graphicFrame>
        <p:nvGraphicFramePr>
          <p:cNvPr id="10" name="表格 9"/>
          <p:cNvGraphicFramePr/>
          <p:nvPr/>
        </p:nvGraphicFramePr>
        <p:xfrm>
          <a:off x="571500" y="1466850"/>
          <a:ext cx="11049000" cy="3722370"/>
        </p:xfrm>
        <a:graphic>
          <a:graphicData uri="http://schemas.openxmlformats.org/drawingml/2006/table">
            <a:tbl>
              <a:tblPr/>
              <a:tblGrid>
                <a:gridCol w="2238375">
                  <a:extLst>
                    <a:ext uri="{9D8B030D-6E8A-4147-A177-3AD203B41FA5}">
                      <a16:colId xmlns:a16="http://schemas.microsoft.com/office/drawing/2014/main" val="20000"/>
                    </a:ext>
                  </a:extLst>
                </a:gridCol>
                <a:gridCol w="4705350">
                  <a:extLst>
                    <a:ext uri="{9D8B030D-6E8A-4147-A177-3AD203B41FA5}">
                      <a16:colId xmlns:a16="http://schemas.microsoft.com/office/drawing/2014/main" val="20001"/>
                    </a:ext>
                  </a:extLst>
                </a:gridCol>
                <a:gridCol w="4105275">
                  <a:extLst>
                    <a:ext uri="{9D8B030D-6E8A-4147-A177-3AD203B41FA5}">
                      <a16:colId xmlns:a16="http://schemas.microsoft.com/office/drawing/2014/main" val="20002"/>
                    </a:ext>
                  </a:extLst>
                </a:gridCol>
              </a:tblGrid>
              <a:tr h="702945">
                <a:tc>
                  <a:txBody>
                    <a:bodyPr/>
                    <a:lstStyle/>
                    <a:p>
                      <a:pPr algn="l"/>
                      <a:r>
                        <a:rPr sz="1575" b="1">
                          <a:solidFill>
                            <a:srgbClr val="FFFFFF"/>
                          </a:solidFill>
                          <a:latin typeface="DejaVu Sans" panose="020B0603030804020204"/>
                          <a:ea typeface="DejaVu Sans" panose="020B0603030804020204"/>
                          <a:cs typeface="DejaVu Sans" panose="020B0603030804020204"/>
                        </a:rPr>
                        <a:t>Input</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Model-facing transformation</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Value / validity constraint</a:t>
                      </a:r>
                    </a:p>
                  </a:txBody>
                  <a:tcPr marL="114300" marR="114300" marT="95250" marB="95250" anchor="ctr">
                    <a:solidFill>
                      <a:srgbClr val="152C3F"/>
                    </a:solidFill>
                  </a:tcPr>
                </a:tc>
                <a:extLst>
                  <a:ext uri="{0D108BD9-81ED-4DB2-BD59-A6C34878D82A}">
                    <a16:rowId xmlns:a16="http://schemas.microsoft.com/office/drawing/2014/main" val="10000"/>
                  </a:ext>
                </a:extLst>
              </a:tr>
              <a:tr h="702945">
                <a:tc>
                  <a:txBody>
                    <a:bodyPr/>
                    <a:lstStyle/>
                    <a:p>
                      <a:pPr algn="l"/>
                      <a:r>
                        <a:rPr sz="1575" b="0">
                          <a:solidFill>
                            <a:srgbClr val="152C3F"/>
                          </a:solidFill>
                          <a:latin typeface="DejaVu Sans" panose="020B0603030804020204"/>
                          <a:ea typeface="DejaVu Sans" panose="020B0603030804020204"/>
                          <a:cs typeface="DejaVu Sans" panose="020B0603030804020204"/>
                        </a:rPr>
                        <a:t>Waveform input</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Per-window median; IQR / 1.349</a:t>
                      </a:r>
                    </a:p>
                    <a:p>
                      <a:pPr algn="ctr"/>
                      <a:r>
                        <a:rPr sz="1575" b="0">
                          <a:solidFill>
                            <a:srgbClr val="152C3F"/>
                          </a:solidFill>
                          <a:latin typeface="DejaVu Sans" panose="020B0603030804020204"/>
                          <a:ea typeface="DejaVu Sans" panose="020B0603030804020204"/>
                          <a:cs typeface="DejaVu Sans" panose="020B0603030804020204"/>
                        </a:rPr>
                        <a:t>All 8 channels; clip before resampling</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Clip ±8 before resampling</a:t>
                      </a:r>
                    </a:p>
                    <a:p>
                      <a:pPr algn="ctr"/>
                      <a:r>
                        <a:rPr sz="1575" b="0">
                          <a:solidFill>
                            <a:srgbClr val="152C3F"/>
                          </a:solidFill>
                          <a:latin typeface="DejaVu Sans" panose="020B0603030804020204"/>
                          <a:ea typeface="DejaVu Sans" panose="020B0603030804020204"/>
                          <a:cs typeface="DejaVu Sans" panose="020B0603030804020204"/>
                        </a:rPr>
                        <a:t>Resampling may slightly overshoot</a:t>
                      </a:r>
                    </a:p>
                  </a:txBody>
                  <a:tcPr marL="114300" marR="114300" marT="95250" marB="95250" anchor="ctr">
                    <a:solidFill>
                      <a:srgbClr val="FFFFFF"/>
                    </a:solidFill>
                  </a:tcPr>
                </a:tc>
                <a:extLst>
                  <a:ext uri="{0D108BD9-81ED-4DB2-BD59-A6C34878D82A}">
                    <a16:rowId xmlns:a16="http://schemas.microsoft.com/office/drawing/2014/main" val="10001"/>
                  </a:ext>
                </a:extLst>
              </a:tr>
              <a:tr h="702945">
                <a:tc>
                  <a:txBody>
                    <a:bodyPr/>
                    <a:lstStyle/>
                    <a:p>
                      <a:pPr algn="l"/>
                      <a:r>
                        <a:rPr sz="1575" b="0">
                          <a:solidFill>
                            <a:srgbClr val="152C3F"/>
                          </a:solidFill>
                          <a:latin typeface="DejaVu Sans" panose="020B0603030804020204"/>
                          <a:ea typeface="DejaVu Sans" panose="020B0603030804020204"/>
                          <a:cs typeface="DejaVu Sans" panose="020B0603030804020204"/>
                        </a:rPr>
                        <a:t>146-channel matrix</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Per-feature training median; IQR / 1.349</a:t>
                      </a:r>
                    </a:p>
                    <a:p>
                      <a:pPr algn="ctr"/>
                      <a:r>
                        <a:rPr sz="1575" b="0">
                          <a:solidFill>
                            <a:srgbClr val="152C3F"/>
                          </a:solidFill>
                          <a:latin typeface="DejaVu Sans" panose="020B0603030804020204"/>
                          <a:ea typeface="DejaVu Sans" panose="020B0603030804020204"/>
                          <a:cs typeface="DejaVu Sans" panose="020B0603030804020204"/>
                        </a:rPr>
                        <a:t>Invalid cells → 0; time mask retained</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No clipping; no universal range</a:t>
                      </a:r>
                    </a:p>
                    <a:p>
                      <a:pPr algn="ctr"/>
                      <a:r>
                        <a:rPr sz="1575" b="0">
                          <a:solidFill>
                            <a:srgbClr val="152C3F"/>
                          </a:solidFill>
                          <a:latin typeface="DejaVu Sans" panose="020B0603030804020204"/>
                          <a:ea typeface="DejaVu Sans" panose="020B0603030804020204"/>
                          <a:cs typeface="DejaVu Sans" panose="020B0603030804020204"/>
                        </a:rPr>
                        <a:t>Per-cell validity is not appended</a:t>
                      </a:r>
                    </a:p>
                  </a:txBody>
                  <a:tcPr marL="114300" marR="114300" marT="95250" marB="95250" anchor="ctr">
                    <a:solidFill>
                      <a:srgbClr val="F4F6F8"/>
                    </a:solidFill>
                  </a:tcPr>
                </a:tc>
                <a:extLst>
                  <a:ext uri="{0D108BD9-81ED-4DB2-BD59-A6C34878D82A}">
                    <a16:rowId xmlns:a16="http://schemas.microsoft.com/office/drawing/2014/main" val="10002"/>
                  </a:ext>
                </a:extLst>
              </a:tr>
              <a:tr h="702945">
                <a:tc>
                  <a:txBody>
                    <a:bodyPr/>
                    <a:lstStyle/>
                    <a:p>
                      <a:pPr algn="l"/>
                      <a:r>
                        <a:rPr sz="1575" b="0">
                          <a:solidFill>
                            <a:srgbClr val="152C3F"/>
                          </a:solidFill>
                          <a:latin typeface="DejaVu Sans" panose="020B0603030804020204"/>
                          <a:ea typeface="DejaVu Sans" panose="020B0603030804020204"/>
                          <a:cs typeface="DejaVu Sans" panose="020B0603030804020204"/>
                        </a:rPr>
                        <a:t>Fusion vector</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Training median / IQR; MAD fallback</a:t>
                      </a:r>
                    </a:p>
                    <a:p>
                      <a:pPr algn="ctr"/>
                      <a:r>
                        <a:rPr sz="1575" b="0">
                          <a:solidFill>
                            <a:srgbClr val="152C3F"/>
                          </a:solidFill>
                          <a:latin typeface="DejaVu Sans" panose="020B0603030804020204"/>
                          <a:ea typeface="DejaVu Sans" panose="020B0603030804020204"/>
                          <a:cs typeface="DejaVu Sans" panose="020B0603030804020204"/>
                        </a:rPr>
                        <a:t>282 values + 282 validity indicators</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564 inputs; no clipping</a:t>
                      </a:r>
                    </a:p>
                    <a:p>
                      <a:pPr algn="ctr"/>
                      <a:r>
                        <a:rPr sz="1575" b="0">
                          <a:solidFill>
                            <a:srgbClr val="152C3F"/>
                          </a:solidFill>
                          <a:latin typeface="DejaVu Sans" panose="020B0603030804020204"/>
                          <a:ea typeface="DejaVu Sans" panose="020B0603030804020204"/>
                          <a:cs typeface="DejaVu Sans" panose="020B0603030804020204"/>
                        </a:rPr>
                        <a:t>Missing: value 0 and indicator 0</a:t>
                      </a:r>
                    </a:p>
                  </a:txBody>
                  <a:tcPr marL="114300" marR="114300" marT="95250" marB="95250" anchor="ctr">
                    <a:solidFill>
                      <a:srgbClr val="FFFFFF"/>
                    </a:solidFill>
                  </a:tcPr>
                </a:tc>
                <a:extLst>
                  <a:ext uri="{0D108BD9-81ED-4DB2-BD59-A6C34878D82A}">
                    <a16:rowId xmlns:a16="http://schemas.microsoft.com/office/drawing/2014/main" val="10003"/>
                  </a:ext>
                </a:extLst>
              </a:tr>
              <a:tr h="702945">
                <a:tc>
                  <a:txBody>
                    <a:bodyPr/>
                    <a:lstStyle/>
                    <a:p>
                      <a:pPr algn="l"/>
                      <a:r>
                        <a:rPr sz="1575" b="0">
                          <a:solidFill>
                            <a:srgbClr val="152C3F"/>
                          </a:solidFill>
                          <a:latin typeface="DejaVu Sans" panose="020B0603030804020204"/>
                          <a:ea typeface="DejaVu Sans" panose="020B0603030804020204"/>
                          <a:cs typeface="DejaVu Sans" panose="020B0603030804020204"/>
                        </a:rPr>
                        <a:t>Logistic / support vector machine (SVM)</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Training median imputation</a:t>
                      </a:r>
                    </a:p>
                    <a:p>
                      <a:pPr algn="ctr"/>
                      <a:r>
                        <a:rPr sz="1575" b="0">
                          <a:solidFill>
                            <a:srgbClr val="152C3F"/>
                          </a:solidFill>
                          <a:latin typeface="DejaVu Sans" panose="020B0603030804020204"/>
                          <a:ea typeface="DejaVu Sans" panose="020B0603030804020204"/>
                          <a:cs typeface="DejaVu Sans" panose="020B0603030804020204"/>
                        </a:rPr>
                        <a:t>StandardScaler</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Feature-specific scaling</a:t>
                      </a:r>
                    </a:p>
                    <a:p>
                      <a:pPr algn="ctr"/>
                      <a:r>
                        <a:rPr sz="1575" b="0">
                          <a:solidFill>
                            <a:srgbClr val="152C3F"/>
                          </a:solidFill>
                          <a:latin typeface="DejaVu Sans" panose="020B0603030804020204"/>
                          <a:ea typeface="DejaVu Sans" panose="020B0603030804020204"/>
                          <a:cs typeface="DejaVu Sans" panose="020B0603030804020204"/>
                        </a:rPr>
                        <a:t>ExtraTrees only imputes</a:t>
                      </a:r>
                    </a:p>
                  </a:txBody>
                  <a:tcPr marL="114300" marR="114300" marT="95250" marB="95250" anchor="ctr">
                    <a:solidFill>
                      <a:srgbClr val="F4F6F8"/>
                    </a:solidFill>
                  </a:tcPr>
                </a:tc>
                <a:extLst>
                  <a:ext uri="{0D108BD9-81ED-4DB2-BD59-A6C34878D82A}">
                    <a16:rowId xmlns:a16="http://schemas.microsoft.com/office/drawing/2014/main" val="10004"/>
                  </a:ext>
                </a:extLst>
              </a:tr>
            </a:tbl>
          </a:graphicData>
        </a:graphic>
      </p:graphicFrame>
      <p:sp>
        <p:nvSpPr>
          <p:cNvPr id="5" name="text-112"/>
          <p:cNvSpPr>
            <a:spLocks noGrp="1"/>
          </p:cNvSpPr>
          <p:nvPr/>
        </p:nvSpPr>
        <p:spPr>
          <a:xfrm>
            <a:off x="571500" y="5267325"/>
            <a:ext cx="10953750" cy="581025"/>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Features include timing, bpm, optical amplitude, acceleration in g, angular velocity in °/s, powers and ratios.</a:t>
            </a:r>
          </a:p>
        </p:txBody>
      </p:sp>
      <p:sp>
        <p:nvSpPr>
          <p:cNvPr id="6" name="text-113"/>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MAD = median absolute deviation. Scaling parameters are fitted on training participants only.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161"/>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Representations and models compared</a:t>
            </a:r>
          </a:p>
        </p:txBody>
      </p:sp>
      <p:sp>
        <p:nvSpPr>
          <p:cNvPr id="2" name="text-162"/>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CLASSIFICATION CONTEXT</a:t>
            </a:r>
          </a:p>
        </p:txBody>
      </p:sp>
      <p:sp>
        <p:nvSpPr>
          <p:cNvPr id="3" name="text-163"/>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55</a:t>
            </a:r>
          </a:p>
        </p:txBody>
      </p:sp>
      <p:graphicFrame>
        <p:nvGraphicFramePr>
          <p:cNvPr id="11" name="表格 10"/>
          <p:cNvGraphicFramePr/>
          <p:nvPr/>
        </p:nvGraphicFramePr>
        <p:xfrm>
          <a:off x="571500" y="1628775"/>
          <a:ext cx="11049000" cy="2723198"/>
        </p:xfrm>
        <a:graphic>
          <a:graphicData uri="http://schemas.openxmlformats.org/drawingml/2006/table">
            <a:tbl>
              <a:tblPr/>
              <a:tblGrid>
                <a:gridCol w="381000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642938">
                <a:tc>
                  <a:txBody>
                    <a:bodyPr/>
                    <a:lstStyle/>
                    <a:p>
                      <a:pPr algn="l"/>
                      <a:r>
                        <a:rPr sz="1650" b="1">
                          <a:solidFill>
                            <a:srgbClr val="FFFFFF"/>
                          </a:solidFill>
                          <a:latin typeface="DejaVu Sans" panose="020B0603030804020204"/>
                          <a:ea typeface="DejaVu Sans" panose="020B0603030804020204"/>
                          <a:cs typeface="DejaVu Sans" panose="020B0603030804020204"/>
                        </a:rPr>
                        <a:t>Input representation</a:t>
                      </a:r>
                    </a:p>
                  </a:txBody>
                  <a:tcPr marL="114300" marR="114300" marT="95250" marB="95250" anchor="ctr">
                    <a:solidFill>
                      <a:srgbClr val="152C3F"/>
                    </a:solidFill>
                  </a:tcPr>
                </a:tc>
                <a:tc>
                  <a:txBody>
                    <a:bodyPr/>
                    <a:lstStyle/>
                    <a:p>
                      <a:pPr algn="ctr"/>
                      <a:r>
                        <a:rPr sz="1650" b="1">
                          <a:solidFill>
                            <a:srgbClr val="FFFFFF"/>
                          </a:solidFill>
                          <a:latin typeface="DejaVu Sans" panose="020B0603030804020204"/>
                          <a:ea typeface="DejaVu Sans" panose="020B0603030804020204"/>
                          <a:cs typeface="DejaVu Sans" panose="020B0603030804020204"/>
                        </a:rPr>
                        <a:t>Model family</a:t>
                      </a:r>
                    </a:p>
                  </a:txBody>
                  <a:tcPr marL="114300" marR="114300" marT="95250" marB="95250" anchor="ctr">
                    <a:solidFill>
                      <a:srgbClr val="152C3F"/>
                    </a:solidFill>
                  </a:tcPr>
                </a:tc>
                <a:tc>
                  <a:txBody>
                    <a:bodyPr/>
                    <a:lstStyle/>
                    <a:p>
                      <a:pPr algn="ctr"/>
                      <a:r>
                        <a:rPr sz="1650" b="1">
                          <a:solidFill>
                            <a:srgbClr val="FFFFFF"/>
                          </a:solidFill>
                          <a:latin typeface="DejaVu Sans" panose="020B0603030804020204"/>
                          <a:ea typeface="DejaVu Sans" panose="020B0603030804020204"/>
                          <a:cs typeface="DejaVu Sans" panose="020B0603030804020204"/>
                        </a:rPr>
                        <a:t>Role in the study</a:t>
                      </a:r>
                    </a:p>
                  </a:txBody>
                  <a:tcPr marL="114300" marR="114300" marT="95250" marB="95250" anchor="ctr">
                    <a:solidFill>
                      <a:srgbClr val="152C3F"/>
                    </a:solidFill>
                  </a:tcPr>
                </a:tc>
                <a:extLst>
                  <a:ext uri="{0D108BD9-81ED-4DB2-BD59-A6C34878D82A}">
                    <a16:rowId xmlns:a16="http://schemas.microsoft.com/office/drawing/2014/main" val="10000"/>
                  </a:ext>
                </a:extLst>
              </a:tr>
              <a:tr h="642938">
                <a:tc>
                  <a:txBody>
                    <a:bodyPr/>
                    <a:lstStyle/>
                    <a:p>
                      <a:pPr algn="l"/>
                      <a:r>
                        <a:rPr sz="1650" b="0">
                          <a:solidFill>
                            <a:srgbClr val="152C3F"/>
                          </a:solidFill>
                          <a:latin typeface="DejaVu Sans" panose="020B0603030804020204"/>
                          <a:ea typeface="DejaVu Sans" panose="020B0603030804020204"/>
                          <a:cs typeface="DejaVu Sans" panose="020B0603030804020204"/>
                        </a:rPr>
                        <a:t>Engineered feature vector / matrix</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Feature models / sequence encoder</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Interpretable comparison</a:t>
                      </a:r>
                    </a:p>
                  </a:txBody>
                  <a:tcPr marL="114300" marR="114300" marT="95250" marB="95250" anchor="ctr">
                    <a:solidFill>
                      <a:srgbClr val="FFFFFF"/>
                    </a:solidFill>
                  </a:tcPr>
                </a:tc>
                <a:extLst>
                  <a:ext uri="{0D108BD9-81ED-4DB2-BD59-A6C34878D82A}">
                    <a16:rowId xmlns:a16="http://schemas.microsoft.com/office/drawing/2014/main" val="10001"/>
                  </a:ext>
                </a:extLst>
              </a:tr>
              <a:tr h="642938">
                <a:tc>
                  <a:txBody>
                    <a:bodyPr/>
                    <a:lstStyle/>
                    <a:p>
                      <a:pPr algn="l"/>
                      <a:r>
                        <a:rPr sz="1650" b="0">
                          <a:solidFill>
                            <a:srgbClr val="152C3F"/>
                          </a:solidFill>
                          <a:latin typeface="DejaVu Sans" panose="020B0603030804020204"/>
                          <a:ea typeface="DejaVu Sans" panose="020B0603030804020204"/>
                          <a:cs typeface="DejaVu Sans" panose="020B0603030804020204"/>
                        </a:rPr>
                        <a:t>Waveform + engineered features</a:t>
                      </a:r>
                    </a:p>
                  </a:txBody>
                  <a:tcPr marL="114300" marR="114300" marT="95250" marB="95250" anchor="ctr">
                    <a:solidFill>
                      <a:srgbClr val="F4F6F8"/>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Signal encoder + multilayer perceptron (MLP)</a:t>
                      </a:r>
                    </a:p>
                  </a:txBody>
                  <a:tcPr marL="114300" marR="114300" marT="95250" marB="95250" anchor="ctr">
                    <a:solidFill>
                      <a:srgbClr val="F4F6F8"/>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Fusion comparison</a:t>
                      </a:r>
                    </a:p>
                  </a:txBody>
                  <a:tcPr marL="114300" marR="114300" marT="95250" marB="95250" anchor="ctr">
                    <a:solidFill>
                      <a:srgbClr val="F4F6F8"/>
                    </a:solidFill>
                  </a:tcPr>
                </a:tc>
                <a:extLst>
                  <a:ext uri="{0D108BD9-81ED-4DB2-BD59-A6C34878D82A}">
                    <a16:rowId xmlns:a16="http://schemas.microsoft.com/office/drawing/2014/main" val="10002"/>
                  </a:ext>
                </a:extLst>
              </a:tr>
              <a:tr h="642938">
                <a:tc>
                  <a:txBody>
                    <a:bodyPr/>
                    <a:lstStyle/>
                    <a:p>
                      <a:pPr algn="l"/>
                      <a:r>
                        <a:rPr sz="1650" b="0">
                          <a:solidFill>
                            <a:srgbClr val="152C3F"/>
                          </a:solidFill>
                          <a:latin typeface="DejaVu Sans" panose="020B0603030804020204"/>
                          <a:ea typeface="DejaVu Sans" panose="020B0603030804020204"/>
                          <a:cs typeface="DejaVu Sans" panose="020B0603030804020204"/>
                        </a:rPr>
                        <a:t>8-channel waveform windows</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1D-CNN / InceptionTime / ShapeFormer</a:t>
                      </a:r>
                    </a:p>
                  </a:txBody>
                  <a:tcPr marL="114300" marR="114300" marT="95250" marB="95250" anchor="ctr">
                    <a:solidFill>
                      <a:srgbClr val="FFFFFF"/>
                    </a:solidFill>
                  </a:tcPr>
                </a:tc>
                <a:tc>
                  <a:txBody>
                    <a:bodyPr/>
                    <a:lstStyle/>
                    <a:p>
                      <a:pPr algn="ctr"/>
                      <a:r>
                        <a:rPr sz="1650" b="0">
                          <a:solidFill>
                            <a:srgbClr val="152C3F"/>
                          </a:solidFill>
                          <a:latin typeface="DejaVu Sans" panose="020B0603030804020204"/>
                          <a:ea typeface="DejaVu Sans" panose="020B0603030804020204"/>
                          <a:cs typeface="DejaVu Sans" panose="020B0603030804020204"/>
                        </a:rPr>
                        <a:t>Time-series comparison</a:t>
                      </a:r>
                    </a:p>
                  </a:txBody>
                  <a:tcPr marL="11430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5" name="workflow-164"/>
          <p:cNvSpPr>
            <a:spLocks noGrp="1"/>
          </p:cNvSpPr>
          <p:nvPr/>
        </p:nvSpPr>
        <p:spPr>
          <a:xfrm>
            <a:off x="1714500" y="4829175"/>
            <a:ext cx="3143250" cy="8572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Selected input</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8 × 320 waveform</a:t>
            </a:r>
          </a:p>
        </p:txBody>
      </p:sp>
      <p:sp>
        <p:nvSpPr>
          <p:cNvPr id="6" name="workflow-165"/>
          <p:cNvSpPr>
            <a:spLocks noGrp="1"/>
          </p:cNvSpPr>
          <p:nvPr/>
        </p:nvSpPr>
        <p:spPr>
          <a:xfrm>
            <a:off x="6762750" y="4829175"/>
            <a:ext cx="3619500" cy="8572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Small InceptionTime</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Single network</a:t>
            </a:r>
          </a:p>
        </p:txBody>
      </p:sp>
      <p:cxnSp>
        <p:nvCxnSpPr>
          <p:cNvPr id="14" name="直接箭头连接符 13"/>
          <p:cNvCxnSpPr>
            <a:stCxn id="5" idx="3"/>
            <a:endCxn id="6" idx="1"/>
          </p:cNvCxnSpPr>
          <p:nvPr/>
        </p:nvCxnSpPr>
        <p:spPr>
          <a:xfrm>
            <a:off x="4857750" y="5257800"/>
            <a:ext cx="1905000" cy="0"/>
          </a:xfrm>
          <a:prstGeom prst="straightConnector1">
            <a:avLst/>
          </a:prstGeom>
          <a:ln w="19050">
            <a:solidFill>
              <a:srgbClr val="506577"/>
            </a:solidFill>
            <a:tailEnd type="triangle" w="sm" len="sm"/>
          </a:ln>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xt-114"/>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Fusion joins two descriptions of one recording</a:t>
            </a:r>
          </a:p>
        </p:txBody>
      </p:sp>
      <p:sp>
        <p:nvSpPr>
          <p:cNvPr id="2" name="text-115"/>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MODEL ARCHITECTURE · COMPARISON ROUTE</a:t>
            </a:r>
          </a:p>
        </p:txBody>
      </p:sp>
      <p:sp>
        <p:nvSpPr>
          <p:cNvPr id="3" name="text-116"/>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56</a:t>
            </a:r>
          </a:p>
        </p:txBody>
      </p:sp>
      <p:sp>
        <p:nvSpPr>
          <p:cNvPr id="4" name="workflow-117"/>
          <p:cNvSpPr>
            <a:spLocks noGrp="1"/>
          </p:cNvSpPr>
          <p:nvPr/>
        </p:nvSpPr>
        <p:spPr>
          <a:xfrm>
            <a:off x="571500" y="1543050"/>
            <a:ext cx="2409825" cy="8572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W waveform windows</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W × 8 × T</a:t>
            </a:r>
          </a:p>
        </p:txBody>
      </p:sp>
      <p:sp>
        <p:nvSpPr>
          <p:cNvPr id="5" name="workflow-118"/>
          <p:cNvSpPr>
            <a:spLocks noGrp="1"/>
          </p:cNvSpPr>
          <p:nvPr/>
        </p:nvSpPr>
        <p:spPr>
          <a:xfrm>
            <a:off x="3524250" y="1543050"/>
            <a:ext cx="3190875" cy="8572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Shared encoder</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Compact / Small Inception</a:t>
            </a:r>
          </a:p>
        </p:txBody>
      </p:sp>
      <p:sp>
        <p:nvSpPr>
          <p:cNvPr id="6" name="workflow-119"/>
          <p:cNvSpPr>
            <a:spLocks noGrp="1"/>
          </p:cNvSpPr>
          <p:nvPr/>
        </p:nvSpPr>
        <p:spPr>
          <a:xfrm>
            <a:off x="7239000" y="1543050"/>
            <a:ext cx="3476625" cy="8572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Mean over valid windows</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128 / 64 features</a:t>
            </a:r>
          </a:p>
        </p:txBody>
      </p:sp>
      <p:cxnSp>
        <p:nvCxnSpPr>
          <p:cNvPr id="25" name="直接箭头连接符 24"/>
          <p:cNvCxnSpPr>
            <a:stCxn id="4" idx="3"/>
            <a:endCxn id="5" idx="1"/>
          </p:cNvCxnSpPr>
          <p:nvPr/>
        </p:nvCxnSpPr>
        <p:spPr>
          <a:xfrm>
            <a:off x="2981325" y="1971675"/>
            <a:ext cx="542925" cy="0"/>
          </a:xfrm>
          <a:prstGeom prst="straightConnector1">
            <a:avLst/>
          </a:prstGeom>
          <a:ln w="19050">
            <a:solidFill>
              <a:srgbClr val="506577"/>
            </a:solidFill>
            <a:tailEnd type="triangle" w="sm" len="sm"/>
          </a:ln>
        </p:spPr>
      </p:cxnSp>
      <p:cxnSp>
        <p:nvCxnSpPr>
          <p:cNvPr id="26" name="直接箭头连接符 25"/>
          <p:cNvCxnSpPr>
            <a:stCxn id="5" idx="3"/>
            <a:endCxn id="6" idx="1"/>
          </p:cNvCxnSpPr>
          <p:nvPr/>
        </p:nvCxnSpPr>
        <p:spPr>
          <a:xfrm>
            <a:off x="6715125" y="1971675"/>
            <a:ext cx="523875" cy="0"/>
          </a:xfrm>
          <a:prstGeom prst="straightConnector1">
            <a:avLst/>
          </a:prstGeom>
          <a:ln w="19050">
            <a:solidFill>
              <a:srgbClr val="506577"/>
            </a:solidFill>
            <a:tailEnd type="triangle" w="sm" len="sm"/>
          </a:ln>
        </p:spPr>
      </p:cxnSp>
      <p:sp>
        <p:nvSpPr>
          <p:cNvPr id="9" name="workflow-120"/>
          <p:cNvSpPr>
            <a:spLocks noGrp="1"/>
          </p:cNvSpPr>
          <p:nvPr/>
        </p:nvSpPr>
        <p:spPr>
          <a:xfrm>
            <a:off x="571500" y="3409950"/>
            <a:ext cx="2952750" cy="95250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282 feature values</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+ 282 validity indicators</a:t>
            </a:r>
          </a:p>
        </p:txBody>
      </p:sp>
      <p:sp>
        <p:nvSpPr>
          <p:cNvPr id="10" name="workflow-121"/>
          <p:cNvSpPr>
            <a:spLocks noGrp="1"/>
          </p:cNvSpPr>
          <p:nvPr/>
        </p:nvSpPr>
        <p:spPr>
          <a:xfrm>
            <a:off x="4095750" y="3409950"/>
            <a:ext cx="2619375" cy="952500"/>
          </a:xfrm>
          <a:prstGeom prst="rect">
            <a:avLst/>
          </a:prstGeom>
          <a:solidFill>
            <a:srgbClr val="ECF4F6"/>
          </a:solidFill>
          <a:ln w="16193">
            <a:solidFill>
              <a:srgbClr val="087E8B"/>
            </a:solidFill>
          </a:ln>
        </p:spPr>
        <p:txBody>
          <a:bodyPr lIns="114300" tIns="76200" rIns="114300" bIns="76200" anchor="ctr">
            <a:noAutofit/>
          </a:bodyPr>
          <a:lstStyle/>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Multilayer perceptron (MLP)</a:t>
            </a:r>
          </a:p>
          <a:p>
            <a:pPr algn="ctr">
              <a:defRPr sz="1725" b="0">
                <a:solidFill>
                  <a:srgbClr val="087E8B"/>
                </a:solidFill>
                <a:latin typeface="DejaVu Sans" panose="020B0603030804020204"/>
                <a:ea typeface="DejaVu Sans" panose="020B0603030804020204"/>
                <a:cs typeface="DejaVu Sans" panose="020B0603030804020204"/>
              </a:defRPr>
            </a:pPr>
            <a:r>
              <a:rPr sz="1725" b="0">
                <a:solidFill>
                  <a:srgbClr val="087E8B"/>
                </a:solidFill>
                <a:latin typeface="DejaVu Sans" panose="020B0603030804020204"/>
                <a:ea typeface="DejaVu Sans" panose="020B0603030804020204"/>
                <a:cs typeface="DejaVu Sans" panose="020B0603030804020204"/>
              </a:rPr>
              <a:t>564 → 32 + ReLU</a:t>
            </a:r>
          </a:p>
        </p:txBody>
      </p:sp>
      <p:sp>
        <p:nvSpPr>
          <p:cNvPr id="11" name="workflow-122"/>
          <p:cNvSpPr>
            <a:spLocks noGrp="1"/>
          </p:cNvSpPr>
          <p:nvPr/>
        </p:nvSpPr>
        <p:spPr>
          <a:xfrm>
            <a:off x="7239000" y="3409950"/>
            <a:ext cx="3476625" cy="95250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Concatenate once per file</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160 / 96 features</a:t>
            </a:r>
          </a:p>
        </p:txBody>
      </p:sp>
      <p:cxnSp>
        <p:nvCxnSpPr>
          <p:cNvPr id="30" name="直接箭头连接符 29"/>
          <p:cNvCxnSpPr>
            <a:stCxn id="9" idx="3"/>
            <a:endCxn id="10" idx="1"/>
          </p:cNvCxnSpPr>
          <p:nvPr/>
        </p:nvCxnSpPr>
        <p:spPr>
          <a:xfrm>
            <a:off x="3524250" y="3886200"/>
            <a:ext cx="571500" cy="0"/>
          </a:xfrm>
          <a:prstGeom prst="straightConnector1">
            <a:avLst/>
          </a:prstGeom>
          <a:ln w="19050">
            <a:solidFill>
              <a:srgbClr val="506577"/>
            </a:solidFill>
            <a:tailEnd type="triangle" w="sm" len="sm"/>
          </a:ln>
        </p:spPr>
      </p:cxnSp>
      <p:cxnSp>
        <p:nvCxnSpPr>
          <p:cNvPr id="31" name="直接箭头连接符 30"/>
          <p:cNvCxnSpPr>
            <a:stCxn id="10" idx="3"/>
            <a:endCxn id="11" idx="1"/>
          </p:cNvCxnSpPr>
          <p:nvPr/>
        </p:nvCxnSpPr>
        <p:spPr>
          <a:xfrm>
            <a:off x="6715125" y="3886200"/>
            <a:ext cx="523875" cy="0"/>
          </a:xfrm>
          <a:prstGeom prst="straightConnector1">
            <a:avLst/>
          </a:prstGeom>
          <a:ln w="19050">
            <a:solidFill>
              <a:srgbClr val="506577"/>
            </a:solidFill>
            <a:tailEnd type="triangle" w="sm" len="sm"/>
          </a:ln>
        </p:spPr>
      </p:cxnSp>
      <p:cxnSp>
        <p:nvCxnSpPr>
          <p:cNvPr id="32" name="直接箭头连接符 31"/>
          <p:cNvCxnSpPr>
            <a:stCxn id="6" idx="2"/>
            <a:endCxn id="11" idx="0"/>
          </p:cNvCxnSpPr>
          <p:nvPr/>
        </p:nvCxnSpPr>
        <p:spPr>
          <a:xfrm>
            <a:off x="8977313" y="2400300"/>
            <a:ext cx="0" cy="1009650"/>
          </a:xfrm>
          <a:prstGeom prst="straightConnector1">
            <a:avLst/>
          </a:prstGeom>
          <a:ln w="19050">
            <a:solidFill>
              <a:srgbClr val="506577"/>
            </a:solidFill>
            <a:tailEnd type="triangle" w="sm" len="sm"/>
          </a:ln>
        </p:spPr>
      </p:cxnSp>
      <p:sp>
        <p:nvSpPr>
          <p:cNvPr id="15" name="workflow-123"/>
          <p:cNvSpPr>
            <a:spLocks noGrp="1"/>
          </p:cNvSpPr>
          <p:nvPr/>
        </p:nvSpPr>
        <p:spPr>
          <a:xfrm>
            <a:off x="4095750" y="5057775"/>
            <a:ext cx="6619875" cy="666750"/>
          </a:xfrm>
          <a:prstGeom prst="rect">
            <a:avLst/>
          </a:prstGeom>
          <a:solidFill>
            <a:srgbClr val="F2EFF7"/>
          </a:solidFill>
          <a:ln w="16193">
            <a:solidFill>
              <a:srgbClr val="7056A8"/>
            </a:solidFill>
          </a:ln>
        </p:spPr>
        <p:txBody>
          <a:bodyPr lIns="114300" tIns="76200" rIns="114300" bIns="76200" anchor="ctr">
            <a:noAutofit/>
          </a:bodyPr>
          <a:lstStyle/>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Linear → 64 → ReLU → dropout 0.2</a:t>
            </a:r>
          </a:p>
          <a:p>
            <a:pPr algn="ctr">
              <a:defRPr sz="1725" b="0">
                <a:solidFill>
                  <a:srgbClr val="7056A8"/>
                </a:solidFill>
                <a:latin typeface="DejaVu Sans" panose="020B0603030804020204"/>
                <a:ea typeface="DejaVu Sans" panose="020B0603030804020204"/>
                <a:cs typeface="DejaVu Sans" panose="020B0603030804020204"/>
              </a:defRPr>
            </a:pPr>
            <a:r>
              <a:rPr sz="1725" b="0">
                <a:solidFill>
                  <a:srgbClr val="7056A8"/>
                </a:solidFill>
                <a:latin typeface="DejaVu Sans" panose="020B0603030804020204"/>
                <a:ea typeface="DejaVu Sans" panose="020B0603030804020204"/>
                <a:cs typeface="DejaVu Sans" panose="020B0603030804020204"/>
              </a:rPr>
              <a:t>Linear → 3 scores → softmax probabilities</a:t>
            </a:r>
          </a:p>
        </p:txBody>
      </p:sp>
      <p:cxnSp>
        <p:nvCxnSpPr>
          <p:cNvPr id="34" name="肘形连接符 33"/>
          <p:cNvCxnSpPr>
            <a:stCxn id="11" idx="2"/>
            <a:endCxn id="15" idx="0"/>
          </p:cNvCxnSpPr>
          <p:nvPr/>
        </p:nvCxnSpPr>
        <p:spPr>
          <a:xfrm flipH="1">
            <a:off x="7405688" y="4362450"/>
            <a:ext cx="1571625" cy="695325"/>
          </a:xfrm>
          <a:prstGeom prst="bentConnector4">
            <a:avLst>
              <a:gd name="adj1" fmla="val 0"/>
              <a:gd name="adj2" fmla="val 50000"/>
            </a:avLst>
          </a:prstGeom>
          <a:ln w="19050">
            <a:solidFill>
              <a:srgbClr val="506577"/>
            </a:solidFill>
            <a:tailEnd type="triangle" w="sm" len="sm"/>
          </a:ln>
        </p:spPr>
      </p:cxnSp>
      <p:sp>
        <p:nvSpPr>
          <p:cNvPr id="17" name="text-124"/>
          <p:cNvSpPr>
            <a:spLocks noGrp="1"/>
          </p:cNvSpPr>
          <p:nvPr/>
        </p:nvSpPr>
        <p:spPr>
          <a:xfrm>
            <a:off x="571500" y="4943475"/>
            <a:ext cx="3143250" cy="1076325"/>
          </a:xfrm>
          <a:prstGeom prst="rect">
            <a:avLst/>
          </a:prstGeom>
          <a:noFill/>
          <a:ln w="0">
            <a:noFill/>
          </a:ln>
        </p:spPr>
        <p:txBody>
          <a:bodyPr wrap="square" lIns="0" tIns="0" rIns="0" bIns="0" anchor="t">
            <a:noAutofit/>
          </a:bodyPr>
          <a:lstStyle/>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Feature preprocessing is learned from training participants.</a:t>
            </a:r>
          </a:p>
          <a:p>
            <a:pPr algn="l">
              <a:defRPr sz="1500" b="0">
                <a:solidFill>
                  <a:srgbClr val="506577"/>
                </a:solidFill>
                <a:latin typeface="DejaVu Sans" panose="020B0603030804020204"/>
                <a:ea typeface="DejaVu Sans" panose="020B0603030804020204"/>
                <a:cs typeface="DejaVu Sans" panose="020B0603030804020204"/>
              </a:defRPr>
            </a:pPr>
            <a:r>
              <a:rPr sz="1500" b="0">
                <a:solidFill>
                  <a:srgbClr val="506577"/>
                </a:solidFill>
                <a:latin typeface="DejaVu Sans" panose="020B0603030804020204"/>
                <a:ea typeface="DejaVu Sans" panose="020B0603030804020204"/>
                <a:cs typeface="DejaVu Sans" panose="020B0603030804020204"/>
              </a:rPr>
              <a:t>The same file vector is attached once per recording. ReLU = rectified linear unit.</a:t>
            </a:r>
          </a:p>
        </p:txBody>
      </p:sp>
      <p:sp>
        <p:nvSpPr>
          <p:cNvPr id="18" name="text-125"/>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Fusion averages windows within each file. The selected Small InceptionTime model uses waveform input alone.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153"/>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AC and DC come from aligned optical views</a:t>
            </a:r>
          </a:p>
        </p:txBody>
      </p:sp>
      <p:sp>
        <p:nvSpPr>
          <p:cNvPr id="2" name="text-154"/>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OPTICAL FEATURES</a:t>
            </a:r>
          </a:p>
        </p:txBody>
      </p:sp>
      <p:sp>
        <p:nvSpPr>
          <p:cNvPr id="3" name="text-155"/>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57</a:t>
            </a:r>
          </a:p>
        </p:txBody>
      </p:sp>
      <p:graphicFrame>
        <p:nvGraphicFramePr>
          <p:cNvPr id="16" name="Chart"/>
          <p:cNvGraphicFramePr/>
          <p:nvPr/>
        </p:nvGraphicFramePr>
        <p:xfrm>
          <a:off x="514350" y="1533525"/>
          <a:ext cx="7581900" cy="2000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p:cNvGraphicFramePr/>
          <p:nvPr/>
        </p:nvGraphicFramePr>
        <p:xfrm>
          <a:off x="514350" y="3943350"/>
          <a:ext cx="7581900" cy="192405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156"/>
          <p:cNvSpPr>
            <a:spLocks noGrp="1"/>
          </p:cNvSpPr>
          <p:nvPr/>
        </p:nvSpPr>
        <p:spPr>
          <a:xfrm>
            <a:off x="2876550" y="2714625"/>
            <a:ext cx="895350" cy="323850"/>
          </a:xfrm>
          <a:prstGeom prst="rect">
            <a:avLst/>
          </a:prstGeom>
          <a:noFill/>
          <a:ln w="0">
            <a:noFill/>
          </a:ln>
        </p:spPr>
        <p:txBody>
          <a:bodyPr wrap="square" lIns="0" tIns="0" rIns="0" bIns="0" anchor="t">
            <a:noAutofit/>
          </a:bodyPr>
          <a:lstStyle/>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DC</a:t>
            </a:r>
          </a:p>
        </p:txBody>
      </p:sp>
      <p:sp>
        <p:nvSpPr>
          <p:cNvPr id="7" name="text-157"/>
          <p:cNvSpPr>
            <a:spLocks noGrp="1"/>
          </p:cNvSpPr>
          <p:nvPr/>
        </p:nvSpPr>
        <p:spPr>
          <a:xfrm>
            <a:off x="2895600" y="4438650"/>
            <a:ext cx="904875" cy="323850"/>
          </a:xfrm>
          <a:prstGeom prst="rect">
            <a:avLst/>
          </a:prstGeom>
          <a:noFill/>
          <a:ln w="0">
            <a:noFill/>
          </a:ln>
        </p:spPr>
        <p:txBody>
          <a:bodyPr wrap="square" lIns="0" tIns="0" rIns="0" bIns="0" anchor="t">
            <a:noAutofit/>
          </a:bodyPr>
          <a:lstStyle/>
          <a:p>
            <a:pPr algn="l">
              <a:defRPr sz="1800" b="1">
                <a:solidFill>
                  <a:srgbClr val="7056A8"/>
                </a:solidFill>
                <a:latin typeface="DejaVu Sans" panose="020B0603030804020204"/>
                <a:ea typeface="DejaVu Sans" panose="020B0603030804020204"/>
                <a:cs typeface="DejaVu Sans" panose="020B0603030804020204"/>
              </a:defRPr>
            </a:pPr>
            <a:r>
              <a:rPr sz="1800" b="1">
                <a:solidFill>
                  <a:srgbClr val="7056A8"/>
                </a:solidFill>
                <a:latin typeface="DejaVu Sans" panose="020B0603030804020204"/>
                <a:ea typeface="DejaVu Sans" panose="020B0603030804020204"/>
                <a:cs typeface="DejaVu Sans" panose="020B0603030804020204"/>
              </a:rPr>
              <a:t>AC</a:t>
            </a:r>
          </a:p>
        </p:txBody>
      </p:sp>
      <p:sp>
        <p:nvSpPr>
          <p:cNvPr id="8" name="text-158"/>
          <p:cNvSpPr>
            <a:spLocks noGrp="1"/>
          </p:cNvSpPr>
          <p:nvPr/>
        </p:nvSpPr>
        <p:spPr>
          <a:xfrm>
            <a:off x="8696325" y="1685925"/>
            <a:ext cx="2857500" cy="885825"/>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Native view preserves</a:t>
            </a:r>
          </a:p>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the optical level</a:t>
            </a:r>
          </a:p>
        </p:txBody>
      </p:sp>
      <p:sp>
        <p:nvSpPr>
          <p:cNvPr id="9" name="text-159"/>
          <p:cNvSpPr>
            <a:spLocks noGrp="1"/>
          </p:cNvSpPr>
          <p:nvPr/>
        </p:nvSpPr>
        <p:spPr>
          <a:xfrm>
            <a:off x="8696325" y="2705100"/>
            <a:ext cx="2857500" cy="723900"/>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DC: native local baseline</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at this beat’s peak</a:t>
            </a:r>
          </a:p>
        </p:txBody>
      </p:sp>
      <p:sp>
        <p:nvSpPr>
          <p:cNvPr id="10" name="text-160"/>
          <p:cNvSpPr>
            <a:spLocks noGrp="1"/>
          </p:cNvSpPr>
          <p:nvPr/>
        </p:nvSpPr>
        <p:spPr>
          <a:xfrm>
            <a:off x="8696325" y="4038600"/>
            <a:ext cx="2857500" cy="885825"/>
          </a:xfrm>
          <a:prstGeom prst="rect">
            <a:avLst/>
          </a:prstGeom>
          <a:noFill/>
          <a:ln w="0">
            <a:noFill/>
          </a:ln>
        </p:spPr>
        <p:txBody>
          <a:bodyPr wrap="square" lIns="0" tIns="0" rIns="0" bIns="0" anchor="t">
            <a:noAutofit/>
          </a:bodyPr>
          <a:lstStyle/>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Filtered view:</a:t>
            </a:r>
          </a:p>
          <a:p>
            <a:pPr algn="l">
              <a:defRPr sz="1950" b="1">
                <a:solidFill>
                  <a:srgbClr val="087E8B"/>
                </a:solidFill>
                <a:latin typeface="DejaVu Sans" panose="020B0603030804020204"/>
                <a:ea typeface="DejaVu Sans" panose="020B0603030804020204"/>
                <a:cs typeface="DejaVu Sans" panose="020B0603030804020204"/>
              </a:defRPr>
            </a:pPr>
            <a:r>
              <a:rPr sz="1950" b="1">
                <a:solidFill>
                  <a:srgbClr val="087E8B"/>
                </a:solidFill>
                <a:latin typeface="DejaVu Sans" panose="020B0603030804020204"/>
                <a:ea typeface="DejaVu Sans" panose="020B0603030804020204"/>
                <a:cs typeface="DejaVu Sans" panose="020B0603030804020204"/>
              </a:rPr>
              <a:t>pulsatile amplitude</a:t>
            </a:r>
          </a:p>
        </p:txBody>
      </p:sp>
      <p:sp>
        <p:nvSpPr>
          <p:cNvPr id="11" name="text-161"/>
          <p:cNvSpPr>
            <a:spLocks noGrp="1"/>
          </p:cNvSpPr>
          <p:nvPr/>
        </p:nvSpPr>
        <p:spPr>
          <a:xfrm>
            <a:off x="8696325" y="5038725"/>
            <a:ext cx="2857500" cy="733425"/>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AC: filtered peak above</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its local baseline</a:t>
            </a:r>
          </a:p>
        </p:txBody>
      </p:sp>
      <p:sp>
        <p:nvSpPr>
          <p:cNvPr id="12" name="text-162"/>
          <p:cNvSpPr>
            <a:spLocks noGrp="1"/>
          </p:cNvSpPr>
          <p:nvPr/>
        </p:nvSpPr>
        <p:spPr>
          <a:xfrm>
            <a:off x="571500" y="6010275"/>
            <a:ext cx="10953750" cy="333375"/>
          </a:xfrm>
          <a:prstGeom prst="rect">
            <a:avLst/>
          </a:prstGeom>
          <a:noFill/>
          <a:ln w="0">
            <a:noFill/>
          </a:ln>
        </p:spPr>
        <p:txBody>
          <a:bodyPr wrap="square" lIns="0" tIns="0" rIns="0" bIns="0" anchor="t">
            <a:noAutofit/>
          </a:bodyPr>
          <a:lstStyle/>
          <a:p>
            <a:pPr algn="l">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Optical descriptors here do not estimate peripheral oxygen saturation (SpO₂). Conceptual aligned views.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178"/>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Small InceptionTime</a:t>
            </a:r>
          </a:p>
        </p:txBody>
      </p:sp>
      <p:sp>
        <p:nvSpPr>
          <p:cNvPr id="2" name="text-179"/>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MODEL ARCHITECTURE</a:t>
            </a:r>
          </a:p>
        </p:txBody>
      </p:sp>
      <p:sp>
        <p:nvSpPr>
          <p:cNvPr id="3" name="text-180"/>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37</a:t>
            </a:r>
          </a:p>
        </p:txBody>
      </p:sp>
      <p:pic>
        <p:nvPicPr>
          <p:cNvPr id="18" name="图片 17"/>
          <p:cNvPicPr>
            <a:picLocks noChangeAspect="1"/>
          </p:cNvPicPr>
          <p:nvPr/>
        </p:nvPicPr>
        <p:blipFill>
          <a:blip r:embed="rId3"/>
          <a:stretch>
            <a:fillRect/>
          </a:stretch>
        </p:blipFill>
        <p:spPr>
          <a:xfrm>
            <a:off x="903622" y="1323975"/>
            <a:ext cx="10384757" cy="4000500"/>
          </a:xfrm>
          <a:prstGeom prst="rect">
            <a:avLst/>
          </a:prstGeom>
        </p:spPr>
      </p:pic>
      <p:sp>
        <p:nvSpPr>
          <p:cNvPr id="5" name="workflow-181"/>
          <p:cNvSpPr>
            <a:spLocks noGrp="1"/>
          </p:cNvSpPr>
          <p:nvPr/>
        </p:nvSpPr>
        <p:spPr>
          <a:xfrm>
            <a:off x="571500" y="5391150"/>
            <a:ext cx="1762125" cy="552450"/>
          </a:xfrm>
          <a:prstGeom prst="rect">
            <a:avLst/>
          </a:prstGeom>
          <a:solidFill>
            <a:srgbClr val="EDF3FA"/>
          </a:solidFill>
          <a:ln w="16193">
            <a:solidFill>
              <a:srgbClr val="2874AE"/>
            </a:solidFill>
          </a:ln>
        </p:spPr>
        <p:txBody>
          <a:bodyPr lIns="95250" tIns="76200" rIns="95250" bIns="76200" anchor="ctr">
            <a:noAutofit/>
          </a:bodyPr>
          <a:lstStyle/>
          <a:p>
            <a:pPr algn="ctr">
              <a:defRPr sz="1425">
                <a:solidFill>
                  <a:srgbClr val="2874AE"/>
                </a:solidFill>
                <a:latin typeface="DejaVu Sans" panose="020B0603030804020204"/>
                <a:ea typeface="DejaVu Sans" panose="020B0603030804020204"/>
                <a:cs typeface="DejaVu Sans" panose="020B0603030804020204"/>
              </a:defRPr>
            </a:pPr>
            <a:r>
              <a:rPr sz="1425">
                <a:solidFill>
                  <a:srgbClr val="2874AE"/>
                </a:solidFill>
                <a:latin typeface="DejaVu Sans" panose="020B0603030804020204"/>
                <a:ea typeface="DejaVu Sans" panose="020B0603030804020204"/>
                <a:cs typeface="DejaVu Sans" panose="020B0603030804020204"/>
              </a:rPr>
              <a:t>8 channels</a:t>
            </a:r>
          </a:p>
          <a:p>
            <a:pPr algn="ctr">
              <a:defRPr sz="1425">
                <a:solidFill>
                  <a:srgbClr val="2874AE"/>
                </a:solidFill>
                <a:latin typeface="DejaVu Sans" panose="020B0603030804020204"/>
                <a:ea typeface="DejaVu Sans" panose="020B0603030804020204"/>
                <a:cs typeface="DejaVu Sans" panose="020B0603030804020204"/>
              </a:defRPr>
            </a:pPr>
            <a:r>
              <a:rPr sz="1425">
                <a:solidFill>
                  <a:srgbClr val="2874AE"/>
                </a:solidFill>
                <a:latin typeface="DejaVu Sans" panose="020B0603030804020204"/>
                <a:ea typeface="DejaVu Sans" panose="020B0603030804020204"/>
                <a:cs typeface="DejaVu Sans" panose="020B0603030804020204"/>
              </a:rPr>
              <a:t>320 samples</a:t>
            </a:r>
          </a:p>
        </p:txBody>
      </p:sp>
      <p:sp>
        <p:nvSpPr>
          <p:cNvPr id="6" name="workflow-182"/>
          <p:cNvSpPr>
            <a:spLocks noGrp="1"/>
          </p:cNvSpPr>
          <p:nvPr/>
        </p:nvSpPr>
        <p:spPr>
          <a:xfrm>
            <a:off x="2752725" y="5391150"/>
            <a:ext cx="2590800" cy="552450"/>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3 modules</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64 output channels</a:t>
            </a:r>
          </a:p>
        </p:txBody>
      </p:sp>
      <p:sp>
        <p:nvSpPr>
          <p:cNvPr id="7" name="workflow-183"/>
          <p:cNvSpPr>
            <a:spLocks noGrp="1"/>
          </p:cNvSpPr>
          <p:nvPr/>
        </p:nvSpPr>
        <p:spPr>
          <a:xfrm>
            <a:off x="5762625" y="5391150"/>
            <a:ext cx="1981200" cy="552450"/>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Global average</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pooling</a:t>
            </a:r>
          </a:p>
        </p:txBody>
      </p:sp>
      <p:sp>
        <p:nvSpPr>
          <p:cNvPr id="8" name="workflow-184"/>
          <p:cNvSpPr>
            <a:spLocks noGrp="1"/>
          </p:cNvSpPr>
          <p:nvPr/>
        </p:nvSpPr>
        <p:spPr>
          <a:xfrm>
            <a:off x="8162925" y="5391150"/>
            <a:ext cx="1638300" cy="552450"/>
          </a:xfrm>
          <a:prstGeom prst="rect">
            <a:avLst/>
          </a:prstGeom>
          <a:solidFill>
            <a:srgbClr val="ECF4F6"/>
          </a:solidFill>
          <a:ln w="16193">
            <a:solidFill>
              <a:srgbClr val="087E8B"/>
            </a:solidFill>
          </a:ln>
        </p:spPr>
        <p:txBody>
          <a:bodyPr lIns="95250" tIns="76200" rIns="95250" bIns="76200" anchor="ctr">
            <a:noAutofit/>
          </a:bodyPr>
          <a:lstStyle/>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Dropout 0.5</a:t>
            </a:r>
          </a:p>
          <a:p>
            <a:pPr algn="ctr">
              <a:defRPr sz="1425">
                <a:solidFill>
                  <a:srgbClr val="087E8B"/>
                </a:solidFill>
                <a:latin typeface="DejaVu Sans" panose="020B0603030804020204"/>
                <a:ea typeface="DejaVu Sans" panose="020B0603030804020204"/>
                <a:cs typeface="DejaVu Sans" panose="020B0603030804020204"/>
              </a:defRPr>
            </a:pPr>
            <a:r>
              <a:rPr sz="1425">
                <a:solidFill>
                  <a:srgbClr val="087E8B"/>
                </a:solidFill>
                <a:latin typeface="DejaVu Sans" panose="020B0603030804020204"/>
                <a:ea typeface="DejaVu Sans" panose="020B0603030804020204"/>
                <a:cs typeface="DejaVu Sans" panose="020B0603030804020204"/>
              </a:rPr>
              <a:t>Linear head</a:t>
            </a:r>
          </a:p>
        </p:txBody>
      </p:sp>
      <p:sp>
        <p:nvSpPr>
          <p:cNvPr id="9" name="workflow-185"/>
          <p:cNvSpPr>
            <a:spLocks noGrp="1"/>
          </p:cNvSpPr>
          <p:nvPr/>
        </p:nvSpPr>
        <p:spPr>
          <a:xfrm>
            <a:off x="10220325" y="5391150"/>
            <a:ext cx="1381125" cy="552450"/>
          </a:xfrm>
          <a:prstGeom prst="rect">
            <a:avLst/>
          </a:prstGeom>
          <a:solidFill>
            <a:srgbClr val="F2EFF7"/>
          </a:solidFill>
          <a:ln w="16193">
            <a:solidFill>
              <a:srgbClr val="7056A8"/>
            </a:solidFill>
          </a:ln>
        </p:spPr>
        <p:txBody>
          <a:bodyPr lIns="95250" tIns="76200" rIns="95250" bIns="76200" anchor="ctr">
            <a:noAutofit/>
          </a:bodyPr>
          <a:lstStyle/>
          <a:p>
            <a:pPr algn="ctr">
              <a:defRPr sz="1275">
                <a:solidFill>
                  <a:srgbClr val="7056A8"/>
                </a:solidFill>
                <a:latin typeface="DejaVu Sans" panose="020B0603030804020204"/>
                <a:ea typeface="DejaVu Sans" panose="020B0603030804020204"/>
                <a:cs typeface="DejaVu Sans" panose="020B0603030804020204"/>
              </a:defRPr>
            </a:pPr>
            <a:r>
              <a:rPr sz="1275">
                <a:solidFill>
                  <a:srgbClr val="7056A8"/>
                </a:solidFill>
                <a:latin typeface="DejaVu Sans" panose="020B0603030804020204"/>
                <a:ea typeface="DejaVu Sans" panose="020B0603030804020204"/>
                <a:cs typeface="DejaVu Sans" panose="020B0603030804020204"/>
              </a:rPr>
              <a:t>Softmax</a:t>
            </a:r>
          </a:p>
          <a:p>
            <a:pPr algn="ctr">
              <a:defRPr sz="1275">
                <a:solidFill>
                  <a:srgbClr val="7056A8"/>
                </a:solidFill>
                <a:latin typeface="DejaVu Sans" panose="020B0603030804020204"/>
                <a:ea typeface="DejaVu Sans" panose="020B0603030804020204"/>
                <a:cs typeface="DejaVu Sans" panose="020B0603030804020204"/>
              </a:defRPr>
            </a:pPr>
            <a:r>
              <a:rPr sz="1275">
                <a:solidFill>
                  <a:srgbClr val="7056A8"/>
                </a:solidFill>
                <a:latin typeface="DejaVu Sans" panose="020B0603030804020204"/>
                <a:ea typeface="DejaVu Sans" panose="020B0603030804020204"/>
                <a:cs typeface="DejaVu Sans" panose="020B0603030804020204"/>
              </a:rPr>
              <a:t>3 probabilities</a:t>
            </a:r>
          </a:p>
        </p:txBody>
      </p:sp>
      <p:cxnSp>
        <p:nvCxnSpPr>
          <p:cNvPr id="24" name="直接箭头连接符 23"/>
          <p:cNvCxnSpPr>
            <a:stCxn id="5" idx="3"/>
            <a:endCxn id="6" idx="1"/>
          </p:cNvCxnSpPr>
          <p:nvPr/>
        </p:nvCxnSpPr>
        <p:spPr>
          <a:xfrm>
            <a:off x="2333625" y="5667375"/>
            <a:ext cx="419100" cy="0"/>
          </a:xfrm>
          <a:prstGeom prst="straightConnector1">
            <a:avLst/>
          </a:prstGeom>
          <a:ln w="19050">
            <a:solidFill>
              <a:srgbClr val="506577"/>
            </a:solidFill>
            <a:tailEnd type="triangle" w="sm" len="sm"/>
          </a:ln>
        </p:spPr>
      </p:cxnSp>
      <p:cxnSp>
        <p:nvCxnSpPr>
          <p:cNvPr id="25" name="直接箭头连接符 24"/>
          <p:cNvCxnSpPr>
            <a:stCxn id="6" idx="3"/>
            <a:endCxn id="7" idx="1"/>
          </p:cNvCxnSpPr>
          <p:nvPr/>
        </p:nvCxnSpPr>
        <p:spPr>
          <a:xfrm>
            <a:off x="5343525" y="5667375"/>
            <a:ext cx="419100" cy="0"/>
          </a:xfrm>
          <a:prstGeom prst="straightConnector1">
            <a:avLst/>
          </a:prstGeom>
          <a:ln w="19050">
            <a:solidFill>
              <a:srgbClr val="506577"/>
            </a:solidFill>
            <a:tailEnd type="triangle" w="sm" len="sm"/>
          </a:ln>
        </p:spPr>
      </p:cxnSp>
      <p:cxnSp>
        <p:nvCxnSpPr>
          <p:cNvPr id="26" name="直接箭头连接符 25"/>
          <p:cNvCxnSpPr>
            <a:stCxn id="7" idx="3"/>
            <a:endCxn id="8" idx="1"/>
          </p:cNvCxnSpPr>
          <p:nvPr/>
        </p:nvCxnSpPr>
        <p:spPr>
          <a:xfrm>
            <a:off x="7743825" y="5667375"/>
            <a:ext cx="419100" cy="0"/>
          </a:xfrm>
          <a:prstGeom prst="straightConnector1">
            <a:avLst/>
          </a:prstGeom>
          <a:ln w="19050">
            <a:solidFill>
              <a:srgbClr val="506577"/>
            </a:solidFill>
            <a:tailEnd type="triangle" w="sm" len="sm"/>
          </a:ln>
        </p:spPr>
      </p:cxnSp>
      <p:cxnSp>
        <p:nvCxnSpPr>
          <p:cNvPr id="27" name="直接箭头连接符 26"/>
          <p:cNvCxnSpPr>
            <a:stCxn id="8" idx="3"/>
            <a:endCxn id="9" idx="1"/>
          </p:cNvCxnSpPr>
          <p:nvPr/>
        </p:nvCxnSpPr>
        <p:spPr>
          <a:xfrm>
            <a:off x="9801225" y="5667375"/>
            <a:ext cx="419100" cy="0"/>
          </a:xfrm>
          <a:prstGeom prst="straightConnector1">
            <a:avLst/>
          </a:prstGeom>
          <a:ln w="19050">
            <a:solidFill>
              <a:srgbClr val="506577"/>
            </a:solidFill>
            <a:tailEnd type="triangle" w="sm" len="sm"/>
          </a:ln>
        </p:spPr>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87"/>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A receptive field is measured in samples</a:t>
            </a:r>
          </a:p>
        </p:txBody>
      </p:sp>
      <p:sp>
        <p:nvSpPr>
          <p:cNvPr id="2" name="text-88"/>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LOCAL RECEPTIVE FIELD</a:t>
            </a:r>
          </a:p>
        </p:txBody>
      </p:sp>
      <p:sp>
        <p:nvSpPr>
          <p:cNvPr id="3" name="text-89"/>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38</a:t>
            </a:r>
          </a:p>
        </p:txBody>
      </p:sp>
      <p:sp>
        <p:nvSpPr>
          <p:cNvPr id="4" name="text-90"/>
          <p:cNvSpPr>
            <a:spLocks noGrp="1"/>
          </p:cNvSpPr>
          <p:nvPr/>
        </p:nvSpPr>
        <p:spPr>
          <a:xfrm>
            <a:off x="571500" y="1381125"/>
            <a:ext cx="10953750" cy="466725"/>
          </a:xfrm>
          <a:prstGeom prst="rect">
            <a:avLst/>
          </a:prstGeom>
          <a:noFill/>
          <a:ln w="0">
            <a:noFill/>
          </a:ln>
        </p:spPr>
        <p:txBody>
          <a:bodyPr wrap="square" lIns="0" tIns="0" rIns="0" bIns="0" anchor="t">
            <a:noAutofit/>
          </a:bodyPr>
          <a:lstStyle/>
          <a:p>
            <a:pPr algn="l">
              <a:defRPr sz="2400" b="1">
                <a:solidFill>
                  <a:srgbClr val="7056A8"/>
                </a:solidFill>
                <a:latin typeface="DejaVu Sans" panose="020B0603030804020204"/>
                <a:ea typeface="DejaVu Sans" panose="020B0603030804020204"/>
                <a:cs typeface="DejaVu Sans" panose="020B0603030804020204"/>
              </a:defRPr>
            </a:pPr>
            <a:r>
              <a:rPr sz="2400" b="1">
                <a:solidFill>
                  <a:srgbClr val="7056A8"/>
                </a:solidFill>
                <a:latin typeface="DejaVu Sans" panose="020B0603030804020204"/>
                <a:ea typeface="DejaVu Sans" panose="020B0603030804020204"/>
                <a:cs typeface="DejaVu Sans" panose="020B0603030804020204"/>
              </a:rPr>
              <a:t>rnew = r + (k − 1) × d × j       jnew = j × stride</a:t>
            </a:r>
          </a:p>
        </p:txBody>
      </p:sp>
      <p:sp>
        <p:nvSpPr>
          <p:cNvPr id="5" name="text-91"/>
          <p:cNvSpPr>
            <a:spLocks noGrp="1"/>
          </p:cNvSpPr>
          <p:nvPr/>
        </p:nvSpPr>
        <p:spPr>
          <a:xfrm>
            <a:off x="571500" y="1952625"/>
            <a:ext cx="10953750" cy="342900"/>
          </a:xfrm>
          <a:prstGeom prst="rect">
            <a:avLst/>
          </a:prstGeom>
          <a:noFill/>
          <a:ln w="0">
            <a:noFill/>
          </a:ln>
        </p:spPr>
        <p:txBody>
          <a:bodyPr wrap="square" lIns="0" tIns="0" rIns="0" bIns="0" anchor="t">
            <a:noAutofit/>
          </a:bodyPr>
          <a:lstStyle/>
          <a:p>
            <a:pPr algn="l">
              <a:defRPr sz="1650" b="0">
                <a:solidFill>
                  <a:srgbClr val="506577"/>
                </a:solidFill>
                <a:latin typeface="DejaVu Sans" panose="020B0603030804020204"/>
                <a:ea typeface="DejaVu Sans" panose="020B0603030804020204"/>
                <a:cs typeface="DejaVu Sans" panose="020B0603030804020204"/>
              </a:defRPr>
            </a:pPr>
            <a:r>
              <a:rPr sz="1650" b="0">
                <a:solidFill>
                  <a:srgbClr val="506577"/>
                </a:solidFill>
                <a:latin typeface="DejaVu Sans" panose="020B0603030804020204"/>
                <a:ea typeface="DejaVu Sans" panose="020B0603030804020204"/>
                <a:cs typeface="DejaVu Sans" panose="020B0603030804020204"/>
              </a:rPr>
              <a:t>r: receptive field    k: kernel length    d: dilation    j: input-sample spacing</a:t>
            </a:r>
          </a:p>
        </p:txBody>
      </p:sp>
      <p:graphicFrame>
        <p:nvGraphicFramePr>
          <p:cNvPr id="14" name="表格 13"/>
          <p:cNvGraphicFramePr/>
          <p:nvPr/>
        </p:nvGraphicFramePr>
        <p:xfrm>
          <a:off x="571500" y="2590800"/>
          <a:ext cx="11049000" cy="2562225"/>
        </p:xfrm>
        <a:graphic>
          <a:graphicData uri="http://schemas.openxmlformats.org/drawingml/2006/table">
            <a:tbl>
              <a:tblPr/>
              <a:tblGrid>
                <a:gridCol w="45529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512445">
                <a:tc>
                  <a:txBody>
                    <a:bodyPr/>
                    <a:lstStyle/>
                    <a:p>
                      <a:pPr algn="l"/>
                      <a:r>
                        <a:rPr sz="1725" b="1">
                          <a:solidFill>
                            <a:srgbClr val="FFFFFF"/>
                          </a:solidFill>
                          <a:latin typeface="DejaVu Sans" panose="020B0603030804020204"/>
                          <a:ea typeface="DejaVu Sans" panose="020B0603030804020204"/>
                          <a:cs typeface="DejaVu Sans" panose="020B0603030804020204"/>
                        </a:rPr>
                        <a:t>Local operation / model</a:t>
                      </a:r>
                    </a:p>
                  </a:txBody>
                  <a:tcPr marL="114300" marR="114300" marT="95250" marB="95250" anchor="ctr">
                    <a:solidFill>
                      <a:srgbClr val="152C3F"/>
                    </a:solidFill>
                  </a:tcPr>
                </a:tc>
                <a:tc>
                  <a:txBody>
                    <a:bodyPr/>
                    <a:lstStyle/>
                    <a:p>
                      <a:pPr algn="ctr"/>
                      <a:r>
                        <a:rPr sz="1725" b="1">
                          <a:solidFill>
                            <a:srgbClr val="FFFFFF"/>
                          </a:solidFill>
                          <a:latin typeface="DejaVu Sans" panose="020B0603030804020204"/>
                          <a:ea typeface="DejaVu Sans" panose="020B0603030804020204"/>
                          <a:cs typeface="DejaVu Sans" panose="020B0603030804020204"/>
                        </a:rPr>
                        <a:t>Input samples R</a:t>
                      </a:r>
                    </a:p>
                  </a:txBody>
                  <a:tcPr marL="114300" marR="114300" marT="95250" marB="95250" anchor="ctr">
                    <a:solidFill>
                      <a:srgbClr val="152C3F"/>
                    </a:solidFill>
                  </a:tcPr>
                </a:tc>
                <a:tc>
                  <a:txBody>
                    <a:bodyPr/>
                    <a:lstStyle/>
                    <a:p>
                      <a:pPr algn="ctr"/>
                      <a:r>
                        <a:rPr sz="1725" b="1">
                          <a:solidFill>
                            <a:srgbClr val="FFFFFF"/>
                          </a:solidFill>
                          <a:latin typeface="DejaVu Sans" panose="020B0603030804020204"/>
                          <a:ea typeface="DejaVu Sans" panose="020B0603030804020204"/>
                          <a:cs typeface="DejaVu Sans" panose="020B0603030804020204"/>
                        </a:rPr>
                        <a:t>At 64 Hz</a:t>
                      </a:r>
                    </a:p>
                  </a:txBody>
                  <a:tcPr marL="114300" marR="114300" marT="95250" marB="95250" anchor="ctr">
                    <a:solidFill>
                      <a:srgbClr val="152C3F"/>
                    </a:solidFill>
                  </a:tcPr>
                </a:tc>
                <a:tc>
                  <a:txBody>
                    <a:bodyPr/>
                    <a:lstStyle/>
                    <a:p>
                      <a:pPr algn="ctr"/>
                      <a:r>
                        <a:rPr sz="1725" b="1">
                          <a:solidFill>
                            <a:srgbClr val="FFFFFF"/>
                          </a:solidFill>
                          <a:latin typeface="DejaVu Sans" panose="020B0603030804020204"/>
                          <a:ea typeface="DejaVu Sans" panose="020B0603030804020204"/>
                          <a:cs typeface="DejaVu Sans" panose="020B0603030804020204"/>
                        </a:rPr>
                        <a:t>At 400 Hz</a:t>
                      </a:r>
                    </a:p>
                  </a:txBody>
                  <a:tcPr marL="114300" marR="114300" marT="95250" marB="95250" anchor="ctr">
                    <a:solidFill>
                      <a:srgbClr val="152C3F"/>
                    </a:solidFill>
                  </a:tcPr>
                </a:tc>
                <a:extLst>
                  <a:ext uri="{0D108BD9-81ED-4DB2-BD59-A6C34878D82A}">
                    <a16:rowId xmlns:a16="http://schemas.microsoft.com/office/drawing/2014/main" val="10000"/>
                  </a:ext>
                </a:extLst>
              </a:tr>
              <a:tr h="512445">
                <a:tc>
                  <a:txBody>
                    <a:bodyPr/>
                    <a:lstStyle/>
                    <a:p>
                      <a:pPr algn="l"/>
                      <a:r>
                        <a:rPr sz="1725" b="0">
                          <a:solidFill>
                            <a:srgbClr val="152C3F"/>
                          </a:solidFill>
                          <a:latin typeface="DejaVu Sans" panose="020B0603030804020204"/>
                          <a:ea typeface="DejaVu Sans" panose="020B0603030804020204"/>
                          <a:cs typeface="DejaVu Sans" panose="020B0603030804020204"/>
                        </a:rPr>
                        <a:t>One Conv39 branch</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39</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0.609 s</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0.098 s</a:t>
                      </a:r>
                    </a:p>
                  </a:txBody>
                  <a:tcPr marL="114300" marR="114300" marT="95250" marB="95250" anchor="ctr">
                    <a:solidFill>
                      <a:srgbClr val="FFFFFF"/>
                    </a:solidFill>
                  </a:tcPr>
                </a:tc>
                <a:extLst>
                  <a:ext uri="{0D108BD9-81ED-4DB2-BD59-A6C34878D82A}">
                    <a16:rowId xmlns:a16="http://schemas.microsoft.com/office/drawing/2014/main" val="10001"/>
                  </a:ext>
                </a:extLst>
              </a:tr>
              <a:tr h="512445">
                <a:tc>
                  <a:txBody>
                    <a:bodyPr/>
                    <a:lstStyle/>
                    <a:p>
                      <a:pPr algn="l"/>
                      <a:r>
                        <a:rPr sz="1725" b="0">
                          <a:solidFill>
                            <a:srgbClr val="152C3F"/>
                          </a:solidFill>
                          <a:latin typeface="DejaVu Sans" panose="020B0603030804020204"/>
                          <a:ea typeface="DejaVu Sans" panose="020B0603030804020204"/>
                          <a:cs typeface="DejaVu Sans" panose="020B0603030804020204"/>
                        </a:rPr>
                        <a:t>Small Inception · 3 modules</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115 = 1 + 3 × 38</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1.797 s</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0.288 s</a:t>
                      </a:r>
                    </a:p>
                  </a:txBody>
                  <a:tcPr marL="114300" marR="114300" marT="95250" marB="95250" anchor="ctr">
                    <a:solidFill>
                      <a:srgbClr val="F4F6F8"/>
                    </a:solidFill>
                  </a:tcPr>
                </a:tc>
                <a:extLst>
                  <a:ext uri="{0D108BD9-81ED-4DB2-BD59-A6C34878D82A}">
                    <a16:rowId xmlns:a16="http://schemas.microsoft.com/office/drawing/2014/main" val="10002"/>
                  </a:ext>
                </a:extLst>
              </a:tr>
              <a:tr h="512445">
                <a:tc>
                  <a:txBody>
                    <a:bodyPr/>
                    <a:lstStyle/>
                    <a:p>
                      <a:pPr algn="l"/>
                      <a:r>
                        <a:rPr sz="1725" b="0">
                          <a:solidFill>
                            <a:srgbClr val="152C3F"/>
                          </a:solidFill>
                          <a:latin typeface="DejaVu Sans" panose="020B0603030804020204"/>
                          <a:ea typeface="DejaVu Sans" panose="020B0603030804020204"/>
                          <a:cs typeface="DejaVu Sans" panose="020B0603030804020204"/>
                        </a:rPr>
                        <a:t>Full Inception · 6 modules</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229 = 1 + 6 × 38</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3.578 s</a:t>
                      </a:r>
                    </a:p>
                  </a:txBody>
                  <a:tcPr marL="114300" marR="114300" marT="95250" marB="95250" anchor="ctr">
                    <a:solidFill>
                      <a:srgbClr val="FFFFFF"/>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0.573 s</a:t>
                      </a:r>
                    </a:p>
                  </a:txBody>
                  <a:tcPr marL="114300" marR="114300" marT="95250" marB="95250" anchor="ctr">
                    <a:solidFill>
                      <a:srgbClr val="FFFFFF"/>
                    </a:solidFill>
                  </a:tcPr>
                </a:tc>
                <a:extLst>
                  <a:ext uri="{0D108BD9-81ED-4DB2-BD59-A6C34878D82A}">
                    <a16:rowId xmlns:a16="http://schemas.microsoft.com/office/drawing/2014/main" val="10003"/>
                  </a:ext>
                </a:extLst>
              </a:tr>
              <a:tr h="512445">
                <a:tc>
                  <a:txBody>
                    <a:bodyPr/>
                    <a:lstStyle/>
                    <a:p>
                      <a:pPr algn="l"/>
                      <a:r>
                        <a:rPr sz="1725" b="0">
                          <a:solidFill>
                            <a:srgbClr val="152C3F"/>
                          </a:solidFill>
                          <a:latin typeface="DejaVu Sans" panose="020B0603030804020204"/>
                          <a:ea typeface="DejaVu Sans" panose="020B0603030804020204"/>
                          <a:cs typeface="DejaVu Sans" panose="020B0603030804020204"/>
                        </a:rPr>
                        <a:t>Compact CNN · including pooling</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152</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2.375 s</a:t>
                      </a:r>
                    </a:p>
                  </a:txBody>
                  <a:tcPr marL="114300" marR="114300" marT="95250" marB="95250" anchor="ctr">
                    <a:solidFill>
                      <a:srgbClr val="F4F6F8"/>
                    </a:solidFill>
                  </a:tcPr>
                </a:tc>
                <a:tc>
                  <a:txBody>
                    <a:bodyPr/>
                    <a:lstStyle/>
                    <a:p>
                      <a:pPr algn="ctr"/>
                      <a:r>
                        <a:rPr sz="1725" b="0">
                          <a:solidFill>
                            <a:srgbClr val="152C3F"/>
                          </a:solidFill>
                          <a:latin typeface="DejaVu Sans" panose="020B0603030804020204"/>
                          <a:ea typeface="DejaVu Sans" panose="020B0603030804020204"/>
                          <a:cs typeface="DejaVu Sans" panose="020B0603030804020204"/>
                        </a:rPr>
                        <a:t>0.380 s</a:t>
                      </a:r>
                    </a:p>
                  </a:txBody>
                  <a:tcPr marL="114300" marR="114300" marT="95250" marB="95250" anchor="ctr">
                    <a:solidFill>
                      <a:srgbClr val="F4F6F8"/>
                    </a:solidFill>
                  </a:tcPr>
                </a:tc>
                <a:extLst>
                  <a:ext uri="{0D108BD9-81ED-4DB2-BD59-A6C34878D82A}">
                    <a16:rowId xmlns:a16="http://schemas.microsoft.com/office/drawing/2014/main" val="10004"/>
                  </a:ext>
                </a:extLst>
              </a:tr>
            </a:tbl>
          </a:graphicData>
        </a:graphic>
      </p:graphicFrame>
      <p:sp>
        <p:nvSpPr>
          <p:cNvPr id="7" name="text-92"/>
          <p:cNvSpPr>
            <a:spLocks noGrp="1"/>
          </p:cNvSpPr>
          <p:nvPr/>
        </p:nvSpPr>
        <p:spPr>
          <a:xfrm>
            <a:off x="571500" y="5467350"/>
            <a:ext cx="10953750" cy="390525"/>
          </a:xfrm>
          <a:prstGeom prst="rect">
            <a:avLst/>
          </a:prstGeom>
          <a:noFill/>
          <a:ln w="0">
            <a:noFill/>
          </a:ln>
        </p:spPr>
        <p:txBody>
          <a:bodyPr wrap="square" lIns="0" tIns="0" rIns="0" bIns="0" anchor="t">
            <a:noAutofit/>
          </a:bodyPr>
          <a:lstStyle/>
          <a:p>
            <a:pPr algn="l">
              <a:defRPr sz="2025" b="1">
                <a:solidFill>
                  <a:srgbClr val="7056A8"/>
                </a:solidFill>
                <a:latin typeface="DejaVu Sans" panose="020B0603030804020204"/>
                <a:ea typeface="DejaVu Sans" panose="020B0603030804020204"/>
                <a:cs typeface="DejaVu Sans" panose="020B0603030804020204"/>
              </a:defRPr>
            </a:pPr>
            <a:r>
              <a:rPr sz="2025" b="1">
                <a:solidFill>
                  <a:srgbClr val="7056A8"/>
                </a:solidFill>
                <a:latin typeface="DejaVu Sans" panose="020B0603030804020204"/>
                <a:ea typeface="DejaVu Sans" panose="020B0603030804020204"/>
                <a:cs typeface="DejaVu Sans" panose="020B0603030804020204"/>
              </a:rPr>
              <a:t>Global average pooling still aggregates the entire 5 s input window.</a:t>
            </a:r>
          </a:p>
        </p:txBody>
      </p:sp>
      <p:sp>
        <p:nvSpPr>
          <p:cNvPr id="8" name="text-93"/>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Longest local path before global pooling. Architectural support in seconds is expressed as R/fₛ.</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94"/>
          <p:cNvSpPr>
            <a:spLocks noGrp="1"/>
          </p:cNvSpPr>
          <p:nvPr/>
        </p:nvSpPr>
        <p:spPr>
          <a:xfrm>
            <a:off x="552450" y="361950"/>
            <a:ext cx="11049000" cy="895350"/>
          </a:xfrm>
          <a:prstGeom prst="rect">
            <a:avLst/>
          </a:prstGeom>
          <a:noFill/>
          <a:ln w="0">
            <a:noFill/>
          </a:ln>
        </p:spPr>
        <p:txBody>
          <a:bodyPr wrap="square" lIns="0" tIns="0" rIns="0" bIns="0" anchor="t">
            <a:noAutofit/>
          </a:bodyPr>
          <a:lstStyle/>
          <a:p>
            <a:pPr algn="l">
              <a:defRPr sz="3150" b="1">
                <a:solidFill>
                  <a:srgbClr val="152C3F"/>
                </a:solidFill>
                <a:latin typeface="DejaVu Sans" panose="020B0603030804020204"/>
                <a:ea typeface="DejaVu Sans" panose="020B0603030804020204"/>
                <a:cs typeface="DejaVu Sans" panose="020B0603030804020204"/>
              </a:defRPr>
            </a:pPr>
            <a:r>
              <a:rPr sz="3150" b="1">
                <a:solidFill>
                  <a:srgbClr val="152C3F"/>
                </a:solidFill>
                <a:latin typeface="DejaVu Sans" panose="020B0603030804020204"/>
                <a:ea typeface="DejaVu Sans" panose="020B0603030804020204"/>
                <a:cs typeface="DejaVu Sans" panose="020B0603030804020204"/>
              </a:rPr>
              <a:t>Sampling rate also sets resolution and bandwidth</a:t>
            </a:r>
          </a:p>
        </p:txBody>
      </p:sp>
      <p:sp>
        <p:nvSpPr>
          <p:cNvPr id="2" name="text-95"/>
          <p:cNvSpPr>
            <a:spLocks noGrp="1"/>
          </p:cNvSpPr>
          <p:nvPr/>
        </p:nvSpPr>
        <p:spPr>
          <a:xfrm>
            <a:off x="571500" y="6410325"/>
            <a:ext cx="10477500" cy="23812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SAMPLING CONSTRAINTS</a:t>
            </a:r>
          </a:p>
        </p:txBody>
      </p:sp>
      <p:sp>
        <p:nvSpPr>
          <p:cNvPr id="3" name="text-96"/>
          <p:cNvSpPr>
            <a:spLocks noGrp="1"/>
          </p:cNvSpPr>
          <p:nvPr/>
        </p:nvSpPr>
        <p:spPr>
          <a:xfrm>
            <a:off x="11049000" y="6391275"/>
            <a:ext cx="571500" cy="238125"/>
          </a:xfrm>
          <a:prstGeom prst="rect">
            <a:avLst/>
          </a:prstGeom>
          <a:noFill/>
          <a:ln w="0">
            <a:noFill/>
          </a:ln>
        </p:spPr>
        <p:txBody>
          <a:bodyPr wrap="square" lIns="0" tIns="0" rIns="0" bIns="0" anchor="t">
            <a:noAutofit/>
          </a:bodyPr>
          <a:lstStyle/>
          <a:p>
            <a:pPr algn="r">
              <a:defRPr sz="1275" b="0">
                <a:solidFill>
                  <a:srgbClr val="506577"/>
                </a:solidFill>
                <a:latin typeface="DejaVu Sans" panose="020B0603030804020204"/>
                <a:ea typeface="DejaVu Sans" panose="020B0603030804020204"/>
                <a:cs typeface="DejaVu Sans" panose="020B0603030804020204"/>
              </a:defRPr>
            </a:pPr>
            <a:r>
              <a:rPr sz="1275" b="0">
                <a:solidFill>
                  <a:srgbClr val="506577"/>
                </a:solidFill>
                <a:latin typeface="DejaVu Sans" panose="020B0603030804020204"/>
                <a:ea typeface="DejaVu Sans" panose="020B0603030804020204"/>
                <a:cs typeface="DejaVu Sans" panose="020B0603030804020204"/>
              </a:rPr>
              <a:t>39</a:t>
            </a:r>
          </a:p>
        </p:txBody>
      </p:sp>
      <p:graphicFrame>
        <p:nvGraphicFramePr>
          <p:cNvPr id="12" name="Chart"/>
          <p:cNvGraphicFramePr/>
          <p:nvPr/>
        </p:nvGraphicFramePr>
        <p:xfrm>
          <a:off x="523875" y="1485900"/>
          <a:ext cx="6096000" cy="27717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表格 12"/>
          <p:cNvGraphicFramePr/>
          <p:nvPr/>
        </p:nvGraphicFramePr>
        <p:xfrm>
          <a:off x="6924675" y="1457325"/>
          <a:ext cx="4695825" cy="2679382"/>
        </p:xfrm>
        <a:graphic>
          <a:graphicData uri="http://schemas.openxmlformats.org/drawingml/2006/table">
            <a:tbl>
              <a:tblPr/>
              <a:tblGrid>
                <a:gridCol w="3133725">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tblGrid>
              <a:tr h="669131">
                <a:tc>
                  <a:txBody>
                    <a:bodyPr/>
                    <a:lstStyle/>
                    <a:p>
                      <a:pPr algn="l"/>
                      <a:r>
                        <a:rPr sz="1575" b="1">
                          <a:solidFill>
                            <a:srgbClr val="FFFFFF"/>
                          </a:solidFill>
                          <a:latin typeface="DejaVu Sans" panose="020B0603030804020204"/>
                          <a:ea typeface="DejaVu Sans" panose="020B0603030804020204"/>
                          <a:cs typeface="DejaVu Sans" panose="020B0603030804020204"/>
                        </a:rPr>
                        <a:t>Grid</a:t>
                      </a:r>
                    </a:p>
                  </a:txBody>
                  <a:tcPr marL="114300" marR="114300" marT="95250" marB="95250" anchor="ctr">
                    <a:solidFill>
                      <a:srgbClr val="152C3F"/>
                    </a:solidFill>
                  </a:tcPr>
                </a:tc>
                <a:tc>
                  <a:txBody>
                    <a:bodyPr/>
                    <a:lstStyle/>
                    <a:p>
                      <a:pPr algn="ctr"/>
                      <a:r>
                        <a:rPr sz="1575" b="1">
                          <a:solidFill>
                            <a:srgbClr val="FFFFFF"/>
                          </a:solidFill>
                          <a:latin typeface="DejaVu Sans" panose="020B0603030804020204"/>
                          <a:ea typeface="DejaVu Sans" panose="020B0603030804020204"/>
                          <a:cs typeface="DejaVu Sans" panose="020B0603030804020204"/>
                        </a:rPr>
                        <a:t>Sample interval</a:t>
                      </a:r>
                    </a:p>
                  </a:txBody>
                  <a:tcPr marL="114300" marR="114300" marT="95250" marB="95250" anchor="ctr">
                    <a:solidFill>
                      <a:srgbClr val="152C3F"/>
                    </a:solidFill>
                  </a:tcPr>
                </a:tc>
                <a:extLst>
                  <a:ext uri="{0D108BD9-81ED-4DB2-BD59-A6C34878D82A}">
                    <a16:rowId xmlns:a16="http://schemas.microsoft.com/office/drawing/2014/main" val="10000"/>
                  </a:ext>
                </a:extLst>
              </a:tr>
              <a:tr h="669131">
                <a:tc>
                  <a:txBody>
                    <a:bodyPr/>
                    <a:lstStyle/>
                    <a:p>
                      <a:pPr algn="l"/>
                      <a:r>
                        <a:rPr sz="1575" b="0">
                          <a:solidFill>
                            <a:srgbClr val="152C3F"/>
                          </a:solidFill>
                          <a:latin typeface="DejaVu Sans" panose="020B0603030804020204"/>
                          <a:ea typeface="DejaVu Sans" panose="020B0603030804020204"/>
                          <a:cs typeface="DejaVu Sans" panose="020B0603030804020204"/>
                        </a:rPr>
                        <a:t>400 Hz · feature / refinement</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2.5 ms</a:t>
                      </a:r>
                    </a:p>
                  </a:txBody>
                  <a:tcPr marL="114300" marR="114300" marT="95250" marB="95250" anchor="ctr">
                    <a:solidFill>
                      <a:srgbClr val="FFFFFF"/>
                    </a:solidFill>
                  </a:tcPr>
                </a:tc>
                <a:extLst>
                  <a:ext uri="{0D108BD9-81ED-4DB2-BD59-A6C34878D82A}">
                    <a16:rowId xmlns:a16="http://schemas.microsoft.com/office/drawing/2014/main" val="10001"/>
                  </a:ext>
                </a:extLst>
              </a:tr>
              <a:tr h="669131">
                <a:tc>
                  <a:txBody>
                    <a:bodyPr/>
                    <a:lstStyle/>
                    <a:p>
                      <a:pPr algn="l"/>
                      <a:r>
                        <a:rPr sz="1575" b="0">
                          <a:solidFill>
                            <a:srgbClr val="152C3F"/>
                          </a:solidFill>
                          <a:latin typeface="DejaVu Sans" panose="020B0603030804020204"/>
                          <a:ea typeface="DejaVu Sans" panose="020B0603030804020204"/>
                          <a:cs typeface="DejaVu Sans" panose="020B0603030804020204"/>
                        </a:rPr>
                        <a:t>64 Hz · selected model input</a:t>
                      </a:r>
                    </a:p>
                  </a:txBody>
                  <a:tcPr marL="114300" marR="114300" marT="95250" marB="95250" anchor="ctr">
                    <a:solidFill>
                      <a:srgbClr val="F4F6F8"/>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15.625 ms</a:t>
                      </a:r>
                    </a:p>
                  </a:txBody>
                  <a:tcPr marL="114300" marR="114300" marT="95250" marB="95250" anchor="ctr">
                    <a:solidFill>
                      <a:srgbClr val="F4F6F8"/>
                    </a:solidFill>
                  </a:tcPr>
                </a:tc>
                <a:extLst>
                  <a:ext uri="{0D108BD9-81ED-4DB2-BD59-A6C34878D82A}">
                    <a16:rowId xmlns:a16="http://schemas.microsoft.com/office/drawing/2014/main" val="10002"/>
                  </a:ext>
                </a:extLst>
              </a:tr>
              <a:tr h="669131">
                <a:tc>
                  <a:txBody>
                    <a:bodyPr/>
                    <a:lstStyle/>
                    <a:p>
                      <a:pPr algn="l"/>
                      <a:r>
                        <a:rPr sz="1575" b="0">
                          <a:solidFill>
                            <a:srgbClr val="152C3F"/>
                          </a:solidFill>
                          <a:latin typeface="DejaVu Sans" panose="020B0603030804020204"/>
                          <a:ea typeface="DejaVu Sans" panose="020B0603030804020204"/>
                          <a:cs typeface="DejaVu Sans" panose="020B0603030804020204"/>
                        </a:rPr>
                        <a:t>20 Hz · coarse peak search</a:t>
                      </a:r>
                    </a:p>
                  </a:txBody>
                  <a:tcPr marL="114300" marR="114300" marT="95250" marB="95250" anchor="ctr">
                    <a:solidFill>
                      <a:srgbClr val="FFFFFF"/>
                    </a:solidFill>
                  </a:tcPr>
                </a:tc>
                <a:tc>
                  <a:txBody>
                    <a:bodyPr/>
                    <a:lstStyle/>
                    <a:p>
                      <a:pPr algn="ctr"/>
                      <a:r>
                        <a:rPr sz="1575" b="0">
                          <a:solidFill>
                            <a:srgbClr val="152C3F"/>
                          </a:solidFill>
                          <a:latin typeface="DejaVu Sans" panose="020B0603030804020204"/>
                          <a:ea typeface="DejaVu Sans" panose="020B0603030804020204"/>
                          <a:cs typeface="DejaVu Sans" panose="020B0603030804020204"/>
                        </a:rPr>
                        <a:t>50 ms</a:t>
                      </a:r>
                    </a:p>
                  </a:txBody>
                  <a:tcPr marL="11430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text-97"/>
          <p:cNvSpPr>
            <a:spLocks noGrp="1"/>
          </p:cNvSpPr>
          <p:nvPr/>
        </p:nvSpPr>
        <p:spPr>
          <a:xfrm>
            <a:off x="571500" y="4638675"/>
            <a:ext cx="10477500" cy="342900"/>
          </a:xfrm>
          <a:prstGeom prst="rect">
            <a:avLst/>
          </a:prstGeom>
          <a:noFill/>
          <a:ln w="0">
            <a:noFill/>
          </a:ln>
        </p:spPr>
        <p:txBody>
          <a:bodyPr wrap="square" lIns="0" tIns="0" rIns="0" bIns="0" anchor="t">
            <a:noAutofit/>
          </a:bodyPr>
          <a:lstStyle/>
          <a:p>
            <a:pPr algn="l">
              <a:defRPr sz="1875" b="1">
                <a:solidFill>
                  <a:srgbClr val="087E8B"/>
                </a:solidFill>
                <a:latin typeface="DejaVu Sans" panose="020B0603030804020204"/>
                <a:ea typeface="DejaVu Sans" panose="020B0603030804020204"/>
                <a:cs typeface="DejaVu Sans" panose="020B0603030804020204"/>
              </a:defRPr>
            </a:pPr>
            <a:r>
              <a:rPr sz="1875" b="1">
                <a:solidFill>
                  <a:srgbClr val="087E8B"/>
                </a:solidFill>
                <a:latin typeface="DejaVu Sans" panose="020B0603030804020204"/>
                <a:ea typeface="DejaVu Sans" panose="020B0603030804020204"/>
                <a:cs typeface="DejaVu Sans" panose="020B0603030804020204"/>
              </a:rPr>
              <a:t>Anti-aliasing is part of the representation</a:t>
            </a:r>
          </a:p>
        </p:txBody>
      </p:sp>
      <p:sp>
        <p:nvSpPr>
          <p:cNvPr id="7" name="text-98"/>
          <p:cNvSpPr>
            <a:spLocks noGrp="1"/>
          </p:cNvSpPr>
          <p:nvPr/>
        </p:nvSpPr>
        <p:spPr>
          <a:xfrm>
            <a:off x="571500" y="5095875"/>
            <a:ext cx="11001375" cy="619125"/>
          </a:xfrm>
          <a:prstGeom prst="rect">
            <a:avLst/>
          </a:prstGeom>
          <a:noFill/>
          <a:ln w="0">
            <a:noFill/>
          </a:ln>
        </p:spPr>
        <p:txBody>
          <a:bodyPr wrap="square" lIns="0" tIns="0" rIns="0" bIns="0" anchor="t">
            <a:noAutofit/>
          </a:bodyPr>
          <a:lstStyle/>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400 → 64 Hz gives a 32 Hz Nyquist limit. The 0.2–8 Hz PPG band is retained</a:t>
            </a:r>
          </a:p>
          <a:p>
            <a:pPr algn="l">
              <a:defRPr sz="1725" b="0">
                <a:solidFill>
                  <a:srgbClr val="152C3F"/>
                </a:solidFill>
                <a:latin typeface="DejaVu Sans" panose="020B0603030804020204"/>
                <a:ea typeface="DejaVu Sans" panose="020B0603030804020204"/>
                <a:cs typeface="DejaVu Sans" panose="020B0603030804020204"/>
              </a:defRPr>
            </a:pPr>
            <a:r>
              <a:rPr sz="1725" b="0">
                <a:solidFill>
                  <a:srgbClr val="152C3F"/>
                </a:solidFill>
                <a:latin typeface="DejaVu Sans" panose="020B0603030804020204"/>
                <a:ea typeface="DejaVu Sans" panose="020B0603030804020204"/>
                <a:cs typeface="DejaVu Sans" panose="020B0603030804020204"/>
              </a:rPr>
              <a:t>in principle; gyroscope content above 32 Hz is removed during model resampling.</a:t>
            </a:r>
          </a:p>
        </p:txBody>
      </p:sp>
      <p:sp>
        <p:nvSpPr>
          <p:cNvPr id="8" name="text-99"/>
          <p:cNvSpPr>
            <a:spLocks noGrp="1"/>
          </p:cNvSpPr>
          <p:nvPr/>
        </p:nvSpPr>
        <p:spPr>
          <a:xfrm>
            <a:off x="571500" y="6086475"/>
            <a:ext cx="10953750" cy="257175"/>
          </a:xfrm>
          <a:prstGeom prst="rect">
            <a:avLst/>
          </a:prstGeom>
          <a:noFill/>
          <a:ln w="0">
            <a:noFill/>
          </a:ln>
        </p:spPr>
        <p:txBody>
          <a:bodyPr wrap="square" lIns="0" tIns="0" rIns="0" bIns="0" anchor="t">
            <a:noAutofit/>
          </a:bodyPr>
          <a:lstStyle/>
          <a:p>
            <a:pPr algn="l">
              <a:defRPr sz="1200" b="0">
                <a:solidFill>
                  <a:srgbClr val="506577"/>
                </a:solidFill>
                <a:latin typeface="DejaVu Sans" panose="020B0603030804020204"/>
                <a:ea typeface="DejaVu Sans" panose="020B0603030804020204"/>
                <a:cs typeface="DejaVu Sans" panose="020B0603030804020204"/>
              </a:defRPr>
            </a:pPr>
            <a:r>
              <a:rPr sz="1200" b="0">
                <a:solidFill>
                  <a:srgbClr val="506577"/>
                </a:solidFill>
                <a:latin typeface="DejaVu Sans" panose="020B0603030804020204"/>
                <a:ea typeface="DejaVu Sans" panose="020B0603030804020204"/>
                <a:cs typeface="DejaVu Sans" panose="020B0603030804020204"/>
              </a:rPr>
              <a:t>Conceptual sampling illustration. Coarse detector candidates are refined at 400 Hz; the classifier grid is a separate choice.</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11587</Words>
  <Application>Microsoft Office PowerPoint</Application>
  <PresentationFormat>Breitbild</PresentationFormat>
  <Paragraphs>1696</Paragraphs>
  <Slides>59</Slides>
  <Notes>59</Notes>
  <HiddenSlides>0</HiddenSlides>
  <MMClips>0</MMClips>
  <ScaleCrop>false</ScaleCrop>
  <HeadingPairs>
    <vt:vector size="6" baseType="variant">
      <vt:variant>
        <vt:lpstr>Verwendete Schriftarten</vt:lpstr>
      </vt:variant>
      <vt:variant>
        <vt:i4>3</vt:i4>
      </vt:variant>
      <vt:variant>
        <vt:lpstr>Design</vt:lpstr>
      </vt:variant>
      <vt:variant>
        <vt:i4>6</vt:i4>
      </vt:variant>
      <vt:variant>
        <vt:lpstr>Folientitel</vt:lpstr>
      </vt:variant>
      <vt:variant>
        <vt:i4>59</vt:i4>
      </vt:variant>
    </vt:vector>
  </HeadingPairs>
  <TitlesOfParts>
    <vt:vector size="68" baseType="lpstr">
      <vt:lpstr>宋体</vt:lpstr>
      <vt:lpstr>Calibri</vt:lpstr>
      <vt:lpstr>DejaVu Sans</vt:lpstr>
      <vt:lpstr>ChatGPT</vt:lpstr>
      <vt:lpstr>ChatGPT</vt:lpstr>
      <vt:lpstr>ChatGPT</vt:lpstr>
      <vt:lpstr>ChatGPT</vt:lpstr>
      <vt:lpstr>ChatGPT</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Kaifeng Xu</cp:lastModifiedBy>
  <cp:revision>174</cp:revision>
  <dcterms:created xsi:type="dcterms:W3CDTF">2026-09-24T02:08:35Z</dcterms:created>
  <dcterms:modified xsi:type="dcterms:W3CDTF">2026-09-28T13:17:03Z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53ED3D4414B94266A841CFC579687487_13</vt:lpwstr>
  </property>
  <property fmtid="{D5CDD505-2E9C-101B-9397-08002B2CF9AE}" pid="3" name="KSOProductBuildVer">
    <vt:lpwstr>2052-12.1.0.28505</vt:lpwstr>
  </property>
</Properties>
</file>